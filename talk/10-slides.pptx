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media/image1.svg" ContentType="image/svg+xml"/>
  <Override PartName="/ppt/media/image10.svg" ContentType="image/svg+xml"/>
  <Override PartName="/ppt/media/image3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769" r:id="rId1"/>
    <p:sldMasterId id="2147483673" r:id="rId2"/>
    <p:sldMasterId id="2147483679" r:id="rId3"/>
    <p:sldMasterId id="2147483668" r:id="rId4"/>
    <p:sldMasterId id="2147483661" r:id="rId5"/>
    <p:sldMasterId id="2147483764" r:id="rId6"/>
    <p:sldMasterId id="2147483650" r:id="rId7"/>
    <p:sldMasterId id="2147483691" r:id="rId8"/>
    <p:sldMasterId id="2147483706" r:id="rId9"/>
    <p:sldMasterId id="2147483730" r:id="rId10"/>
    <p:sldMasterId id="2147483725" r:id="rId11"/>
    <p:sldMasterId id="2147483739" r:id="rId12"/>
    <p:sldMasterId id="2147483749" r:id="rId13"/>
    <p:sldMasterId id="2147483759" r:id="rId14"/>
    <p:sldMasterId id="2147483754" r:id="rId15"/>
  </p:sldMasterIdLst>
  <p:notesMasterIdLst>
    <p:notesMasterId r:id="rId53"/>
  </p:notesMasterIdLst>
  <p:sldIdLst>
    <p:sldId id="344" r:id="rId62"/>
    <p:sldId id="345" r:id="rId63"/>
    <p:sldId id="346" r:id="rId64"/>
    <p:sldId id="347" r:id="rId65"/>
    <p:sldId id="348" r:id="rId66"/>
    <p:sldId id="349" r:id="rId67"/>
    <p:sldId id="350" r:id="rId68"/>
    <p:sldId id="351" r:id="rId69"/>
    <p:sldId id="352" r:id="rId70"/>
    <p:sldId id="353" r:id="rId71"/>
    <p:sldId id="354" r:id="rId72"/>
    <p:sldId id="355" r:id="rId73"/>
    <p:sldId id="356" r:id="rId74"/>
    <p:sldId id="357" r:id="rId75"/>
    <p:sldId id="358" r:id="rId76"/>
    <p:sldId id="359" r:id="rId77"/>
    <p:sldId id="360" r:id="rId78"/>
    <p:sldId id="361" r:id="rId79"/>
    <p:sldId id="362" r:id="rId80"/>
    <p:sldId id="363" r:id="rId81"/>
    <p:sldId id="364" r:id="rId82"/>
    <p:sldId id="365" r:id="rId83"/>
    <p:sldId id="366" r:id="rId84"/>
    <p:sldId id="367" r:id="rId85"/>
    <p:sldId id="368" r:id="rId86"/>
    <p:sldId id="369" r:id="rId87"/>
    <p:sldId id="370" r:id="rId88"/>
    <p:sldId id="371" r:id="rId89"/>
    <p:sldId id="372" r:id="rId90"/>
    <p:sldId id="373" r:id="rId91"/>
    <p:sldId id="374" r:id="rId92"/>
    <p:sldId id="375" r:id="rId93"/>
    <p:sldId id="376" r:id="rId94"/>
    <p:sldId id="377" r:id="rId95"/>
    <p:sldId id="378" r:id="rId96"/>
    <p:sldId id="379" r:id="rId97"/>
    <p:sldId id="380" r:id="rId98"/>
    <p:sldId id="381" r:id="rId99"/>
    <p:sldId id="382" r:id="rId100"/>
    <p:sldId id="383" r:id="rId101"/>
    <p:sldId id="384" r:id="rId102"/>
    <p:sldId id="385" r:id="rId103"/>
    <p:sldId id="386" r:id="rId104"/>
    <p:sldId id="387" r:id="rId105"/>
    <p:sldId id="388" r:id="rId106"/>
    <p:sldId id="389" r:id="rId107"/>
    <p:sldId id="390" r:id="rId108"/>
    <p:sldId id="391" r:id="rId109"/>
    <p:sldId id="392" r:id="rId110"/>
    <p:sldId id="393" r:id="rId111"/>
    <p:sldId id="394" r:id="rId112"/>
    <p:sldId id="395" r:id="rId113"/>
    <p:sldId id="396" r:id="rId114"/>
    <p:sldId id="397" r:id="rId115"/>
    <p:sldId id="398" r:id="rId116"/>
    <p:sldId id="399" r:id="rId117"/>
    <p:sldId id="400" r:id="rId118"/>
  </p:sldIdLst>
  <p:sldSz cx="12192000" cy="6858000"/>
  <p:notesSz cx="6858000" cy="9144000"/>
  <p:embeddedFontLst>
    <p:embeddedFont>
      <p:font typeface="X5 Sans" panose="020B0403020203020204" pitchFamily="34" charset="0"/>
      <p:regular r:id="rId54"/>
      <p:bold r:id="rId55"/>
    </p:embeddedFont>
    <p:embeddedFont>
      <p:font typeface="X5 Sans Light" panose="020B0303020203020204" pitchFamily="34" charset="0"/>
      <p:regular r:id="rId56"/>
    </p:embeddedFont>
    <p:embeddedFont>
      <p:font typeface="X5 Sans Medium" panose="020B0403020203020204" pitchFamily="34" charset="0"/>
      <p:regular r:id="rId57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4169"/>
    <a:srgbClr val="FFFFFF"/>
    <a:srgbClr val="FFDAE5"/>
    <a:srgbClr val="FF81A6"/>
    <a:srgbClr val="F64C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350" autoAdjust="0"/>
    <p:restoredTop sz="94704"/>
  </p:normalViewPr>
  <p:slideViewPr>
    <p:cSldViewPr snapToGrid="0" showGuides="1">
      <p:cViewPr>
        <p:scale>
          <a:sx n="73" d="100"/>
          <a:sy n="73" d="100"/>
        </p:scale>
        <p:origin x="384" y="10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45000" cy="45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Master" Target="slideMasters/slideMaster12.xml"/><Relationship Id="rId13" Type="http://schemas.openxmlformats.org/officeDocument/2006/relationships/slideMaster" Target="slideMasters/slideMaster13.xml"/><Relationship Id="rId14" Type="http://schemas.openxmlformats.org/officeDocument/2006/relationships/slideMaster" Target="slideMasters/slideMaster14.xml"/><Relationship Id="rId15" Type="http://schemas.openxmlformats.org/officeDocument/2006/relationships/slideMaster" Target="slideMasters/slideMaster15.xml"/><Relationship Id="rId53" Type="http://schemas.openxmlformats.org/officeDocument/2006/relationships/notesMaster" Target="notesMasters/notesMaster1.xml"/><Relationship Id="rId54" Type="http://schemas.openxmlformats.org/officeDocument/2006/relationships/font" Target="fonts/font1.fntdata"/><Relationship Id="rId55" Type="http://schemas.openxmlformats.org/officeDocument/2006/relationships/font" Target="fonts/font2.fntdata"/><Relationship Id="rId56" Type="http://schemas.openxmlformats.org/officeDocument/2006/relationships/font" Target="fonts/font3.fntdata"/><Relationship Id="rId57" Type="http://schemas.openxmlformats.org/officeDocument/2006/relationships/font" Target="fonts/font4.fntdata"/><Relationship Id="rId58" Type="http://schemas.openxmlformats.org/officeDocument/2006/relationships/presProps" Target="presProps.xml"/><Relationship Id="rId59" Type="http://schemas.openxmlformats.org/officeDocument/2006/relationships/viewProps" Target="viewProps.xml"/><Relationship Id="rId60" Type="http://schemas.openxmlformats.org/officeDocument/2006/relationships/theme" Target="theme/theme1.xml"/><Relationship Id="rId61" Type="http://schemas.openxmlformats.org/officeDocument/2006/relationships/tableStyles" Target="tableStyles.xml"/><Relationship Id="rId62" Type="http://schemas.openxmlformats.org/officeDocument/2006/relationships/slide" Target="slides/slide38.xml"/><Relationship Id="rId63" Type="http://schemas.openxmlformats.org/officeDocument/2006/relationships/slide" Target="slides/slide39.xml"/><Relationship Id="rId64" Type="http://schemas.openxmlformats.org/officeDocument/2006/relationships/slide" Target="slides/slide40.xml"/><Relationship Id="rId65" Type="http://schemas.openxmlformats.org/officeDocument/2006/relationships/slide" Target="slides/slide41.xml"/><Relationship Id="rId66" Type="http://schemas.openxmlformats.org/officeDocument/2006/relationships/slide" Target="slides/slide42.xml"/><Relationship Id="rId67" Type="http://schemas.openxmlformats.org/officeDocument/2006/relationships/slide" Target="slides/slide43.xml"/><Relationship Id="rId68" Type="http://schemas.openxmlformats.org/officeDocument/2006/relationships/slide" Target="slides/slide44.xml"/><Relationship Id="rId69" Type="http://schemas.openxmlformats.org/officeDocument/2006/relationships/slide" Target="slides/slide45.xml"/><Relationship Id="rId70" Type="http://schemas.openxmlformats.org/officeDocument/2006/relationships/slide" Target="slides/slide46.xml"/><Relationship Id="rId71" Type="http://schemas.openxmlformats.org/officeDocument/2006/relationships/slide" Target="slides/slide47.xml"/><Relationship Id="rId72" Type="http://schemas.openxmlformats.org/officeDocument/2006/relationships/slide" Target="slides/slide48.xml"/><Relationship Id="rId73" Type="http://schemas.openxmlformats.org/officeDocument/2006/relationships/slide" Target="slides/slide49.xml"/><Relationship Id="rId74" Type="http://schemas.openxmlformats.org/officeDocument/2006/relationships/slide" Target="slides/slide50.xml"/><Relationship Id="rId75" Type="http://schemas.openxmlformats.org/officeDocument/2006/relationships/slide" Target="slides/slide51.xml"/><Relationship Id="rId76" Type="http://schemas.openxmlformats.org/officeDocument/2006/relationships/slide" Target="slides/slide52.xml"/><Relationship Id="rId77" Type="http://schemas.openxmlformats.org/officeDocument/2006/relationships/slide" Target="slides/slide53.xml"/><Relationship Id="rId78" Type="http://schemas.openxmlformats.org/officeDocument/2006/relationships/slide" Target="slides/slide54.xml"/><Relationship Id="rId79" Type="http://schemas.openxmlformats.org/officeDocument/2006/relationships/slide" Target="slides/slide55.xml"/><Relationship Id="rId80" Type="http://schemas.openxmlformats.org/officeDocument/2006/relationships/slide" Target="slides/slide56.xml"/><Relationship Id="rId81" Type="http://schemas.openxmlformats.org/officeDocument/2006/relationships/slide" Target="slides/slide57.xml"/><Relationship Id="rId82" Type="http://schemas.openxmlformats.org/officeDocument/2006/relationships/slide" Target="slides/slide58.xml"/><Relationship Id="rId83" Type="http://schemas.openxmlformats.org/officeDocument/2006/relationships/slide" Target="slides/slide59.xml"/><Relationship Id="rId84" Type="http://schemas.openxmlformats.org/officeDocument/2006/relationships/slide" Target="slides/slide60.xml"/><Relationship Id="rId85" Type="http://schemas.openxmlformats.org/officeDocument/2006/relationships/slide" Target="slides/slide61.xml"/><Relationship Id="rId86" Type="http://schemas.openxmlformats.org/officeDocument/2006/relationships/slide" Target="slides/slide62.xml"/><Relationship Id="rId87" Type="http://schemas.openxmlformats.org/officeDocument/2006/relationships/slide" Target="slides/slide63.xml"/><Relationship Id="rId88" Type="http://schemas.openxmlformats.org/officeDocument/2006/relationships/slide" Target="slides/slide64.xml"/><Relationship Id="rId89" Type="http://schemas.openxmlformats.org/officeDocument/2006/relationships/slide" Target="slides/slide65.xml"/><Relationship Id="rId90" Type="http://schemas.openxmlformats.org/officeDocument/2006/relationships/slide" Target="slides/slide66.xml"/><Relationship Id="rId91" Type="http://schemas.openxmlformats.org/officeDocument/2006/relationships/slide" Target="slides/slide67.xml"/><Relationship Id="rId92" Type="http://schemas.openxmlformats.org/officeDocument/2006/relationships/slide" Target="slides/slide68.xml"/><Relationship Id="rId93" Type="http://schemas.openxmlformats.org/officeDocument/2006/relationships/slide" Target="slides/slide69.xml"/><Relationship Id="rId94" Type="http://schemas.openxmlformats.org/officeDocument/2006/relationships/slide" Target="slides/slide70.xml"/><Relationship Id="rId95" Type="http://schemas.openxmlformats.org/officeDocument/2006/relationships/slide" Target="slides/slide71.xml"/><Relationship Id="rId96" Type="http://schemas.openxmlformats.org/officeDocument/2006/relationships/slide" Target="slides/slide72.xml"/><Relationship Id="rId97" Type="http://schemas.openxmlformats.org/officeDocument/2006/relationships/slide" Target="slides/slide73.xml"/><Relationship Id="rId98" Type="http://schemas.openxmlformats.org/officeDocument/2006/relationships/slide" Target="slides/slide74.xml"/><Relationship Id="rId99" Type="http://schemas.openxmlformats.org/officeDocument/2006/relationships/slide" Target="slides/slide75.xml"/><Relationship Id="rId100" Type="http://schemas.openxmlformats.org/officeDocument/2006/relationships/slide" Target="slides/slide76.xml"/><Relationship Id="rId101" Type="http://schemas.openxmlformats.org/officeDocument/2006/relationships/slide" Target="slides/slide77.xml"/><Relationship Id="rId102" Type="http://schemas.openxmlformats.org/officeDocument/2006/relationships/slide" Target="slides/slide78.xml"/><Relationship Id="rId103" Type="http://schemas.openxmlformats.org/officeDocument/2006/relationships/slide" Target="slides/slide79.xml"/><Relationship Id="rId104" Type="http://schemas.openxmlformats.org/officeDocument/2006/relationships/slide" Target="slides/slide80.xml"/><Relationship Id="rId105" Type="http://schemas.openxmlformats.org/officeDocument/2006/relationships/slide" Target="slides/slide81.xml"/><Relationship Id="rId106" Type="http://schemas.openxmlformats.org/officeDocument/2006/relationships/slide" Target="slides/slide82.xml"/><Relationship Id="rId107" Type="http://schemas.openxmlformats.org/officeDocument/2006/relationships/slide" Target="slides/slide83.xml"/><Relationship Id="rId108" Type="http://schemas.openxmlformats.org/officeDocument/2006/relationships/slide" Target="slides/slide84.xml"/><Relationship Id="rId109" Type="http://schemas.openxmlformats.org/officeDocument/2006/relationships/slide" Target="slides/slide85.xml"/><Relationship Id="rId110" Type="http://schemas.openxmlformats.org/officeDocument/2006/relationships/slide" Target="slides/slide86.xml"/><Relationship Id="rId111" Type="http://schemas.openxmlformats.org/officeDocument/2006/relationships/slide" Target="slides/slide87.xml"/><Relationship Id="rId112" Type="http://schemas.openxmlformats.org/officeDocument/2006/relationships/slide" Target="slides/slide88.xml"/><Relationship Id="rId113" Type="http://schemas.openxmlformats.org/officeDocument/2006/relationships/slide" Target="slides/slide89.xml"/><Relationship Id="rId114" Type="http://schemas.openxmlformats.org/officeDocument/2006/relationships/slide" Target="slides/slide90.xml"/><Relationship Id="rId115" Type="http://schemas.openxmlformats.org/officeDocument/2006/relationships/slide" Target="slides/slide91.xml"/><Relationship Id="rId116" Type="http://schemas.openxmlformats.org/officeDocument/2006/relationships/slide" Target="slides/slide92.xml"/><Relationship Id="rId117" Type="http://schemas.openxmlformats.org/officeDocument/2006/relationships/slide" Target="slides/slide93.xml"/><Relationship Id="rId118" Type="http://schemas.openxmlformats.org/officeDocument/2006/relationships/slide" Target="slides/slide94.xml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1E5B28"/>
              </a:solidFill>
            </c:spPr>
          </c:dPt>
          <c:dPt>
            <c:idx val="1"/>
            <c:spPr>
              <a:solidFill>
                <a:srgbClr val="E9A23B"/>
              </a:solidFill>
            </c:spPr>
          </c:dPt>
          <c:dPt>
            <c:idx val="2"/>
            <c:spPr>
              <a:solidFill>
                <a:srgbClr val="D6336C"/>
              </a:solidFill>
            </c:spPr>
          </c:dPt>
          <c:cat>
            <c:strRef>
              <c:f>Sheet1!$A$2:$A$4</c:f>
              <c:strCache>
                <c:ptCount val="3"/>
                <c:pt idx="0">
                  <c:v>сборка · if</c:v>
                </c:pt>
                <c:pt idx="1">
                  <c:v>сборка · спред</c:v>
                </c:pt>
                <c:pt idx="2">
                  <c:v>чтение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1.0</c:v>
                </c:pt>
                <c:pt idx="1">
                  <c:v>1.61</c:v>
                </c:pt>
                <c:pt idx="2">
                  <c:v>5.25</c:v>
                </c:pt>
              </c:numCache>
            </c:numRef>
          </c:val>
        </c:ser>
        <c:dLbls>
          <c:numFmt formatCode="&quot;×&quot;0.00" sourceLinked="0"/>
          <c:txPr>
            <a:bodyPr/>
            <a:lstStyle/>
            <a:p>
              <a:pPr>
                <a:defRPr sz="1500">
                  <a:solidFill>
                    <a:srgbClr val="1E5B28"/>
                  </a:solidFill>
                  <a:latin typeface="X5 Sans Medium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ED6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.4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E5B28"/>
          </a:solidFill>
          <a:latin typeface="X5 Sans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9AA3AE"/>
              </a:solidFill>
            </c:spPr>
          </c:dPt>
          <c:dPt>
            <c:idx val="1"/>
            <c:spPr>
              <a:solidFill>
                <a:srgbClr val="9AA3AE"/>
              </a:solidFill>
            </c:spPr>
          </c:dPt>
          <c:dPt>
            <c:idx val="2"/>
            <c:spPr>
              <a:solidFill>
                <a:srgbClr val="7DBE3C"/>
              </a:solidFill>
            </c:spPr>
          </c:dPt>
          <c:dPt>
            <c:idx val="3"/>
            <c:spPr>
              <a:solidFill>
                <a:srgbClr val="1E5B28"/>
              </a:solidFill>
            </c:spPr>
          </c:dPt>
          <c:cat>
            <c:strRef>
              <c:f>Sheet1!$A$2:$A$5</c:f>
              <c:strCache>
                <c:ptCount val="4"/>
                <c:pt idx="0">
                  <c:v>Ignition</c:v>
                </c:pt>
                <c:pt idx="1">
                  <c:v>Sparkplug</c:v>
                </c:pt>
                <c:pt idx="2">
                  <c:v>Maglev</c:v>
                </c:pt>
                <c:pt idx="3">
                  <c:v>TurboFan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505</c:v>
                </c:pt>
                <c:pt idx="1">
                  <c:v>775</c:v>
                </c:pt>
                <c:pt idx="2">
                  <c:v>70</c:v>
                </c:pt>
                <c:pt idx="3">
                  <c:v>38</c:v>
                </c:pt>
              </c:numCache>
            </c:numRef>
          </c:val>
        </c:ser>
        <c:dLbls>
          <c:numFmt formatCode="0&quot; мс&quot;" sourceLinked="0"/>
          <c:txPr>
            <a:bodyPr/>
            <a:lstStyle/>
            <a:p>
              <a:pPr>
                <a:defRPr sz="1500">
                  <a:solidFill>
                    <a:srgbClr val="1E5B28"/>
                  </a:solidFill>
                  <a:latin typeface="X5 Sans Medium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ED6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00.0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E5B28"/>
          </a:solidFill>
          <a:latin typeface="X5 Sans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 · 1 форма</c:v>
                </c:pt>
              </c:strCache>
            </c:strRef>
          </c:tx>
          <c:spPr>
            <a:ln w="38100">
              <a:solidFill>
                <a:srgbClr val="3FA34D"/>
              </a:solidFill>
            </a:ln>
          </c:spPr>
          <c:marker>
            <c:size val="9"/>
            <c:spPr>
              <a:solidFill>
                <a:srgbClr val="3FA34D"/>
              </a:solidFill>
              <a:ln>
                <a:solidFill>
                  <a:srgbClr val="3FA34D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R = 1</c:v>
                </c:pt>
                <c:pt idx="1">
                  <c:v>R = 5</c:v>
                </c:pt>
                <c:pt idx="2">
                  <c:v>R = 20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 · 8 форм</c:v>
                </c:pt>
              </c:strCache>
            </c:strRef>
          </c:tx>
          <c:spPr>
            <a:ln w="38100">
              <a:solidFill>
                <a:srgbClr val="D6336C"/>
              </a:solidFill>
            </a:ln>
          </c:spPr>
          <c:marker>
            <c:size val="9"/>
            <c:spPr>
              <a:solidFill>
                <a:srgbClr val="D6336C"/>
              </a:solidFill>
              <a:ln>
                <a:solidFill>
                  <a:srgbClr val="D6336C"/>
                </a:solidFill>
              </a:ln>
            </c:spPr>
          </c:marker>
          <c:dLbls>
            <c:numFmt formatCode="&quot;×&quot;0.00" sourceLinked="0"/>
            <c:txPr>
              <a:bodyPr/>
              <a:lstStyle/>
              <a:p>
                <a:pPr>
                  <a:defRPr sz="1400">
                    <a:solidFill>
                      <a:srgbClr val="8A1538"/>
                    </a:solidFill>
                    <a:latin typeface="X5 Sans Medium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R = 1</c:v>
                </c:pt>
                <c:pt idx="1">
                  <c:v>R = 5</c:v>
                </c:pt>
                <c:pt idx="2">
                  <c:v>R = 20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1.3</c:v>
                </c:pt>
                <c:pt idx="1">
                  <c:v>1.96</c:v>
                </c:pt>
                <c:pt idx="2">
                  <c:v>3.19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ED6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.8"/>
          <c:min val="0.0"/>
        </c:scaling>
        <c:delete val="0"/>
        <c:axPos val="l"/>
        <c:majorGridlines>
          <c:spPr>
            <a:ln>
              <a:solidFill>
                <a:srgbClr val="E5E7EB"/>
              </a:solidFill>
            </a:ln>
          </c:spPr>
        </c:majorGridlines>
        <c:numFmt formatCode="&quot;×&quot;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100">
          <a:solidFill>
            <a:srgbClr val="1E5B28"/>
          </a:solidFill>
          <a:latin typeface="X5 Sans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3FA34D"/>
              </a:solidFill>
            </c:spPr>
          </c:dPt>
          <c:dPt>
            <c:idx val="1"/>
            <c:spPr>
              <a:solidFill>
                <a:srgbClr val="D6336C"/>
              </a:solidFill>
            </c:spPr>
          </c:dPt>
          <c:cat>
            <c:strRef>
              <c:f>Sheet1!$A$2:$A$3</c:f>
              <c:strCache>
                <c:ptCount val="2"/>
                <c:pt idx="0">
                  <c:v>A · 1 форма</c:v>
                </c:pt>
                <c:pt idx="1">
                  <c:v>B · 8 форм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2302</c:v>
                </c:pt>
                <c:pt idx="1">
                  <c:v>1180</c:v>
                </c:pt>
              </c:numCache>
            </c:numRef>
          </c:val>
        </c:ser>
        <c:dLbls>
          <c:numFmt formatCode="0&quot; rps&quot;" sourceLinked="0"/>
          <c:txPr>
            <a:bodyPr/>
            <a:lstStyle/>
            <a:p>
              <a:pPr>
                <a:defRPr sz="1600">
                  <a:solidFill>
                    <a:srgbClr val="1E5B28"/>
                  </a:solidFill>
                  <a:latin typeface="X5 Sans Medium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ED6"/>
            </a:solidFill>
          </a:ln>
        </c:spPr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800.0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E5B28"/>
          </a:solidFill>
          <a:latin typeface="X5 Sans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1E5B28"/>
              </a:solidFill>
            </c:spPr>
          </c:dPt>
          <c:dPt>
            <c:idx val="1"/>
            <c:spPr>
              <a:solidFill>
                <a:srgbClr val="7DBE3C"/>
              </a:solidFill>
            </c:spPr>
          </c:dPt>
          <c:cat>
            <c:strRef>
              <c:f>Sheet1!$A$2:$A$3</c:f>
              <c:strCache>
                <c:ptCount val="2"/>
                <c:pt idx="0">
                  <c:v>TurboFan</c:v>
                </c:pt>
                <c:pt idx="1">
                  <c:v>Turbolev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6.6</c:v>
                </c:pt>
                <c:pt idx="1">
                  <c:v>6.8</c:v>
                </c:pt>
              </c:numCache>
            </c:numRef>
          </c:val>
        </c:ser>
        <c:dLbls>
          <c:numFmt formatCode="&quot;×&quot;0.0" sourceLinked="0"/>
          <c:txPr>
            <a:bodyPr/>
            <a:lstStyle/>
            <a:p>
              <a:pPr>
                <a:defRPr sz="1500">
                  <a:solidFill>
                    <a:srgbClr val="1E5B28"/>
                  </a:solidFill>
                  <a:latin typeface="X5 Sans Medium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ED6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5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E5B28"/>
          </a:solidFill>
          <a:latin typeface="X5 Sans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770657-2D3B-3640-9B52-6FDCF467AD05}" type="datetimeFigureOut">
              <a:rPr lang="ru-RU" smtClean="0"/>
              <a:t>30.06.2026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7767DC-5415-7445-8F5F-CC9F58626B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30211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[1.1 · 0.5 мин]</a:t>
            </a:r>
          </a:p>
          <a:p/>
          <a:p>
            <a:r>
              <a:t>Добрый день. Доклад называется «V8 для самых маленьких: что за лев этот турболев?». Если вы читали описание в программе — часть того текста написал агент, и я об этом в самом описании честно пошутил. Что из этого вышло, увидим по ходу. А начнём мы с двух функций.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[1.2 · 1.5 мин]</a:t>
            </a:r>
          </a:p>
          <a:p/>
          <a:p>
            <a:r>
              <a:t>Две версии одной функции normalizeUser. Она берёт сырую запись пользователя — то, что пришло из запроса или из базы, — и возвращает объект с восемью полями. Пять обязательных: id, name, email, plan, credits. Три хвостовых, которых во входе может не быть: referrer, trialUntil, teamId. Сверху версия A: хвостовые поля записаны как raw.referrer ?? null — если значения нет, в объекте лежит null, но само поле есть. Снизу версия B: те же три поля через условный спред — есть значение, ключ появится; нет значения — ключа не будет. Пять верхних строк совпадают буквально, символ в символ. Дифф между ними — три строки внизу. Обе функции корректны: я прогнал их через один и тот же набор входов и посчитал контрольные суммы — совпадают. Тесты зелёные у обеих. Ревьюер, глядя на этот дифф, апрувит оба варианта, и, честно говоря, B ему нравится больше: в ответе нет мусорных null. Я бы тоже пропустил оба.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[1.3 · 1 мин]</a:t>
            </a:r>
          </a:p>
          <a:p/>
          <a:p>
            <a:r>
              <a:t>Теперь прибор. Маленький скрипт из репозитория, lab/shape-analyzer.js, Node 24.21.0, внутри — V8 13.6. Он делает две вещи: сначала собирает этой функцией пятьдесят тысяч объектов и считает, сколько разных форм получилось; потом в горячем цикле читает поля этих объектов и берёт медиану времени одного прохода по всем пятидесяти тысячам — когда код давно разогрет. На экране запись прогона, не живой запуск. A — 0.12 миллисекунды. B — 0.79. Больше чем в шесть раз. Обратите внимание, что именно померено: проход чтения по уже собранным объектам. Сборку этот прибор не меряет — её померим отдельно, и по ходу доклада узнаем, кто из двоих платит: сборка или чтение.</a:t>
            </a:r>
          </a:p>
          <a:p/>
          <a:p>
            <a:r>
              <a:t>— — —</a:t>
            </a:r>
          </a:p>
          <a:p>
            <a:r>
              <a:t>ДЕМО: Запись R1: `node --allow-natives-syntax lab/shape-analyzer.js lab/ref-a.js`, затем то же с `ref-b.js`. Не живой запуск — числа на сцене не мерим.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[1.4 · 1 мин]</a:t>
            </a:r>
          </a:p>
          <a:p/>
          <a:p>
            <a:r>
              <a:t>И ещё одна строка. Беру читателя — функцию, которая читает поля этих объектов, — и включаю --trace-deopt: это журнал моментов, когда движок отказывается от уже скомпилированного кода. Сначала даю читателю записи, где все поля на месте, потом — записи, где хвостовых полей нет. С объектами B в журнале читателя появляется строка: reason: wrong map. С объектами A у читателя такой строки нет — пять прогонов из пяти. Пока это улика, не причина: два английских слова, которые к концу доклада прочтём целиком. Внизу — карта доклада, пока почти пустая. Двенадцать шагов, под каждым две строки: что на этом шаге у A и что у B. Сейчас горит только первый шаг — наши две функции и два числа. Обещаю две вещи: сначала пойдём вправо, вслед за вызовами функции, и дойдём до числа на сервере; потом вернёмся к тому, кто пишет B. А лев из описания появится, когда спросим, надолго ли правила. Первый вопрос: где они расходятся, если делают одно и то же и результат одинаковый?</a:t>
            </a:r>
          </a:p>
          <a:p/>
          <a:p>
            <a:r>
              <a:t>— — —</a:t>
            </a:r>
          </a:p>
          <a:p>
            <a:r>
              <a:t>ДЕМО: Запись R2: `node --allow-natives-syntax --trace-deopt lab/demo-wrongmap.js lab/ref-b.js | grep "JSFunction score"` и то же для ref-a. Фильтр по имени читателя обязателен: в самой normalizeUser `wrong map` есть у обеих версий (меняется форма входной записи).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2.</a:t>
            </a:r>
          </a:p>
          <a:p/>
          <a:p>
            <a:r>
              <a:t>Где расходятся, если делают одно и то же и результат одинаковый?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[2.1 · 1.5 мин]</a:t>
            </a:r>
          </a:p>
          <a:p/>
          <a:p>
            <a:r>
              <a:t>Расходятся они в том, чего в коде не видно: в описании объекта, которое движок заводит сам. Первый термин доклада — форма. Когда V8 создаёт объект, он не хранит имена полей внутри самого объекта. Он заводит отдельное внутреннее описание: какие поля, в каком порядке добавлены, где какое лежит. По-английски это hidden class, а в трейсе, который мы видели минуту назад, это слово map — map и форма одно и то же. Вы форму нигде не объявляете, движок выводит её сам из того, как объект собирали. Главное свойство: объекты, собранные одинаково — те же поля в том же порядке, — делят одно описание на всех. Движок хранит его один раз и ссылается; ему не нужно каждый раз заново выяснять, где лежит поле email: он один раз посмотрел на форму и знает. Смотрим на A. Восемь полей, всегда одни и те же, всегда в одном порядке. Значение может быть null, но ключ на месте. Сколько форм создаёт A? Одну. Миллион объектов — одно описание.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[2.2 · 1 мин]</a:t>
            </a:r>
          </a:p>
          <a:p/>
          <a:p>
            <a:r>
              <a:t>Смотрим на B. Пять полей всегда, три — по условию. Каждое добавленное поле — шаг по цепочке описаний. У A эта цепочка одна и та же для всех объектов, поэтому все приходят к одной форме. У B после пяти обязательных полей — развилка: referrer либо есть, либо нет. Потом вторая: trialUntil. Потом третья: teamId. Два в кубе — восемь листьев. Объект без хвоста, объект только с referrer, объект с referrer и teamId, и так далее. Восемь разных наборов ключей — восемь форм. Ровно восемь: в реальных входах встречаются все сочетания. Данных бесконечно много, а описаний, которые движок вынужден завести и различать, — восемь. Ни один из этих объектов не неправильный — контрольная сумма это подтвердила. Просто движок видит восемь описаний вместо одного.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[2.3 · 1 мин]</a:t>
            </a:r>
          </a:p>
          <a:p/>
          <a:p>
            <a:r>
              <a:t>Проверим живьём. Запускаю Node с флагом --allow-natives-syntax — он открывает служебные функции движка, те, что начинаются с процента; в проде их нет, это только для таких проверок. Одна из них — %HaveSameMap: принимает два объекта и отвечает, одной ли они формы. Собираю два объекта через A на разных входах — с referrer и без — true, форма одна. Собираю два через B на тех же входах — false, формы разные. Перебираю все сочетания присутствия трёх полей: у A так и остаётся одна форма, у B их набирается восемь. Если живой запуск подведёт — у меня есть скрин того же вывода, и мы идём дальше без второй попытки.</a:t>
            </a:r>
          </a:p>
          <a:p/>
          <a:p>
            <a:r>
              <a:t>— — —</a:t>
            </a:r>
          </a:p>
          <a:p>
            <a:r>
              <a:t>ДЕМО: LIVE №1 (критический путь): запускается готовый `lab/demo-samemap.js` одной командой, код на сцене не набирать. Упало — не повторять: вывод уже на слайде. На ноутбуке запускать из контейнера (`docker/run.sh`) или из копии lab вне репо — корневой package.json с `type: module` ломает require.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[2.4 · 0.5 мин]</a:t>
            </a:r>
          </a:p>
          <a:p/>
          <a:p>
            <a:r>
              <a:t>Один против восьми — проверено. На карте загорается второй шаг — форма объекта: у A одна, у B восемь. С этого шага строки A и B на карте больше не совпадут ни разу. Вот она, развилка из трёх строк — и случается она в момент сборки объекта. Отсюда следующий вопрос: восемь описаний вместо одного — это и есть цена? Собирать объект восемью способами дороже, чем одним?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3.</a:t>
            </a:r>
          </a:p>
          <a:p/>
          <a:p>
            <a:r>
              <a:t>Восемь описаний вместо одного — это и есть цена? Собирать восемью способами дороже?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[3.1 · 1.5 мин]</a:t>
            </a:r>
          </a:p>
          <a:p/>
          <a:p>
            <a:r>
              <a:t>Нет. И это первое место, где ожидание не сходится с замером. Я взял прибор побольше — покажу его целиком через несколько узлов — и разделил время запроса по стадиям. Стадия сборки, то, что делает сама normalizeUser. Здесь честно два числа. Если восемь форм получаются через if после литерала — так пишет агент, до него дойдём, — сборка стоит от 0.93 до 1.02 от одноформной: столько же, в пределах шума. Сами по себе восемь форм сборку не удорожают. Если через условный спред, как B с первого слайда, — сборка дороже примерно в 1.6 раза: это цена самого спреда, не форм. А стадия чтения — та, где поля этих объектов читают, — у обеих записей дороже одинаково: в пять с лишним раз. И чтений в сервисе много, а сборка одна. Значит, главное расхождение — не там, где объект собирают, а там, где его читают. Это отвечает и на частый вопрос: «объекты создаются в одном месте, а читаются в тридцати — где искать?» В тридцати. Итак, платит чтение. Почему?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[3.2 · 1.5 мин]</a:t>
            </a:r>
          </a:p>
          <a:p/>
          <a:p>
            <a:r>
              <a:t>Почему — второй термин. В каждом месте кода, где читается поле — вот эта точка u.plan в функции-читателе, — движок держит маленькую память: с какими формами это место уже работало. Она привязана к строке кода, у самого объекта её нет. По-английски inline cache. Видело место одну форму — состояние мономорфное, MONO: движок знает, где у этой формы лежит plan, одна проверка и одно чтение из памяти — быстрый путь. Две, три, четыре формы — полиморфное, POLY: короткий список, сравнили и взяли. Приходит пятая форма — список отбрасывается, и место чтения уходит в общий словарь, где по имени поля и форме ищется адрес: мегаморфное, MEGA, общий путь. Слева читатель объектов из A видел одну форму — MONO. Справа читатель объектов из B видит восемь, больше четырёх — MEGA. Тот же текст читателя, то же место u.plan; разница только в том, что в него приходит. У B каждое чтение поля идёт через словарь — каждое. В чистом виде, когда меряется только чтение, — третий эксперимент: MEGA против MONO — около трёх раз, от 2.7 до 3.4 в зависимости от версии Node. В ощущении: на чтение объектов уходила секунда процессора — теперь около трёх.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[3.3 · 1 мин]</a:t>
            </a:r>
          </a:p>
          <a:p/>
          <a:p>
            <a:r>
              <a:t>Это можно увидеть глазами. Флаг --log-ic пишет журнал состояний мест чтения; старый --trace-ic удалён из V8 в 9.4 — если вы нагуглили его в статье десятилетней давности, Node ответит «bad option». На экране строки из журнала для B — скрин, не живой запуск: LoadIC по полю, и состояние меняется: сначала 1, мономорфное, потом P, полиморфное, потом N, мегаморфное. У A журнал останавливается на первой строке. Одна оговорка: эту память движок заводит с первых вызовов читателя, ещё до того, как код станет горячим. В журнале это видно по полю plan: первая форма — 1, вторая — P, на пятой новой форме — N. То есть до MEGA читатель B доходит сразу, как только увидел пятую форму, — задолго до любого компилятора. На карте это третий шаг — место чтения: у A — MONO, у B — MEGA. И в шапке справа заполнилась вторая строка.</a:t>
            </a:r>
          </a:p>
          <a:p/>
          <a:p>
            <a:r>
              <a:t>— — —</a:t>
            </a:r>
          </a:p>
          <a:p>
            <a:r>
              <a:t>ДЕМО: Скрин R4, не live: `--log-ic` без `--no-logfile-per-isolate` пишет файл с адресом изолята в имени. Старый `--trace-ic` удалён из V8 9.4.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[3.4 · 1 мин]</a:t>
            </a:r>
          </a:p>
          <a:p/>
          <a:p>
            <a:r>
              <a:t>Итог узла. Цена объяснена: восемь форм, место чтения уходит на общий путь, шесть с лишним раз. Улика из хука — wrong map — ещё не прочитана: у нас есть только половина, map — это форма; что такое wrong, впереди. И два вопроса на следующие блоки. Первый: всё, что я показал, — память мест чтения, она работает с первых вызовов. Но горячий код V8 компилирует, и компилятор умный. Спасёт ли компилятор B — или скомпилированный код платит тот же налог? Второй: если платит каждое чтение, то в сервисе цена должна расти с числом чтений — один раз прочитали, заплатили один раз; двадцать раз — двадцать. Проверим на настоящем запросе, где перед normalizeUser стоит JSON.parse, а после — база и сеть. Сначала — компилятор.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ПЕРЕДЫШКА, 5 секунд. Два шага движка позади: форма и место чтения. Впереди — компилятор и сервер.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4.</a:t>
            </a:r>
          </a:p>
          <a:p/>
          <a:p>
            <a:r>
              <a:t>Спасёт ли компилятор B от налога?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[4.1 · 1 мин]</a:t>
            </a:r>
          </a:p>
          <a:p/>
          <a:p>
            <a:r>
              <a:t>Нет, компилятор не спасает. Числа с первого слайда — 0.12 и 0.79 — сняты в горячем цикле: функцию к этому моменту вызвали много раз, она давно скомпилирована. Скомпилированный код B платит тот же налог: восемь форм на входе читателя никуда не делись, словарь никуда не делся. Компилятор работает с теми записями мест чтения, которые накопились, — а у B они испорчены с первых вызовов. Но у компилятора есть кое-что своё — и именно там живёт улика из хука. Чтобы это увидеть, посмотрим, как движок поднимает функцию по вызовам: от первого к десятитысячному. Верхняя ступень этого подъёма — та, которую описание доклада называет уходящей. Льва встретим позже — когда спросим, надолго ли правила.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[4.2 · 1.5 мин]</a:t>
            </a:r>
          </a:p>
          <a:p/>
          <a:p>
            <a:r>
              <a:t>Одну и ту же функцию V8 за её жизнь исполняет четырьмя способами по очереди — чем чаще её вызывают, тем дороже способ и тем быстрее код. Каждый такой способ — ярус, по-английски tier. На экране ось: сколько раз вызвали функцию, Node 24, V8 13.6. Первый вызов — интерпретатор Ignition: функция переведена в байткод, вот три его строки, машинного кода нет. С восьмого вызова движок заводит функции записи мест чтения — это номинал из флагов V8. Дальше — Sparkplug: простой компилятор, байткод в машинный код за один проход, без оптимизаций. Потом Maglev, первый оптимизирующий: номинал — четыреста вызовов. И TurboFan: номинал — три тысячи. Это номиналы; на деле движок считает не вызовы, а бюджет, который расходуется исполненным байткодом, и ждёт, пока записи устоятся. Я замерил на своём маленьком читателе: Sparkplug — примерно на семисотом вызове, Maglev — около тысячи, TurboFan — около тринадцати с половиной тысяч. У функции с циклом внутри вызовов до подъёма будет меньше. Запоминать эти числа не нужно; нужен порядок: сотни, тысяча, больше десяти тысяч.</a:t>
            </a:r>
          </a:p>
          <a:p/>
          <a:p>
            <a:r>
              <a:t>— — —</a:t>
            </a:r>
          </a:p>
          <a:p>
            <a:r>
              <a:t>ДЕМО: Скрин R5: `node --print-bytecode --print-bytecode-filter=normalizeUser`. Не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[4.3 · 0.75 мин]</a:t>
            </a:r>
          </a:p>
          <a:p/>
          <a:p>
            <a:r>
              <a:t>Что даёт каждая ступень. Я взял одну функцию и запирал её на ярусе флагом --max-opt: ноль — только интерпретатор, один — до Sparkplug, два — до Maglev, три — весь путь. Время прогона: интерпретатор — 505 миллисекунд, Sparkplug — 775, Maglev — 70, TurboFan — 38. То, что вершина делает за тридцать восемь миллисекунд, интерпретатор делает почти полсекунды — в тринадцать раз. Одна честная оговорка: на этой машине — arm64 — Sparkplug на этой функции вышел медленнее интерпретатора; на x64 в CI он, как и положено, быстрее на четверть. Объяснения у меня нет, показываю как намерил. На обеих архитектурах скачок дают оптимизирующие ярусы: от Sparkplug к Maglev — в пять–десять раз. Компиляция дорогая, поэтому движок и ждёт: она окупается только на горячем коде. Подчеркну: это одна функция на разных ярусах, не A против B. Лестница у A и B одна.</a:t>
            </a:r>
          </a:p>
          <a:p/>
          <a:p>
            <a:r>
              <a:t>— — —</a:t>
            </a:r>
          </a:p>
          <a:p>
            <a:r>
              <a:t>ДЕМО: Числа из `docker/tier-bench.js`. Не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[4.4 · 0.75 мин]</a:t>
            </a:r>
          </a:p>
          <a:p/>
          <a:p>
            <a:r>
              <a:t>Вот что своё у верхних ярусов. Ignition и Sparkplug сами ничего о формах не предполагают: смотрят в записи места чтения и идут тем путём, который там записан, — быстрым или через словарь. Maglev и TurboFan читают те же записи и вшивают увиденное в машинный код: «сюда приходит эта форма, поле plan лежит по такому смещению». Проверка формы — одно сравнение, чтение — одна инструкция. Это и есть ставка: компилятор ставит на то, что в это место приходит одна форма. B доходит до Maglev с восемью формами. Что происходит со ставкой?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5.</a:t>
            </a:r>
          </a:p>
          <a:p/>
          <a:p>
            <a:r>
              <a:t>B доходит до Maglev с восемью формами. Что происходит со ставкой?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[5.1 · 1.5 мин]</a:t>
            </a:r>
          </a:p>
          <a:p/>
          <a:p>
            <a:r>
              <a:t>Происходит то, что мы видели на первом слайде, — только теперь мы можем это прочитать. Смотрим на A. Читатель объектов A доходит до Maglev, в записях одна форма, компилятор её вшивает: одна проверка, одно чтение. Ставка играет каждый вызов; TurboFan потом делает то же ещё плотнее. Смотрим на B. Читатель объектов B тоже доходит до оптимизирующего яруса. Пока шли записи, где все поля на месте, он видел одну форму — и компилятор вшил ставку на неё, как у A. Потом приходит запись без хвостового поля: у A форма та же, у B — другая. Проверка не проходит. Это и есть строка из хука: reason: wrong map — «не та форма»: код ждал одну, пришла другая. Дальше движок выбрасывает оптимизированный код и возвращает функцию в интерпретатор — это деоптимизация, деопт. Записи мест чтения обновляются, через какое-то время функцию компилируют заново, уже с учётом новой формы. Вот эта строка на экране — с прогона читателя на объектах B; у читателя на A её нет. Оговорка: в самой normalizeUser такая строка есть у обеих версий — там меняется форма входной записи, это другая история; смотрим только на читателя.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[5.2 · 1.5 мин]</a:t>
            </a:r>
          </a:p>
          <a:p/>
          <a:p>
            <a:r>
              <a:t>В моём прогоне откат у читателя один: после него записи знают уже несколько форм, функцию компилируют заново — и на этот раз без ставки на одну форму: чтение идёт через общий путь, словарь. А если читатель с первого вызова видит все восемь форм — как в приборе из первой минуты, — ставки нет вовсе, и отката тоже нет: в приборе у читателя B ни одного wrong map, он один раз скомпилирован TurboFan — и всё равно в шесть с лишним раз медленнее. Компилятор честно делает лучшее, что можно сделать с восемью формами: оптимизировать здесь нечего. С этого момента B работает стабильно — на общем пути, на каждом чтении. Одна честная подпись. Медленный B — это установившийся общий путь, а не деопты. Деопт — событие: оно случается и заканчивается; петли здесь нет. Общий счётчик деоптов по всему процессу я как метрику забраковал: он засорён фоном самого харнесса — у варианта с одной формой разбегался сильнее, чем у варианта с восемью; поэтому смотрю только на читателя, по имени функции. Цена, которую мы мерили, — 0.79 против 0.12 — это цена общего пути: читатель у обеих версий оптимизирован TurboFan, это проверено. В шапке справа заполнилась третья строка — путь: быстрый у A, общий у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[5.3 · 1 мин]</a:t>
            </a:r>
          </a:p>
          <a:p/>
          <a:p>
            <a:r>
              <a:t>Улика из хука прочитана целиком. Map — это форма, из второго узла: описание объекта, которое движок заводит сам. Wrong — это ставка оптимизирующего яруса, из четвёртого узла. Строка на B говорит: компилятор читателя ждал одну форму, а из B пришло восемь. И одна строка про возраст. Формы и записи мест чтения — с первого релиза V8, 2008 год: они описаны как основа дизайна в первом проектном документе. Все ступени лестницы — интерпретатор, Sparkplug, Maglev, TurboFan — появились позже; записи старше каждой из них. Запомните этот год, он вернётся, когда дойдём до льва. Судьбы установились — в цикле, в вакууме: одна функция, вызванная подряд много раз. А в сервисе, где есть JSON.parse, база и сеть, — сколько от этих шести раз доживает?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ПЕРЕДЫШКА, 5 секунд. Движок пройден от файла до ставки. Дальше — сервер, а потом тот, кто написал текст.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6.</a:t>
            </a:r>
          </a:p>
          <a:p/>
          <a:p>
            <a:r>
              <a:t>Судьбы установились в цикле. А в сервисе, где JSON.parse, база и сеть — сколько от этих шести с лишним раз доживает?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[6.1 · 2.5 мин]</a:t>
            </a:r>
          </a:p>
          <a:p/>
          <a:p>
            <a:r>
              <a:t>Поэтому — прибор побольше. Внутри — и сборка, и чтение, а вокруг них всё, что есть в обычном сервисе. Файл на двести тысяч записей, по JSON-строке на пользователя, всё сгенерировано от индекса — воспроизводимо. Запрос: распарсить батч — нормализовать нашей функцией — обработать — сериализовать ответ. Обработка — это R проходов чтения по объектам: статистика, фильтр, обогащение; R я кручу. Каждая ячейка — отдельный процесс Node, чтобы записи мест чтения не перетекали между вариантами; прогрев триста запросов, замер тысяча, пять повторов, медиана. Контрольная сумма сошлась во всех ста пятидесяти ячейках. Пара функций та же по форме — одна против восьми, — но код другой; чей — в следующей главе. В третьем узле было предсказание: если платит каждое чтение, цена растёт с числом чтений. Вот кривая. Один проход — B дороже на 29–31 процент на весь запрос, включая парсинг. Пять проходов — почти в два раза. Двадцать — от 3.1 до 3.3 раза: батч из пяти тысяч записей, который у A занимал три с половиной миллисекунды, у B занимает одиннадцать. Размер батча ни при чём: 500 и 5000 дают одни и те же проценты. Ручка одна — число чтений. Доля парсинга падает с двух третей запроса у A при одном проходе до десяти процентов у B при двадцати: чем больше логики после JSON.parse, тем меньше он маскирует эффект. Два дополнения. Усилитель: в обработке есть обогащение спредом — {...u, score}; производный объект наследует форму источника, восемь форм на входе дают восемь форм у потомков, и за них платят сборка, чтение и сортировка. Отдельного числа нет, это механизм. И сериализация: JSON.stringify на объектах B в 1.3–1.6 раза медленнее, хотя B пишет меньше байт — в нём нет null-полей. Меньше данных — медленнее.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[6.2 · 1.5 мин]</a:t>
            </a:r>
          </a:p>
          <a:p/>
          <a:p>
            <a:r>
              <a:t>И теперь сеть — чтобы не осталось «в вакууме». Тот же конвейер за node:http, autocannon: 50 соединений, 20 секунд, батч тысяча, пять проходов чтения. Вот запись прогона. A — 2302 запросов в секунду. B — 1180. Почти в два раза — 1.95: та же машина отвечает на 1180 запросов вместо 2302. Медиана задержки — 21 миллисекунда против 41. И 99-й перцентиль — задержка, хуже которой только один запрос из ста, p99: 42 против 82, плюс 95 процентов; уезжает не только середина, но и хвост. Это согласуется с матрицей: при пяти проходах на изолированном конвейере было почти ×2 — и под нагрузкой те же почти ×2. Оговорка про стенд: autocannon стоял на той же машине, абсолютные числа занижены, относительное сравнение честное. И заметьте: A отдаёт больше байт в каждом ответе — null-поля в JSON — и всё равно держит больше запросов. На карте мы дошли до шестого шага — сервер: 2302 против 1180. В шапке справа заполнено всё, кроме автора.</a:t>
            </a:r>
          </a:p>
          <a:p/>
          <a:p>
            <a:r>
              <a:t>— — —</a:t>
            </a:r>
          </a:p>
          <a:p>
            <a:r>
              <a:t>ДЕМО: Запись R7: `lab/real/bench-http.sh` (в контейнере — шаг 6 `docker/verify.sh`). Не live: autocannon на той же машине, 20 секунд на вариант.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[6.3 · 2 мин]</a:t>
            </a:r>
          </a:p>
          <a:p/>
          <a:p>
            <a:r>
              <a:t>Границы — честно, для тех, кто уже собрался переписывать всё. Первое: приём данных без чтений — распарсили, нормализовали, положили в базу или очередь. Проходов чтения около нуля. В сетке такого нет, но тренд ясен: при одном проходе парсинг, сборка и сериализация занимают у A около 95 процентов запроса; убрать чтение — и разница между версиями сжимается до шести–десяти процентов, если условные ключи добавлены через if, и до тринадцати–восемнадцати, если через спред: восемь форм чуть дороже сериализуются, а спред дороже собирается. Второе: сервис, который ждёт базу десятки миллисекунд. Доля миллисекунды процессора на батч там не видна ни в медиане, ни в хвосте. Возражение «всё равно упрётся в базу» принимаю — в этом профиле оно верно. Третье: маленькие батчи при одном проходе. Числа микроскопические — 0.17 против 0.22 миллисекунды на пятьсот записей; важно только на масштабе, который HTTP-стенд и показал. И оговорка про прибор: моя обработка плотная, четыре потребителя читают почти все поля на каждом проходе. Реальный код с одним-двумя чтениями поля ближе к R=1, чем к R=20, — калибруйте R на свой профиль. Итог: если код читает то, что нормализовал, — от трети до трёх с лишним раз; если только складывает — единицы процентов. Путь «по вызовам» пройден: от сборки объекта до сервера. Заметьте: движок с первого вызова не сделал ни одного выбора — смотрел, запоминал, ставил на то, что видел, одинаково честно для A и B. Единственный выбор — как собрать объект — сделан в тексте до первого вызова. Кто написал B, и почему ревью пропустило?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Резервный слайд — на вопрос «а как вы это мерили» и «чем это отличается от прода». Сверху — как устроен замер: одна среда, Docker с запиннутым образом Node 24 на alpine, как в проде; каждая ячейка матрицы — отдельный процесс, чтобы записи мест чтения не перетекали между вариантами; прогрев триста итераций, замер тысяча, пять повторов, беру медианы; и контрольная сумма результата — она совпала у A и B во всех ста пятидесяти ячейках, то есть сравниваю я эквивалентный код. Снизу — где легко соврать, и на все четыре грабли я наступил сам. Первое: гонять кейсы подряд в одном процессе — именно так совет «try/catch дорогой» получает свои «в три раза». Второе: читать трейс деоптимизаций без фильтра — строка wrong map есть и у A, только не в читателе, а в самой normalizeUser и в обёртке модуля. Третье: помеха на старте прогона — первая серия у меня показала три с половиной миллисекунды вместо ноль восьми; я её забраковал и перемерил с контрольным замером эталона до и после. Четвёртое: чужая архитектура — эмуляция x64 на маке искажает JIT, поэтому настоящий x64 я гонял в CI, тем же образом и тем же скриптом: направление то же, множители чуть ниже. И главное: микробенч — не прод. Поэтому после прибора идёт пайплайн с парсингом и сериализацией, а после него — HTTP под нагрузкой.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7.</a:t>
            </a:r>
          </a:p>
          <a:p/>
          <a:p>
            <a:r>
              <a:t>Движок с первого вызова не сделал ни одного выбора. Единственный выбор — как собрать объект — сделан в тексте. Кто написал B, и почему ревью пропустило?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[7.1 · 1.5 мин]</a:t>
            </a:r>
          </a:p>
          <a:p/>
          <a:p>
            <a:r>
              <a:t>Поэтому возвращаемся назад — к тому, что было до первого вызова: откуда вообще взялся текст функции. В шапке справа с первой минуты висит пустая строка «автор». Эксперимент первый. Я взял тот же тикет, каким его пишут в трекере: «нормализуй запись пользователя; обязательные поля — id, name, email, plan, credits; опциональные — referrer, trialUntil, teamId; дефолты такие-то». Слова «производительность» в тикете нет. Отдал агенту: claude -p, модель opus, на каждый запрос свежая сессия — предыдущие ответы модель не видит. Один ответ агента на тикет я дальше называю генерацией. Четыре ветки по пятнадцать — шестьдесят генераций. Прибор тот же shape-analyzer, и до прогона я проверил его на A и B из первой минуты: 0.12 и 0.79 — те же числа, что вы видели в первую минуту. Прибор различает то, что должен. На экране запись одной такой генерации: тикет, ответ агента, прибор. А мы посмотрим сразу на тридцать. Сегодня — только половина результата, ветки без правил; вторую половину покажу через две главы.</a:t>
            </a:r>
          </a:p>
          <a:p/>
          <a:p>
            <a:r>
              <a:t>— — —</a:t>
            </a:r>
          </a:p>
          <a:p>
            <a:r>
              <a:t>ДЕМО: Запись R8 по умолчанию; живьём — только при уверенной сети, лимит ожидания 60 секунд, без второй попытки.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[7.2 · 1.5 мин]</a:t>
            </a:r>
          </a:p>
          <a:p/>
          <a:p>
            <a:r>
              <a:t>Тридцать генераций из тридцати — MEGA. Восемь форм у каждой. Медиана горячего цикла — 0.79 миллисекунды, разброс от 0.76 до 0.83 — почти нулевой. И при этом ноль битых и ноль некорректных из всех шестидесяти: код извлёкся, запустился, контрольная сумма сошлась у каждой генерации. Это важно для вопроса про ревью, который прозвучал в конце прошлой главы. Код корректный. Он читаемый, с проверками на null, с дефолтами — по виду лучше среднего PR. Ревьюер его пропустит; я бы пропустил, и, судя по лицам, вы тоже. Ни один тест и ни один ревью-чеклист не смотрят на число форм — в диффе этого не видно. Поэтому ответ на «почему ревью пропустило» простой: ревью смотрело на значения, а цена сидит в наборе ключей. Как это не написать самому — в главе про правила. Сейчас — как именно агент это пишет.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[7.3 · 2 мин]</a:t>
            </a:r>
          </a:p>
          <a:p/>
          <a:p>
            <a:r>
              <a:t>Вот как он это пишет — и здесь две записи, одна судьба. Я ожидал увидеть спред, как в B с первого слайда. Спреда — ноль из тридцати. Object.assign — ноль из тридцати. Все тридцать пишут одно и то же: литерал из пяти обязательных полей, а после него три строки — if (src.referrer != null) result.referrer = src.referrer. Ключ дописывается после создания объекта, только если есть значение; в результатах эксперимента этот приём назван if-guard. Ставлю рядом с B с первого слайда, три строки против трёх. Буквы другие. Судьба та же: набор ключей тот же самый, три поля по условию, два в кубе — восемь форм, потому что каждое дописывание ключа переводит объект в новую форму. Движку всё равно, спредом добавлен ключ или присваиванием, — он считает ключи. И B с первого слайда со своими 0.79 попадает точно внутрь диапазона генераций — между 0.76 и 0.83. Другой код той же формы. Агент пишет тот же класс из восьми форм другими буквами. Та генерация с записи — она такая же: восемь форм, MEGA, литерал плюс три 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[7.4 · 1 мин]</a:t>
            </a:r>
          </a:p>
          <a:p/>
          <a:p>
            <a:r>
              <a:t>Тот же класс из восьми форм стоял и в сервисе — раскрытие про прошлую главу, обещал. Медленная половина пары, 1180, — guard-llm: первая генерация из ветки без правил, файл out/p1-no-rules/candidate_1.js, как есть, без правок. Напарника назову, когда дойдём до правил. Контроль формулировки одной строкой: ветка P2 — «поля могут отсутствовать, перед обработкой в сервисе» — дала те же пятнадцать из пятнадцати MEGA; изменилась обработка значений, решение «класть ли ключ» — нет. Оговорка: один вендор, одна модель, пятнадцать на ветку — на «все LLM» не обобщаю. В шапке справа появился автор B — агент без правил, тридцать из тридцати. Автор A — по-прежнему знак вопроса. Код корректный, а форм восемь. Почему агент по умолчанию пишет так — откуда идиома?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8.</a:t>
            </a:r>
          </a:p>
          <a:p/>
          <a:p>
            <a:r>
              <a:t>Код корректный, а форм восемь. Почему агент по умолчанию пишет так — откуда идиома?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[8.1 · 1.5 мин]</a:t>
            </a:r>
          </a:p>
          <a:p/>
          <a:p>
            <a:r>
              <a:t>Потому что так написан корпус — текст, на котором агент учился: туториалы, ответы на Stack Overflow, чужие код-ревью, правила линтеров. «Не клади в объект ключ, если значения нет» — стилевая норма этого текста: чистый JSON, нет мусорных null, меньше байт в ответе. Норма — про ключ, буквы в ней не прописаны: спред и if — две записи одной нормы, агент выбрал одну из них. Тридцать из тридцати без единого примера кода в промпте — только словесное описание полей. Это норма. Как часто она встречается в самом корпусе — нет замера: корпус закрыт, я вижу только выход, и выход стопроцентный. В том же корпусе, рядом со стилевыми нормами, лежат советы про производительность V8. Живые и мёртвые вперемешку, с одинаково уверенной интонацией и одинаковыми бенчмарками в статьях. Снаружи не отличить. Отличить можно одним способом — прогнать на движке. Я прогнал.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[8.2 · 1.5 мин]</a:t>
            </a:r>
          </a:p>
          <a:p/>
          <a:p>
            <a:r>
              <a:t>Прогнал матрицей — это третий эксперимент: популярные утверждения про V8, каждое на Node 20, 22 и 24, каждый кейс в отдельном процессе, по пять повторов. Таблицу целиком показывать не буду. Одна строка крупно, та самая, вокруг которой весь доклад: чтение объектов восьми форм против одной — ×3.4 на Node 22, ×2.7 на Node 24. На Node 20 замер у меня двоится — ×3.6 в одном прогоне из пяти и ×14 в остальных, — поэтому число не называю. Каждое чтение поля стоит как три. Кратность разная, знак один на всех версиях — это признак живого правила. Ещё одно живое, оно понадобится в правилах: delete. Удалили поле — движок переводит объект в словарный режим: у объекта больше нет формы, поля ищутся по имени в хеш-таблице; по-английски dictionary mode. Чтение дорожает в десять раз на Node 20 и почти в тридцать на Node 22 и 24 — одно чтение стоит как десять–тридцать. Кратность плывёт между версиями, но остаётся кратной везде.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[8.3 · 2 мин]</a:t>
            </a:r>
          </a:p>
          <a:p/>
          <a:p>
            <a:r>
              <a:t>Мёртвое — например, «try/catch дорогой, не заворачивайте горячий код». В наивном бенче, где кейсы гоняются друг за другом в одном процессе, — ×2.8–3.0, совет подтверждается, статья готова. В изолированных процессах — 14 миллисекунд против 14. Разницы нет. Кратность была артефактом самого бенча: записи мест чтения первого кейса заражали второй. Совет жив в корпусе и мёртв в движке — и никто в корпусе его не помечает. Сколько ещё таких — не знаю; среди тех, что я проверил, этот оказался артефактом. Теперь стык двух половин — здесь матрица возвращается к объектам. Норма «условный ключ» нарушает живое правило про формы — то самое, около ×3 на всех версиях, строку, что только что была крупно. А агент живое от мёртвого не отличает: у него нет матрицы, у него есть частота. Он выбирает то, что встречается чаще; проверка на V8 13.6 в этот выбор не входит. Здесь у меня реальный оппонент — фразу «AI пишет плохой код» я слышу на каждой конференции. Нет: ноль некорректных из шестидесяти. Агент воспроизводит идиоматику корпуса, живую и мёртвую, без прибора, который их разделяет. Остальное из матрицы — заражение общего процесса и дырявые массивы — оставлю на вопросы; Node 22 с 22.9 без Maglev — в PITFALLS. На карте это восьмой шаг — корпус: живое и мёртвое лежат рядом. Если агент сам не отличает — можно ли положить ему живое? И поменяет ли это форму, а не только слова?</a:t>
            </a:r>
          </a:p>
          <a:p/>
          <a:p>
            <a:r>
              <a:t>— — —</a:t>
            </a:r>
          </a:p>
          <a:p>
            <a:r>
              <a:t>ДЕМО: Скрин прогонов `demos/myths/trycatch-myth.js` в трёх режимах. Не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ПЕРЕДЫШКА, 5 секунд. Путь по вызовам закрыт числом на сервере, а назад, к автору текста, мы дошли до корпуса. Осталось: правила, лев и карта целиком.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9.</a:t>
            </a:r>
          </a:p>
          <a:p/>
          <a:p>
            <a:r>
              <a:t>Если агент не отличает живое от мёртвого сам — можно ли положить ему живое? И поменяет ли это форму, а не только слова?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[9.1 · 2 мин]</a:t>
            </a:r>
          </a:p>
          <a:p/>
          <a:p>
            <a:r>
              <a:t>Поэтому — вторая половина эксперимента. Сначала что именно положить. Контракт — файл v8-rules.md, одна страница. В нём семь пунктов; по смыслу это четыре правила — то, что пережило матрицу. И сразу честно: в первом пункте есть пример кода — запрещённая запись с условным спредом и правильная, с null. Первое: объект одного назначения собирается с одним набором полей в одном порядке; нет значения — null. Первая половина правила — весь доклад, один против восьми. Вторая половина, «в одном порядке», — я думал, это педантизм. Она тоже деньги, и у неё своё число. Две реализации, обе кладут все восемь полей, но в разном порядке — как если бы два модуля писали два агента без общего стиля, — и объекты идут в один поток; в лаборатории это вариант mixed-mono. На потоке это две формы. Чтение в 1.39–1.52 раза дороже, весь запрос при двадцати проходах — плюс 20–28 процентов, на HTTP — 2005 запросов в секунду, минус тринадцать процентов. Каждый модуль по отдельности идеален, сумма — на пятую часть дольше. Второе: после создания поля не добавляются и не удаляются. Удаление — словарный режим, ×10–30, вы это только что видели; добавление — те самые три if из главы про агента. Третье: массивы однородные, один тип элементов. Четвёртое: аргументы и возвраты функций держат стабильные типы. В файле эти четыре правила расписаны на семь пунктов: про массивы отдельно сказано «без дырок», про типы — отдельно про числа и про горячие функции. Больше там ничего нет.</a:t>
            </a:r>
          </a:p>
          <a:p/>
          <a:p>
            <a:r>
              <a:t>— — —</a:t>
            </a:r>
          </a:p>
          <a:p>
            <a:r>
              <a:t>ДЕМО: Файл `lab/v8-rules.md`: семь пунктов, по смыслу четыре правила; в первом пункте есть пример кода. Показывать как есть.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[9.2 · 1.5 мин]</a:t>
            </a:r>
          </a:p>
          <a:p/>
          <a:p>
            <a:r>
              <a:t>Тот же агент, те же два тикета, тот же прибор. В контекст добавлен файл правил — инлайном, целиком. Запускаю одну генерацию живьём, уже с правилами; пока агент думает, результат тридцати. Тридцать из тридцати — MONO. Одна форма у каждой. Медиана 0.12 миллисекунды в обеих ветках, разброс от 0.12 до 0.13. Против 0.79 без правил — в 6.7 раза. Диапазоны не пересекаются: худшая генерация с правилами, 0.13, быстрее лучшей без правил, 0.76, почти в шесть раз. Ни одной POLY, ни одной промежуточной генерации: либо восемь форм, либо одна. В ощущение — через функцию, как обещал: функция, которая на горячем чтении отвечала за 0.79 миллисекунды, отвечает за 0.12. Тот же агент, тот же тикет; разница — одна страница текста в контексте. Теперь посмотрим, что именно он написал.</a:t>
            </a:r>
          </a:p>
          <a:p/>
          <a:p>
            <a:r>
              <a:t>— — —</a:t>
            </a:r>
          </a:p>
          <a:p>
            <a:r>
              <a:t>ДЕМО: LIVE №2 (критический путь): генерация с правилами через прибор. Ожидание дольше 60 секунд — сразу запись R9, без второй попытки.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[9.3 · 1.5 мин]</a:t>
            </a:r>
          </a:p>
          <a:p/>
          <a:p>
            <a:r>
              <a:t>Как выглядит код с правилами. Опять одна идиома, тридцать раз, и это уже другая идиома: единый литерал со всеми восемью полями, referrer: src.referrer != null ? src.referrer : null. Ни одного if после литерала — условное дописывание, которое стояло во всех тридцати без правил, исчезло полностью. Ключ всегда есть, отсутствующее — null. Файл out/p1-rules/candidate_1.js. Ставлю рядом A из первой минуты, три строки против трёх. Буквы другие — там два вопросительных знака, здесь тернарный оператор. По форме это A: один набор ключей, один порядок, одно описание. Саму функцию A агент не видел. Но в первом правиле есть пример — extra: cond ? value : null, — и агент взял ровно эту запись: тернарный оператор с null. Правило с примером не оставляет другого варианта. Живая генерация вернулась: одна форма, MONO, литерал с null. Если бы не успела — запись. Тридцать раз, в двух формулировках тикета, литерал с null.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[9.4 · 2 мин]</a:t>
            </a:r>
          </a:p>
          <a:p/>
          <a:p>
            <a:r>
              <a:t>И вторая половина раскрытия — та, что осталась с главы про агента. Быстрая половина пары в сервисе, mono-llm, 2302 запросов в секунду, — первая генерация из ветки с правилами, файл candidate_1, как есть. Медленная — candidate_1 без правил. Один агент, один тикет, разница — файл в контексте. С правилами сервер держал 2302, без — 1180: та же машина отвечает на 1180 запросов вместо 2302. Это измерено на тех самых генерациях; ×6.7 сюда никто не умножал. Подпись на слайде, чтобы числа не путались: это генерации, пара с первого слайда на HTTP не мерилась; одна пара форм — один против восьми — и два прибора. Оговорка, без неё нечестно. Правила инлайнились явно — с прямым запретом условного ключа и предписанием null; это сильный сигнал. Мягкие формулировки — «пиши с учётом производительности V8» — я не проверял и тридцать из тридцати на них не обещаю. Носитель. У каждого агента есть файл, который читается в каждой сессии: CLAUDE.md для Claude Code, rules для Cursor, инструкции Codex. Четыре правила туда помещаются — это меньше, чем правила про отступы, которые там уже лежат. И в шапке справа закрылся последний знак вопроса: автор A — тот же агент, с файлом правил, тридцать из тридцати. Файл работает сегодня, на Node 24 и V8 13.6. Но в описании доклада сказано, что Turbolev идёт на смену TurboFan — не устареет ли файл вместе с компилятором?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10.</a:t>
            </a:r>
          </a:p>
          <a:p/>
          <a:p>
            <a:r>
              <a:t>Файл работает сегодня. В описании доклада сказано, что TurboFan меняют на Turbolev — не устареет ли файл вместе с компилятором?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[10.1 · 1 мин]</a:t>
            </a:r>
          </a:p>
          <a:p/>
          <a:p>
            <a:r>
              <a:t>Не устареет. Чтобы это показать, надо наконец назвать льва из названия доклада. Вспомните лестницу из четвёртого узла: верхняя ступень — TurboFan. Именно её и меняют — на сборку из двух готовых частей соседних ступеней; это и есть Turbolev. Спереди — Maglev, третья ступень той же лестницы: читает те же записи мест чтения и строит тот же граф функции, что и сегодня. Сзади — бэкенд, который из графа делает машинный код, — Turboshaft. Соединены напрямую, мимо промежуточного представления TurboFan. Статус — по исходникам, потому что в описании доклада я написал «идёт на смену», и это надо уточнить. Флаг --turbolev есть уже в V8 13.6, который стоит в Node 24, и описан там одной строкой: «четвёртый ярус вместо TurboFan» — то есть это замена верхней ступени, а не пятая ступень. По умолчанию он выключен — и в 13.6, и в основной ветке V8 на сентябрь этого года. Срок включения не объявлен.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[10.2 · 1 мин]</a:t>
            </a:r>
          </a:p>
          <a:p/>
          <a:p>
            <a:r>
              <a:t>Статус ясен; теперь числа. Флаг есть в Node 24, поэтому я просто включил его на той же паре и том же приборе. A — 0.14 миллисекунды, B — 0.95: в шесть и восемь десятых раза. Без флага было 0.12 и 0.79 — шесть и шесть. Та же разница, в пределах шума. Сам по себе Turbolev здесь не быстрее и не медленнее TurboFan. Выигрыш заявлен в другом: когда бэкенд верхнего яруса перевели на Turboshaft — это Chrome 120, — в блоге V8 написали, что компиляция стала примерно вдвое быстрее: функция раньше доходит до верхней ступени. О качестве кода там не пишут, и я не буду. Для нас важно одно: разница между A и B под новым компилятором та же.</a:t>
            </a:r>
          </a:p>
          <a:p/>
          <a:p>
            <a:r>
              <a:t>— — —</a:t>
            </a:r>
          </a:p>
          <a:p>
            <a:r>
              <a:t>ДЕМО: Запись R10: `node --allow-natives-syntax --turbolev lab/shape-analyzer.js`. Медианы на слайде — по пяти прогонам (0.14 / 0.95), в кадре записи — один запуск.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[10.3 · 1 мин]</a:t>
            </a:r>
          </a:p>
          <a:p/>
          <a:p>
            <a:r>
              <a:t>Теперь ответ на вопрос узла. Ставка та же — потому что её источник старше всех компиляторов. Фронтенд Maglev читает те же записи мест чтения — MONO и MEGA из третьего узла — и вшивает ту же ставку «сюда приходит одна форма» из четвёртого. Это видно и по исходникам, и по замеру с прошлого слайда: те же шесть с лишним раз. Crankshaft — 2010. TurboFan — 2017. Sparkplug — 2021. Maglev — 2023. Turboshaft — 2022, в Chrome с 2023. Turbolev — за флагом. Сменилась каждая ступень. А формы и записи мест чтения — с 2008 года, первого релиза V8, строка из пятого узла. Файл правил описывает то, на что ставил каждый компилятор. Развилка на карте не двигается. Если движок никогда не менял ставку, а агент пишет и A, и B — что остаётся человеку?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11.</a:t>
            </a:r>
          </a:p>
          <a:p/>
          <a:p>
            <a:r>
              <a:t>Если движок никогда не менял ставку, а агент пишет и A, и B — что остаётся человеку?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[11.1 · 1.25 мин]</a:t>
            </a:r>
          </a:p>
          <a:p/>
          <a:p>
            <a:r>
              <a:t>Поэтому — карта целиком, все двенадцать шагов. На ней две развилки, и обе сходятся в одном месте — в файле с функцией. Первую развилку задаёт форма при сборке объекта: одна форма — быстрый путь на любом ярусе и в любой версии, восемь — общий путь через словарь. Вторую развилку задаёт файл правил в контексте агента: есть файл — A, нет файла — B. Человек на этой карте стоит в двух местах. Перед агентом — он кладёт файл. После агента — он читает ревью и знает, на что смотреть: на набор ключей в объекте — все ли всегда на месте. Одного шага на карте нет — билдера. Между автором и движком стоит tsc или esbuild, и что они делают с формами, когда переписывают спред в общий хелпер, — нет замера, это четвёртый эксперимент, он не прогнан. Угадывать не буду; когда прогоню — на карте появится тринадцатый шаг.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[11.2 · 1 мин]</a:t>
            </a:r>
          </a:p>
          <a:p/>
          <a:p>
            <a:r>
              <a:t>Вывод — в двух строках, и обе измерены. Агент поднимает средний уровень кода: ноль некорректных из шестидесяти генераций, с валидацией, дефолтами, типами — лучше среднего PR. И агент тиражирует идиоматику корпуса: тридцать из тридцати, без разбора, живое правило перед ним или мёртвое. Перф-сознательность — знать, какое правило живое, и положить его агенту до генерации — остаётся работой человека. Она сместилась: раньше человек писал функцию, теперь он пишет файл перед агентом и проверяет форму после. Там, где человек сделал обе половины, — судьба A, тридцать из тридцати.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[11.3 · 0.75 мин]</a:t>
            </a:r>
          </a:p>
          <a:p/>
          <a:p>
            <a:r>
              <a:t>И одна фраза — как проверить у себя, меня об этом спрашивали. Прибор лежит в репо, shape-analyzer: под флагом --allow-natives-syntax %HaveSameMap покажет число форм у вашей функции, --log-ic — состояние мест чтения, MONO или MEGA; матрицу прогоните на своём Node — один запуск, изоляция по процессам уже внутри. Заготовки на вопросы — мелко на слайде: про компиляцию при загрузке, про дырявые массивы, про delete и про то, как я всё это мерил. К ставке на форму они не относятся — спрашивайте. Остался последний вопрос, и он ваш: сможете ли вы теперь прочитать судьбу функции сами?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12.</a:t>
            </a:r>
          </a:p>
          <a:p/>
          <a:p>
            <a:r>
              <a:t>Смогу ли я теперь прочитать судьбу функции сам?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[12.1 · 1.25 мин]</a:t>
            </a:r>
          </a:p>
          <a:p/>
          <a:p>
            <a:r>
              <a:t>Проверим на первом слайде. Те же две функции, тот же прибор, 0.12 и 0.79. Только теперь карта под ними заполнена, подсказок нет, и читать её будете вы — я только показываю пальцем. Верхняя строка, A. Одна форма при сборке — место чтения MONO — ставка сыграла, быстрый путь вшит — 2302 запросов в секунду — автор: агент с файлом правил. Нижняя строка, B. Восемь форм — место чтения MEGA — wrong map, ставка не сыграла — общий путь — 1180 запросов в секунду — автор: агент без файла. Проход чтения у B в шесть с лишним раз дороже, чем у A. Подпись приборов, один раз, чтобы числа не путались: 0.12 и 0.79 — одна функция, shape-analyzer на Node 24; 2302 и 1180 — сервис, pipeline плюс autocannon, на генерациях агента. Разный код, разные приборы — одна пара форм, одна против восьми. Две функции, одинаковый результат, одна развилка — и теперь вы видите её на диффе за пять секунд, по трём строкам внизу.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[12.2 · 0.75 мин]</a:t>
            </a:r>
          </a:p>
          <a:p/>
          <a:p>
            <a:r>
              <a:t>Всё, что я показал, лежит в репозитории issues-memory-research, ветка v8-talk-verify: прибор, матрица, шестьдесят генераций как есть, пайплайн, HTTP-бенч, четыре правила одним файлом, Docker-образ, в котором всё это перегоняется одной командой, и PITFALLS.md — грабли, на которые я уже наступил за вас: Node 22 без Maglev, удалённый --trace-ic, изоляция по процессам обязательна. Хотите повторить — начинайте с shape-analyzer, он запускается одной командой на Node 24 — или в контейнере, docker/run.sh. QR на экране. Спасибо.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compile hints: Подсказка движку скомпилировать функции жадно при загрузке файла. Это про старт страницы, а не про ярусы и не про формы — к ставке на форму отношения не имеет.</a:t>
            </a:r>
          </a:p>
          <a:p/>
          <a:p>
            <a:r>
              <a:t>Sparkplug не спекулирует: Ставку «сюда приходит одна форма» вшивают только оптимизирующие ярусы — Maglev и TurboFan. Sparkplug и интерпретатор читают записи мест чтения, но ничего не предполагают.</a:t>
            </a:r>
          </a:p>
          <a:p/>
          <a:p>
            <a:r>
              <a:t>сколько деоптов?: У читателя — один в сценарии «привык к одной форме, пришла другая» и ноль в приборе. Общий счётчик по процессу я как метрику забраковал: его засоряет сам харнесс.</a:t>
            </a:r>
          </a:p>
          <a:p/>
          <a:p>
            <a:r>
              <a:t>а на x64?: Гонял тем же образом и скриптом в CI на x64: направление то же, множители чуть ниже — прибор ×4.4, HTTP ×1.7. Тенденция одна.</a:t>
            </a:r>
          </a:p>
          <a:p/>
          <a:p>
            <a:r>
              <a:t>дырявые массивы: HOLEY против плотного — ×1.1 на чтении; это живое правило, но маленькое. В файле правил оно есть отдельным пунктом.</a:t>
            </a:r>
          </a:p>
          <a:p/>
          <a:p>
            <a:r>
              <a:t>`delete`: Объект уходит в словарный режим необратимо: ×10 на Node 20, ×28–29 на Node 22 и 24. Вместо delete — присвоить null.</a:t>
            </a:r>
          </a:p>
          <a:p/>
          <a:p>
            <a:r>
              <a:t>порядок полей: Две реализации с одним набором полей в разном порядке — это две формы: чтение ×1.4–1.5, сервис −13%.</a:t>
            </a:r>
          </a:p>
          <a:p/>
          <a:p>
            <a:r>
              <a:t>билдер: Что делают tsc и esbuild с формами, когда переписывают спред в хелпер, — не мерил. Это четвёртый эксперимент.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7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8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9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2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3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2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2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2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14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2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2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2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4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7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7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7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15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Relationship Id="rId2" Type="http://schemas.openxmlformats.org/officeDocument/2006/relationships/image" Target="../media/image1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Relationship Id="rId2" Type="http://schemas.openxmlformats.org/officeDocument/2006/relationships/image" Target="../media/image1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Relationship Id="rId2" Type="http://schemas.openxmlformats.org/officeDocument/2006/relationships/image" Target="../media/image1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Relationship Id="rId2" Type="http://schemas.openxmlformats.org/officeDocument/2006/relationships/image" Target="../media/image1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7427278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4221897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EC1228B-F77A-082B-B3FC-F40829375A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72D46D9D-1F06-4E5A-30C1-F568448266A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42735757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2041418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24638" y="2206171"/>
            <a:ext cx="3098800" cy="30988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743329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368300"/>
            <a:ext cx="5689600" cy="5292725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36282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FA481E-A8AE-650E-B316-A87C6D1AAFE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59315" y="368299"/>
            <a:ext cx="8473371" cy="1692729"/>
          </a:xfrm>
        </p:spPr>
        <p:txBody>
          <a:bodyPr anchor="ctr">
            <a:noAutofit/>
          </a:bodyPr>
          <a:lstStyle>
            <a:lvl1pPr algn="ctr">
              <a:lnSpc>
                <a:spcPct val="85000"/>
              </a:lnSpc>
              <a:defRPr sz="6000">
                <a:solidFill>
                  <a:schemeClr val="tx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9314" y="2206171"/>
            <a:ext cx="8473371" cy="769258"/>
          </a:xfrm>
        </p:spPr>
        <p:txBody>
          <a:bodyPr vert="horz" lIns="0" tIns="0" rIns="0" bIns="0" rtlCol="0" anchor="t">
            <a:noAutofit/>
          </a:bodyPr>
          <a:lstStyle>
            <a:lvl1pPr algn="ctr">
              <a:defRPr lang="ru-RU" sz="2400" b="0" dirty="0">
                <a:solidFill>
                  <a:schemeClr val="tx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4102331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2020081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24638" y="2206171"/>
            <a:ext cx="3098800" cy="30988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557257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368300"/>
            <a:ext cx="5689600" cy="5292725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88558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FA481E-A8AE-650E-B316-A87C6D1AAFE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59315" y="368299"/>
            <a:ext cx="8473371" cy="1692729"/>
          </a:xfrm>
        </p:spPr>
        <p:txBody>
          <a:bodyPr anchor="ctr">
            <a:noAutofit/>
          </a:bodyPr>
          <a:lstStyle>
            <a:lvl1pPr algn="ctr"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9314" y="2206171"/>
            <a:ext cx="8473371" cy="769258"/>
          </a:xfrm>
        </p:spPr>
        <p:txBody>
          <a:bodyPr vert="horz" lIns="0" tIns="0" rIns="0" bIns="0" rtlCol="0" anchor="t">
            <a:noAutofit/>
          </a:bodyPr>
          <a:lstStyle>
            <a:lvl1pPr algn="ctr"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9010183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9748521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24638" y="2206171"/>
            <a:ext cx="3098800" cy="30988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81819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g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5A36777B-68F8-31D6-7E8B-F5F24EEED47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9" y="368299"/>
            <a:ext cx="5689598" cy="5292726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99496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FA481E-A8AE-650E-B316-A87C6D1AAFE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59315" y="368299"/>
            <a:ext cx="8473371" cy="1692729"/>
          </a:xfrm>
        </p:spPr>
        <p:txBody>
          <a:bodyPr anchor="ctr">
            <a:noAutofit/>
          </a:bodyPr>
          <a:lstStyle>
            <a:lvl1pPr algn="ctr">
              <a:lnSpc>
                <a:spcPct val="85000"/>
              </a:lnSpc>
              <a:defRPr sz="6000">
                <a:solidFill>
                  <a:schemeClr val="tx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9314" y="2206171"/>
            <a:ext cx="8473371" cy="769258"/>
          </a:xfrm>
        </p:spPr>
        <p:txBody>
          <a:bodyPr vert="horz" lIns="0" tIns="0" rIns="0" bIns="0" rtlCol="0" anchor="t">
            <a:noAutofit/>
          </a:bodyPr>
          <a:lstStyle>
            <a:lvl1pPr algn="ctr">
              <a:defRPr lang="ru-RU" sz="2400" b="0" dirty="0">
                <a:solidFill>
                  <a:schemeClr val="tx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8632758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B73B3F0-0F63-C0EE-8408-E5C1AC2FF55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13014002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B73B3F0-0F63-C0EE-8408-E5C1AC2FF55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F830CA52-65D8-2F8A-F2FB-B880209524F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24638" y="2206171"/>
            <a:ext cx="3098800" cy="30988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401888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0E0AB55B-1062-EBEC-B941-F4A8B0499A0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9" y="368299"/>
            <a:ext cx="5689598" cy="5292726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480823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B11967-790B-3F12-EB41-D1D2E2436ED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59315" y="368299"/>
            <a:ext cx="8473371" cy="1692729"/>
          </a:xfrm>
        </p:spPr>
        <p:txBody>
          <a:bodyPr anchor="ctr">
            <a:noAutofit/>
          </a:bodyPr>
          <a:lstStyle>
            <a:lvl1pPr algn="ctr">
              <a:lnSpc>
                <a:spcPct val="85000"/>
              </a:lnSpc>
              <a:defRPr sz="60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9314" y="2206171"/>
            <a:ext cx="8473371" cy="769258"/>
          </a:xfrm>
        </p:spPr>
        <p:txBody>
          <a:bodyPr vert="horz" lIns="0" tIns="0" rIns="0" bIns="0" rtlCol="0" anchor="t">
            <a:noAutofit/>
          </a:bodyPr>
          <a:lstStyle>
            <a:lvl1pPr algn="ctr">
              <a:defRPr lang="ru-RU" sz="24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19711115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4F17F7A-122D-D531-863B-E5D4FB14B15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516718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32D3C32-492A-9E97-BA7F-DC2F10A6A29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24638" y="2206171"/>
            <a:ext cx="3098800" cy="30988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59416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368300"/>
            <a:ext cx="5689600" cy="5292725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97192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CDA94A2-F44C-8B13-3FC5-172C4EBF06B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59315" y="368299"/>
            <a:ext cx="8473371" cy="1692729"/>
          </a:xfrm>
        </p:spPr>
        <p:txBody>
          <a:bodyPr anchor="ctr">
            <a:noAutofit/>
          </a:bodyPr>
          <a:lstStyle>
            <a:lvl1pPr algn="ctr"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9314" y="2206171"/>
            <a:ext cx="8473371" cy="769258"/>
          </a:xfrm>
        </p:spPr>
        <p:txBody>
          <a:bodyPr vert="horz" lIns="0" tIns="0" rIns="0" bIns="0" rtlCol="0" anchor="t">
            <a:noAutofit/>
          </a:bodyPr>
          <a:lstStyle>
            <a:lvl1pPr algn="ctr"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671692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8648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4801832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E06CDB7C-C410-E0F0-2F25-D94D0417A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76965" y="1161505"/>
            <a:ext cx="5689598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5549440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5689599" cy="950838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56536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7D1FFB20-EE4F-FFBB-D8B5-765BC82B2E2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368300"/>
            <a:ext cx="5689600" cy="6121400"/>
          </a:xfrm>
          <a:prstGeom prst="roundRect">
            <a:avLst>
              <a:gd name="adj" fmla="val 5819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77595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50120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36E56D8-CF76-A217-CCB2-728784BB6F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30EC55D2-0BAE-F823-CD92-627AD81068E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7030489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D0B8C69-32B5-A150-B477-4CE62E8C4C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4D1E8949-72F2-2D89-07F9-CEC81826D82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4405533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3A5B6B-1CBA-E224-D66C-E055441235E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67440" y="1544320"/>
            <a:ext cx="5689599" cy="4116705"/>
          </a:xfrm>
          <a:prstGeom prst="roundRect">
            <a:avLst>
              <a:gd name="adj" fmla="val 6921"/>
            </a:avLst>
          </a:prstGeom>
          <a:solidFill>
            <a:schemeClr val="accent5"/>
          </a:solidFill>
        </p:spPr>
        <p:txBody>
          <a:bodyPr vert="horz" lIns="144000" tIns="144000" rIns="144000" bIns="144000" rtlCol="0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3225EE6A-17C4-8D09-6671-158C568F4D7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4964" y="1544320"/>
            <a:ext cx="5689599" cy="4116705"/>
          </a:xfrm>
          <a:prstGeom prst="roundRect">
            <a:avLst>
              <a:gd name="adj" fmla="val 6921"/>
            </a:avLst>
          </a:prstGeom>
          <a:solidFill>
            <a:schemeClr val="accent5"/>
          </a:solidFill>
        </p:spPr>
        <p:txBody>
          <a:bodyPr vert="horz" lIns="144000" tIns="144000" rIns="144000" bIns="144000" rtlCol="0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77196B6C-9BEE-4492-498F-B0376D1FBE3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4964" y="368301"/>
            <a:ext cx="5689599" cy="1027683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808038" indent="0">
              <a:defRPr lang="ru-RU" sz="16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Небольшой заголовок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10ECE7B6-CC65-947A-8D32-99161657CB18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45783" y="574961"/>
            <a:ext cx="614362" cy="614362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D3130498-C209-C622-70CC-155E45E52AA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67439" y="368301"/>
            <a:ext cx="5689599" cy="1027683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808038" indent="0">
              <a:defRPr lang="ru-RU" sz="16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Небольшой заголовок</a:t>
            </a:r>
          </a:p>
        </p:txBody>
      </p:sp>
      <p:sp>
        <p:nvSpPr>
          <p:cNvPr id="16" name="Picture Placeholder 13">
            <a:extLst>
              <a:ext uri="{FF2B5EF4-FFF2-40B4-BE49-F238E27FC236}">
                <a16:creationId xmlns:a16="http://schemas.microsoft.com/office/drawing/2014/main" id="{EC31CB17-32DA-C4AF-8BDF-CA4019E9DAA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378258" y="574961"/>
            <a:ext cx="614362" cy="614362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95989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 List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77196B6C-9BEE-4492-498F-B0376D1FBE3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4963" y="1074420"/>
            <a:ext cx="5689600" cy="792000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536575" indent="0">
              <a:defRPr lang="ru-RU" sz="12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Текст / Пункт списка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10ECE7B6-CC65-947A-8D32-99161657CB18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71775" y="1217675"/>
            <a:ext cx="505490" cy="50549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6FA51A-6FF6-6DAF-80C4-EF7A3C6DAC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8"/>
            <a:ext cx="5689599" cy="479940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Короткий заголовок</a:t>
            </a:r>
          </a:p>
        </p:txBody>
      </p:sp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99454491-5CC8-248B-F211-FC1AF2746F9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368300"/>
            <a:ext cx="5689600" cy="6121400"/>
          </a:xfrm>
          <a:prstGeom prst="roundRect">
            <a:avLst>
              <a:gd name="adj" fmla="val 5819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2D47AAC8-C234-BC34-3E80-CA89045725D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2023071"/>
            <a:ext cx="5689600" cy="792000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536575" indent="0">
              <a:defRPr lang="ru-RU" sz="12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Текст / Пункт списка</a:t>
            </a:r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89CC7949-791D-9DB2-3E5F-27595CCD23A7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71775" y="2166326"/>
            <a:ext cx="505490" cy="50549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F3F0A60B-B730-38F9-35B6-5E101640930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34963" y="2971722"/>
            <a:ext cx="5689600" cy="792000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536575" indent="0">
              <a:defRPr lang="ru-RU" sz="12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Текст / Пункт списка</a:t>
            </a:r>
          </a:p>
        </p:txBody>
      </p:sp>
      <p:sp>
        <p:nvSpPr>
          <p:cNvPr id="20" name="Picture Placeholder 13">
            <a:extLst>
              <a:ext uri="{FF2B5EF4-FFF2-40B4-BE49-F238E27FC236}">
                <a16:creationId xmlns:a16="http://schemas.microsoft.com/office/drawing/2014/main" id="{E8D31950-94A7-868B-3875-65D64CF54AF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71775" y="3114977"/>
            <a:ext cx="505490" cy="50549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21DF351C-E223-098F-AF3E-63923FEA329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34963" y="3920373"/>
            <a:ext cx="5689600" cy="792000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536575" indent="0">
              <a:defRPr lang="ru-RU" sz="12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Текст / Пункт списка</a:t>
            </a:r>
          </a:p>
        </p:txBody>
      </p:sp>
      <p:sp>
        <p:nvSpPr>
          <p:cNvPr id="22" name="Picture Placeholder 13">
            <a:extLst>
              <a:ext uri="{FF2B5EF4-FFF2-40B4-BE49-F238E27FC236}">
                <a16:creationId xmlns:a16="http://schemas.microsoft.com/office/drawing/2014/main" id="{B337ABB3-BFCC-7382-D342-F123E7DF1D4C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71775" y="4063628"/>
            <a:ext cx="505490" cy="50549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E72B5BC5-F73C-DD77-C5AE-CD1CEA375D2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4963" y="4869025"/>
            <a:ext cx="5689600" cy="792000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536575" indent="0">
              <a:defRPr lang="ru-RU" sz="12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Текст / Пункт списка</a:t>
            </a:r>
          </a:p>
        </p:txBody>
      </p:sp>
      <p:sp>
        <p:nvSpPr>
          <p:cNvPr id="24" name="Picture Placeholder 13">
            <a:extLst>
              <a:ext uri="{FF2B5EF4-FFF2-40B4-BE49-F238E27FC236}">
                <a16:creationId xmlns:a16="http://schemas.microsoft.com/office/drawing/2014/main" id="{D1C7D6B9-D938-30CD-482B-C8609A9A33FE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471775" y="5012280"/>
            <a:ext cx="505490" cy="50549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88551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2374F4AD-5E21-E05E-44C9-D5783DD7FA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5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D2F4350-53FF-699D-9691-3A8AAF0C64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22751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5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B65084D-E6C5-2F10-5B2A-F61927D5CC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12126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5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</p:spTree>
    <p:extLst>
      <p:ext uri="{BB962C8B-B14F-4D97-AF65-F5344CB8AC3E}">
        <p14:creationId xmlns:p14="http://schemas.microsoft.com/office/powerpoint/2010/main" val="18430088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2374F4AD-5E21-E05E-44C9-D5783DD7FA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4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D2F4350-53FF-699D-9691-3A8AAF0C64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22751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4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B65084D-E6C5-2F10-5B2A-F61927D5CC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12126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4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</p:spTree>
    <p:extLst>
      <p:ext uri="{BB962C8B-B14F-4D97-AF65-F5344CB8AC3E}">
        <p14:creationId xmlns:p14="http://schemas.microsoft.com/office/powerpoint/2010/main" val="30045053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B7D81197-E6E3-8328-6CAE-54156FA03D7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1737DDCA-4AD5-79A1-EAE0-377EE2616BC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BDC95866-F236-DD7F-BC41-37C1253E06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63FB4063-AB67-FE74-5E3D-7070AD799F7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A168CD33-4595-58E0-DF3F-0BBA2CD2F59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23EBF78C-476B-2870-6187-96090B57E41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2716DDEA-EB29-E094-4628-4D5B21474B9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7CBECC71-F36A-F872-072C-8E82513FC7C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7" name="Text Placeholder 12">
            <a:extLst>
              <a:ext uri="{FF2B5EF4-FFF2-40B4-BE49-F238E27FC236}">
                <a16:creationId xmlns:a16="http://schemas.microsoft.com/office/drawing/2014/main" id="{9E97D40F-03F4-8127-45B9-88783A9FFD2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2288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8" name="Text Placeholder 12">
            <a:extLst>
              <a:ext uri="{FF2B5EF4-FFF2-40B4-BE49-F238E27FC236}">
                <a16:creationId xmlns:a16="http://schemas.microsoft.com/office/drawing/2014/main" id="{7A3B3330-4CB5-BF13-64EC-A3D51827920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38525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9" name="Text Placeholder 12">
            <a:extLst>
              <a:ext uri="{FF2B5EF4-FFF2-40B4-BE49-F238E27FC236}">
                <a16:creationId xmlns:a16="http://schemas.microsoft.com/office/drawing/2014/main" id="{E392A34B-0CDB-06B5-05AC-55733EBA8D6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4762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0" name="Text Placeholder 12">
            <a:extLst>
              <a:ext uri="{FF2B5EF4-FFF2-40B4-BE49-F238E27FC236}">
                <a16:creationId xmlns:a16="http://schemas.microsoft.com/office/drawing/2014/main" id="{8CBD49A3-8523-F62A-19D5-BC004ED4C29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70999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1" name="Text Placeholder 12">
            <a:extLst>
              <a:ext uri="{FF2B5EF4-FFF2-40B4-BE49-F238E27FC236}">
                <a16:creationId xmlns:a16="http://schemas.microsoft.com/office/drawing/2014/main" id="{111A657B-16F9-AA69-CCC5-F8F64460C48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2" name="Text Placeholder 12">
            <a:extLst>
              <a:ext uri="{FF2B5EF4-FFF2-40B4-BE49-F238E27FC236}">
                <a16:creationId xmlns:a16="http://schemas.microsoft.com/office/drawing/2014/main" id="{85FCDDBE-4B76-7422-8BF6-673A28D1E3D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3" name="Text Placeholder 12">
            <a:extLst>
              <a:ext uri="{FF2B5EF4-FFF2-40B4-BE49-F238E27FC236}">
                <a16:creationId xmlns:a16="http://schemas.microsoft.com/office/drawing/2014/main" id="{EE425DC2-E6B8-FA40-9E17-4CAB275FABBA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4" name="Text Placeholder 12">
            <a:extLst>
              <a:ext uri="{FF2B5EF4-FFF2-40B4-BE49-F238E27FC236}">
                <a16:creationId xmlns:a16="http://schemas.microsoft.com/office/drawing/2014/main" id="{A229B85A-2DC8-C171-A8E4-D45E9A1355EC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9049347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05899355-D276-E4AC-8680-B3B5C110EE6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43EB825F-0DDC-30E9-9687-5C61DC99A94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08CA4F1-C43C-FCE1-17D2-041A685998D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BE11A3A8-CEFF-804A-630B-4202F6A20A8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25C0699D-D281-7C50-33C5-25C5A4F03E3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E8B4B3F9-8187-D82A-A770-C26F706944A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BFA3E916-6FA9-6004-437E-187186D48C2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A04309F2-AE20-88D5-21D1-28228F6BC3A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8" name="Text Placeholder 12">
            <a:extLst>
              <a:ext uri="{FF2B5EF4-FFF2-40B4-BE49-F238E27FC236}">
                <a16:creationId xmlns:a16="http://schemas.microsoft.com/office/drawing/2014/main" id="{C60ADB81-9475-3ED7-96C1-C022934CF2E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2288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9" name="Text Placeholder 12">
            <a:extLst>
              <a:ext uri="{FF2B5EF4-FFF2-40B4-BE49-F238E27FC236}">
                <a16:creationId xmlns:a16="http://schemas.microsoft.com/office/drawing/2014/main" id="{DF5E567E-BBBB-1DA5-5119-58FA5A4CF61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38525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0" name="Text Placeholder 12">
            <a:extLst>
              <a:ext uri="{FF2B5EF4-FFF2-40B4-BE49-F238E27FC236}">
                <a16:creationId xmlns:a16="http://schemas.microsoft.com/office/drawing/2014/main" id="{A4CDBC47-ED4E-1802-CA78-EFBA60AE723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4762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1" name="Text Placeholder 12">
            <a:extLst>
              <a:ext uri="{FF2B5EF4-FFF2-40B4-BE49-F238E27FC236}">
                <a16:creationId xmlns:a16="http://schemas.microsoft.com/office/drawing/2014/main" id="{0070287C-5A2B-7451-A3ED-2C13045ADE5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70999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2" name="Text Placeholder 12">
            <a:extLst>
              <a:ext uri="{FF2B5EF4-FFF2-40B4-BE49-F238E27FC236}">
                <a16:creationId xmlns:a16="http://schemas.microsoft.com/office/drawing/2014/main" id="{E72CCFAE-BC1A-79C5-A80D-C4A404338F1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3" name="Text Placeholder 12">
            <a:extLst>
              <a:ext uri="{FF2B5EF4-FFF2-40B4-BE49-F238E27FC236}">
                <a16:creationId xmlns:a16="http://schemas.microsoft.com/office/drawing/2014/main" id="{68BC1C1D-7370-D2E5-DF3E-FA9064366B4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4" name="Text Placeholder 12">
            <a:extLst>
              <a:ext uri="{FF2B5EF4-FFF2-40B4-BE49-F238E27FC236}">
                <a16:creationId xmlns:a16="http://schemas.microsoft.com/office/drawing/2014/main" id="{121875EE-4328-6E64-A56E-0CF7F32F7B87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5" name="Text Placeholder 12">
            <a:extLst>
              <a:ext uri="{FF2B5EF4-FFF2-40B4-BE49-F238E27FC236}">
                <a16:creationId xmlns:a16="http://schemas.microsoft.com/office/drawing/2014/main" id="{E0027A0C-CDE2-21C5-99A7-86CB10E0991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3567794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835883B1-D903-134B-B4BD-30F22FDE613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F6253B8-ACD7-445C-6C84-BD96C091A1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9818655-1797-60FF-0F07-36FA45405DE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6C96D51-446D-DE14-0032-49906289A44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16D3688D-D88F-222F-28FC-F21CE2C1A9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22288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B7FDEE93-16D2-FAD9-58CD-BE3656863E4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438525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46F9F311-5758-DE40-0F62-7EBA79BCDB6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354762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1" name="Picture Placeholder 13">
            <a:extLst>
              <a:ext uri="{FF2B5EF4-FFF2-40B4-BE49-F238E27FC236}">
                <a16:creationId xmlns:a16="http://schemas.microsoft.com/office/drawing/2014/main" id="{57865A49-F548-CBC6-E9F4-DDDA6499904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9270999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EA112CB0-5EC3-3EF7-F95B-02E49493FF2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522288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23E94E26-853C-1642-474A-DE9BB52EC5E2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3438525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7115AF71-0AA8-A9E8-03E3-3079A20FEBC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354762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2169CAF7-F3AC-C87A-2219-83F24BBAF0BB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9270999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49442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Icon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835883B1-D903-134B-B4BD-30F22FDE613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F6253B8-ACD7-445C-6C84-BD96C091A1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9818655-1797-60FF-0F07-36FA45405DE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6C96D51-446D-DE14-0032-49906289A44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16D3688D-D88F-222F-28FC-F21CE2C1A9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22288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B7FDEE93-16D2-FAD9-58CD-BE3656863E4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438525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46F9F311-5758-DE40-0F62-7EBA79BCDB6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354762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1" name="Picture Placeholder 13">
            <a:extLst>
              <a:ext uri="{FF2B5EF4-FFF2-40B4-BE49-F238E27FC236}">
                <a16:creationId xmlns:a16="http://schemas.microsoft.com/office/drawing/2014/main" id="{57865A49-F548-CBC6-E9F4-DDDA6499904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9270999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EA112CB0-5EC3-3EF7-F95B-02E49493FF2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522288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23E94E26-853C-1642-474A-DE9BB52EC5E2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3438525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7115AF71-0AA8-A9E8-03E3-3079A20FEBC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354762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2169CAF7-F3AC-C87A-2219-83F24BBAF0BB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9270999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53162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DC60B02-45BE-1118-539A-D0D668CED88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67438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D7570CD-0EB2-53E9-23D7-07041D6775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4963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2270953-3BD1-0603-9277-F0617DB596C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2D7F94A3-888B-0DB4-671D-358849EDAD3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7438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ED29820-56DD-2322-6F94-4DD5322CC85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4963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99BC7759-1D69-9C53-103B-51CE3104436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51200" y="368300"/>
            <a:ext cx="2773363" cy="5292725"/>
          </a:xfrm>
          <a:prstGeom prst="roundRect">
            <a:avLst>
              <a:gd name="adj" fmla="val 5677"/>
            </a:avLst>
          </a:prstGeom>
          <a:noFill/>
        </p:spPr>
        <p:txBody>
          <a:bodyPr/>
          <a:lstStyle/>
          <a:p>
            <a:endParaRPr lang="ru-RU"/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AA73782B-5E28-7561-6081-385FF055ED2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22288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6F7DFE6F-D225-07D4-88C3-2FA6C4B6895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4762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BDBFB7D4-7B4F-2301-9162-61DD44945E5E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70999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8839F508-8219-9E2B-EFE3-EB502636A6C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3D75F735-6A65-F326-CD93-E47BDE44674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82DACC26-A854-9AFD-F411-92ACD31C9BC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18497007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  <p15:guide id="7" orient="horz" pos="1842" userDrawn="1">
          <p15:clr>
            <a:srgbClr val="FBAE40"/>
          </p15:clr>
        </p15:guide>
        <p15:guide id="8" orient="horz" pos="1933" userDrawn="1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+ Img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DC60B02-45BE-1118-539A-D0D668CED88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67438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D7570CD-0EB2-53E9-23D7-07041D6775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4963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2270953-3BD1-0603-9277-F0617DB596C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2D7F94A3-888B-0DB4-671D-358849EDAD3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7438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ED29820-56DD-2322-6F94-4DD5322CC85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4963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99BC7759-1D69-9C53-103B-51CE3104436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51200" y="368300"/>
            <a:ext cx="2773363" cy="5292725"/>
          </a:xfrm>
          <a:prstGeom prst="roundRect">
            <a:avLst>
              <a:gd name="adj" fmla="val 5677"/>
            </a:avLst>
          </a:prstGeom>
          <a:noFill/>
        </p:spPr>
        <p:txBody>
          <a:bodyPr/>
          <a:lstStyle/>
          <a:p>
            <a:endParaRPr lang="ru-RU"/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5AE84CF3-CCCF-541E-10D6-C005EC1614E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22288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5F022F86-E905-F27B-ADF6-013B7B8D1D3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4762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642EF13E-6361-2CF3-616E-7A2A1F180DA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70999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E07A7F46-F351-7DC4-8FAB-219DF28DC08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4DC6F414-90B0-A91A-2F2A-E0E5FF06E5E5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07675F31-20A8-2CD4-EB4A-90A509CF84B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41683350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  <p15:guide id="7" orient="horz" pos="1842" userDrawn="1">
          <p15:clr>
            <a:srgbClr val="FBAE40"/>
          </p15:clr>
        </p15:guide>
        <p15:guide id="8" orient="horz" pos="1933" userDrawn="1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BDDDFC68-688F-98DC-504A-C1DFCAB9B0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38" name="Text Placeholder 4">
            <a:extLst>
              <a:ext uri="{FF2B5EF4-FFF2-40B4-BE49-F238E27FC236}">
                <a16:creationId xmlns:a16="http://schemas.microsoft.com/office/drawing/2014/main" id="{33B0A043-D8AF-5D0E-273B-BFCFD6F122C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9" name="Text Placeholder 4">
            <a:extLst>
              <a:ext uri="{FF2B5EF4-FFF2-40B4-BE49-F238E27FC236}">
                <a16:creationId xmlns:a16="http://schemas.microsoft.com/office/drawing/2014/main" id="{E96540F7-EB2C-672B-6DEB-33FCDA6A0B3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0" name="Text Placeholder 4">
            <a:extLst>
              <a:ext uri="{FF2B5EF4-FFF2-40B4-BE49-F238E27FC236}">
                <a16:creationId xmlns:a16="http://schemas.microsoft.com/office/drawing/2014/main" id="{C7490D9C-1293-3347-0BEB-838F094B81F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97451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0BDAED07-51D4-D798-132E-68D11F6A193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28695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2" name="Text Placeholder 4">
            <a:extLst>
              <a:ext uri="{FF2B5EF4-FFF2-40B4-BE49-F238E27FC236}">
                <a16:creationId xmlns:a16="http://schemas.microsoft.com/office/drawing/2014/main" id="{81024463-0A41-0AEE-D8A6-1E9CE07AB1E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59938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85CDFAB-719F-680F-8669-A31FF89B32C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4" name="Text Placeholder 4">
            <a:extLst>
              <a:ext uri="{FF2B5EF4-FFF2-40B4-BE49-F238E27FC236}">
                <a16:creationId xmlns:a16="http://schemas.microsoft.com/office/drawing/2014/main" id="{3EFB1DE8-B335-E2CB-DA5B-6CA016B3B33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5" name="Text Placeholder 4">
            <a:extLst>
              <a:ext uri="{FF2B5EF4-FFF2-40B4-BE49-F238E27FC236}">
                <a16:creationId xmlns:a16="http://schemas.microsoft.com/office/drawing/2014/main" id="{35156A41-030D-BA5A-52CF-58A7411D008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7451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50C3DC9C-6A2E-AC40-D2A9-17CCF7DB703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328695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7" name="Text Placeholder 4">
            <a:extLst>
              <a:ext uri="{FF2B5EF4-FFF2-40B4-BE49-F238E27FC236}">
                <a16:creationId xmlns:a16="http://schemas.microsoft.com/office/drawing/2014/main" id="{9C089A4F-017F-7EAC-6554-3486F1DCCD2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59938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8" name="Text Placeholder 12">
            <a:extLst>
              <a:ext uri="{FF2B5EF4-FFF2-40B4-BE49-F238E27FC236}">
                <a16:creationId xmlns:a16="http://schemas.microsoft.com/office/drawing/2014/main" id="{5462AAF9-B990-F1F1-D2AD-204E4DCADD5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9" name="Text Placeholder 12">
            <a:extLst>
              <a:ext uri="{FF2B5EF4-FFF2-40B4-BE49-F238E27FC236}">
                <a16:creationId xmlns:a16="http://schemas.microsoft.com/office/drawing/2014/main" id="{A7577441-2657-0D00-D492-D1C25359580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0" name="Text Placeholder 12">
            <a:extLst>
              <a:ext uri="{FF2B5EF4-FFF2-40B4-BE49-F238E27FC236}">
                <a16:creationId xmlns:a16="http://schemas.microsoft.com/office/drawing/2014/main" id="{7343EFFA-DFE4-E271-B9DB-B87822EEE64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C7CE0FD7-FE40-7426-5AB9-55EAB1D23A7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2" name="Text Placeholder 12">
            <a:extLst>
              <a:ext uri="{FF2B5EF4-FFF2-40B4-BE49-F238E27FC236}">
                <a16:creationId xmlns:a16="http://schemas.microsoft.com/office/drawing/2014/main" id="{E2F5260A-85D8-32FC-C381-911BF2220B8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84776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3" name="Text Placeholder 12">
            <a:extLst>
              <a:ext uri="{FF2B5EF4-FFF2-40B4-BE49-F238E27FC236}">
                <a16:creationId xmlns:a16="http://schemas.microsoft.com/office/drawing/2014/main" id="{D83BECC3-064E-C143-7C4B-D1C063BD686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84776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4" name="Text Placeholder 12">
            <a:extLst>
              <a:ext uri="{FF2B5EF4-FFF2-40B4-BE49-F238E27FC236}">
                <a16:creationId xmlns:a16="http://schemas.microsoft.com/office/drawing/2014/main" id="{2A31298D-EBF0-4ED8-C599-EC695648E30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51601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5" name="Text Placeholder 12">
            <a:extLst>
              <a:ext uri="{FF2B5EF4-FFF2-40B4-BE49-F238E27FC236}">
                <a16:creationId xmlns:a16="http://schemas.microsoft.com/office/drawing/2014/main" id="{D4FF717A-32CD-BBF3-6E27-7EE2588AE745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51601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6" name="Text Placeholder 12">
            <a:extLst>
              <a:ext uri="{FF2B5EF4-FFF2-40B4-BE49-F238E27FC236}">
                <a16:creationId xmlns:a16="http://schemas.microsoft.com/office/drawing/2014/main" id="{A546BC7C-10B0-031A-673B-BF1E2150099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847264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7" name="Text Placeholder 12">
            <a:extLst>
              <a:ext uri="{FF2B5EF4-FFF2-40B4-BE49-F238E27FC236}">
                <a16:creationId xmlns:a16="http://schemas.microsoft.com/office/drawing/2014/main" id="{29F0F5A8-A14C-6CB8-AB84-E5C15F503D26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847264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6625887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BDDDFC68-688F-98DC-504A-C1DFCAB9B0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9ECF0DE1-0402-4245-16F0-1F8625A9AC8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7B89E0F4-78EE-1796-9605-CF19A4EE375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8CB9A3CE-A7A2-5792-B433-7F3A23F4201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97451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3610E4A4-DB6A-FDD1-8F16-3384DB96BED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28695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F901BED7-C1A7-DA69-B401-7E2A9074678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59938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412F73E7-421B-6EE7-B3B1-9038BCC55BE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BF380C90-52E3-3ADD-5C3C-AC18C2B26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D304BFAF-FB73-F76A-0C9B-01479618419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7451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CB72B023-8010-7F61-05A4-44C2F6885DC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328695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29321269-A6DE-2CE9-309A-155FF782715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59938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4" name="Text Placeholder 12">
            <a:extLst>
              <a:ext uri="{FF2B5EF4-FFF2-40B4-BE49-F238E27FC236}">
                <a16:creationId xmlns:a16="http://schemas.microsoft.com/office/drawing/2014/main" id="{7BF30013-465A-4513-1E25-2CBD6196C12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5" name="Text Placeholder 12">
            <a:extLst>
              <a:ext uri="{FF2B5EF4-FFF2-40B4-BE49-F238E27FC236}">
                <a16:creationId xmlns:a16="http://schemas.microsoft.com/office/drawing/2014/main" id="{CD9E8805-2B3D-8425-442F-7581490D707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6" name="Text Placeholder 12">
            <a:extLst>
              <a:ext uri="{FF2B5EF4-FFF2-40B4-BE49-F238E27FC236}">
                <a16:creationId xmlns:a16="http://schemas.microsoft.com/office/drawing/2014/main" id="{61679C39-06AC-DF65-2913-3EA62910FE9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7" name="Text Placeholder 12">
            <a:extLst>
              <a:ext uri="{FF2B5EF4-FFF2-40B4-BE49-F238E27FC236}">
                <a16:creationId xmlns:a16="http://schemas.microsoft.com/office/drawing/2014/main" id="{6459C7D6-2B2E-2067-F487-1A9C1439B32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8" name="Text Placeholder 12">
            <a:extLst>
              <a:ext uri="{FF2B5EF4-FFF2-40B4-BE49-F238E27FC236}">
                <a16:creationId xmlns:a16="http://schemas.microsoft.com/office/drawing/2014/main" id="{F0C95BAF-B433-38E7-3353-056FD3D1C1F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84776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9" name="Text Placeholder 12">
            <a:extLst>
              <a:ext uri="{FF2B5EF4-FFF2-40B4-BE49-F238E27FC236}">
                <a16:creationId xmlns:a16="http://schemas.microsoft.com/office/drawing/2014/main" id="{77F87F17-4096-48D4-A260-2DFDAB05E05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84776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0" name="Text Placeholder 12">
            <a:extLst>
              <a:ext uri="{FF2B5EF4-FFF2-40B4-BE49-F238E27FC236}">
                <a16:creationId xmlns:a16="http://schemas.microsoft.com/office/drawing/2014/main" id="{E7BD1BED-CC87-FF07-9B52-4697A5736BC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51601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1" name="Text Placeholder 12">
            <a:extLst>
              <a:ext uri="{FF2B5EF4-FFF2-40B4-BE49-F238E27FC236}">
                <a16:creationId xmlns:a16="http://schemas.microsoft.com/office/drawing/2014/main" id="{7DA5FD52-85CF-20C6-B21C-11ED4E3D4442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51601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2" name="Text Placeholder 12">
            <a:extLst>
              <a:ext uri="{FF2B5EF4-FFF2-40B4-BE49-F238E27FC236}">
                <a16:creationId xmlns:a16="http://schemas.microsoft.com/office/drawing/2014/main" id="{0CED0142-3B38-7563-13B5-9329887166EC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847264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3" name="Text Placeholder 12">
            <a:extLst>
              <a:ext uri="{FF2B5EF4-FFF2-40B4-BE49-F238E27FC236}">
                <a16:creationId xmlns:a16="http://schemas.microsoft.com/office/drawing/2014/main" id="{3473157E-B101-F456-AD0C-9862865CFF1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847264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445945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9906950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2374F4AD-5E21-E05E-44C9-D5783DD7FA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D2F4350-53FF-699D-9691-3A8AAF0C64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22751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B65084D-E6C5-2F10-5B2A-F61927D5CC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12126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</p:spTree>
    <p:extLst>
      <p:ext uri="{BB962C8B-B14F-4D97-AF65-F5344CB8AC3E}">
        <p14:creationId xmlns:p14="http://schemas.microsoft.com/office/powerpoint/2010/main" val="7462605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C31D7BA3-C63A-4D3A-A18A-92144B2DD38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49094E61-1D9A-9CB5-1E10-DA789026F96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C4D4C7E-B30A-3DD7-28DA-64C347E3247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8FCCF0A1-4F2D-3EAF-A1BD-5E2FC8F157B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E894ECD6-A9BD-1DC0-72CD-9473212FD5D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2288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EDE0EA09-2952-F4AF-298C-DD65E38DDB7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38525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44D47585-A54E-3288-C445-63094CD10A1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4762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E700A541-6497-E94B-8B15-2A438B56182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70999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24AA456D-1079-B5F7-9773-B4FD3BA1208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4" name="Text Placeholder 12">
            <a:extLst>
              <a:ext uri="{FF2B5EF4-FFF2-40B4-BE49-F238E27FC236}">
                <a16:creationId xmlns:a16="http://schemas.microsoft.com/office/drawing/2014/main" id="{56583EFC-8702-0356-EE74-F39032C9F09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5" name="Text Placeholder 12">
            <a:extLst>
              <a:ext uri="{FF2B5EF4-FFF2-40B4-BE49-F238E27FC236}">
                <a16:creationId xmlns:a16="http://schemas.microsoft.com/office/drawing/2014/main" id="{22ECF549-6409-5155-15FA-892E91732DA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6" name="Text Placeholder 12">
            <a:extLst>
              <a:ext uri="{FF2B5EF4-FFF2-40B4-BE49-F238E27FC236}">
                <a16:creationId xmlns:a16="http://schemas.microsoft.com/office/drawing/2014/main" id="{09504637-791F-341E-8DB3-CDE7A550FEAD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19074269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835883B1-D903-134B-B4BD-30F22FDE613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F6253B8-ACD7-445C-6C84-BD96C091A1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9818655-1797-60FF-0F07-36FA45405DE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6C96D51-446D-DE14-0032-49906289A44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16D3688D-D88F-222F-28FC-F21CE2C1A9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22288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B7FDEE93-16D2-FAD9-58CD-BE3656863E4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438525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46F9F311-5758-DE40-0F62-7EBA79BCDB6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354762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1" name="Picture Placeholder 13">
            <a:extLst>
              <a:ext uri="{FF2B5EF4-FFF2-40B4-BE49-F238E27FC236}">
                <a16:creationId xmlns:a16="http://schemas.microsoft.com/office/drawing/2014/main" id="{57865A49-F548-CBC6-E9F4-DDDA6499904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9270999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EA112CB0-5EC3-3EF7-F95B-02E49493FF2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522288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23E94E26-853C-1642-474A-DE9BB52EC5E2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3438525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7115AF71-0AA8-A9E8-03E3-3079A20FEBC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354762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2169CAF7-F3AC-C87A-2219-83F24BBAF0BB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9270999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042625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DC60B02-45BE-1118-539A-D0D668CED88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67438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D7570CD-0EB2-53E9-23D7-07041D6775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4963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2270953-3BD1-0603-9277-F0617DB596C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2D7F94A3-888B-0DB4-671D-358849EDAD3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7438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ED29820-56DD-2322-6F94-4DD5322CC85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4963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99BC7759-1D69-9C53-103B-51CE3104436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51200" y="368300"/>
            <a:ext cx="2773363" cy="5292725"/>
          </a:xfrm>
          <a:prstGeom prst="roundRect">
            <a:avLst>
              <a:gd name="adj" fmla="val 5677"/>
            </a:avLst>
          </a:prstGeom>
          <a:noFill/>
        </p:spPr>
        <p:txBody>
          <a:bodyPr/>
          <a:lstStyle/>
          <a:p>
            <a:endParaRPr lang="ru-RU"/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580B9BB9-D4F1-CE1E-645D-9B74DBE3F8E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22288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6DC04307-31E4-1B1D-84BE-BA6229DAE0A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4762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1DAB03A2-98C4-F789-C3FD-2836EE759FF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70999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0C98F122-8346-F35A-0654-888D95B2B91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B55B350F-57AD-3C67-F89B-34EED468010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FF0BB81F-0D00-CF3E-5D28-572BB9AEC40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0328278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  <p15:guide id="7" orient="horz" pos="1842" userDrawn="1">
          <p15:clr>
            <a:srgbClr val="FBAE40"/>
          </p15:clr>
        </p15:guide>
        <p15:guide id="8" orient="horz" pos="1933" userDrawn="1">
          <p15:clr>
            <a:srgbClr val="FBAE4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BDDDFC68-688F-98DC-504A-C1DFCAB9B0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AE95C286-47DD-DC28-7CD4-9D9F729F86E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97451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E7F0361F-45EF-BA19-3CCD-28D435965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28695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943E5C0-8495-2423-B07D-09D3708390D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59938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DF104192-3E5C-855B-DCF9-EA48587608D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7451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F1F716A7-039E-F0A8-4141-1B67DFE1FF7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328695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4CA561B2-F7BA-A028-45C7-6193BB210DB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59938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6B52A3A4-2CB7-8CEE-4272-D6A2A49E933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324EEA4D-B329-4572-E3B8-702FEE4B80C7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E4CCBDF7-C93C-E508-14FD-CB10706C1D5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2B55CF67-7CC4-5BDB-63CF-47EF4E3AE11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5673FE15-6AD4-DA90-5E3C-30BF07EF198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84776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E038B299-5084-4DB1-F625-CA29360B8D7D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84776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32F69C4A-EBFF-F51F-2B0A-E1402468C9E3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51601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A60F43B4-4F25-4BAA-9546-BA17F4D76A19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51601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C03BBD81-BE0A-3BC8-560E-6CECDD8E951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847264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4" name="Text Placeholder 12">
            <a:extLst>
              <a:ext uri="{FF2B5EF4-FFF2-40B4-BE49-F238E27FC236}">
                <a16:creationId xmlns:a16="http://schemas.microsoft.com/office/drawing/2014/main" id="{3F18925B-C2CB-BAD7-6618-ECD2F20D7BF8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847264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38779225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8">
            <a:extLst>
              <a:ext uri="{FF2B5EF4-FFF2-40B4-BE49-F238E27FC236}">
                <a16:creationId xmlns:a16="http://schemas.microsoft.com/office/drawing/2014/main" id="{FE6AB184-9780-970D-64F9-446774F6563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005444" y="436118"/>
            <a:ext cx="1531236" cy="1531236"/>
          </a:xfrm>
        </p:spPr>
        <p:txBody>
          <a:bodyPr/>
          <a:lstStyle/>
          <a:p>
            <a:endParaRPr lang="ru-RU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338104AA-88A6-6E62-D4DE-F363E51900F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67438" y="4534218"/>
            <a:ext cx="1955482" cy="1955482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05747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9301001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2374F4AD-5E21-E05E-44C9-D5783DD7FA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D2F4350-53FF-699D-9691-3A8AAF0C64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22751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B65084D-E6C5-2F10-5B2A-F61927D5CC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12126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</p:spTree>
    <p:extLst>
      <p:ext uri="{BB962C8B-B14F-4D97-AF65-F5344CB8AC3E}">
        <p14:creationId xmlns:p14="http://schemas.microsoft.com/office/powerpoint/2010/main" val="29861315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C31D7BA3-C63A-4D3A-A18A-92144B2DD38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49094E61-1D9A-9CB5-1E10-DA789026F96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C4D4C7E-B30A-3DD7-28DA-64C347E3247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8FCCF0A1-4F2D-3EAF-A1BD-5E2FC8F157B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E423006F-2C78-9E7C-83BD-B505D5CC19D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2288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5575A8CF-A861-031A-9DA0-77BC1A85ED6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38525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A07AA0C4-BF8F-4A3F-6DBA-0B1D390F797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4762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677A8042-ADEF-5C59-7285-0FBC30263E0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70999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28C0E1DF-0D50-4806-0D99-7055145FA172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1ADF5550-C97E-BEF7-BC48-404ED247F51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ED485EC6-6CCE-BA9F-FD68-7F31DFD23AA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96AACC45-E3A9-298F-4D44-FA76CCCA4C1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8044049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835883B1-D903-134B-B4BD-30F22FDE613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F6253B8-ACD7-445C-6C84-BD96C091A1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9818655-1797-60FF-0F07-36FA45405DE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6C96D51-446D-DE14-0032-49906289A44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16D3688D-D88F-222F-28FC-F21CE2C1A9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22288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B7FDEE93-16D2-FAD9-58CD-BE3656863E4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438525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46F9F311-5758-DE40-0F62-7EBA79BCDB6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354762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Picture Placeholder 13">
            <a:extLst>
              <a:ext uri="{FF2B5EF4-FFF2-40B4-BE49-F238E27FC236}">
                <a16:creationId xmlns:a16="http://schemas.microsoft.com/office/drawing/2014/main" id="{57865A49-F548-CBC6-E9F4-DDDA6499904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9270999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EA112CB0-5EC3-3EF7-F95B-02E49493FF2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522288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23E94E26-853C-1642-474A-DE9BB52EC5E2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3438525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7115AF71-0AA8-A9E8-03E3-3079A20FEBC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354762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2169CAF7-F3AC-C87A-2219-83F24BBAF0BB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9270999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79675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DC60B02-45BE-1118-539A-D0D668CED88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67438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D7570CD-0EB2-53E9-23D7-07041D6775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4963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2270953-3BD1-0603-9277-F0617DB596C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2D7F94A3-888B-0DB4-671D-358849EDAD3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7438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ED29820-56DD-2322-6F94-4DD5322CC85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4963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99BC7759-1D69-9C53-103B-51CE3104436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51200" y="368300"/>
            <a:ext cx="2773363" cy="5292725"/>
          </a:xfrm>
          <a:prstGeom prst="roundRect">
            <a:avLst>
              <a:gd name="adj" fmla="val 5677"/>
            </a:avLst>
          </a:prstGeom>
          <a:noFill/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9E9A5A36-8C36-8EA0-57A7-7682B6AC436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22288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428E35B4-0DB1-E719-DDB1-55DA8CB6E18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4762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3066C51D-A5DD-3937-ACD0-D27A3001813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70999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CEC63843-A550-9A1C-DE4F-A216DBCC3192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2D32329B-C271-5BF5-7188-FED5356C8AC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D1453686-D68B-BB7B-EA82-29381DA3F48A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5577475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  <p15:guide id="7" orient="horz" pos="1842" userDrawn="1">
          <p15:clr>
            <a:srgbClr val="FBAE40"/>
          </p15:clr>
        </p15:guide>
        <p15:guide id="8" orient="horz" pos="1933" userDrawn="1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BDDDFC68-688F-98DC-504A-C1DFCAB9B0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AE95C286-47DD-DC28-7CD4-9D9F729F86E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97451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E7F0361F-45EF-BA19-3CCD-28D435965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28695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943E5C0-8495-2423-B07D-09D3708390D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59938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DF104192-3E5C-855B-DCF9-EA48587608D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7451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F1F716A7-039E-F0A8-4141-1B67DFE1FF7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328695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4CA561B2-F7BA-A028-45C7-6193BB210DB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59938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65282A93-36D5-2DCA-DB33-129C67C1375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DD1050B1-57DA-3479-6238-AB4015A2C64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C3931D4B-B5E7-57E3-FD48-A9311F9FCF7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D9633F75-33EB-07AC-1A2A-7DE844F02FB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39650B4B-77E0-A224-AD8C-A15FF66869D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84776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60FF1EAF-D71B-28A7-002C-5C100CA26BB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84776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44A3AC86-3061-809E-9570-08037CFDAB8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51601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9F9C3858-8912-3925-3818-11B465DA0A95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51601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25AD5B9F-77D4-B0BB-1E54-830A5D58366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847264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FD89BC42-CA36-6787-AD53-9D8606B18E5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847264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37375977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8">
            <a:extLst>
              <a:ext uri="{FF2B5EF4-FFF2-40B4-BE49-F238E27FC236}">
                <a16:creationId xmlns:a16="http://schemas.microsoft.com/office/drawing/2014/main" id="{FE6AB184-9780-970D-64F9-446774F6563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005444" y="436118"/>
            <a:ext cx="1531236" cy="1531236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2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tx2"/>
          </a:solidFill>
        </p:spPr>
        <p:txBody>
          <a:bodyPr anchor="ctr">
            <a:normAutofit/>
          </a:bodyPr>
          <a:lstStyle>
            <a:lvl1pPr algn="ctr">
              <a:defRPr sz="1200">
                <a:solidFill>
                  <a:schemeClr val="bg2"/>
                </a:solidFill>
              </a:defRPr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338104AA-88A6-6E62-D4DE-F363E51900F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67438" y="4534218"/>
            <a:ext cx="1955482" cy="1955482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1984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4773189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2374F4AD-5E21-E05E-44C9-D5783DD7FA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D2F4350-53FF-699D-9691-3A8AAF0C64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22751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B65084D-E6C5-2F10-5B2A-F61927D5CC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12126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</p:spTree>
    <p:extLst>
      <p:ext uri="{BB962C8B-B14F-4D97-AF65-F5344CB8AC3E}">
        <p14:creationId xmlns:p14="http://schemas.microsoft.com/office/powerpoint/2010/main" val="4939763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C31D7BA3-C63A-4D3A-A18A-92144B2DD38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49094E61-1D9A-9CB5-1E10-DA789026F96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C4D4C7E-B30A-3DD7-28DA-64C347E3247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8FCCF0A1-4F2D-3EAF-A1BD-5E2FC8F157B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DE9DBEF0-F4BC-FF7C-B1A0-50A9EBD3271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2288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47A55A2-38A0-91A7-7A44-983A0DA9479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38525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7F17A590-23B2-1544-E69A-2DBC3F22228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4762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4D211E5E-70C5-49BA-F160-C00EE01A6AF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70999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5EBCCA12-9B5F-C3F6-39BD-7B228C94801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004E939C-6809-D863-B07A-9D9F5190750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BB5436B9-2728-765B-001D-83CD388F89B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2C4BA89E-8067-6BBD-40DB-EC5E844D2D4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3007442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835883B1-D903-134B-B4BD-30F22FDE613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F6253B8-ACD7-445C-6C84-BD96C091A1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9818655-1797-60FF-0F07-36FA45405DE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6C96D51-446D-DE14-0032-49906289A44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16D3688D-D88F-222F-28FC-F21CE2C1A9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22288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B7FDEE93-16D2-FAD9-58CD-BE3656863E4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438525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46F9F311-5758-DE40-0F62-7EBA79BCDB6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354762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Picture Placeholder 13">
            <a:extLst>
              <a:ext uri="{FF2B5EF4-FFF2-40B4-BE49-F238E27FC236}">
                <a16:creationId xmlns:a16="http://schemas.microsoft.com/office/drawing/2014/main" id="{57865A49-F548-CBC6-E9F4-DDDA6499904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9270999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EA112CB0-5EC3-3EF7-F95B-02E49493FF2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522288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23E94E26-853C-1642-474A-DE9BB52EC5E2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3438525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7115AF71-0AA8-A9E8-03E3-3079A20FEBC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354762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2169CAF7-F3AC-C87A-2219-83F24BBAF0BB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9270999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31004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DC60B02-45BE-1118-539A-D0D668CED88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67438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D7570CD-0EB2-53E9-23D7-07041D6775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4963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2270953-3BD1-0603-9277-F0617DB596C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2D7F94A3-888B-0DB4-671D-358849EDAD3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7438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ED29820-56DD-2322-6F94-4DD5322CC85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4963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99BC7759-1D69-9C53-103B-51CE3104436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51200" y="368300"/>
            <a:ext cx="2773363" cy="5292725"/>
          </a:xfrm>
          <a:prstGeom prst="roundRect">
            <a:avLst>
              <a:gd name="adj" fmla="val 5677"/>
            </a:avLst>
          </a:prstGeom>
          <a:noFill/>
        </p:spPr>
        <p:txBody>
          <a:bodyPr/>
          <a:lstStyle/>
          <a:p>
            <a:endParaRPr lang="ru-RU"/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A47FB5B2-4AB8-836B-81A0-BBB5CD0F4CD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22288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F1A8D808-A45C-EC24-EDE3-23EED19DB97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4762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154B06F9-2B07-3492-0DE3-7AD08E7761D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70999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9577FE8A-3B42-90D4-0B3F-08CF6F69484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0E9F5B02-DC54-1F61-EDE7-7D7068B8E7F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766CF36C-E0EB-6A35-FADE-D5A47E35C262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42320769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  <p15:guide id="7" orient="horz" pos="1842" userDrawn="1">
          <p15:clr>
            <a:srgbClr val="FBAE40"/>
          </p15:clr>
        </p15:guide>
        <p15:guide id="8" orient="horz" pos="1933" userDrawn="1">
          <p15:clr>
            <a:srgbClr val="FBAE4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BDDDFC68-688F-98DC-504A-C1DFCAB9B0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AE95C286-47DD-DC28-7CD4-9D9F729F86E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97451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E7F0361F-45EF-BA19-3CCD-28D435965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28695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943E5C0-8495-2423-B07D-09D3708390D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59938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DF104192-3E5C-855B-DCF9-EA48587608D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7451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F1F716A7-039E-F0A8-4141-1B67DFE1FF7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328695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4CA561B2-F7BA-A028-45C7-6193BB210DB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59938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09B85D66-A350-8859-DCF4-1E90DFE11A3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90F970F2-8583-D586-C998-1EC852A25D6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54F454E9-21AB-B3AC-CB07-BFB1786602C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EB6E8752-77D0-02D6-032B-F5B063E0A88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A1D56051-4B21-8CDF-A718-2B650C061B6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84776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C5F27BDB-F296-A9A6-0E3D-5923078A45D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84776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AE319FAE-4DB5-54EF-4AA8-0489B77F0DD5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51601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48F0CB25-843F-4279-36BA-E411E0E578E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51601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BCD7C6B3-26D3-E01C-1334-2F96D32E50A8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847264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A830D6AD-5BFF-9C70-A376-9849CB2F8408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847264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196844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8">
            <a:extLst>
              <a:ext uri="{FF2B5EF4-FFF2-40B4-BE49-F238E27FC236}">
                <a16:creationId xmlns:a16="http://schemas.microsoft.com/office/drawing/2014/main" id="{FE6AB184-9780-970D-64F9-446774F6563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005444" y="436118"/>
            <a:ext cx="1531236" cy="1531236"/>
          </a:xfrm>
        </p:spPr>
        <p:txBody>
          <a:bodyPr/>
          <a:lstStyle/>
          <a:p>
            <a:endParaRPr lang="ru-RU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338104AA-88A6-6E62-D4DE-F363E51900F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67438" y="4534218"/>
            <a:ext cx="1955482" cy="1955482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703862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E65DB7B-D128-97AD-C1D4-EAD62267D8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FB56B584-9DBD-2FCA-B8E4-C93364078F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5689599" cy="950838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1AD1E0E2-FADF-5C41-6241-08A96283CF4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56536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7829587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411089F-9259-5E55-4CD6-9FE6534FA2F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140180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F49E53F-C82A-510C-A341-B2DEEA3D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B7A91963-3EC2-EF30-FE42-90B9D43FD2D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C7BAC708-8F72-5FD8-1B2C-042C903E07B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9DA56CF0-D303-BF01-F8E8-456ED638399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53C12B8E-EF70-EA33-7FC7-0ECF726561E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8858148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>
          <p15:clr>
            <a:srgbClr val="FBAE40"/>
          </p15:clr>
        </p15:guide>
        <p15:guide id="2" pos="1595">
          <p15:clr>
            <a:srgbClr val="FBAE40"/>
          </p15:clr>
        </p15:guide>
        <p15:guide id="3" pos="3160">
          <p15:clr>
            <a:srgbClr val="FBAE40"/>
          </p15:clr>
        </p15:guide>
        <p15:guide id="4" pos="1685">
          <p15:clr>
            <a:srgbClr val="FBAE40"/>
          </p15:clr>
        </p15:guide>
        <p15:guide id="5" pos="5995">
          <p15:clr>
            <a:srgbClr val="FBAE40"/>
          </p15:clr>
        </p15:guide>
        <p15:guide id="6" pos="6085">
          <p15:clr>
            <a:srgbClr val="FBAE40"/>
          </p15:clr>
        </p15:guide>
        <p15:guide id="7" pos="4611">
          <p15:clr>
            <a:srgbClr val="FBAE40"/>
          </p15:clr>
        </p15:guide>
        <p15:guide id="8" pos="4520">
          <p15:clr>
            <a:srgbClr val="FBAE40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E65DB7B-D128-97AD-C1D4-EAD62267D8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D762391C-C780-779F-E63C-4AEF83C49B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F16B16D-16F0-73BE-B619-E2A825778D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7727A5F-7D8C-0C12-0650-82B4FEB713E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CC4CFE5-C951-3D3C-9620-CB0F9B06442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A34D12F5-7C00-F2F4-070E-A59933442D2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F9EB555D-B14F-1F29-BA49-6C5708112EA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4269EDCC-46BA-183C-0DD7-F1704C54D74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71A9C655-8663-139D-469E-6B2B30DFD8FC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9821158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  <p15:guide id="7" orient="horz" pos="1842">
          <p15:clr>
            <a:srgbClr val="FBAE40"/>
          </p15:clr>
        </p15:guide>
        <p15:guide id="8" orient="horz" pos="1933">
          <p15:clr>
            <a:srgbClr val="FBAE40"/>
          </p15:clr>
        </p15:guide>
      </p15:sldGuideLst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E65DB7B-D128-97AD-C1D4-EAD62267D8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FB56B584-9DBD-2FCA-B8E4-C93364078F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5689599" cy="950838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1AD1E0E2-FADF-5C41-6241-08A96283CF4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56536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1063957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411089F-9259-5E55-4CD6-9FE6534FA2F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accent2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953321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F49E53F-C82A-510C-A341-B2DEEA3D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CA5B6623-8839-3FD3-BE1E-8776FCB4E01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E8908ECA-F373-7B93-F5ED-BD3C2F80B1D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02D4F84E-21AF-75A0-505C-C0020D736D9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B85AE240-B355-7E74-D0E6-CECC4E380C08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342377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>
          <p15:clr>
            <a:srgbClr val="FBAE40"/>
          </p15:clr>
        </p15:guide>
        <p15:guide id="2" pos="1595">
          <p15:clr>
            <a:srgbClr val="FBAE40"/>
          </p15:clr>
        </p15:guide>
        <p15:guide id="3" pos="3160">
          <p15:clr>
            <a:srgbClr val="FBAE40"/>
          </p15:clr>
        </p15:guide>
        <p15:guide id="4" pos="1685">
          <p15:clr>
            <a:srgbClr val="FBAE40"/>
          </p15:clr>
        </p15:guide>
        <p15:guide id="5" pos="5995">
          <p15:clr>
            <a:srgbClr val="FBAE40"/>
          </p15:clr>
        </p15:guide>
        <p15:guide id="6" pos="6085">
          <p15:clr>
            <a:srgbClr val="FBAE40"/>
          </p15:clr>
        </p15:guide>
        <p15:guide id="7" pos="4611">
          <p15:clr>
            <a:srgbClr val="FBAE40"/>
          </p15:clr>
        </p15:guide>
        <p15:guide id="8" pos="4520">
          <p15:clr>
            <a:srgbClr val="FBAE40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E65DB7B-D128-97AD-C1D4-EAD62267D8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D762391C-C780-779F-E63C-4AEF83C49B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F16B16D-16F0-73BE-B619-E2A825778D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7727A5F-7D8C-0C12-0650-82B4FEB713E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CC4CFE5-C951-3D3C-9620-CB0F9B06442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17C6D3D4-3D04-B7D7-40B0-011D01031BD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6E0E224D-9867-CBC0-BB3C-6E692333BD2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600FBB7-BB46-1D14-8027-44498D5FB1D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4342ACBC-E90A-3A0F-FCF0-2AA6E837ECBF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1491230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  <p15:guide id="7" orient="horz" pos="1842">
          <p15:clr>
            <a:srgbClr val="FBAE40"/>
          </p15:clr>
        </p15:guide>
        <p15:guide id="8" orient="horz" pos="1933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48D0999-EA8B-B78A-B322-DB09E98C2C1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FB56B584-9DBD-2FCA-B8E4-C93364078F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5689599" cy="950838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1AD1E0E2-FADF-5C41-6241-08A96283CF4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56536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2752235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9056FEF-0B9A-1034-0612-96CEF362B58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2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tx2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89770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6A9E7D0-15A5-0FAD-9BF5-14373EA6F0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69F3F2F1-BD62-B7FF-6F09-588CCF3F1D2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5895F6DB-D441-CB27-3CF3-EBD497CCDBE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67ECB80F-196B-B4D5-6BBB-5DEFA016B85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762E564E-9150-D8F4-55F5-68E9CCCECB9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5859023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>
          <p15:clr>
            <a:srgbClr val="FBAE40"/>
          </p15:clr>
        </p15:guide>
        <p15:guide id="2" pos="1595">
          <p15:clr>
            <a:srgbClr val="FBAE40"/>
          </p15:clr>
        </p15:guide>
        <p15:guide id="3" pos="3160">
          <p15:clr>
            <a:srgbClr val="FBAE40"/>
          </p15:clr>
        </p15:guide>
        <p15:guide id="4" pos="1685">
          <p15:clr>
            <a:srgbClr val="FBAE40"/>
          </p15:clr>
        </p15:guide>
        <p15:guide id="5" pos="5995">
          <p15:clr>
            <a:srgbClr val="FBAE40"/>
          </p15:clr>
        </p15:guide>
        <p15:guide id="6" pos="6085">
          <p15:clr>
            <a:srgbClr val="FBAE40"/>
          </p15:clr>
        </p15:guide>
        <p15:guide id="7" pos="4611">
          <p15:clr>
            <a:srgbClr val="FBAE40"/>
          </p15:clr>
        </p15:guide>
        <p15:guide id="8" pos="4520">
          <p15:clr>
            <a:srgbClr val="FBAE40"/>
          </p15:clr>
        </p15:guide>
      </p15:sldGuideLst>
    </p:ext>
  </p:extLs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0402DEF2-6D2B-0B18-48AB-F6E597400D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D762391C-C780-779F-E63C-4AEF83C49B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F16B16D-16F0-73BE-B619-E2A825778D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7727A5F-7D8C-0C12-0650-82B4FEB713E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CC4CFE5-C951-3D3C-9620-CB0F9B06442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457BB65-BB02-A644-9BE4-A4F9227B501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705E9140-8A15-8E5A-A358-418F4ECAB849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CBC77B6E-0B79-B434-B740-D8CE4F269C47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A817151A-7916-B12A-7871-6808B7DCAE8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37031353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  <p15:guide id="7" orient="horz" pos="1842">
          <p15:clr>
            <a:srgbClr val="FBAE40"/>
          </p15:clr>
        </p15:guide>
        <p15:guide id="8" orient="horz" pos="1933">
          <p15:clr>
            <a:srgbClr val="FBAE40"/>
          </p15:clr>
        </p15:guide>
      </p15:sldGuideLst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E65DB7B-D128-97AD-C1D4-EAD62267D8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FB56B584-9DBD-2FCA-B8E4-C93364078F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5689599" cy="950838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1AD1E0E2-FADF-5C41-6241-08A96283CF4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56536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40548687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6ADF3FC-2AB4-039A-7B19-4479983744E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230707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A32D538-27D9-270A-D040-59FF92282BD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AD13CCFF-6F6E-B21A-B835-43964E8718B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C2807081-AE4A-4DA5-C6A6-05767D246F1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D19F3E09-7CE6-AFCC-B1D1-97649CBCEA2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A8517D01-3A6B-C4F8-E17D-11C17C601D4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6223860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>
          <p15:clr>
            <a:srgbClr val="FBAE40"/>
          </p15:clr>
        </p15:guide>
        <p15:guide id="2" pos="1595">
          <p15:clr>
            <a:srgbClr val="FBAE40"/>
          </p15:clr>
        </p15:guide>
        <p15:guide id="3" pos="3160">
          <p15:clr>
            <a:srgbClr val="FBAE40"/>
          </p15:clr>
        </p15:guide>
        <p15:guide id="4" pos="1685">
          <p15:clr>
            <a:srgbClr val="FBAE40"/>
          </p15:clr>
        </p15:guide>
        <p15:guide id="5" pos="5995">
          <p15:clr>
            <a:srgbClr val="FBAE40"/>
          </p15:clr>
        </p15:guide>
        <p15:guide id="6" pos="6085">
          <p15:clr>
            <a:srgbClr val="FBAE40"/>
          </p15:clr>
        </p15:guide>
        <p15:guide id="7" pos="4611">
          <p15:clr>
            <a:srgbClr val="FBAE40"/>
          </p15:clr>
        </p15:guide>
        <p15:guide id="8" pos="4520">
          <p15:clr>
            <a:srgbClr val="FBAE40"/>
          </p15:clr>
        </p15:guide>
      </p15:sldGuideLst>
    </p:ext>
  </p:extLst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B728003-9A73-F3CB-EADC-5EB4BEC4C22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D762391C-C780-779F-E63C-4AEF83C49B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F16B16D-16F0-73BE-B619-E2A825778D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7727A5F-7D8C-0C12-0650-82B4FEB713E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CC4CFE5-C951-3D3C-9620-CB0F9B06442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EEF877D-073F-066B-1B4C-7B533435E21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CD95C3F6-0525-9AF9-3CA4-2E37E28254A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E117B121-0772-F43D-4C47-7496F767A20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AC8C7AB6-9865-AE7C-5085-12E4D207F6B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40533145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  <p15:guide id="7" orient="horz" pos="1842">
          <p15:clr>
            <a:srgbClr val="FBAE40"/>
          </p15:clr>
        </p15:guide>
        <p15:guide id="8" orient="horz" pos="1933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sv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6" Type="http://schemas.openxmlformats.org/officeDocument/2006/relationships/image" Target="../media/image3.sv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Layout" Target="../slideLayouts/slideLayout8.xml"/><Relationship Id="rId3" Type="http://schemas.openxmlformats.org/officeDocument/2006/relationships/slideLayout" Target="../slideLayouts/slideLayout9.xml"/><Relationship Id="rId4" Type="http://schemas.openxmlformats.org/officeDocument/2006/relationships/slideLayout" Target="../slideLayouts/slideLayout10.xml"/><Relationship Id="rId5" Type="http://schemas.openxmlformats.org/officeDocument/2006/relationships/theme" Target="../theme/theme3.xml"/><Relationship Id="rId6" Type="http://schemas.openxmlformats.org/officeDocument/2006/relationships/image" Target="../media/image1.sv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theme" Target="../theme/theme4.xml"/><Relationship Id="rId6" Type="http://schemas.openxmlformats.org/officeDocument/2006/relationships/image" Target="../media/image6.svg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theme" Target="../theme/theme5.xml"/><Relationship Id="rId6" Type="http://schemas.openxmlformats.org/officeDocument/2006/relationships/image" Target="../media/image10.svg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slideLayout" Target="../slideLayouts/slideLayout20.xml"/><Relationship Id="rId3" Type="http://schemas.openxmlformats.org/officeDocument/2006/relationships/slideLayout" Target="../slideLayouts/slideLayout21.xml"/><Relationship Id="rId4" Type="http://schemas.openxmlformats.org/officeDocument/2006/relationships/slideLayout" Target="../slideLayouts/slideLayout22.xml"/><Relationship Id="rId5" Type="http://schemas.openxmlformats.org/officeDocument/2006/relationships/theme" Target="../theme/theme6.xml"/><Relationship Id="rId6" Type="http://schemas.openxmlformats.org/officeDocument/2006/relationships/image" Target="../media/image1.svg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theme" Target="../theme/theme7.xml"/><Relationship Id="rId9" Type="http://schemas.openxmlformats.org/officeDocument/2006/relationships/image" Target="../media/image1.svg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9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0.xml"/><Relationship Id="rId12" Type="http://schemas.openxmlformats.org/officeDocument/2006/relationships/slideLayout" Target="../slideLayouts/slideLayout41.xml"/><Relationship Id="rId13" Type="http://schemas.openxmlformats.org/officeDocument/2006/relationships/theme" Target="../theme/theme8.xml"/><Relationship Id="rId14" Type="http://schemas.openxmlformats.org/officeDocument/2006/relationships/image" Target="../media/image1.svg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slideLayout" Target="../slideLayouts/slideLayout43.xml"/><Relationship Id="rId3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5.xml"/><Relationship Id="rId5" Type="http://schemas.openxmlformats.org/officeDocument/2006/relationships/slideLayout" Target="../slideLayouts/slideLayout46.xml"/><Relationship Id="rId6" Type="http://schemas.openxmlformats.org/officeDocument/2006/relationships/slideLayout" Target="../slideLayouts/slideLayout47.xml"/><Relationship Id="rId7" Type="http://schemas.openxmlformats.org/officeDocument/2006/relationships/slideLayout" Target="../slideLayouts/slideLayout48.xml"/><Relationship Id="rId8" Type="http://schemas.openxmlformats.org/officeDocument/2006/relationships/theme" Target="../theme/theme9.xml"/><Relationship Id="rId9" Type="http://schemas.openxmlformats.org/officeDocument/2006/relationships/image" Target="../media/image1.svg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slideLayout" Target="../slideLayouts/slideLayout50.xml"/><Relationship Id="rId3" Type="http://schemas.openxmlformats.org/officeDocument/2006/relationships/slideLayout" Target="../slideLayouts/slideLayout51.xml"/><Relationship Id="rId4" Type="http://schemas.openxmlformats.org/officeDocument/2006/relationships/slideLayout" Target="../slideLayouts/slideLayout52.xml"/><Relationship Id="rId5" Type="http://schemas.openxmlformats.org/officeDocument/2006/relationships/slideLayout" Target="../slideLayouts/slideLayout53.xml"/><Relationship Id="rId6" Type="http://schemas.openxmlformats.org/officeDocument/2006/relationships/slideLayout" Target="../slideLayouts/slideLayout54.xml"/><Relationship Id="rId7" Type="http://schemas.openxmlformats.org/officeDocument/2006/relationships/slideLayout" Target="../slideLayouts/slideLayout55.xml"/><Relationship Id="rId8" Type="http://schemas.openxmlformats.org/officeDocument/2006/relationships/theme" Target="../theme/theme10.xml"/><Relationship Id="rId9" Type="http://schemas.openxmlformats.org/officeDocument/2006/relationships/image" Target="../media/image10.svg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6.xml"/><Relationship Id="rId2" Type="http://schemas.openxmlformats.org/officeDocument/2006/relationships/slideLayout" Target="../slideLayouts/slideLayout57.xml"/><Relationship Id="rId3" Type="http://schemas.openxmlformats.org/officeDocument/2006/relationships/slideLayout" Target="../slideLayouts/slideLayout58.xml"/><Relationship Id="rId4" Type="http://schemas.openxmlformats.org/officeDocument/2006/relationships/slideLayout" Target="../slideLayouts/slideLayout59.xml"/><Relationship Id="rId5" Type="http://schemas.openxmlformats.org/officeDocument/2006/relationships/slideLayout" Target="../slideLayouts/slideLayout60.xml"/><Relationship Id="rId6" Type="http://schemas.openxmlformats.org/officeDocument/2006/relationships/slideLayout" Target="../slideLayouts/slideLayout61.xml"/><Relationship Id="rId7" Type="http://schemas.openxmlformats.org/officeDocument/2006/relationships/slideLayout" Target="../slideLayouts/slideLayout62.xml"/><Relationship Id="rId8" Type="http://schemas.openxmlformats.org/officeDocument/2006/relationships/theme" Target="../theme/theme11.xml"/><Relationship Id="rId9" Type="http://schemas.openxmlformats.org/officeDocument/2006/relationships/image" Target="../media/image1.svg"/></Relationships>
</file>

<file path=ppt/slideMasters/_rels/slideMaster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slideLayout" Target="../slideLayouts/slideLayout64.xml"/><Relationship Id="rId3" Type="http://schemas.openxmlformats.org/officeDocument/2006/relationships/slideLayout" Target="../slideLayouts/slideLayout65.xml"/><Relationship Id="rId4" Type="http://schemas.openxmlformats.org/officeDocument/2006/relationships/slideLayout" Target="../slideLayouts/slideLayout66.xml"/><Relationship Id="rId5" Type="http://schemas.openxmlformats.org/officeDocument/2006/relationships/theme" Target="../theme/theme12.xml"/><Relationship Id="rId6" Type="http://schemas.openxmlformats.org/officeDocument/2006/relationships/image" Target="../media/image1.svg"/></Relationships>
</file>

<file path=ppt/slideMasters/_rels/slideMaster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theme" Target="../theme/theme13.xml"/><Relationship Id="rId6" Type="http://schemas.openxmlformats.org/officeDocument/2006/relationships/image" Target="../media/image1.svg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72.xml"/><Relationship Id="rId3" Type="http://schemas.openxmlformats.org/officeDocument/2006/relationships/slideLayout" Target="../slideLayouts/slideLayout73.xml"/><Relationship Id="rId4" Type="http://schemas.openxmlformats.org/officeDocument/2006/relationships/slideLayout" Target="../slideLayouts/slideLayout74.xml"/><Relationship Id="rId5" Type="http://schemas.openxmlformats.org/officeDocument/2006/relationships/theme" Target="../theme/theme14.xml"/><Relationship Id="rId6" Type="http://schemas.openxmlformats.org/officeDocument/2006/relationships/image" Target="../media/image10.svg"/></Relationships>
</file>

<file path=ppt/slideMasters/_rels/slideMaster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5.xml"/><Relationship Id="rId2" Type="http://schemas.openxmlformats.org/officeDocument/2006/relationships/slideLayout" Target="../slideLayouts/slideLayout76.xml"/><Relationship Id="rId3" Type="http://schemas.openxmlformats.org/officeDocument/2006/relationships/slideLayout" Target="../slideLayouts/slideLayout77.xml"/><Relationship Id="rId4" Type="http://schemas.openxmlformats.org/officeDocument/2006/relationships/slideLayout" Target="../slideLayouts/slideLayout78.xml"/><Relationship Id="rId5" Type="http://schemas.openxmlformats.org/officeDocument/2006/relationships/theme" Target="../theme/theme15.xml"/><Relationship Id="rId6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3200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0" r:id="rId1"/>
    <p:sldLayoutId id="2147483771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12232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83" r:id="rId3"/>
    <p:sldLayoutId id="2147483676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tx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942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81" r:id="rId2"/>
    <p:sldLayoutId id="2147483684" r:id="rId3"/>
    <p:sldLayoutId id="2147483682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05913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1" r:id="rId2"/>
    <p:sldLayoutId id="2147483669" r:id="rId3"/>
    <p:sldLayoutId id="2147483670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tx2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tx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55978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2" r:id="rId2"/>
    <p:sldLayoutId id="2147483662" r:id="rId3"/>
    <p:sldLayoutId id="2147483663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2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5" pos="7469" userDrawn="1">
          <p15:clr>
            <a:srgbClr val="F26B43"/>
          </p15:clr>
        </p15:guide>
        <p15:guide id="6" orient="horz" pos="3566" userDrawn="1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85991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5" r:id="rId1"/>
    <p:sldLayoutId id="2147483766" r:id="rId2"/>
    <p:sldLayoutId id="2147483767" r:id="rId3"/>
    <p:sldLayoutId id="2147483768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55848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90" r:id="rId2"/>
    <p:sldLayoutId id="2147483689" r:id="rId3"/>
    <p:sldLayoutId id="2147483664" r:id="rId4"/>
    <p:sldLayoutId id="2147483665" r:id="rId5"/>
    <p:sldLayoutId id="2147483659" r:id="rId6"/>
    <p:sldLayoutId id="2147483660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5848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4" r:id="rId2"/>
    <p:sldLayoutId id="2147483698" r:id="rId3"/>
    <p:sldLayoutId id="2147483718" r:id="rId4"/>
    <p:sldLayoutId id="2147483700" r:id="rId5"/>
    <p:sldLayoutId id="2147483719" r:id="rId6"/>
    <p:sldLayoutId id="2147483772" r:id="rId7"/>
    <p:sldLayoutId id="2147483773" r:id="rId8"/>
    <p:sldLayoutId id="2147483701" r:id="rId9"/>
    <p:sldLayoutId id="2147483720" r:id="rId10"/>
    <p:sldLayoutId id="2147483703" r:id="rId11"/>
    <p:sldLayoutId id="214748372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167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7" r:id="rId1"/>
    <p:sldLayoutId id="2147483724" r:id="rId2"/>
    <p:sldLayoutId id="2147483722" r:id="rId3"/>
    <p:sldLayoutId id="2147483774" r:id="rId4"/>
    <p:sldLayoutId id="2147483723" r:id="rId5"/>
    <p:sldLayoutId id="2147483712" r:id="rId6"/>
    <p:sldLayoutId id="2147483736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97083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8" r:id="rId1"/>
    <p:sldLayoutId id="2147483731" r:id="rId2"/>
    <p:sldLayoutId id="2147483732" r:id="rId3"/>
    <p:sldLayoutId id="2147483775" r:id="rId4"/>
    <p:sldLayoutId id="2147483733" r:id="rId5"/>
    <p:sldLayoutId id="2147483734" r:id="rId6"/>
    <p:sldLayoutId id="2147483738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2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62298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9" r:id="rId1"/>
    <p:sldLayoutId id="2147483726" r:id="rId2"/>
    <p:sldLayoutId id="2147483727" r:id="rId3"/>
    <p:sldLayoutId id="2147483776" r:id="rId4"/>
    <p:sldLayoutId id="2147483728" r:id="rId5"/>
    <p:sldLayoutId id="2147483729" r:id="rId6"/>
    <p:sldLayoutId id="214748373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6694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4" r:id="rId2"/>
    <p:sldLayoutId id="2147483748" r:id="rId3"/>
    <p:sldLayoutId id="2147483747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23028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1" r:id="rId2"/>
    <p:sldLayoutId id="2147483752" r:id="rId3"/>
    <p:sldLayoutId id="2147483753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5364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63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2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274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5" r:id="rId1"/>
    <p:sldLayoutId id="2147483756" r:id="rId2"/>
    <p:sldLayoutId id="2147483757" r:id="rId3"/>
    <p:sldLayoutId id="2147483758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6.xml"/><Relationship Id="rId3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4.xml"/></Relationships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V8 для самых маленьких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Что за лев этот турболев?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3977639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E0FBCC"/>
                </a:solidFill>
                <a:latin typeface="X5 Sans"/>
              </a:rPr>
              <a:t>В описании доклада часть текста написал агент. Честно.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8328" y="4764024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FFFFFF"/>
                </a:solidFill>
                <a:latin typeface="X5 Sans Medium"/>
              </a:rPr>
              <a:t>Александр Зайцев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FFFFFF"/>
                </a:solidFill>
                <a:latin typeface="X5 Sans"/>
              </a:rPr>
              <a:t>HolyJS 2026 Autumn · 24.10.2026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Две функции: дифф в три строки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1.2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0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TextBox 1001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03" name="Connector 1002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4" name="Oval 1003"/>
          <p:cNvSpPr/>
          <p:nvPr/>
        </p:nvSpPr>
        <p:spPr>
          <a:xfrm>
            <a:off x="9619487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5" name="Oval 1004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6" name="Oval 1005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7" name="Oval 1006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8" name="Oval 1007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9" name="Oval 1008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0" name="Oval 1009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1" name="Oval 1010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2" name="Oval 1011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3" name="Oval 1012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4" name="Oval 1013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5" name="Oval 1014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6" name="TextBox 1015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1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две функции</a:t>
            </a:r>
          </a:p>
        </p:txBody>
      </p:sp>
      <p:sp>
        <p:nvSpPr>
          <p:cNvPr id="100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188720"/>
            <a:ext cx="9217152" cy="19202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3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10896" y="1353312"/>
            <a:ext cx="1467612" cy="347472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TextBox 1016"/>
          <p:cNvSpPr txBox="1"/>
          <p:nvPr/>
        </p:nvSpPr>
        <p:spPr>
          <a:xfrm>
            <a:off x="310896" y="1353312"/>
            <a:ext cx="146761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E5B28"/>
                </a:solidFill>
                <a:latin typeface="X5 Sans Medium"/>
              </a:rPr>
              <a:t>A · ?? null</a:t>
            </a:r>
          </a:p>
        </p:txBody>
      </p:sp>
      <p:sp>
        <p:nvSpPr>
          <p:cNvPr id="1018" name="TextBox 1017"/>
          <p:cNvSpPr txBox="1"/>
          <p:nvPr/>
        </p:nvSpPr>
        <p:spPr>
          <a:xfrm>
            <a:off x="429768" y="1755648"/>
            <a:ext cx="8577072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Menlo"/>
              </a:rPr>
              <a:t>referrer: raw.referrer ?? null,</a:t>
            </a:r>
          </a:p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Menlo"/>
              </a:rPr>
              <a:t>trialUntil: raw.trialUntil ?? null,</a:t>
            </a:r>
          </a:p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Menlo"/>
              </a:rPr>
              <a:t>teamId: raw.teamId ?? null,</a:t>
            </a:r>
          </a:p>
        </p:txBody>
      </p:sp>
      <p:sp>
        <p:nvSpPr>
          <p:cNvPr id="1004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109728" y="3291840"/>
            <a:ext cx="9217152" cy="192024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05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310896" y="3456432"/>
            <a:ext cx="2139696" cy="347472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19" name="TextBox 1018"/>
          <p:cNvSpPr txBox="1"/>
          <p:nvPr/>
        </p:nvSpPr>
        <p:spPr>
          <a:xfrm>
            <a:off x="310896" y="3456432"/>
            <a:ext cx="213969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 Medium"/>
              </a:rPr>
              <a:t>B · условный спред</a:t>
            </a:r>
          </a:p>
        </p:txBody>
      </p:sp>
      <p:sp>
        <p:nvSpPr>
          <p:cNvPr id="1020" name="TextBox 1019"/>
          <p:cNvSpPr txBox="1"/>
          <p:nvPr/>
        </p:nvSpPr>
        <p:spPr>
          <a:xfrm>
            <a:off x="429768" y="3858768"/>
            <a:ext cx="8577072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Menlo"/>
              </a:rPr>
              <a:t>...(raw.referrer &amp;&amp; { referrer: raw.referrer }),</a:t>
            </a:r>
          </a:p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Menlo"/>
              </a:rPr>
              <a:t>...(raw.trialUntil &amp;&amp; { trialUntil: raw.trialUntil }),</a:t>
            </a:r>
          </a:p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Menlo"/>
              </a:rPr>
              <a:t>...(raw.teamId &amp;&amp; { teamId: raw.teamId }),</a:t>
            </a:r>
          </a:p>
        </p:txBody>
      </p:sp>
      <p:sp>
        <p:nvSpPr>
          <p:cNvPr id="1021" name="TextBox 1020"/>
          <p:cNvSpPr txBox="1"/>
          <p:nvPr/>
        </p:nvSpPr>
        <p:spPr>
          <a:xfrm>
            <a:off x="5230368" y="137160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пять верхних строк одинаковы · поле есть всегда</a:t>
            </a:r>
          </a:p>
        </p:txBody>
      </p:sp>
      <p:sp>
        <p:nvSpPr>
          <p:cNvPr id="1022" name="TextBox 1021"/>
          <p:cNvSpPr txBox="1"/>
          <p:nvPr/>
        </p:nvSpPr>
        <p:spPr>
          <a:xfrm>
            <a:off x="5230368" y="347472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те же три поля · поля нет, если нет значения</a:t>
            </a:r>
          </a:p>
        </p:txBody>
      </p:sp>
      <p:sp>
        <p:nvSpPr>
          <p:cNvPr id="1006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109728" y="5440680"/>
            <a:ext cx="2919984" cy="86868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TextBox 1022"/>
          <p:cNvSpPr txBox="1"/>
          <p:nvPr/>
        </p:nvSpPr>
        <p:spPr>
          <a:xfrm>
            <a:off x="384048" y="5605272"/>
            <a:ext cx="2371344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чексуммы равны</a:t>
            </a:r>
          </a:p>
        </p:txBody>
      </p:sp>
      <p:sp>
        <p:nvSpPr>
          <p:cNvPr id="1007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258312" y="5440680"/>
            <a:ext cx="2919984" cy="86868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4" name="TextBox 1023"/>
          <p:cNvSpPr txBox="1"/>
          <p:nvPr/>
        </p:nvSpPr>
        <p:spPr>
          <a:xfrm>
            <a:off x="3532632" y="5605272"/>
            <a:ext cx="2371344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тесты зелёные</a:t>
            </a:r>
          </a:p>
        </p:txBody>
      </p:sp>
      <p:sp>
        <p:nvSpPr>
          <p:cNvPr id="1008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6406896" y="5440680"/>
            <a:ext cx="2919984" cy="86868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5" name="TextBox 1024"/>
          <p:cNvSpPr txBox="1"/>
          <p:nvPr/>
        </p:nvSpPr>
        <p:spPr>
          <a:xfrm>
            <a:off x="6681216" y="5605272"/>
            <a:ext cx="2371344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ревью: approve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Прибор: 0.12 против 0.79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1.3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0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0" name="TextBox 1009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11" name="Connector 1010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2" name="Oval 1011"/>
          <p:cNvSpPr/>
          <p:nvPr/>
        </p:nvSpPr>
        <p:spPr>
          <a:xfrm>
            <a:off x="9619487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3" name="Oval 1012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4" name="Oval 1013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5" name="Oval 1014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6" name="Oval 1015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7" name="Oval 1016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8" name="Oval 1017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9" name="Oval 1018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0" name="Oval 1019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1" name="Oval 1020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2" name="Oval 1021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3" name="Oval 1022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4" name="TextBox 1023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1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две функции</a:t>
            </a:r>
          </a:p>
        </p:txBody>
      </p:sp>
      <p:sp>
        <p:nvSpPr>
          <p:cNvPr id="101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188720"/>
            <a:ext cx="5760720" cy="132588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10896" y="1353312"/>
            <a:ext cx="1467612" cy="347472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5" name="TextBox 1024"/>
          <p:cNvSpPr txBox="1"/>
          <p:nvPr/>
        </p:nvSpPr>
        <p:spPr>
          <a:xfrm>
            <a:off x="310896" y="1353312"/>
            <a:ext cx="146761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E5B28"/>
                </a:solidFill>
                <a:latin typeface="X5 Sans Medium"/>
              </a:rPr>
              <a:t>A · ?? null</a:t>
            </a:r>
          </a:p>
        </p:txBody>
      </p:sp>
      <p:sp>
        <p:nvSpPr>
          <p:cNvPr id="1026" name="TextBox 1025"/>
          <p:cNvSpPr txBox="1"/>
          <p:nvPr/>
        </p:nvSpPr>
        <p:spPr>
          <a:xfrm>
            <a:off x="429768" y="1755648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400" b="0">
                <a:solidFill>
                  <a:srgbClr val="1E5B28"/>
                </a:solidFill>
                <a:latin typeface="X5 Sans Medium"/>
              </a:rPr>
              <a:t>0.12 мс</a:t>
            </a:r>
          </a:p>
        </p:txBody>
      </p:sp>
      <p:sp>
        <p:nvSpPr>
          <p:cNvPr id="1012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109728" y="2651760"/>
            <a:ext cx="5760720" cy="132588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13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310896" y="2816352"/>
            <a:ext cx="2139696" cy="347472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27" name="TextBox 1026"/>
          <p:cNvSpPr txBox="1"/>
          <p:nvPr/>
        </p:nvSpPr>
        <p:spPr>
          <a:xfrm>
            <a:off x="310896" y="2816352"/>
            <a:ext cx="213969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 Medium"/>
              </a:rPr>
              <a:t>B · условный спред</a:t>
            </a:r>
          </a:p>
        </p:txBody>
      </p:sp>
      <p:sp>
        <p:nvSpPr>
          <p:cNvPr id="1028" name="TextBox 1027"/>
          <p:cNvSpPr txBox="1"/>
          <p:nvPr/>
        </p:nvSpPr>
        <p:spPr>
          <a:xfrm>
            <a:off x="429768" y="3218688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400" b="0">
                <a:solidFill>
                  <a:srgbClr val="1E5B28"/>
                </a:solidFill>
                <a:latin typeface="X5 Sans Medium"/>
              </a:rPr>
              <a:t>0.79 мс</a:t>
            </a:r>
          </a:p>
        </p:txBody>
      </p:sp>
      <p:sp>
        <p:nvSpPr>
          <p:cNvPr id="1029" name="TextBox 1028"/>
          <p:cNvSpPr txBox="1"/>
          <p:nvPr/>
        </p:nvSpPr>
        <p:spPr>
          <a:xfrm>
            <a:off x="6053328" y="1920240"/>
            <a:ext cx="3017520" cy="1325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800" b="0">
                <a:solidFill>
                  <a:srgbClr val="1E5B28"/>
                </a:solidFill>
                <a:latin typeface="X5 Sans Medium"/>
              </a:rPr>
              <a:t>~×6.6</a:t>
            </a:r>
          </a:p>
        </p:txBody>
      </p:sp>
      <p:sp>
        <p:nvSpPr>
          <p:cNvPr id="1030" name="Rounded Rectangle 1029"/>
          <p:cNvSpPr/>
          <p:nvPr/>
        </p:nvSpPr>
        <p:spPr>
          <a:xfrm>
            <a:off x="109728" y="4160520"/>
            <a:ext cx="9217152" cy="2148840"/>
          </a:xfrm>
          <a:prstGeom prst="roundRect">
            <a:avLst>
              <a:gd name="adj" fmla="val 6808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1" name="Oval 1030"/>
          <p:cNvSpPr/>
          <p:nvPr/>
        </p:nvSpPr>
        <p:spPr>
          <a:xfrm>
            <a:off x="292608" y="430682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2" name="Oval 1031"/>
          <p:cNvSpPr/>
          <p:nvPr/>
        </p:nvSpPr>
        <p:spPr>
          <a:xfrm>
            <a:off x="475488" y="430682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3" name="Oval 1032"/>
          <p:cNvSpPr/>
          <p:nvPr/>
        </p:nvSpPr>
        <p:spPr>
          <a:xfrm>
            <a:off x="658368" y="430682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4" name="TextBox 1033"/>
          <p:cNvSpPr txBox="1"/>
          <p:nvPr/>
        </p:nvSpPr>
        <p:spPr>
          <a:xfrm>
            <a:off x="1024128" y="4251959"/>
            <a:ext cx="81198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запись R1 · node:24.21.0-alpine</a:t>
            </a:r>
          </a:p>
        </p:txBody>
      </p:sp>
      <p:sp>
        <p:nvSpPr>
          <p:cNvPr id="1035" name="TextBox 1034"/>
          <p:cNvSpPr txBox="1"/>
          <p:nvPr/>
        </p:nvSpPr>
        <p:spPr>
          <a:xfrm>
            <a:off x="338328" y="4544568"/>
            <a:ext cx="8759952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AADC00"/>
                </a:solidFill>
                <a:latin typeface="Menlo"/>
              </a:rPr>
              <a:t>$ node --allow-natives-syntax shape-analyzer.js ref-a.js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6F2E9"/>
                </a:solidFill>
                <a:latin typeface="Menlo"/>
              </a:rPr>
              <a:t>{</a:t>
            </a:r>
            <a:r>
              <a:rPr sz="1300" b="1">
                <a:solidFill>
                  <a:srgbClr val="FF9DB8"/>
                </a:solidFill>
                <a:latin typeface="Menlo"/>
              </a:rPr>
              <a:t>"shapes":1</a:t>
            </a:r>
            <a:r>
              <a:rPr sz="1300" b="0">
                <a:solidFill>
                  <a:srgbClr val="E6F2E9"/>
                </a:solidFill>
                <a:latin typeface="Menlo"/>
              </a:rPr>
              <a:t>,</a:t>
            </a:r>
            <a:r>
              <a:rPr sz="1300" b="1">
                <a:solidFill>
                  <a:srgbClr val="FF9DB8"/>
                </a:solidFill>
                <a:latin typeface="Menlo"/>
              </a:rPr>
              <a:t>"ic":"MONO"</a:t>
            </a:r>
            <a:r>
              <a:rPr sz="1300" b="0">
                <a:solidFill>
                  <a:srgbClr val="E6F2E9"/>
                </a:solidFill>
                <a:latin typeface="Menlo"/>
              </a:rPr>
              <a:t>,"p50_ms":0.11,"correct":true}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AADC00"/>
                </a:solidFill>
                <a:latin typeface="Menlo"/>
              </a:rPr>
              <a:t>$ node --allow-natives-syntax shape-analyzer.js ref-b.js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6F2E9"/>
                </a:solidFill>
                <a:latin typeface="Menlo"/>
              </a:rPr>
              <a:t>{</a:t>
            </a:r>
            <a:r>
              <a:rPr sz="1300" b="1">
                <a:solidFill>
                  <a:srgbClr val="FF9DB8"/>
                </a:solidFill>
                <a:latin typeface="Menlo"/>
              </a:rPr>
              <a:t>"shapes":8</a:t>
            </a:r>
            <a:r>
              <a:rPr sz="1300" b="0">
                <a:solidFill>
                  <a:srgbClr val="E6F2E9"/>
                </a:solidFill>
                <a:latin typeface="Menlo"/>
              </a:rPr>
              <a:t>,</a:t>
            </a:r>
            <a:r>
              <a:rPr sz="1300" b="1">
                <a:solidFill>
                  <a:srgbClr val="FF9DB8"/>
                </a:solidFill>
                <a:latin typeface="Menlo"/>
              </a:rPr>
              <a:t>"ic":"MEGA"</a:t>
            </a:r>
            <a:r>
              <a:rPr sz="1300" b="0">
                <a:solidFill>
                  <a:srgbClr val="E6F2E9"/>
                </a:solidFill>
                <a:latin typeface="Menlo"/>
              </a:rPr>
              <a:t>,"p50_ms":0.76,"correct":true}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Улика и пустая карта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1.4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1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5" name="TextBox 1014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16" name="Connector 1015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7" name="Oval 1016"/>
          <p:cNvSpPr/>
          <p:nvPr/>
        </p:nvSpPr>
        <p:spPr>
          <a:xfrm>
            <a:off x="9619487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8" name="Oval 1017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9" name="Oval 1018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0" name="Oval 1019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1" name="Oval 1020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2" name="Oval 1021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3" name="Oval 1022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4" name="Oval 1023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5" name="Oval 1024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6" name="Oval 1025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7" name="Oval 1026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8" name="Oval 1027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9" name="TextBox 1028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1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две функции</a:t>
            </a:r>
          </a:p>
        </p:txBody>
      </p:sp>
      <p:sp>
        <p:nvSpPr>
          <p:cNvPr id="1030" name="Rounded Rectangle 1029"/>
          <p:cNvSpPr/>
          <p:nvPr/>
        </p:nvSpPr>
        <p:spPr>
          <a:xfrm>
            <a:off x="109728" y="1188720"/>
            <a:ext cx="9217152" cy="1600200"/>
          </a:xfrm>
          <a:prstGeom prst="roundRect">
            <a:avLst>
              <a:gd name="adj" fmla="val 9142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1" name="Oval 1030"/>
          <p:cNvSpPr/>
          <p:nvPr/>
        </p:nvSpPr>
        <p:spPr>
          <a:xfrm>
            <a:off x="292608" y="133502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2" name="Oval 1031"/>
          <p:cNvSpPr/>
          <p:nvPr/>
        </p:nvSpPr>
        <p:spPr>
          <a:xfrm>
            <a:off x="475488" y="133502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3" name="Oval 1032"/>
          <p:cNvSpPr/>
          <p:nvPr/>
        </p:nvSpPr>
        <p:spPr>
          <a:xfrm>
            <a:off x="658368" y="133502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4" name="TextBox 1033"/>
          <p:cNvSpPr txBox="1"/>
          <p:nvPr/>
        </p:nvSpPr>
        <p:spPr>
          <a:xfrm>
            <a:off x="1024128" y="1280160"/>
            <a:ext cx="81198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запись R2 · читатель score()</a:t>
            </a:r>
          </a:p>
        </p:txBody>
      </p:sp>
      <p:sp>
        <p:nvSpPr>
          <p:cNvPr id="1035" name="TextBox 1034"/>
          <p:cNvSpPr txBox="1"/>
          <p:nvPr/>
        </p:nvSpPr>
        <p:spPr>
          <a:xfrm>
            <a:off x="338328" y="1572768"/>
            <a:ext cx="875995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AADC00"/>
                </a:solidFill>
                <a:latin typeface="Menlo"/>
              </a:rPr>
              <a:t>$ node --trace-deopt demo-wrongmap.js ref-b.js | grep score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[bailout (reason: </a:t>
            </a:r>
            <a:r>
              <a:rPr sz="1200" b="1">
                <a:solidFill>
                  <a:srgbClr val="FF9DB8"/>
                </a:solidFill>
                <a:latin typeface="Menlo"/>
              </a:rPr>
              <a:t>wrong map</a:t>
            </a:r>
            <a:r>
              <a:rPr sz="1200" b="0">
                <a:solidFill>
                  <a:srgbClr val="E6F2E9"/>
                </a:solidFill>
                <a:latin typeface="Menlo"/>
              </a:rPr>
              <a:t>): … &lt;JSFunction score&gt;, &lt;Code TURBOFAN_JS&gt;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AADC00"/>
                </a:solidFill>
                <a:latin typeface="Menlo"/>
              </a:rPr>
              <a:t>$ node --trace-deopt demo-wrongmap.js ref-a.js | grep "JSFunction score"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FF9DB8"/>
                </a:solidFill>
                <a:latin typeface="Menlo"/>
              </a:rPr>
              <a:t>(пусто)</a:t>
            </a:r>
          </a:p>
        </p:txBody>
      </p:sp>
      <p:sp>
        <p:nvSpPr>
          <p:cNvPr id="1015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109728" y="2926080"/>
            <a:ext cx="2743200" cy="54864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6" name="TextBox 1035"/>
          <p:cNvSpPr txBox="1"/>
          <p:nvPr/>
        </p:nvSpPr>
        <p:spPr>
          <a:xfrm>
            <a:off x="201168" y="2980944"/>
            <a:ext cx="25603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X5 Sans"/>
              </a:rPr>
              <a:t>улика, не причина</a:t>
            </a:r>
          </a:p>
        </p:txBody>
      </p:sp>
      <p:sp>
        <p:nvSpPr>
          <p:cNvPr id="1037" name="TextBox 1036"/>
          <p:cNvSpPr txBox="1"/>
          <p:nvPr/>
        </p:nvSpPr>
        <p:spPr>
          <a:xfrm>
            <a:off x="3035808" y="2926080"/>
            <a:ext cx="6291072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читатель сначала видел полные записи, потом — без хвостовых полей · у читателя на A строки нет: 0 из 5 прогонов</a:t>
            </a:r>
          </a:p>
        </p:txBody>
      </p:sp>
      <p:cxnSp>
        <p:nvCxnSpPr>
          <p:cNvPr id="1038" name="Connector 1037"/>
          <p:cNvCxnSpPr/>
          <p:nvPr/>
        </p:nvCxnSpPr>
        <p:spPr>
          <a:xfrm>
            <a:off x="551688" y="4205630"/>
            <a:ext cx="8729471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9" name="Rounded Rectangle 1038"/>
          <p:cNvSpPr/>
          <p:nvPr/>
        </p:nvSpPr>
        <p:spPr>
          <a:xfrm>
            <a:off x="109728" y="5089550"/>
            <a:ext cx="300532" cy="353568"/>
          </a:xfrm>
          <a:prstGeom prst="roundRect">
            <a:avLst>
              <a:gd name="adj" fmla="val 24340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0" name="TextBox 1039"/>
          <p:cNvSpPr txBox="1"/>
          <p:nvPr/>
        </p:nvSpPr>
        <p:spPr>
          <a:xfrm>
            <a:off x="109728" y="5089550"/>
            <a:ext cx="300532" cy="353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1041" name="Rounded Rectangle 1040"/>
          <p:cNvSpPr/>
          <p:nvPr/>
        </p:nvSpPr>
        <p:spPr>
          <a:xfrm>
            <a:off x="109728" y="5575706"/>
            <a:ext cx="300532" cy="353568"/>
          </a:xfrm>
          <a:prstGeom prst="roundRect">
            <a:avLst>
              <a:gd name="adj" fmla="val 24340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2" name="TextBox 1041"/>
          <p:cNvSpPr txBox="1"/>
          <p:nvPr/>
        </p:nvSpPr>
        <p:spPr>
          <a:xfrm>
            <a:off x="109728" y="5575706"/>
            <a:ext cx="300532" cy="353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1043" name="Oval 1042"/>
          <p:cNvSpPr/>
          <p:nvPr/>
        </p:nvSpPr>
        <p:spPr>
          <a:xfrm>
            <a:off x="688208" y="3976518"/>
            <a:ext cx="458224" cy="45822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4" name="Oval 1043"/>
          <p:cNvSpPr/>
          <p:nvPr/>
        </p:nvSpPr>
        <p:spPr>
          <a:xfrm>
            <a:off x="758215" y="4046524"/>
            <a:ext cx="318211" cy="318211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5" name="TextBox 1044"/>
          <p:cNvSpPr txBox="1"/>
          <p:nvPr/>
        </p:nvSpPr>
        <p:spPr>
          <a:xfrm>
            <a:off x="758215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046" name="TextBox 1045"/>
          <p:cNvSpPr txBox="1"/>
          <p:nvPr/>
        </p:nvSpPr>
        <p:spPr>
          <a:xfrm>
            <a:off x="551688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047" name="TextBox 1046"/>
          <p:cNvSpPr txBox="1"/>
          <p:nvPr/>
        </p:nvSpPr>
        <p:spPr>
          <a:xfrm>
            <a:off x="569976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048" name="Rounded Rectangle 1047"/>
          <p:cNvSpPr/>
          <p:nvPr/>
        </p:nvSpPr>
        <p:spPr>
          <a:xfrm>
            <a:off x="579120" y="5089550"/>
            <a:ext cx="676402" cy="388924"/>
          </a:xfrm>
          <a:prstGeom prst="roundRect">
            <a:avLst>
              <a:gd name="adj" fmla="val 1410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9" name="TextBox 1048"/>
          <p:cNvSpPr txBox="1"/>
          <p:nvPr/>
        </p:nvSpPr>
        <p:spPr>
          <a:xfrm>
            <a:off x="597408" y="5089550"/>
            <a:ext cx="639826" cy="3889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23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050" name="Rounded Rectangle 1049"/>
          <p:cNvSpPr/>
          <p:nvPr/>
        </p:nvSpPr>
        <p:spPr>
          <a:xfrm>
            <a:off x="579120" y="5575706"/>
            <a:ext cx="676402" cy="388924"/>
          </a:xfrm>
          <a:prstGeom prst="roundRect">
            <a:avLst>
              <a:gd name="adj" fmla="val 1410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1" name="TextBox 1050"/>
          <p:cNvSpPr txBox="1"/>
          <p:nvPr/>
        </p:nvSpPr>
        <p:spPr>
          <a:xfrm>
            <a:off x="597408" y="5575706"/>
            <a:ext cx="639826" cy="3889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23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569976" y="6079540"/>
            <a:ext cx="694690" cy="353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3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053" name="Oval 1052"/>
          <p:cNvSpPr/>
          <p:nvPr/>
        </p:nvSpPr>
        <p:spPr>
          <a:xfrm>
            <a:off x="1489481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4" name="TextBox 1053"/>
          <p:cNvSpPr txBox="1"/>
          <p:nvPr/>
        </p:nvSpPr>
        <p:spPr>
          <a:xfrm>
            <a:off x="1489481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2</a:t>
            </a:r>
          </a:p>
        </p:txBody>
      </p:sp>
      <p:sp>
        <p:nvSpPr>
          <p:cNvPr id="1055" name="TextBox 1054"/>
          <p:cNvSpPr txBox="1"/>
          <p:nvPr/>
        </p:nvSpPr>
        <p:spPr>
          <a:xfrm>
            <a:off x="1282954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вызов 1</a:t>
            </a:r>
          </a:p>
        </p:txBody>
      </p:sp>
      <p:sp>
        <p:nvSpPr>
          <p:cNvPr id="1056" name="TextBox 1055"/>
          <p:cNvSpPr txBox="1"/>
          <p:nvPr/>
        </p:nvSpPr>
        <p:spPr>
          <a:xfrm>
            <a:off x="1301242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1057" name="Oval 1056"/>
          <p:cNvSpPr/>
          <p:nvPr/>
        </p:nvSpPr>
        <p:spPr>
          <a:xfrm>
            <a:off x="2220747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8" name="TextBox 1057"/>
          <p:cNvSpPr txBox="1"/>
          <p:nvPr/>
        </p:nvSpPr>
        <p:spPr>
          <a:xfrm>
            <a:off x="2220747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3</a:t>
            </a:r>
          </a:p>
        </p:txBody>
      </p:sp>
      <p:sp>
        <p:nvSpPr>
          <p:cNvPr id="1059" name="TextBox 1058"/>
          <p:cNvSpPr txBox="1"/>
          <p:nvPr/>
        </p:nvSpPr>
        <p:spPr>
          <a:xfrm>
            <a:off x="2014220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1060" name="TextBox 1059"/>
          <p:cNvSpPr txBox="1"/>
          <p:nvPr/>
        </p:nvSpPr>
        <p:spPr>
          <a:xfrm>
            <a:off x="2032508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1061" name="Diamond 1060"/>
          <p:cNvSpPr/>
          <p:nvPr/>
        </p:nvSpPr>
        <p:spPr>
          <a:xfrm>
            <a:off x="2665933" y="4126077"/>
            <a:ext cx="159105" cy="159105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Oval 1061"/>
          <p:cNvSpPr/>
          <p:nvPr/>
        </p:nvSpPr>
        <p:spPr>
          <a:xfrm>
            <a:off x="2952013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3" name="TextBox 1062"/>
          <p:cNvSpPr txBox="1"/>
          <p:nvPr/>
        </p:nvSpPr>
        <p:spPr>
          <a:xfrm>
            <a:off x="2952013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4</a:t>
            </a:r>
          </a:p>
        </p:txBody>
      </p:sp>
      <p:sp>
        <p:nvSpPr>
          <p:cNvPr id="1064" name="TextBox 1063"/>
          <p:cNvSpPr txBox="1"/>
          <p:nvPr/>
        </p:nvSpPr>
        <p:spPr>
          <a:xfrm>
            <a:off x="2745486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~700 → ~13 000</a:t>
            </a:r>
          </a:p>
        </p:txBody>
      </p:sp>
      <p:sp>
        <p:nvSpPr>
          <p:cNvPr id="1065" name="TextBox 1064"/>
          <p:cNvSpPr txBox="1"/>
          <p:nvPr/>
        </p:nvSpPr>
        <p:spPr>
          <a:xfrm>
            <a:off x="2763774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ярусы</a:t>
            </a:r>
          </a:p>
        </p:txBody>
      </p:sp>
      <p:sp>
        <p:nvSpPr>
          <p:cNvPr id="1066" name="Oval 1065"/>
          <p:cNvSpPr/>
          <p:nvPr/>
        </p:nvSpPr>
        <p:spPr>
          <a:xfrm>
            <a:off x="3683279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7" name="TextBox 1066"/>
          <p:cNvSpPr txBox="1"/>
          <p:nvPr/>
        </p:nvSpPr>
        <p:spPr>
          <a:xfrm>
            <a:off x="3683279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5</a:t>
            </a:r>
          </a:p>
        </p:txBody>
      </p:sp>
      <p:sp>
        <p:nvSpPr>
          <p:cNvPr id="1068" name="TextBox 1067"/>
          <p:cNvSpPr txBox="1"/>
          <p:nvPr/>
        </p:nvSpPr>
        <p:spPr>
          <a:xfrm>
            <a:off x="3476752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1069" name="TextBox 1068"/>
          <p:cNvSpPr txBox="1"/>
          <p:nvPr/>
        </p:nvSpPr>
        <p:spPr>
          <a:xfrm>
            <a:off x="3495040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ставка</a:t>
            </a:r>
          </a:p>
        </p:txBody>
      </p:sp>
      <p:sp>
        <p:nvSpPr>
          <p:cNvPr id="1070" name="Diamond 1069"/>
          <p:cNvSpPr/>
          <p:nvPr/>
        </p:nvSpPr>
        <p:spPr>
          <a:xfrm>
            <a:off x="4128465" y="4126077"/>
            <a:ext cx="159105" cy="159105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1" name="Oval 1070"/>
          <p:cNvSpPr/>
          <p:nvPr/>
        </p:nvSpPr>
        <p:spPr>
          <a:xfrm>
            <a:off x="4414545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2" name="TextBox 1071"/>
          <p:cNvSpPr txBox="1"/>
          <p:nvPr/>
        </p:nvSpPr>
        <p:spPr>
          <a:xfrm>
            <a:off x="4414545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6</a:t>
            </a:r>
          </a:p>
        </p:txBody>
      </p:sp>
      <p:sp>
        <p:nvSpPr>
          <p:cNvPr id="1073" name="TextBox 1072"/>
          <p:cNvSpPr txBox="1"/>
          <p:nvPr/>
        </p:nvSpPr>
        <p:spPr>
          <a:xfrm>
            <a:off x="4208018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прод</a:t>
            </a:r>
          </a:p>
        </p:txBody>
      </p:sp>
      <p:sp>
        <p:nvSpPr>
          <p:cNvPr id="1074" name="TextBox 1073"/>
          <p:cNvSpPr txBox="1"/>
          <p:nvPr/>
        </p:nvSpPr>
        <p:spPr>
          <a:xfrm>
            <a:off x="4226306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сервис</a:t>
            </a:r>
          </a:p>
        </p:txBody>
      </p:sp>
      <p:sp>
        <p:nvSpPr>
          <p:cNvPr id="1075" name="Oval 1074"/>
          <p:cNvSpPr/>
          <p:nvPr/>
        </p:nvSpPr>
        <p:spPr>
          <a:xfrm>
            <a:off x="5145811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6" name="TextBox 1075"/>
          <p:cNvSpPr txBox="1"/>
          <p:nvPr/>
        </p:nvSpPr>
        <p:spPr>
          <a:xfrm>
            <a:off x="5145811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7</a:t>
            </a:r>
          </a:p>
        </p:txBody>
      </p:sp>
      <p:sp>
        <p:nvSpPr>
          <p:cNvPr id="1077" name="TextBox 1076"/>
          <p:cNvSpPr txBox="1"/>
          <p:nvPr/>
        </p:nvSpPr>
        <p:spPr>
          <a:xfrm>
            <a:off x="4939284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078" name="TextBox 1077"/>
          <p:cNvSpPr txBox="1"/>
          <p:nvPr/>
        </p:nvSpPr>
        <p:spPr>
          <a:xfrm>
            <a:off x="4957572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агент</a:t>
            </a:r>
          </a:p>
        </p:txBody>
      </p:sp>
      <p:sp>
        <p:nvSpPr>
          <p:cNvPr id="1079" name="Oval 1078"/>
          <p:cNvSpPr/>
          <p:nvPr/>
        </p:nvSpPr>
        <p:spPr>
          <a:xfrm>
            <a:off x="5877077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0" name="TextBox 1079"/>
          <p:cNvSpPr txBox="1"/>
          <p:nvPr/>
        </p:nvSpPr>
        <p:spPr>
          <a:xfrm>
            <a:off x="5877077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8</a:t>
            </a:r>
          </a:p>
        </p:txBody>
      </p:sp>
      <p:sp>
        <p:nvSpPr>
          <p:cNvPr id="1081" name="TextBox 1080"/>
          <p:cNvSpPr txBox="1"/>
          <p:nvPr/>
        </p:nvSpPr>
        <p:spPr>
          <a:xfrm>
            <a:off x="5670550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082" name="TextBox 1081"/>
          <p:cNvSpPr txBox="1"/>
          <p:nvPr/>
        </p:nvSpPr>
        <p:spPr>
          <a:xfrm>
            <a:off x="5688838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корпус</a:t>
            </a:r>
          </a:p>
        </p:txBody>
      </p:sp>
      <p:sp>
        <p:nvSpPr>
          <p:cNvPr id="1083" name="Diamond 1082"/>
          <p:cNvSpPr/>
          <p:nvPr/>
        </p:nvSpPr>
        <p:spPr>
          <a:xfrm>
            <a:off x="6322263" y="4126077"/>
            <a:ext cx="159105" cy="159105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4" name="Oval 1083"/>
          <p:cNvSpPr/>
          <p:nvPr/>
        </p:nvSpPr>
        <p:spPr>
          <a:xfrm>
            <a:off x="6608343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5" name="TextBox 1084"/>
          <p:cNvSpPr txBox="1"/>
          <p:nvPr/>
        </p:nvSpPr>
        <p:spPr>
          <a:xfrm>
            <a:off x="6608343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9</a:t>
            </a:r>
          </a:p>
        </p:txBody>
      </p:sp>
      <p:sp>
        <p:nvSpPr>
          <p:cNvPr id="1086" name="TextBox 1085"/>
          <p:cNvSpPr txBox="1"/>
          <p:nvPr/>
        </p:nvSpPr>
        <p:spPr>
          <a:xfrm>
            <a:off x="6401816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087" name="TextBox 1086"/>
          <p:cNvSpPr txBox="1"/>
          <p:nvPr/>
        </p:nvSpPr>
        <p:spPr>
          <a:xfrm>
            <a:off x="6420104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правила</a:t>
            </a:r>
          </a:p>
        </p:txBody>
      </p:sp>
      <p:sp>
        <p:nvSpPr>
          <p:cNvPr id="1088" name="Oval 1087"/>
          <p:cNvSpPr/>
          <p:nvPr/>
        </p:nvSpPr>
        <p:spPr>
          <a:xfrm>
            <a:off x="7339609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9" name="TextBox 1088"/>
          <p:cNvSpPr txBox="1"/>
          <p:nvPr/>
        </p:nvSpPr>
        <p:spPr>
          <a:xfrm>
            <a:off x="7339609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10</a:t>
            </a:r>
          </a:p>
        </p:txBody>
      </p:sp>
      <p:sp>
        <p:nvSpPr>
          <p:cNvPr id="1090" name="TextBox 1089"/>
          <p:cNvSpPr txBox="1"/>
          <p:nvPr/>
        </p:nvSpPr>
        <p:spPr>
          <a:xfrm>
            <a:off x="7133082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верхняя ступень</a:t>
            </a:r>
          </a:p>
        </p:txBody>
      </p:sp>
      <p:sp>
        <p:nvSpPr>
          <p:cNvPr id="1091" name="TextBox 1090"/>
          <p:cNvSpPr txBox="1"/>
          <p:nvPr/>
        </p:nvSpPr>
        <p:spPr>
          <a:xfrm>
            <a:off x="7151370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лев</a:t>
            </a:r>
          </a:p>
        </p:txBody>
      </p:sp>
      <p:sp>
        <p:nvSpPr>
          <p:cNvPr id="1092" name="Oval 1091"/>
          <p:cNvSpPr/>
          <p:nvPr/>
        </p:nvSpPr>
        <p:spPr>
          <a:xfrm>
            <a:off x="8070875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3" name="TextBox 1092"/>
          <p:cNvSpPr txBox="1"/>
          <p:nvPr/>
        </p:nvSpPr>
        <p:spPr>
          <a:xfrm>
            <a:off x="8070875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11</a:t>
            </a:r>
          </a:p>
        </p:txBody>
      </p:sp>
      <p:sp>
        <p:nvSpPr>
          <p:cNvPr id="1094" name="TextBox 1093"/>
          <p:cNvSpPr txBox="1"/>
          <p:nvPr/>
        </p:nvSpPr>
        <p:spPr>
          <a:xfrm>
            <a:off x="7864348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—</a:t>
            </a:r>
          </a:p>
        </p:txBody>
      </p:sp>
      <p:sp>
        <p:nvSpPr>
          <p:cNvPr id="1095" name="TextBox 1094"/>
          <p:cNvSpPr txBox="1"/>
          <p:nvPr/>
        </p:nvSpPr>
        <p:spPr>
          <a:xfrm>
            <a:off x="7882636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1096" name="Oval 1095"/>
          <p:cNvSpPr/>
          <p:nvPr/>
        </p:nvSpPr>
        <p:spPr>
          <a:xfrm>
            <a:off x="8802141" y="4046524"/>
            <a:ext cx="318211" cy="31821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7" name="TextBox 1096"/>
          <p:cNvSpPr txBox="1"/>
          <p:nvPr/>
        </p:nvSpPr>
        <p:spPr>
          <a:xfrm>
            <a:off x="8802141" y="4046524"/>
            <a:ext cx="318211" cy="318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73" b="0">
                <a:solidFill>
                  <a:srgbClr val="9CA3AF"/>
                </a:solidFill>
                <a:latin typeface="X5 Sans Medium"/>
              </a:rPr>
              <a:t>12</a:t>
            </a:r>
          </a:p>
        </p:txBody>
      </p:sp>
      <p:sp>
        <p:nvSpPr>
          <p:cNvPr id="1098" name="TextBox 1097"/>
          <p:cNvSpPr txBox="1"/>
          <p:nvPr/>
        </p:nvSpPr>
        <p:spPr>
          <a:xfrm>
            <a:off x="8595614" y="3657600"/>
            <a:ext cx="73126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3" b="0">
                <a:solidFill>
                  <a:srgbClr val="C9CED6"/>
                </a:solidFill>
                <a:latin typeface="X5 Sans"/>
              </a:rPr>
              <a:t>финал</a:t>
            </a:r>
          </a:p>
        </p:txBody>
      </p:sp>
      <p:sp>
        <p:nvSpPr>
          <p:cNvPr id="1099" name="TextBox 1098"/>
          <p:cNvSpPr txBox="1"/>
          <p:nvPr/>
        </p:nvSpPr>
        <p:spPr>
          <a:xfrm>
            <a:off x="8613902" y="4470806"/>
            <a:ext cx="69469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23" b="0">
                <a:solidFill>
                  <a:srgbClr val="B6BCC6"/>
                </a:solidFill>
                <a:latin typeface="X5 Sans Medium"/>
              </a:rPr>
              <a:t>снова слайд 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Развилка: форма при сборке объекта</a:t>
            </a:r>
          </a:p>
        </p:txBody>
      </p:sp>
      <p:sp>
        <p:nvSpPr>
          <p:cNvPr id="1016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312767" y="1097280"/>
            <a:ext cx="356616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TextBox 1016"/>
          <p:cNvSpPr txBox="1"/>
          <p:nvPr/>
        </p:nvSpPr>
        <p:spPr>
          <a:xfrm>
            <a:off x="4312767" y="1097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2 из 12 · 4 мин</a:t>
            </a:r>
          </a:p>
        </p:txBody>
      </p:sp>
      <p:sp>
        <p:nvSpPr>
          <p:cNvPr id="1017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8" name="TextBox 1017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Где расходятся, если делают одно и то же и результат одинаковый?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Термин: форма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2.1</a:t>
            </a:r>
          </a:p>
        </p:txBody>
      </p:sp>
      <p:sp>
        <p:nvSpPr>
          <p:cNvPr id="101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9" name="TextBox 1018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20" name="TextBox 1019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21" name="TextBox 1020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?</a:t>
            </a:r>
          </a:p>
        </p:txBody>
      </p:sp>
      <p:sp>
        <p:nvSpPr>
          <p:cNvPr id="1022" name="Rounded Rectangle 1021"/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3" name="TextBox 1022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24" name="TextBox 1023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25" name="TextBox 1024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26" name="Rounded Rectangle 1025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7" name="TextBox 1026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28" name="TextBox 1027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29" name="TextBox 1028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0" name="Rounded Rectangle 1029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1" name="TextBox 1030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32" name="TextBox 103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33" name="TextBox 1032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4" name="Rounded Rectangle 1033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5" name="TextBox 1034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36" name="TextBox 103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37" name="TextBox 1036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1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8" name="TextBox 1037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39" name="Connector 1038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0" name="Oval 1039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1" name="Oval 1040"/>
          <p:cNvSpPr/>
          <p:nvPr/>
        </p:nvSpPr>
        <p:spPr>
          <a:xfrm>
            <a:off x="9794886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2" name="Oval 1041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3" name="Oval 1042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4" name="Oval 1043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5" name="Oval 1044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6" name="Oval 1045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7" name="Oval 1046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8" name="Oval 1047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9" name="Oval 1048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0" name="Oval 1049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1" name="Oval 1050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2" name="TextBox 1051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2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форма объекта</a:t>
            </a:r>
          </a:p>
        </p:txBody>
      </p:sp>
      <p:sp>
        <p:nvSpPr>
          <p:cNvPr id="1020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109728" y="1188720"/>
            <a:ext cx="3291840" cy="512064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TextBox 1052"/>
          <p:cNvSpPr txBox="1"/>
          <p:nvPr/>
        </p:nvSpPr>
        <p:spPr>
          <a:xfrm>
            <a:off x="384048" y="1554480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000" b="0">
                <a:solidFill>
                  <a:srgbClr val="FFFFFF"/>
                </a:solidFill>
                <a:latin typeface="X5 Sans Medium"/>
              </a:rPr>
              <a:t>форма</a:t>
            </a:r>
          </a:p>
        </p:txBody>
      </p:sp>
      <p:sp>
        <p:nvSpPr>
          <p:cNvPr id="1054" name="TextBox 1053"/>
          <p:cNvSpPr txBox="1"/>
          <p:nvPr/>
        </p:nvSpPr>
        <p:spPr>
          <a:xfrm>
            <a:off x="384048" y="521208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E0FBCC"/>
                </a:solidFill>
                <a:latin typeface="X5 Sans"/>
              </a:rPr>
              <a:t>hidden class</a:t>
            </a:r>
          </a:p>
          <a:p>
            <a:pPr algn="l"/>
            <a:r>
              <a:rPr sz="1500" b="0">
                <a:solidFill>
                  <a:srgbClr val="E0FBCC"/>
                </a:solidFill>
                <a:latin typeface="X5 Sans"/>
              </a:rPr>
              <a:t>в трейсе — </a:t>
            </a:r>
            <a:r>
              <a:rPr sz="1320" b="0">
                <a:solidFill>
                  <a:srgbClr val="E0FBCC"/>
                </a:solidFill>
                <a:latin typeface="Menlo"/>
              </a:rPr>
              <a:t>map</a:t>
            </a:r>
          </a:p>
        </p:txBody>
      </p:sp>
      <p:sp>
        <p:nvSpPr>
          <p:cNvPr id="1021" name="Нашивка 6">
            <a:extLst>
              <a:ext uri="{FF2B5EF4-FFF2-40B4-BE49-F238E27FC236}">
                <a16:creationId xmlns:a16="http://schemas.microsoft.com/office/drawing/2014/main" id="{F80B4974-C140-AA86-1C4E-8502021E883C}"/>
              </a:ext>
            </a:extLst>
          </p:cNvPr>
          <p:cNvSpPr/>
          <p:nvPr/>
        </p:nvSpPr>
        <p:spPr>
          <a:xfrm>
            <a:off x="3931920" y="1417320"/>
            <a:ext cx="182880" cy="502920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" name="TextBox 1054"/>
          <p:cNvSpPr txBox="1"/>
          <p:nvPr/>
        </p:nvSpPr>
        <p:spPr>
          <a:xfrm>
            <a:off x="4389120" y="1371600"/>
            <a:ext cx="4937760" cy="1325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"/>
              </a:rPr>
              <a:t>внутреннее описание объекта: какие поля, в каком порядке добавлены</a:t>
            </a:r>
          </a:p>
        </p:txBody>
      </p:sp>
      <p:sp>
        <p:nvSpPr>
          <p:cNvPr id="1022" name="Нашивка 6">
            <a:extLst>
              <a:ext uri="{FF2B5EF4-FFF2-40B4-BE49-F238E27FC236}">
                <a16:creationId xmlns:a16="http://schemas.microsoft.com/office/drawing/2014/main" id="{F80B4974-C140-AA86-1C4E-8502021E883C}"/>
              </a:ext>
            </a:extLst>
          </p:cNvPr>
          <p:cNvSpPr/>
          <p:nvPr/>
        </p:nvSpPr>
        <p:spPr>
          <a:xfrm>
            <a:off x="3931920" y="2880360"/>
            <a:ext cx="182880" cy="502920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6" name="TextBox 1055"/>
          <p:cNvSpPr txBox="1"/>
          <p:nvPr/>
        </p:nvSpPr>
        <p:spPr>
          <a:xfrm>
            <a:off x="4389120" y="2834640"/>
            <a:ext cx="4937760" cy="1325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"/>
              </a:rPr>
              <a:t>одинаково собранные объекты делят одно описание</a:t>
            </a:r>
          </a:p>
        </p:txBody>
      </p:sp>
      <p:sp>
        <p:nvSpPr>
          <p:cNvPr id="102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931920" y="4480560"/>
            <a:ext cx="2560320" cy="182880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TextBox 1056"/>
          <p:cNvSpPr txBox="1"/>
          <p:nvPr/>
        </p:nvSpPr>
        <p:spPr>
          <a:xfrm>
            <a:off x="4206240" y="4645152"/>
            <a:ext cx="2011679" cy="1499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A</a:t>
            </a:r>
            <a:r>
              <a:rPr sz="2000" b="0">
                <a:solidFill>
                  <a:srgbClr val="1E5B28"/>
                </a:solidFill>
                <a:latin typeface="X5 Sans"/>
              </a:rPr>
              <a:t>: 8 полей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форм: </a:t>
            </a:r>
            <a:r>
              <a:rPr sz="2000" b="0">
                <a:solidFill>
                  <a:srgbClr val="1E5B28"/>
                </a:solidFill>
                <a:latin typeface="X5 Sans Medium"/>
              </a:rPr>
              <a:t>1</a:t>
            </a:r>
          </a:p>
        </p:txBody>
      </p:sp>
      <p:sp>
        <p:nvSpPr>
          <p:cNvPr id="1024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6766560" y="4480560"/>
            <a:ext cx="2560320" cy="182880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58" name="TextBox 1057"/>
          <p:cNvSpPr txBox="1"/>
          <p:nvPr/>
        </p:nvSpPr>
        <p:spPr>
          <a:xfrm>
            <a:off x="7040880" y="4645152"/>
            <a:ext cx="2011679" cy="1499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B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форм: </a:t>
            </a:r>
            <a:r>
              <a:rPr sz="2000" b="0">
                <a:solidFill>
                  <a:srgbClr val="1E5B28"/>
                </a:solidFill>
                <a:latin typeface="X5 Sans Medium"/>
              </a:rPr>
              <a:t>?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B: три развилки, восемь листьев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2.2</a:t>
            </a:r>
          </a:p>
        </p:txBody>
      </p:sp>
      <p:sp>
        <p:nvSpPr>
          <p:cNvPr id="102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TextBox 1025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27" name="TextBox 1026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28" name="TextBox 1027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29" name="Rounded Rectangle 1028"/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0" name="TextBox 1029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31" name="TextBox 1030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32" name="TextBox 1031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3" name="Rounded Rectangle 1032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4" name="TextBox 1033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35" name="TextBox 1034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36" name="TextBox 1035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7" name="Rounded Rectangle 1036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8" name="TextBox 1037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39" name="TextBox 1038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40" name="TextBox 1039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1" name="Rounded Rectangle 1040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2" name="TextBox 1041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43" name="TextBox 1042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44" name="TextBox 1043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2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5" name="TextBox 1044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46" name="Connector 1045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7" name="Oval 1046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8" name="Oval 1047"/>
          <p:cNvSpPr/>
          <p:nvPr/>
        </p:nvSpPr>
        <p:spPr>
          <a:xfrm>
            <a:off x="9794886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9" name="Oval 1048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0" name="Oval 1049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1" name="Oval 1050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2" name="Oval 1051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3" name="Oval 1052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4" name="Oval 1053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5" name="Oval 1054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6" name="Oval 1055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7" name="Oval 1056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8" name="Oval 1057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9" name="TextBox 1058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2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форма объекта</a:t>
            </a:r>
          </a:p>
        </p:txBody>
      </p:sp>
      <p:sp>
        <p:nvSpPr>
          <p:cNvPr id="102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188720"/>
            <a:ext cx="2468880" cy="51206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TextBox 1059"/>
          <p:cNvSpPr txBox="1"/>
          <p:nvPr/>
        </p:nvSpPr>
        <p:spPr>
          <a:xfrm>
            <a:off x="292608" y="128016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 Medium"/>
              </a:rPr>
              <a:t>A</a:t>
            </a:r>
            <a:r>
              <a:rPr sz="1500" b="0">
                <a:solidFill>
                  <a:srgbClr val="1E5B28"/>
                </a:solidFill>
                <a:latin typeface="X5 Sans"/>
              </a:rPr>
              <a:t> · </a:t>
            </a:r>
            <a:r>
              <a:rPr sz="1320" b="0">
                <a:solidFill>
                  <a:srgbClr val="1E5B28"/>
                </a:solidFill>
                <a:latin typeface="Menlo"/>
              </a:rPr>
              <a:t>?? null</a:t>
            </a:r>
          </a:p>
        </p:txBody>
      </p:sp>
      <p:sp>
        <p:nvSpPr>
          <p:cNvPr id="1061" name="Rounded Rectangle 1060"/>
          <p:cNvSpPr/>
          <p:nvPr/>
        </p:nvSpPr>
        <p:spPr>
          <a:xfrm>
            <a:off x="338328" y="1645920"/>
            <a:ext cx="2011680" cy="462914"/>
          </a:xfrm>
          <a:prstGeom prst="roundRect">
            <a:avLst>
              <a:gd name="adj" fmla="val 987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TextBox 1061"/>
          <p:cNvSpPr txBox="1"/>
          <p:nvPr/>
        </p:nvSpPr>
        <p:spPr>
          <a:xfrm>
            <a:off x="429768" y="1645920"/>
            <a:ext cx="1828800" cy="4629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Menlo"/>
              </a:rPr>
              <a:t>id</a:t>
            </a:r>
          </a:p>
        </p:txBody>
      </p:sp>
      <p:sp>
        <p:nvSpPr>
          <p:cNvPr id="1063" name="Rounded Rectangle 1062"/>
          <p:cNvSpPr/>
          <p:nvPr/>
        </p:nvSpPr>
        <p:spPr>
          <a:xfrm>
            <a:off x="338328" y="2154555"/>
            <a:ext cx="2011680" cy="462914"/>
          </a:xfrm>
          <a:prstGeom prst="roundRect">
            <a:avLst>
              <a:gd name="adj" fmla="val 987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4" name="TextBox 1063"/>
          <p:cNvSpPr txBox="1"/>
          <p:nvPr/>
        </p:nvSpPr>
        <p:spPr>
          <a:xfrm>
            <a:off x="429768" y="2154555"/>
            <a:ext cx="1828800" cy="4629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Menlo"/>
              </a:rPr>
              <a:t>name</a:t>
            </a:r>
          </a:p>
        </p:txBody>
      </p:sp>
      <p:sp>
        <p:nvSpPr>
          <p:cNvPr id="1065" name="Rounded Rectangle 1064"/>
          <p:cNvSpPr/>
          <p:nvPr/>
        </p:nvSpPr>
        <p:spPr>
          <a:xfrm>
            <a:off x="338328" y="2663189"/>
            <a:ext cx="2011680" cy="462914"/>
          </a:xfrm>
          <a:prstGeom prst="roundRect">
            <a:avLst>
              <a:gd name="adj" fmla="val 987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6" name="TextBox 1065"/>
          <p:cNvSpPr txBox="1"/>
          <p:nvPr/>
        </p:nvSpPr>
        <p:spPr>
          <a:xfrm>
            <a:off x="429768" y="2663189"/>
            <a:ext cx="1828800" cy="4629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Menlo"/>
              </a:rPr>
              <a:t>email</a:t>
            </a:r>
          </a:p>
        </p:txBody>
      </p:sp>
      <p:sp>
        <p:nvSpPr>
          <p:cNvPr id="1067" name="Rounded Rectangle 1066"/>
          <p:cNvSpPr/>
          <p:nvPr/>
        </p:nvSpPr>
        <p:spPr>
          <a:xfrm>
            <a:off x="338328" y="3171825"/>
            <a:ext cx="2011680" cy="462914"/>
          </a:xfrm>
          <a:prstGeom prst="roundRect">
            <a:avLst>
              <a:gd name="adj" fmla="val 987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8" name="TextBox 1067"/>
          <p:cNvSpPr txBox="1"/>
          <p:nvPr/>
        </p:nvSpPr>
        <p:spPr>
          <a:xfrm>
            <a:off x="429768" y="3171825"/>
            <a:ext cx="1828800" cy="4629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Menlo"/>
              </a:rPr>
              <a:t>plan</a:t>
            </a:r>
          </a:p>
        </p:txBody>
      </p:sp>
      <p:sp>
        <p:nvSpPr>
          <p:cNvPr id="1069" name="Rounded Rectangle 1068"/>
          <p:cNvSpPr/>
          <p:nvPr/>
        </p:nvSpPr>
        <p:spPr>
          <a:xfrm>
            <a:off x="338328" y="3680459"/>
            <a:ext cx="2011680" cy="462914"/>
          </a:xfrm>
          <a:prstGeom prst="roundRect">
            <a:avLst>
              <a:gd name="adj" fmla="val 987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0" name="TextBox 1069"/>
          <p:cNvSpPr txBox="1"/>
          <p:nvPr/>
        </p:nvSpPr>
        <p:spPr>
          <a:xfrm>
            <a:off x="429768" y="3680459"/>
            <a:ext cx="1828800" cy="4629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Menlo"/>
              </a:rPr>
              <a:t>credits</a:t>
            </a:r>
          </a:p>
        </p:txBody>
      </p:sp>
      <p:sp>
        <p:nvSpPr>
          <p:cNvPr id="1071" name="Rounded Rectangle 1070"/>
          <p:cNvSpPr/>
          <p:nvPr/>
        </p:nvSpPr>
        <p:spPr>
          <a:xfrm>
            <a:off x="338328" y="4189095"/>
            <a:ext cx="2011680" cy="462914"/>
          </a:xfrm>
          <a:prstGeom prst="roundRect">
            <a:avLst>
              <a:gd name="adj" fmla="val 9876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2" name="TextBox 1071"/>
          <p:cNvSpPr txBox="1"/>
          <p:nvPr/>
        </p:nvSpPr>
        <p:spPr>
          <a:xfrm>
            <a:off x="429768" y="4189095"/>
            <a:ext cx="1828800" cy="4629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Menlo"/>
              </a:rPr>
              <a:t>referrer</a:t>
            </a:r>
            <a:r>
              <a:rPr sz="1300" b="0">
                <a:solidFill>
                  <a:srgbClr val="1E5B28"/>
                </a:solidFill>
                <a:latin typeface="X5 Sans"/>
              </a:rPr>
              <a:t>  ?? null</a:t>
            </a:r>
          </a:p>
        </p:txBody>
      </p:sp>
      <p:sp>
        <p:nvSpPr>
          <p:cNvPr id="1073" name="Rounded Rectangle 1072"/>
          <p:cNvSpPr/>
          <p:nvPr/>
        </p:nvSpPr>
        <p:spPr>
          <a:xfrm>
            <a:off x="338328" y="4697729"/>
            <a:ext cx="2011680" cy="462914"/>
          </a:xfrm>
          <a:prstGeom prst="roundRect">
            <a:avLst>
              <a:gd name="adj" fmla="val 9876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4" name="TextBox 1073"/>
          <p:cNvSpPr txBox="1"/>
          <p:nvPr/>
        </p:nvSpPr>
        <p:spPr>
          <a:xfrm>
            <a:off x="429768" y="4697729"/>
            <a:ext cx="1828800" cy="4629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Menlo"/>
              </a:rPr>
              <a:t>trialUntil</a:t>
            </a:r>
            <a:r>
              <a:rPr sz="1300" b="0">
                <a:solidFill>
                  <a:srgbClr val="1E5B28"/>
                </a:solidFill>
                <a:latin typeface="X5 Sans"/>
              </a:rPr>
              <a:t>  ?? null</a:t>
            </a:r>
          </a:p>
        </p:txBody>
      </p:sp>
      <p:sp>
        <p:nvSpPr>
          <p:cNvPr id="1075" name="Rounded Rectangle 1074"/>
          <p:cNvSpPr/>
          <p:nvPr/>
        </p:nvSpPr>
        <p:spPr>
          <a:xfrm>
            <a:off x="338328" y="5206365"/>
            <a:ext cx="2011680" cy="462914"/>
          </a:xfrm>
          <a:prstGeom prst="roundRect">
            <a:avLst>
              <a:gd name="adj" fmla="val 9876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6" name="TextBox 1075"/>
          <p:cNvSpPr txBox="1"/>
          <p:nvPr/>
        </p:nvSpPr>
        <p:spPr>
          <a:xfrm>
            <a:off x="429768" y="5206365"/>
            <a:ext cx="1828800" cy="4629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Menlo"/>
              </a:rPr>
              <a:t>teamId</a:t>
            </a:r>
            <a:r>
              <a:rPr sz="1300" b="0">
                <a:solidFill>
                  <a:srgbClr val="1E5B28"/>
                </a:solidFill>
                <a:latin typeface="X5 Sans"/>
              </a:rPr>
              <a:t>  ?? null</a:t>
            </a:r>
          </a:p>
        </p:txBody>
      </p:sp>
      <p:sp>
        <p:nvSpPr>
          <p:cNvPr id="1077" name="TextBox 1076"/>
          <p:cNvSpPr txBox="1"/>
          <p:nvPr/>
        </p:nvSpPr>
        <p:spPr>
          <a:xfrm>
            <a:off x="109728" y="5714999"/>
            <a:ext cx="24688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0">
                <a:solidFill>
                  <a:srgbClr val="1E5B28"/>
                </a:solidFill>
                <a:latin typeface="X5 Sans Medium"/>
              </a:rPr>
              <a:t>1 форма</a:t>
            </a:r>
          </a:p>
        </p:txBody>
      </p:sp>
      <p:sp>
        <p:nvSpPr>
          <p:cNvPr id="1028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2807208" y="1188720"/>
            <a:ext cx="6519672" cy="512064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78" name="TextBox 1077"/>
          <p:cNvSpPr txBox="1"/>
          <p:nvPr/>
        </p:nvSpPr>
        <p:spPr>
          <a:xfrm>
            <a:off x="2990088" y="1280160"/>
            <a:ext cx="61539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8A1538"/>
                </a:solidFill>
                <a:latin typeface="X5 Sans Medium"/>
              </a:rPr>
              <a:t>B</a:t>
            </a:r>
            <a:r>
              <a:rPr sz="1500" b="0">
                <a:solidFill>
                  <a:srgbClr val="8A1538"/>
                </a:solidFill>
                <a:latin typeface="X5 Sans"/>
              </a:rPr>
              <a:t> · условный спред</a:t>
            </a:r>
          </a:p>
        </p:txBody>
      </p:sp>
      <p:cxnSp>
        <p:nvCxnSpPr>
          <p:cNvPr id="1079" name="Connector 1078"/>
          <p:cNvCxnSpPr/>
          <p:nvPr/>
        </p:nvCxnSpPr>
        <p:spPr>
          <a:xfrm flipH="1">
            <a:off x="4551426" y="1911095"/>
            <a:ext cx="1515618" cy="975361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0" name="Connector 1079"/>
          <p:cNvCxnSpPr/>
          <p:nvPr/>
        </p:nvCxnSpPr>
        <p:spPr>
          <a:xfrm>
            <a:off x="6067044" y="1911095"/>
            <a:ext cx="1515618" cy="975361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1" name="Connector 1080"/>
          <p:cNvCxnSpPr/>
          <p:nvPr/>
        </p:nvCxnSpPr>
        <p:spPr>
          <a:xfrm flipH="1">
            <a:off x="3793617" y="3160776"/>
            <a:ext cx="757809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2" name="Connector 1081"/>
          <p:cNvCxnSpPr/>
          <p:nvPr/>
        </p:nvCxnSpPr>
        <p:spPr>
          <a:xfrm>
            <a:off x="4551426" y="3160776"/>
            <a:ext cx="757809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3" name="Connector 1082"/>
          <p:cNvCxnSpPr/>
          <p:nvPr/>
        </p:nvCxnSpPr>
        <p:spPr>
          <a:xfrm flipH="1">
            <a:off x="6824853" y="3160776"/>
            <a:ext cx="757809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4" name="Connector 1083"/>
          <p:cNvCxnSpPr/>
          <p:nvPr/>
        </p:nvCxnSpPr>
        <p:spPr>
          <a:xfrm>
            <a:off x="7582662" y="3160776"/>
            <a:ext cx="757809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5" name="Connector 1084"/>
          <p:cNvCxnSpPr/>
          <p:nvPr/>
        </p:nvCxnSpPr>
        <p:spPr>
          <a:xfrm flipH="1">
            <a:off x="3414712" y="4410456"/>
            <a:ext cx="378905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6" name="Connector 1085"/>
          <p:cNvCxnSpPr/>
          <p:nvPr/>
        </p:nvCxnSpPr>
        <p:spPr>
          <a:xfrm>
            <a:off x="3793617" y="4410456"/>
            <a:ext cx="378904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7" name="Connector 1086"/>
          <p:cNvCxnSpPr/>
          <p:nvPr/>
        </p:nvCxnSpPr>
        <p:spPr>
          <a:xfrm flipH="1">
            <a:off x="4930330" y="4410456"/>
            <a:ext cx="378905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8" name="Connector 1087"/>
          <p:cNvCxnSpPr/>
          <p:nvPr/>
        </p:nvCxnSpPr>
        <p:spPr>
          <a:xfrm>
            <a:off x="5309235" y="4410456"/>
            <a:ext cx="378904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9" name="Connector 1088"/>
          <p:cNvCxnSpPr/>
          <p:nvPr/>
        </p:nvCxnSpPr>
        <p:spPr>
          <a:xfrm flipH="1">
            <a:off x="6445948" y="4410456"/>
            <a:ext cx="378905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0" name="Connector 1089"/>
          <p:cNvCxnSpPr/>
          <p:nvPr/>
        </p:nvCxnSpPr>
        <p:spPr>
          <a:xfrm>
            <a:off x="6824853" y="4410456"/>
            <a:ext cx="378904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1" name="Connector 1090"/>
          <p:cNvCxnSpPr/>
          <p:nvPr/>
        </p:nvCxnSpPr>
        <p:spPr>
          <a:xfrm flipH="1">
            <a:off x="7961566" y="4410456"/>
            <a:ext cx="378905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2" name="Connector 1091"/>
          <p:cNvCxnSpPr/>
          <p:nvPr/>
        </p:nvCxnSpPr>
        <p:spPr>
          <a:xfrm>
            <a:off x="8340471" y="4410456"/>
            <a:ext cx="378904" cy="97536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3" name="Rounded Rectangle 1092"/>
          <p:cNvSpPr/>
          <p:nvPr/>
        </p:nvSpPr>
        <p:spPr>
          <a:xfrm>
            <a:off x="5289804" y="1490472"/>
            <a:ext cx="1554480" cy="42062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4" name="TextBox 1093"/>
          <p:cNvSpPr txBox="1"/>
          <p:nvPr/>
        </p:nvSpPr>
        <p:spPr>
          <a:xfrm>
            <a:off x="5344668" y="1490472"/>
            <a:ext cx="144475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4" b="0">
                <a:solidFill>
                  <a:srgbClr val="1E5B28"/>
                </a:solidFill>
                <a:latin typeface="Menlo"/>
              </a:rPr>
              <a:t>referrer?</a:t>
            </a:r>
          </a:p>
        </p:txBody>
      </p:sp>
      <p:sp>
        <p:nvSpPr>
          <p:cNvPr id="1095" name="Rounded Rectangle 1094"/>
          <p:cNvSpPr/>
          <p:nvPr/>
        </p:nvSpPr>
        <p:spPr>
          <a:xfrm>
            <a:off x="3774186" y="2740152"/>
            <a:ext cx="1554480" cy="42062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6" name="TextBox 1095"/>
          <p:cNvSpPr txBox="1"/>
          <p:nvPr/>
        </p:nvSpPr>
        <p:spPr>
          <a:xfrm>
            <a:off x="3829050" y="2740152"/>
            <a:ext cx="144475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4" b="0">
                <a:solidFill>
                  <a:srgbClr val="1E5B28"/>
                </a:solidFill>
                <a:latin typeface="Menlo"/>
              </a:rPr>
              <a:t>trialUntil?</a:t>
            </a:r>
          </a:p>
        </p:txBody>
      </p:sp>
      <p:sp>
        <p:nvSpPr>
          <p:cNvPr id="1097" name="Rounded Rectangle 1096"/>
          <p:cNvSpPr/>
          <p:nvPr/>
        </p:nvSpPr>
        <p:spPr>
          <a:xfrm>
            <a:off x="6805422" y="2740152"/>
            <a:ext cx="1554480" cy="42062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8" name="TextBox 1097"/>
          <p:cNvSpPr txBox="1"/>
          <p:nvPr/>
        </p:nvSpPr>
        <p:spPr>
          <a:xfrm>
            <a:off x="6860286" y="2740152"/>
            <a:ext cx="144475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4" b="0">
                <a:solidFill>
                  <a:srgbClr val="1E5B28"/>
                </a:solidFill>
                <a:latin typeface="Menlo"/>
              </a:rPr>
              <a:t>trialUntil?</a:t>
            </a:r>
          </a:p>
        </p:txBody>
      </p:sp>
      <p:sp>
        <p:nvSpPr>
          <p:cNvPr id="1099" name="Rounded Rectangle 1098"/>
          <p:cNvSpPr/>
          <p:nvPr/>
        </p:nvSpPr>
        <p:spPr>
          <a:xfrm>
            <a:off x="3081528" y="3989832"/>
            <a:ext cx="1424178" cy="42062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0" name="TextBox 1099"/>
          <p:cNvSpPr txBox="1"/>
          <p:nvPr/>
        </p:nvSpPr>
        <p:spPr>
          <a:xfrm>
            <a:off x="3136392" y="3989832"/>
            <a:ext cx="131445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8" b="0">
                <a:solidFill>
                  <a:srgbClr val="1E5B28"/>
                </a:solidFill>
                <a:latin typeface="Menlo"/>
              </a:rPr>
              <a:t>teamId?</a:t>
            </a:r>
          </a:p>
        </p:txBody>
      </p:sp>
      <p:sp>
        <p:nvSpPr>
          <p:cNvPr id="1101" name="Rounded Rectangle 1100"/>
          <p:cNvSpPr/>
          <p:nvPr/>
        </p:nvSpPr>
        <p:spPr>
          <a:xfrm>
            <a:off x="4597146" y="3989832"/>
            <a:ext cx="1424178" cy="42062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2" name="TextBox 1101"/>
          <p:cNvSpPr txBox="1"/>
          <p:nvPr/>
        </p:nvSpPr>
        <p:spPr>
          <a:xfrm>
            <a:off x="4652010" y="3989832"/>
            <a:ext cx="131445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8" b="0">
                <a:solidFill>
                  <a:srgbClr val="1E5B28"/>
                </a:solidFill>
                <a:latin typeface="Menlo"/>
              </a:rPr>
              <a:t>teamId?</a:t>
            </a:r>
          </a:p>
        </p:txBody>
      </p:sp>
      <p:sp>
        <p:nvSpPr>
          <p:cNvPr id="1103" name="Rounded Rectangle 1102"/>
          <p:cNvSpPr/>
          <p:nvPr/>
        </p:nvSpPr>
        <p:spPr>
          <a:xfrm>
            <a:off x="6112764" y="3989832"/>
            <a:ext cx="1424178" cy="42062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4" name="TextBox 1103"/>
          <p:cNvSpPr txBox="1"/>
          <p:nvPr/>
        </p:nvSpPr>
        <p:spPr>
          <a:xfrm>
            <a:off x="6167628" y="3989832"/>
            <a:ext cx="131445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8" b="0">
                <a:solidFill>
                  <a:srgbClr val="1E5B28"/>
                </a:solidFill>
                <a:latin typeface="Menlo"/>
              </a:rPr>
              <a:t>teamId?</a:t>
            </a:r>
          </a:p>
        </p:txBody>
      </p:sp>
      <p:sp>
        <p:nvSpPr>
          <p:cNvPr id="1105" name="Rounded Rectangle 1104"/>
          <p:cNvSpPr/>
          <p:nvPr/>
        </p:nvSpPr>
        <p:spPr>
          <a:xfrm>
            <a:off x="7628381" y="3989832"/>
            <a:ext cx="1424178" cy="42062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6" name="TextBox 1105"/>
          <p:cNvSpPr txBox="1"/>
          <p:nvPr/>
        </p:nvSpPr>
        <p:spPr>
          <a:xfrm>
            <a:off x="7683246" y="3989832"/>
            <a:ext cx="131445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8" b="0">
                <a:solidFill>
                  <a:srgbClr val="1E5B28"/>
                </a:solidFill>
                <a:latin typeface="Menlo"/>
              </a:rPr>
              <a:t>teamId?</a:t>
            </a:r>
          </a:p>
        </p:txBody>
      </p:sp>
      <p:sp>
        <p:nvSpPr>
          <p:cNvPr id="1107" name="Rounded Rectangle 1106"/>
          <p:cNvSpPr/>
          <p:nvPr/>
        </p:nvSpPr>
        <p:spPr>
          <a:xfrm>
            <a:off x="3063240" y="5385816"/>
            <a:ext cx="702945" cy="420624"/>
          </a:xfrm>
          <a:prstGeom prst="roundRect">
            <a:avLst>
              <a:gd name="adj" fmla="val 21739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8" name="TextBox 1107"/>
          <p:cNvSpPr txBox="1"/>
          <p:nvPr/>
        </p:nvSpPr>
        <p:spPr>
          <a:xfrm>
            <a:off x="3118104" y="5385816"/>
            <a:ext cx="59321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8A1538"/>
                </a:solidFill>
                <a:latin typeface="X5 Sans"/>
              </a:rPr>
              <a:t>—</a:t>
            </a:r>
          </a:p>
        </p:txBody>
      </p:sp>
      <p:sp>
        <p:nvSpPr>
          <p:cNvPr id="1109" name="Rounded Rectangle 1108"/>
          <p:cNvSpPr/>
          <p:nvPr/>
        </p:nvSpPr>
        <p:spPr>
          <a:xfrm>
            <a:off x="3821049" y="5385816"/>
            <a:ext cx="702945" cy="420624"/>
          </a:xfrm>
          <a:prstGeom prst="roundRect">
            <a:avLst>
              <a:gd name="adj" fmla="val 21739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0" name="TextBox 1109"/>
          <p:cNvSpPr txBox="1"/>
          <p:nvPr/>
        </p:nvSpPr>
        <p:spPr>
          <a:xfrm>
            <a:off x="3875912" y="5385816"/>
            <a:ext cx="59321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8A1538"/>
                </a:solidFill>
                <a:latin typeface="X5 Sans"/>
              </a:rPr>
              <a:t>+i</a:t>
            </a:r>
          </a:p>
        </p:txBody>
      </p:sp>
      <p:sp>
        <p:nvSpPr>
          <p:cNvPr id="1111" name="Rounded Rectangle 1110"/>
          <p:cNvSpPr/>
          <p:nvPr/>
        </p:nvSpPr>
        <p:spPr>
          <a:xfrm>
            <a:off x="4578858" y="5385816"/>
            <a:ext cx="702945" cy="420624"/>
          </a:xfrm>
          <a:prstGeom prst="roundRect">
            <a:avLst>
              <a:gd name="adj" fmla="val 21739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2" name="TextBox 1111"/>
          <p:cNvSpPr txBox="1"/>
          <p:nvPr/>
        </p:nvSpPr>
        <p:spPr>
          <a:xfrm>
            <a:off x="4633722" y="5385816"/>
            <a:ext cx="59321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8A1538"/>
                </a:solidFill>
                <a:latin typeface="X5 Sans"/>
              </a:rPr>
              <a:t>+t</a:t>
            </a:r>
          </a:p>
        </p:txBody>
      </p:sp>
      <p:sp>
        <p:nvSpPr>
          <p:cNvPr id="1113" name="Rounded Rectangle 1112"/>
          <p:cNvSpPr/>
          <p:nvPr/>
        </p:nvSpPr>
        <p:spPr>
          <a:xfrm>
            <a:off x="5336667" y="5385816"/>
            <a:ext cx="702945" cy="420624"/>
          </a:xfrm>
          <a:prstGeom prst="roundRect">
            <a:avLst>
              <a:gd name="adj" fmla="val 21739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4" name="TextBox 1113"/>
          <p:cNvSpPr txBox="1"/>
          <p:nvPr/>
        </p:nvSpPr>
        <p:spPr>
          <a:xfrm>
            <a:off x="5391530" y="5385816"/>
            <a:ext cx="59321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8A1538"/>
                </a:solidFill>
                <a:latin typeface="X5 Sans"/>
              </a:rPr>
              <a:t>+t +i</a:t>
            </a:r>
          </a:p>
        </p:txBody>
      </p:sp>
      <p:sp>
        <p:nvSpPr>
          <p:cNvPr id="1115" name="Rounded Rectangle 1114"/>
          <p:cNvSpPr/>
          <p:nvPr/>
        </p:nvSpPr>
        <p:spPr>
          <a:xfrm>
            <a:off x="6094476" y="5385816"/>
            <a:ext cx="702945" cy="420624"/>
          </a:xfrm>
          <a:prstGeom prst="roundRect">
            <a:avLst>
              <a:gd name="adj" fmla="val 21739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6" name="TextBox 1115"/>
          <p:cNvSpPr txBox="1"/>
          <p:nvPr/>
        </p:nvSpPr>
        <p:spPr>
          <a:xfrm>
            <a:off x="6149340" y="5385816"/>
            <a:ext cx="59321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8A1538"/>
                </a:solidFill>
                <a:latin typeface="X5 Sans"/>
              </a:rPr>
              <a:t>+r</a:t>
            </a:r>
          </a:p>
        </p:txBody>
      </p:sp>
      <p:sp>
        <p:nvSpPr>
          <p:cNvPr id="1117" name="Rounded Rectangle 1116"/>
          <p:cNvSpPr/>
          <p:nvPr/>
        </p:nvSpPr>
        <p:spPr>
          <a:xfrm>
            <a:off x="6852284" y="5385816"/>
            <a:ext cx="702945" cy="420624"/>
          </a:xfrm>
          <a:prstGeom prst="roundRect">
            <a:avLst>
              <a:gd name="adj" fmla="val 21739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8" name="TextBox 1117"/>
          <p:cNvSpPr txBox="1"/>
          <p:nvPr/>
        </p:nvSpPr>
        <p:spPr>
          <a:xfrm>
            <a:off x="6907148" y="5385816"/>
            <a:ext cx="59321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8A1538"/>
                </a:solidFill>
                <a:latin typeface="X5 Sans"/>
              </a:rPr>
              <a:t>+r +i</a:t>
            </a:r>
          </a:p>
        </p:txBody>
      </p:sp>
      <p:sp>
        <p:nvSpPr>
          <p:cNvPr id="1119" name="Rounded Rectangle 1118"/>
          <p:cNvSpPr/>
          <p:nvPr/>
        </p:nvSpPr>
        <p:spPr>
          <a:xfrm>
            <a:off x="7610094" y="5385816"/>
            <a:ext cx="702945" cy="420624"/>
          </a:xfrm>
          <a:prstGeom prst="roundRect">
            <a:avLst>
              <a:gd name="adj" fmla="val 21739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0" name="TextBox 1119"/>
          <p:cNvSpPr txBox="1"/>
          <p:nvPr/>
        </p:nvSpPr>
        <p:spPr>
          <a:xfrm>
            <a:off x="7664958" y="5385816"/>
            <a:ext cx="59321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8A1538"/>
                </a:solidFill>
                <a:latin typeface="X5 Sans"/>
              </a:rPr>
              <a:t>+r +t</a:t>
            </a:r>
          </a:p>
        </p:txBody>
      </p:sp>
      <p:sp>
        <p:nvSpPr>
          <p:cNvPr id="1121" name="Rounded Rectangle 1120"/>
          <p:cNvSpPr/>
          <p:nvPr/>
        </p:nvSpPr>
        <p:spPr>
          <a:xfrm>
            <a:off x="8367902" y="5385816"/>
            <a:ext cx="702945" cy="420624"/>
          </a:xfrm>
          <a:prstGeom prst="roundRect">
            <a:avLst>
              <a:gd name="adj" fmla="val 21739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2" name="TextBox 1121"/>
          <p:cNvSpPr txBox="1"/>
          <p:nvPr/>
        </p:nvSpPr>
        <p:spPr>
          <a:xfrm>
            <a:off x="8422767" y="5385816"/>
            <a:ext cx="59321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8A1538"/>
                </a:solidFill>
                <a:latin typeface="X5 Sans"/>
              </a:rPr>
              <a:t>+r +t +i</a:t>
            </a:r>
          </a:p>
        </p:txBody>
      </p:sp>
      <p:sp>
        <p:nvSpPr>
          <p:cNvPr id="1123" name="TextBox 1122"/>
          <p:cNvSpPr txBox="1"/>
          <p:nvPr/>
        </p:nvSpPr>
        <p:spPr>
          <a:xfrm>
            <a:off x="2807208" y="5760720"/>
            <a:ext cx="651967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0">
                <a:solidFill>
                  <a:srgbClr val="8A1538"/>
                </a:solidFill>
                <a:latin typeface="X5 Sans Medium"/>
              </a:rPr>
              <a:t>2³ = 8 форм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Проверка живьём: %HaveSameMap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2.3</a:t>
            </a:r>
          </a:p>
        </p:txBody>
      </p:sp>
      <p:sp>
        <p:nvSpPr>
          <p:cNvPr id="102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0" name="TextBox 1029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31" name="TextBox 1030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32" name="TextBox 1031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33" name="Rounded Rectangle 1032"/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4" name="TextBox 1033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35" name="TextBox 1034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36" name="TextBox 1035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7" name="Rounded Rectangle 1036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8" name="TextBox 1037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39" name="TextBox 1038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40" name="TextBox 1039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1" name="Rounded Rectangle 1040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2" name="TextBox 104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43" name="TextBox 104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44" name="TextBox 1043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5" name="Rounded Rectangle 1044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6" name="TextBox 104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47" name="TextBox 1046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48" name="TextBox 1047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9" name="TextBox 1048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50" name="Connector 1049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1" name="Oval 1050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2" name="Oval 1051"/>
          <p:cNvSpPr/>
          <p:nvPr/>
        </p:nvSpPr>
        <p:spPr>
          <a:xfrm>
            <a:off x="9794886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3" name="Oval 1052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4" name="Oval 1053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5" name="Oval 1054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6" name="Oval 1055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7" name="Oval 1056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8" name="Oval 1057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9" name="Oval 1058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0" name="Oval 1059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1" name="Oval 1060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Oval 1061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3" name="TextBox 1062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2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форма объекта</a:t>
            </a:r>
          </a:p>
        </p:txBody>
      </p:sp>
      <p:sp>
        <p:nvSpPr>
          <p:cNvPr id="1064" name="Rounded Rectangle 1063"/>
          <p:cNvSpPr/>
          <p:nvPr/>
        </p:nvSpPr>
        <p:spPr>
          <a:xfrm>
            <a:off x="109728" y="1188720"/>
            <a:ext cx="5760720" cy="5120640"/>
          </a:xfrm>
          <a:prstGeom prst="roundRect">
            <a:avLst>
              <a:gd name="adj" fmla="val 2857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5" name="Oval 1064"/>
          <p:cNvSpPr/>
          <p:nvPr/>
        </p:nvSpPr>
        <p:spPr>
          <a:xfrm>
            <a:off x="292608" y="133502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6" name="Oval 1065"/>
          <p:cNvSpPr/>
          <p:nvPr/>
        </p:nvSpPr>
        <p:spPr>
          <a:xfrm>
            <a:off x="475488" y="133502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7" name="Oval 1066"/>
          <p:cNvSpPr/>
          <p:nvPr/>
        </p:nvSpPr>
        <p:spPr>
          <a:xfrm>
            <a:off x="658368" y="133502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8" name="TextBox 1067"/>
          <p:cNvSpPr txBox="1"/>
          <p:nvPr/>
        </p:nvSpPr>
        <p:spPr>
          <a:xfrm>
            <a:off x="1024128" y="1280160"/>
            <a:ext cx="4663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LIVE №1 · фолбэк — этот же кадр</a:t>
            </a:r>
          </a:p>
        </p:txBody>
      </p:sp>
      <p:sp>
        <p:nvSpPr>
          <p:cNvPr id="1069" name="TextBox 1068"/>
          <p:cNvSpPr txBox="1"/>
          <p:nvPr/>
        </p:nvSpPr>
        <p:spPr>
          <a:xfrm>
            <a:off x="338328" y="1572768"/>
            <a:ext cx="530352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700" b="0">
                <a:solidFill>
                  <a:srgbClr val="AADC00"/>
                </a:solidFill>
                <a:latin typeface="Menlo"/>
              </a:rPr>
              <a:t>$ node --allow-natives-syntax demo-samemap.js</a:t>
            </a:r>
          </a:p>
          <a:p>
            <a:pPr>
              <a:spcAft>
                <a:spcPts val="200"/>
              </a:spcAft>
            </a:pPr>
            <a:r>
              <a:rPr sz="1700" b="0">
                <a:solidFill>
                  <a:srgbClr val="E6F2E9"/>
                </a:solidFill>
                <a:latin typeface="Menlo"/>
              </a:rPr>
              <a:t>A: </a:t>
            </a:r>
            <a:r>
              <a:rPr sz="1700" b="1">
                <a:solidFill>
                  <a:srgbClr val="FF9DB8"/>
                </a:solidFill>
                <a:latin typeface="Menlo"/>
              </a:rPr>
              <a:t>true</a:t>
            </a:r>
          </a:p>
          <a:p>
            <a:pPr>
              <a:spcAft>
                <a:spcPts val="200"/>
              </a:spcAft>
            </a:pPr>
            <a:r>
              <a:rPr sz="1700" b="0">
                <a:solidFill>
                  <a:srgbClr val="E6F2E9"/>
                </a:solidFill>
                <a:latin typeface="Menlo"/>
              </a:rPr>
              <a:t>B: </a:t>
            </a:r>
            <a:r>
              <a:rPr sz="1700" b="1">
                <a:solidFill>
                  <a:srgbClr val="FF9DB8"/>
                </a:solidFill>
                <a:latin typeface="Menlo"/>
              </a:rPr>
              <a:t>false</a:t>
            </a:r>
          </a:p>
          <a:p>
            <a:pPr>
              <a:spcAft>
                <a:spcPts val="200"/>
              </a:spcAft>
            </a:pPr>
            <a:r>
              <a:rPr sz="1700" b="0">
                <a:solidFill>
                  <a:srgbClr val="E6F2E9"/>
                </a:solidFill>
                <a:latin typeface="Menlo"/>
              </a:rPr>
              <a:t>форм у B: </a:t>
            </a:r>
            <a:r>
              <a:rPr sz="1700" b="1">
                <a:solidFill>
                  <a:srgbClr val="FF9DB8"/>
                </a:solidFill>
                <a:latin typeface="Menlo"/>
              </a:rPr>
              <a:t>8</a:t>
            </a:r>
          </a:p>
        </p:txBody>
      </p:sp>
      <p:sp>
        <p:nvSpPr>
          <p:cNvPr id="1031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6355080" y="1188720"/>
            <a:ext cx="2971800" cy="265176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0" name="TextBox 1069"/>
          <p:cNvSpPr txBox="1"/>
          <p:nvPr/>
        </p:nvSpPr>
        <p:spPr>
          <a:xfrm>
            <a:off x="6629400" y="1353312"/>
            <a:ext cx="2423160" cy="23225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96" b="0">
                <a:solidFill>
                  <a:srgbClr val="FFFFFF"/>
                </a:solidFill>
                <a:latin typeface="Menlo"/>
              </a:rPr>
              <a:t>%HaveSameMap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X5 Sans"/>
              </a:rPr>
              <a:t>A(x), A(y) → </a:t>
            </a:r>
            <a:r>
              <a:rPr sz="1700" b="0">
                <a:solidFill>
                  <a:srgbClr val="FFFFFF"/>
                </a:solidFill>
                <a:latin typeface="X5 Sans Medium"/>
              </a:rPr>
              <a:t>true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X5 Sans"/>
              </a:rPr>
              <a:t>B(x), B(y) → </a:t>
            </a:r>
            <a:r>
              <a:rPr sz="1700" b="0">
                <a:solidFill>
                  <a:srgbClr val="FFFFFF"/>
                </a:solidFill>
                <a:latin typeface="X5 Sans Medium"/>
              </a:rPr>
              <a:t>false</a:t>
            </a:r>
          </a:p>
        </p:txBody>
      </p:sp>
      <p:sp>
        <p:nvSpPr>
          <p:cNvPr id="103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355080" y="4069080"/>
            <a:ext cx="2971800" cy="224028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1" name="TextBox 1070"/>
          <p:cNvSpPr txBox="1"/>
          <p:nvPr/>
        </p:nvSpPr>
        <p:spPr>
          <a:xfrm>
            <a:off x="6355080" y="4069080"/>
            <a:ext cx="2971800" cy="2240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400" b="0">
                <a:solidFill>
                  <a:srgbClr val="1E5B28"/>
                </a:solidFill>
                <a:latin typeface="X5 Sans Medium"/>
              </a:rPr>
              <a:t>1 vs 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Карта: первая развилка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2.4</a:t>
            </a:r>
          </a:p>
        </p:txBody>
      </p:sp>
      <p:sp>
        <p:nvSpPr>
          <p:cNvPr id="103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4" name="TextBox 1033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35" name="TextBox 103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36" name="TextBox 1035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37" name="Rounded Rectangle 1036"/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8" name="TextBox 1037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39" name="TextBox 1038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40" name="TextBox 1039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1" name="Rounded Rectangle 1040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2" name="TextBox 1041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43" name="TextBox 1042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44" name="TextBox 1043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5" name="Rounded Rectangle 1044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6" name="TextBox 1045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47" name="TextBox 1046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48" name="TextBox 1047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9" name="Rounded Rectangle 1048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0" name="TextBox 1049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51" name="TextBox 1050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TextBox 1052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54" name="Connector 1053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5" name="Oval 1054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6" name="Oval 1055"/>
          <p:cNvSpPr/>
          <p:nvPr/>
        </p:nvSpPr>
        <p:spPr>
          <a:xfrm>
            <a:off x="9794886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7" name="Oval 1056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8" name="Oval 1057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9" name="Oval 1058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0" name="Oval 1059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1" name="Oval 1060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Oval 1061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3" name="Oval 1062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4" name="Oval 1063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5" name="Oval 1064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6" name="Oval 1065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7" name="TextBox 1066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2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форма объекта</a:t>
            </a:r>
          </a:p>
        </p:txBody>
      </p:sp>
      <p:cxnSp>
        <p:nvCxnSpPr>
          <p:cNvPr id="1068" name="Connector 1067"/>
          <p:cNvCxnSpPr/>
          <p:nvPr/>
        </p:nvCxnSpPr>
        <p:spPr>
          <a:xfrm>
            <a:off x="704088" y="2017166"/>
            <a:ext cx="8577071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9" name="Rounded Rectangle 1068"/>
          <p:cNvSpPr/>
          <p:nvPr/>
        </p:nvSpPr>
        <p:spPr>
          <a:xfrm>
            <a:off x="109728" y="3205886"/>
            <a:ext cx="404164" cy="475488"/>
          </a:xfrm>
          <a:prstGeom prst="roundRect">
            <a:avLst>
              <a:gd name="adj" fmla="val 18099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0" name="TextBox 1069"/>
          <p:cNvSpPr txBox="1"/>
          <p:nvPr/>
        </p:nvSpPr>
        <p:spPr>
          <a:xfrm>
            <a:off x="109728" y="3205886"/>
            <a:ext cx="404164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1071" name="Rounded Rectangle 1070"/>
          <p:cNvSpPr/>
          <p:nvPr/>
        </p:nvSpPr>
        <p:spPr>
          <a:xfrm>
            <a:off x="109728" y="3859682"/>
            <a:ext cx="404164" cy="475488"/>
          </a:xfrm>
          <a:prstGeom prst="roundRect">
            <a:avLst>
              <a:gd name="adj" fmla="val 18099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2" name="TextBox 1071"/>
          <p:cNvSpPr txBox="1"/>
          <p:nvPr/>
        </p:nvSpPr>
        <p:spPr>
          <a:xfrm>
            <a:off x="109728" y="3859682"/>
            <a:ext cx="404164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1073" name="Oval 1072"/>
          <p:cNvSpPr/>
          <p:nvPr/>
        </p:nvSpPr>
        <p:spPr>
          <a:xfrm>
            <a:off x="849401" y="1803196"/>
            <a:ext cx="427939" cy="42793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4" name="TextBox 1073"/>
          <p:cNvSpPr txBox="1"/>
          <p:nvPr/>
        </p:nvSpPr>
        <p:spPr>
          <a:xfrm>
            <a:off x="849401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075" name="TextBox 1074"/>
          <p:cNvSpPr txBox="1"/>
          <p:nvPr/>
        </p:nvSpPr>
        <p:spPr>
          <a:xfrm>
            <a:off x="704088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076" name="TextBox 1075"/>
          <p:cNvSpPr txBox="1"/>
          <p:nvPr/>
        </p:nvSpPr>
        <p:spPr>
          <a:xfrm>
            <a:off x="722376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077" name="Rounded Rectangle 1076"/>
          <p:cNvSpPr/>
          <p:nvPr/>
        </p:nvSpPr>
        <p:spPr>
          <a:xfrm>
            <a:off x="731520" y="3205886"/>
            <a:ext cx="663702" cy="523036"/>
          </a:xfrm>
          <a:prstGeom prst="roundRect">
            <a:avLst>
              <a:gd name="adj" fmla="val 1048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8" name="TextBox 1077"/>
          <p:cNvSpPr txBox="1"/>
          <p:nvPr/>
        </p:nvSpPr>
        <p:spPr>
          <a:xfrm>
            <a:off x="749808" y="3205886"/>
            <a:ext cx="627126" cy="523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90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079" name="Rounded Rectangle 1078"/>
          <p:cNvSpPr/>
          <p:nvPr/>
        </p:nvSpPr>
        <p:spPr>
          <a:xfrm>
            <a:off x="731520" y="3859682"/>
            <a:ext cx="663702" cy="523036"/>
          </a:xfrm>
          <a:prstGeom prst="roundRect">
            <a:avLst>
              <a:gd name="adj" fmla="val 1048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0" name="TextBox 1079"/>
          <p:cNvSpPr txBox="1"/>
          <p:nvPr/>
        </p:nvSpPr>
        <p:spPr>
          <a:xfrm>
            <a:off x="749808" y="3859682"/>
            <a:ext cx="627126" cy="523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90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081" name="TextBox 1080"/>
          <p:cNvSpPr txBox="1"/>
          <p:nvPr/>
        </p:nvSpPr>
        <p:spPr>
          <a:xfrm>
            <a:off x="722376" y="4537252"/>
            <a:ext cx="68198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90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082" name="Oval 1081"/>
          <p:cNvSpPr/>
          <p:nvPr/>
        </p:nvSpPr>
        <p:spPr>
          <a:xfrm>
            <a:off x="1473820" y="1709050"/>
            <a:ext cx="616232" cy="616232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3" name="Oval 1082"/>
          <p:cNvSpPr/>
          <p:nvPr/>
        </p:nvSpPr>
        <p:spPr>
          <a:xfrm>
            <a:off x="1567967" y="1803196"/>
            <a:ext cx="427939" cy="42793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4" name="TextBox 1083"/>
          <p:cNvSpPr txBox="1"/>
          <p:nvPr/>
        </p:nvSpPr>
        <p:spPr>
          <a:xfrm>
            <a:off x="1567967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085" name="TextBox 1084"/>
          <p:cNvSpPr txBox="1"/>
          <p:nvPr/>
        </p:nvSpPr>
        <p:spPr>
          <a:xfrm>
            <a:off x="1422654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6B7280"/>
                </a:solidFill>
                <a:latin typeface="X5 Sans"/>
              </a:rPr>
              <a:t>вызов 1</a:t>
            </a:r>
          </a:p>
        </p:txBody>
      </p:sp>
      <p:sp>
        <p:nvSpPr>
          <p:cNvPr id="1086" name="TextBox 1085"/>
          <p:cNvSpPr txBox="1"/>
          <p:nvPr/>
        </p:nvSpPr>
        <p:spPr>
          <a:xfrm>
            <a:off x="1440942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1087" name="Rounded Rectangle 1086"/>
          <p:cNvSpPr/>
          <p:nvPr/>
        </p:nvSpPr>
        <p:spPr>
          <a:xfrm>
            <a:off x="1450086" y="3205886"/>
            <a:ext cx="663702" cy="523036"/>
          </a:xfrm>
          <a:prstGeom prst="roundRect">
            <a:avLst>
              <a:gd name="adj" fmla="val 1048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8" name="TextBox 1087"/>
          <p:cNvSpPr txBox="1"/>
          <p:nvPr/>
        </p:nvSpPr>
        <p:spPr>
          <a:xfrm>
            <a:off x="1468374" y="3205886"/>
            <a:ext cx="627126" cy="523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90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1089" name="Rounded Rectangle 1088"/>
          <p:cNvSpPr/>
          <p:nvPr/>
        </p:nvSpPr>
        <p:spPr>
          <a:xfrm>
            <a:off x="1450086" y="3859682"/>
            <a:ext cx="663702" cy="523036"/>
          </a:xfrm>
          <a:prstGeom prst="roundRect">
            <a:avLst>
              <a:gd name="adj" fmla="val 1048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0" name="TextBox 1089"/>
          <p:cNvSpPr txBox="1"/>
          <p:nvPr/>
        </p:nvSpPr>
        <p:spPr>
          <a:xfrm>
            <a:off x="1468374" y="3859682"/>
            <a:ext cx="627126" cy="523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90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1091" name="TextBox 1090"/>
          <p:cNvSpPr txBox="1"/>
          <p:nvPr/>
        </p:nvSpPr>
        <p:spPr>
          <a:xfrm>
            <a:off x="1440942" y="4537252"/>
            <a:ext cx="68198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90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1092" name="Oval 1091"/>
          <p:cNvSpPr/>
          <p:nvPr/>
        </p:nvSpPr>
        <p:spPr>
          <a:xfrm>
            <a:off x="2286533" y="1803196"/>
            <a:ext cx="427939" cy="42793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3" name="TextBox 1092"/>
          <p:cNvSpPr txBox="1"/>
          <p:nvPr/>
        </p:nvSpPr>
        <p:spPr>
          <a:xfrm>
            <a:off x="2286533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9CA3AF"/>
                </a:solidFill>
                <a:latin typeface="X5 Sans Medium"/>
              </a:rPr>
              <a:t>3</a:t>
            </a:r>
          </a:p>
        </p:txBody>
      </p:sp>
      <p:sp>
        <p:nvSpPr>
          <p:cNvPr id="1094" name="TextBox 1093"/>
          <p:cNvSpPr txBox="1"/>
          <p:nvPr/>
        </p:nvSpPr>
        <p:spPr>
          <a:xfrm>
            <a:off x="2141219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C9CED6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1095" name="TextBox 1094"/>
          <p:cNvSpPr txBox="1"/>
          <p:nvPr/>
        </p:nvSpPr>
        <p:spPr>
          <a:xfrm>
            <a:off x="2159507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B6BCC6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1096" name="Diamond 1095"/>
          <p:cNvSpPr/>
          <p:nvPr/>
        </p:nvSpPr>
        <p:spPr>
          <a:xfrm>
            <a:off x="2752801" y="1910181"/>
            <a:ext cx="213969" cy="213969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7" name="Oval 1096"/>
          <p:cNvSpPr/>
          <p:nvPr/>
        </p:nvSpPr>
        <p:spPr>
          <a:xfrm>
            <a:off x="3005099" y="1803196"/>
            <a:ext cx="427939" cy="42793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8" name="TextBox 1097"/>
          <p:cNvSpPr txBox="1"/>
          <p:nvPr/>
        </p:nvSpPr>
        <p:spPr>
          <a:xfrm>
            <a:off x="3005099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9CA3AF"/>
                </a:solidFill>
                <a:latin typeface="X5 Sans Medium"/>
              </a:rPr>
              <a:t>4</a:t>
            </a:r>
          </a:p>
        </p:txBody>
      </p:sp>
      <p:sp>
        <p:nvSpPr>
          <p:cNvPr id="1099" name="TextBox 1098"/>
          <p:cNvSpPr txBox="1"/>
          <p:nvPr/>
        </p:nvSpPr>
        <p:spPr>
          <a:xfrm>
            <a:off x="2859785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C9CED6"/>
                </a:solidFill>
                <a:latin typeface="X5 Sans"/>
              </a:rPr>
              <a:t>~700 → ~13 000</a:t>
            </a:r>
          </a:p>
        </p:txBody>
      </p:sp>
      <p:sp>
        <p:nvSpPr>
          <p:cNvPr id="1100" name="TextBox 1099"/>
          <p:cNvSpPr txBox="1"/>
          <p:nvPr/>
        </p:nvSpPr>
        <p:spPr>
          <a:xfrm>
            <a:off x="2878073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B6BCC6"/>
                </a:solidFill>
                <a:latin typeface="X5 Sans Medium"/>
              </a:rPr>
              <a:t>ярусы</a:t>
            </a:r>
          </a:p>
        </p:txBody>
      </p:sp>
      <p:sp>
        <p:nvSpPr>
          <p:cNvPr id="1101" name="Oval 1100"/>
          <p:cNvSpPr/>
          <p:nvPr/>
        </p:nvSpPr>
        <p:spPr>
          <a:xfrm>
            <a:off x="3723665" y="1803196"/>
            <a:ext cx="427939" cy="42793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2" name="TextBox 1101"/>
          <p:cNvSpPr txBox="1"/>
          <p:nvPr/>
        </p:nvSpPr>
        <p:spPr>
          <a:xfrm>
            <a:off x="3723665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9CA3AF"/>
                </a:solidFill>
                <a:latin typeface="X5 Sans Medium"/>
              </a:rPr>
              <a:t>5</a:t>
            </a:r>
          </a:p>
        </p:txBody>
      </p:sp>
      <p:sp>
        <p:nvSpPr>
          <p:cNvPr id="1103" name="TextBox 1102"/>
          <p:cNvSpPr txBox="1"/>
          <p:nvPr/>
        </p:nvSpPr>
        <p:spPr>
          <a:xfrm>
            <a:off x="3578352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C9CED6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1104" name="TextBox 1103"/>
          <p:cNvSpPr txBox="1"/>
          <p:nvPr/>
        </p:nvSpPr>
        <p:spPr>
          <a:xfrm>
            <a:off x="3596640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B6BCC6"/>
                </a:solidFill>
                <a:latin typeface="X5 Sans Medium"/>
              </a:rPr>
              <a:t>ставка</a:t>
            </a:r>
          </a:p>
        </p:txBody>
      </p:sp>
      <p:sp>
        <p:nvSpPr>
          <p:cNvPr id="1105" name="Diamond 1104"/>
          <p:cNvSpPr/>
          <p:nvPr/>
        </p:nvSpPr>
        <p:spPr>
          <a:xfrm>
            <a:off x="4189933" y="1910181"/>
            <a:ext cx="213969" cy="213969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6" name="Oval 1105"/>
          <p:cNvSpPr/>
          <p:nvPr/>
        </p:nvSpPr>
        <p:spPr>
          <a:xfrm>
            <a:off x="4442231" y="1803196"/>
            <a:ext cx="427939" cy="42793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7" name="TextBox 1106"/>
          <p:cNvSpPr txBox="1"/>
          <p:nvPr/>
        </p:nvSpPr>
        <p:spPr>
          <a:xfrm>
            <a:off x="4442231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9CA3AF"/>
                </a:solidFill>
                <a:latin typeface="X5 Sans Medium"/>
              </a:rPr>
              <a:t>6</a:t>
            </a:r>
          </a:p>
        </p:txBody>
      </p:sp>
      <p:sp>
        <p:nvSpPr>
          <p:cNvPr id="1108" name="TextBox 1107"/>
          <p:cNvSpPr txBox="1"/>
          <p:nvPr/>
        </p:nvSpPr>
        <p:spPr>
          <a:xfrm>
            <a:off x="4296918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C9CED6"/>
                </a:solidFill>
                <a:latin typeface="X5 Sans"/>
              </a:rPr>
              <a:t>прод</a:t>
            </a:r>
          </a:p>
        </p:txBody>
      </p:sp>
      <p:sp>
        <p:nvSpPr>
          <p:cNvPr id="1109" name="TextBox 1108"/>
          <p:cNvSpPr txBox="1"/>
          <p:nvPr/>
        </p:nvSpPr>
        <p:spPr>
          <a:xfrm>
            <a:off x="4315206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B6BCC6"/>
                </a:solidFill>
                <a:latin typeface="X5 Sans Medium"/>
              </a:rPr>
              <a:t>сервис</a:t>
            </a:r>
          </a:p>
        </p:txBody>
      </p:sp>
      <p:sp>
        <p:nvSpPr>
          <p:cNvPr id="1110" name="Oval 1109"/>
          <p:cNvSpPr/>
          <p:nvPr/>
        </p:nvSpPr>
        <p:spPr>
          <a:xfrm>
            <a:off x="5160797" y="1803196"/>
            <a:ext cx="427939" cy="42793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1" name="TextBox 1110"/>
          <p:cNvSpPr txBox="1"/>
          <p:nvPr/>
        </p:nvSpPr>
        <p:spPr>
          <a:xfrm>
            <a:off x="5160797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9CA3AF"/>
                </a:solidFill>
                <a:latin typeface="X5 Sans Medium"/>
              </a:rPr>
              <a:t>7</a:t>
            </a:r>
          </a:p>
        </p:txBody>
      </p:sp>
      <p:sp>
        <p:nvSpPr>
          <p:cNvPr id="1112" name="TextBox 1111"/>
          <p:cNvSpPr txBox="1"/>
          <p:nvPr/>
        </p:nvSpPr>
        <p:spPr>
          <a:xfrm>
            <a:off x="5015483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113" name="TextBox 1112"/>
          <p:cNvSpPr txBox="1"/>
          <p:nvPr/>
        </p:nvSpPr>
        <p:spPr>
          <a:xfrm>
            <a:off x="5033771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B6BCC6"/>
                </a:solidFill>
                <a:latin typeface="X5 Sans Medium"/>
              </a:rPr>
              <a:t>агент</a:t>
            </a:r>
          </a:p>
        </p:txBody>
      </p:sp>
      <p:sp>
        <p:nvSpPr>
          <p:cNvPr id="1114" name="Oval 1113"/>
          <p:cNvSpPr/>
          <p:nvPr/>
        </p:nvSpPr>
        <p:spPr>
          <a:xfrm>
            <a:off x="5879363" y="1803196"/>
            <a:ext cx="427939" cy="42793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5" name="TextBox 1114"/>
          <p:cNvSpPr txBox="1"/>
          <p:nvPr/>
        </p:nvSpPr>
        <p:spPr>
          <a:xfrm>
            <a:off x="5879363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9CA3AF"/>
                </a:solidFill>
                <a:latin typeface="X5 Sans Medium"/>
              </a:rPr>
              <a:t>8</a:t>
            </a:r>
          </a:p>
        </p:txBody>
      </p:sp>
      <p:sp>
        <p:nvSpPr>
          <p:cNvPr id="1116" name="TextBox 1115"/>
          <p:cNvSpPr txBox="1"/>
          <p:nvPr/>
        </p:nvSpPr>
        <p:spPr>
          <a:xfrm>
            <a:off x="5734050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117" name="TextBox 1116"/>
          <p:cNvSpPr txBox="1"/>
          <p:nvPr/>
        </p:nvSpPr>
        <p:spPr>
          <a:xfrm>
            <a:off x="5752338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B6BCC6"/>
                </a:solidFill>
                <a:latin typeface="X5 Sans Medium"/>
              </a:rPr>
              <a:t>корпус</a:t>
            </a:r>
          </a:p>
        </p:txBody>
      </p:sp>
      <p:sp>
        <p:nvSpPr>
          <p:cNvPr id="1118" name="Diamond 1117"/>
          <p:cNvSpPr/>
          <p:nvPr/>
        </p:nvSpPr>
        <p:spPr>
          <a:xfrm>
            <a:off x="6345631" y="1910181"/>
            <a:ext cx="213969" cy="213969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9" name="Oval 1118"/>
          <p:cNvSpPr/>
          <p:nvPr/>
        </p:nvSpPr>
        <p:spPr>
          <a:xfrm>
            <a:off x="6597929" y="1803196"/>
            <a:ext cx="427939" cy="42793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0" name="TextBox 1119"/>
          <p:cNvSpPr txBox="1"/>
          <p:nvPr/>
        </p:nvSpPr>
        <p:spPr>
          <a:xfrm>
            <a:off x="6597929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9CA3AF"/>
                </a:solidFill>
                <a:latin typeface="X5 Sans Medium"/>
              </a:rPr>
              <a:t>9</a:t>
            </a:r>
          </a:p>
        </p:txBody>
      </p:sp>
      <p:sp>
        <p:nvSpPr>
          <p:cNvPr id="1121" name="TextBox 1120"/>
          <p:cNvSpPr txBox="1"/>
          <p:nvPr/>
        </p:nvSpPr>
        <p:spPr>
          <a:xfrm>
            <a:off x="6452616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122" name="TextBox 1121"/>
          <p:cNvSpPr txBox="1"/>
          <p:nvPr/>
        </p:nvSpPr>
        <p:spPr>
          <a:xfrm>
            <a:off x="6470904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B6BCC6"/>
                </a:solidFill>
                <a:latin typeface="X5 Sans Medium"/>
              </a:rPr>
              <a:t>правила</a:t>
            </a:r>
          </a:p>
        </p:txBody>
      </p:sp>
      <p:sp>
        <p:nvSpPr>
          <p:cNvPr id="1123" name="Oval 1122"/>
          <p:cNvSpPr/>
          <p:nvPr/>
        </p:nvSpPr>
        <p:spPr>
          <a:xfrm>
            <a:off x="7316495" y="1803196"/>
            <a:ext cx="427939" cy="42793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4" name="TextBox 1123"/>
          <p:cNvSpPr txBox="1"/>
          <p:nvPr/>
        </p:nvSpPr>
        <p:spPr>
          <a:xfrm>
            <a:off x="7316495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9CA3AF"/>
                </a:solidFill>
                <a:latin typeface="X5 Sans Medium"/>
              </a:rPr>
              <a:t>10</a:t>
            </a:r>
          </a:p>
        </p:txBody>
      </p:sp>
      <p:sp>
        <p:nvSpPr>
          <p:cNvPr id="1125" name="TextBox 1124"/>
          <p:cNvSpPr txBox="1"/>
          <p:nvPr/>
        </p:nvSpPr>
        <p:spPr>
          <a:xfrm>
            <a:off x="7171181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C9CED6"/>
                </a:solidFill>
                <a:latin typeface="X5 Sans"/>
              </a:rPr>
              <a:t>верхняя ступень</a:t>
            </a:r>
          </a:p>
        </p:txBody>
      </p:sp>
      <p:sp>
        <p:nvSpPr>
          <p:cNvPr id="1126" name="TextBox 1125"/>
          <p:cNvSpPr txBox="1"/>
          <p:nvPr/>
        </p:nvSpPr>
        <p:spPr>
          <a:xfrm>
            <a:off x="7189469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B6BCC6"/>
                </a:solidFill>
                <a:latin typeface="X5 Sans Medium"/>
              </a:rPr>
              <a:t>лев</a:t>
            </a:r>
          </a:p>
        </p:txBody>
      </p:sp>
      <p:sp>
        <p:nvSpPr>
          <p:cNvPr id="1127" name="Oval 1126"/>
          <p:cNvSpPr/>
          <p:nvPr/>
        </p:nvSpPr>
        <p:spPr>
          <a:xfrm>
            <a:off x="8035061" y="1803196"/>
            <a:ext cx="427939" cy="42793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8" name="TextBox 1127"/>
          <p:cNvSpPr txBox="1"/>
          <p:nvPr/>
        </p:nvSpPr>
        <p:spPr>
          <a:xfrm>
            <a:off x="8035061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9CA3AF"/>
                </a:solidFill>
                <a:latin typeface="X5 Sans Medium"/>
              </a:rPr>
              <a:t>11</a:t>
            </a:r>
          </a:p>
        </p:txBody>
      </p:sp>
      <p:sp>
        <p:nvSpPr>
          <p:cNvPr id="1129" name="TextBox 1128"/>
          <p:cNvSpPr txBox="1"/>
          <p:nvPr/>
        </p:nvSpPr>
        <p:spPr>
          <a:xfrm>
            <a:off x="7889747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C9CED6"/>
                </a:solidFill>
                <a:latin typeface="X5 Sans"/>
              </a:rPr>
              <a:t>—</a:t>
            </a:r>
          </a:p>
        </p:txBody>
      </p:sp>
      <p:sp>
        <p:nvSpPr>
          <p:cNvPr id="1130" name="TextBox 1129"/>
          <p:cNvSpPr txBox="1"/>
          <p:nvPr/>
        </p:nvSpPr>
        <p:spPr>
          <a:xfrm>
            <a:off x="7908035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B6BCC6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1131" name="Oval 1130"/>
          <p:cNvSpPr/>
          <p:nvPr/>
        </p:nvSpPr>
        <p:spPr>
          <a:xfrm>
            <a:off x="8753627" y="1803196"/>
            <a:ext cx="427939" cy="42793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2" name="TextBox 1131"/>
          <p:cNvSpPr txBox="1"/>
          <p:nvPr/>
        </p:nvSpPr>
        <p:spPr>
          <a:xfrm>
            <a:off x="8753627" y="1803196"/>
            <a:ext cx="427939" cy="4279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0" b="0">
                <a:solidFill>
                  <a:srgbClr val="9CA3AF"/>
                </a:solidFill>
                <a:latin typeface="X5 Sans Medium"/>
              </a:rPr>
              <a:t>12</a:t>
            </a:r>
          </a:p>
        </p:txBody>
      </p:sp>
      <p:sp>
        <p:nvSpPr>
          <p:cNvPr id="1133" name="TextBox 1132"/>
          <p:cNvSpPr txBox="1"/>
          <p:nvPr/>
        </p:nvSpPr>
        <p:spPr>
          <a:xfrm>
            <a:off x="8608314" y="1280160"/>
            <a:ext cx="71856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90" b="0">
                <a:solidFill>
                  <a:srgbClr val="C9CED6"/>
                </a:solidFill>
                <a:latin typeface="X5 Sans"/>
              </a:rPr>
              <a:t>финал</a:t>
            </a:r>
          </a:p>
        </p:txBody>
      </p:sp>
      <p:sp>
        <p:nvSpPr>
          <p:cNvPr id="1134" name="TextBox 1133"/>
          <p:cNvSpPr txBox="1"/>
          <p:nvPr/>
        </p:nvSpPr>
        <p:spPr>
          <a:xfrm>
            <a:off x="8626602" y="2373782"/>
            <a:ext cx="68198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90" b="0">
                <a:solidFill>
                  <a:srgbClr val="B6BCC6"/>
                </a:solidFill>
                <a:latin typeface="X5 Sans Medium"/>
              </a:rPr>
              <a:t>снова слайд 1</a:t>
            </a:r>
          </a:p>
        </p:txBody>
      </p:sp>
      <p:sp>
        <p:nvSpPr>
          <p:cNvPr id="1035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109728" y="5120640"/>
            <a:ext cx="9217152" cy="91440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5" name="TextBox 1134"/>
          <p:cNvSpPr txBox="1"/>
          <p:nvPr/>
        </p:nvSpPr>
        <p:spPr>
          <a:xfrm>
            <a:off x="246888" y="5202936"/>
            <a:ext cx="894283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1E5B28"/>
                </a:solidFill>
                <a:latin typeface="X5 Sans"/>
              </a:rPr>
              <a:t>с этого шага строки A и B на карте больше не совпадают: 1 форма против 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Формы сборку не удорожают — платит чтение</a:t>
            </a:r>
          </a:p>
        </p:txBody>
      </p:sp>
      <p:sp>
        <p:nvSpPr>
          <p:cNvPr id="1036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312767" y="1097280"/>
            <a:ext cx="356616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7" name="TextBox 1036"/>
          <p:cNvSpPr txBox="1"/>
          <p:nvPr/>
        </p:nvSpPr>
        <p:spPr>
          <a:xfrm>
            <a:off x="4312767" y="1097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3 из 12 · 5 мин</a:t>
            </a:r>
          </a:p>
        </p:txBody>
      </p:sp>
      <p:sp>
        <p:nvSpPr>
          <p:cNvPr id="1037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8" name="TextBox 1037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Восемь описаний вместо одного — это и есть цена? Собирать восемью способами дороже?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Сборка ×0.93–1.02, чтение ×5.1–5.4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3.1</a:t>
            </a:r>
          </a:p>
        </p:txBody>
      </p:sp>
      <p:sp>
        <p:nvSpPr>
          <p:cNvPr id="103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9" name="TextBox 1038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40" name="TextBox 1039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41" name="TextBox 1040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42" name="Rounded Rectangle 1041"/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3" name="TextBox 1042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44" name="TextBox 1043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45" name="TextBox 1044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6" name="Rounded Rectangle 1045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7" name="TextBox 1046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48" name="TextBox 1047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49" name="TextBox 1048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0" name="Rounded Rectangle 1049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1" name="TextBox 1050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53" name="TextBox 1052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4" name="Rounded Rectangle 1053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5" name="TextBox 1054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56" name="TextBox 105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57" name="TextBox 1056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8" name="TextBox 1057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59" name="Connector 1058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0" name="Oval 1059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1" name="Oval 1060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Oval 1061"/>
          <p:cNvSpPr/>
          <p:nvPr/>
        </p:nvSpPr>
        <p:spPr>
          <a:xfrm>
            <a:off x="9970285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3" name="Oval 1062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4" name="Oval 1063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5" name="Oval 1064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6" name="Oval 1065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7" name="Oval 1066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8" name="Oval 1067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9" name="Oval 1068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0" name="Oval 1069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1" name="Oval 1070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2" name="TextBox 1071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3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место чтения</a:t>
            </a:r>
          </a:p>
        </p:txBody>
      </p:sp>
      <p:graphicFrame>
        <p:nvGraphicFramePr>
          <p:cNvPr id="1073" name="Chart 1072"/>
          <p:cNvGraphicFramePr>
            <a:graphicFrameLocks noGrp="1"/>
          </p:cNvGraphicFramePr>
          <p:nvPr/>
        </p:nvGraphicFramePr>
        <p:xfrm>
          <a:off x="109728" y="1188720"/>
          <a:ext cx="512064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74" name="TextBox 1073"/>
          <p:cNvSpPr txBox="1"/>
          <p:nvPr/>
        </p:nvSpPr>
        <p:spPr>
          <a:xfrm>
            <a:off x="109728" y="49834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B относительно A (A = ×1) · стадии пайплайна, 150 ячеек</a:t>
            </a:r>
          </a:p>
        </p:txBody>
      </p:sp>
      <p:sp>
        <p:nvSpPr>
          <p:cNvPr id="104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5458968" y="1188720"/>
            <a:ext cx="3867912" cy="17373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TextBox 1074"/>
          <p:cNvSpPr txBox="1"/>
          <p:nvPr/>
        </p:nvSpPr>
        <p:spPr>
          <a:xfrm>
            <a:off x="5687568" y="1325880"/>
            <a:ext cx="3410712" cy="14630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"/>
              </a:rPr>
              <a:t>сборка: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×0.93–1.02</a:t>
            </a:r>
          </a:p>
          <a:p>
            <a:pPr algn="l"/>
            <a:r>
              <a:rPr sz="1500" b="0">
                <a:solidFill>
                  <a:srgbClr val="1E5B28"/>
                </a:solidFill>
                <a:latin typeface="X5 Sans"/>
              </a:rPr>
              <a:t>восемь форм сами по себе сборку не удорожают</a:t>
            </a:r>
          </a:p>
        </p:txBody>
      </p:sp>
      <p:sp>
        <p:nvSpPr>
          <p:cNvPr id="1041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458968" y="3063240"/>
            <a:ext cx="3867912" cy="12344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76" name="TextBox 1075"/>
          <p:cNvSpPr txBox="1"/>
          <p:nvPr/>
        </p:nvSpPr>
        <p:spPr>
          <a:xfrm>
            <a:off x="5687568" y="3200400"/>
            <a:ext cx="3410712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1E5B28"/>
                </a:solidFill>
                <a:latin typeface="X5 Sans"/>
              </a:rPr>
              <a:t>спред с первого слайда: </a:t>
            </a:r>
            <a:r>
              <a:rPr sz="1300" b="0">
                <a:solidFill>
                  <a:srgbClr val="1E5B28"/>
                </a:solidFill>
                <a:latin typeface="X5 Sans Medium"/>
              </a:rPr>
              <a:t>×1.5–1.7</a:t>
            </a:r>
          </a:p>
          <a:p>
            <a:pPr algn="l"/>
            <a:r>
              <a:rPr sz="1300" b="0">
                <a:solidFill>
                  <a:srgbClr val="1E5B28"/>
                </a:solidFill>
                <a:latin typeface="X5 Sans"/>
              </a:rPr>
              <a:t>это цена спреда, не форм</a:t>
            </a:r>
          </a:p>
        </p:txBody>
      </p:sp>
      <p:sp>
        <p:nvSpPr>
          <p:cNvPr id="1042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5458968" y="4434840"/>
            <a:ext cx="3867912" cy="1874519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77" name="TextBox 1076"/>
          <p:cNvSpPr txBox="1"/>
          <p:nvPr/>
        </p:nvSpPr>
        <p:spPr>
          <a:xfrm>
            <a:off x="5687568" y="4572000"/>
            <a:ext cx="3410712" cy="16001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8A1538"/>
                </a:solidFill>
                <a:latin typeface="X5 Sans"/>
              </a:rPr>
              <a:t>чтение: </a:t>
            </a:r>
            <a:r>
              <a:rPr sz="1500" b="0">
                <a:solidFill>
                  <a:srgbClr val="8A1538"/>
                </a:solidFill>
                <a:latin typeface="X5 Sans Medium"/>
              </a:rPr>
              <a:t>×5.1–5.4</a:t>
            </a:r>
          </a:p>
          <a:p>
            <a:pPr algn="l"/>
            <a:r>
              <a:rPr sz="1500" b="0">
                <a:solidFill>
                  <a:srgbClr val="8A1538"/>
                </a:solidFill>
                <a:latin typeface="X5 Sans"/>
              </a:rPr>
              <a:t>у обеих записей · чтений много, сборка одна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Термин: место чтения запоминает формы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3.2</a:t>
            </a:r>
          </a:p>
        </p:txBody>
      </p:sp>
      <p:sp>
        <p:nvSpPr>
          <p:cNvPr id="104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4" name="TextBox 1043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45" name="TextBox 104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46" name="TextBox 1045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4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7" name="TextBox 1046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48" name="TextBox 1047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49" name="TextBox 1048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50" name="Rounded Rectangle 1049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1" name="TextBox 1050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53" name="TextBox 1052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4" name="Rounded Rectangle 1053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5" name="TextBox 1054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56" name="TextBox 1055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57" name="TextBox 1056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8" name="Rounded Rectangle 1057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9" name="TextBox 1058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60" name="TextBox 1059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61" name="TextBox 1060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2" name="TextBox 1061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63" name="Connector 1062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4" name="Oval 1063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5" name="Oval 1064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6" name="Oval 1065"/>
          <p:cNvSpPr/>
          <p:nvPr/>
        </p:nvSpPr>
        <p:spPr>
          <a:xfrm>
            <a:off x="9970285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7" name="Oval 1066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8" name="Oval 1067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9" name="Oval 1068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0" name="Oval 1069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1" name="Oval 1070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2" name="Oval 1071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3" name="Oval 1072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4" name="Oval 1073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5" name="Oval 1074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6" name="TextBox 1075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3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место чтения</a:t>
            </a:r>
          </a:p>
        </p:txBody>
      </p:sp>
      <p:sp>
        <p:nvSpPr>
          <p:cNvPr id="1046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109728" y="1188720"/>
            <a:ext cx="2950464" cy="356616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7" name="TextBox 1076"/>
          <p:cNvSpPr txBox="1"/>
          <p:nvPr/>
        </p:nvSpPr>
        <p:spPr>
          <a:xfrm>
            <a:off x="292608" y="1298448"/>
            <a:ext cx="25847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E5B28"/>
                </a:solidFill>
                <a:latin typeface="X5 Sans Medium"/>
              </a:rPr>
              <a:t>MONO</a:t>
            </a:r>
          </a:p>
        </p:txBody>
      </p:sp>
      <p:sp>
        <p:nvSpPr>
          <p:cNvPr id="1078" name="TextBox 1077"/>
          <p:cNvSpPr txBox="1"/>
          <p:nvPr/>
        </p:nvSpPr>
        <p:spPr>
          <a:xfrm>
            <a:off x="292608" y="1371600"/>
            <a:ext cx="25847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1079" name="Rounded Rectangle 1078"/>
          <p:cNvSpPr/>
          <p:nvPr/>
        </p:nvSpPr>
        <p:spPr>
          <a:xfrm>
            <a:off x="310896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0" name="TextBox 1079"/>
          <p:cNvSpPr txBox="1"/>
          <p:nvPr/>
        </p:nvSpPr>
        <p:spPr>
          <a:xfrm>
            <a:off x="310896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E5B28"/>
                </a:solidFill>
                <a:latin typeface="X5 Sans"/>
              </a:rPr>
              <a:t>1</a:t>
            </a:r>
          </a:p>
        </p:txBody>
      </p:sp>
      <p:cxnSp>
        <p:nvCxnSpPr>
          <p:cNvPr id="1081" name="Connector 1080"/>
          <p:cNvCxnSpPr/>
          <p:nvPr/>
        </p:nvCxnSpPr>
        <p:spPr>
          <a:xfrm>
            <a:off x="429768" y="2066543"/>
            <a:ext cx="0" cy="23774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2" name="Rounded Rectangle 1081"/>
          <p:cNvSpPr/>
          <p:nvPr/>
        </p:nvSpPr>
        <p:spPr>
          <a:xfrm>
            <a:off x="310896" y="2304288"/>
            <a:ext cx="118872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3" name="TextBox 1082"/>
          <p:cNvSpPr txBox="1"/>
          <p:nvPr/>
        </p:nvSpPr>
        <p:spPr>
          <a:xfrm>
            <a:off x="365759" y="2304288"/>
            <a:ext cx="10789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32" b="0">
                <a:solidFill>
                  <a:srgbClr val="1E5B28"/>
                </a:solidFill>
                <a:latin typeface="Menlo"/>
              </a:rPr>
              <a:t>u.plan</a:t>
            </a:r>
          </a:p>
        </p:txBody>
      </p:sp>
      <p:sp>
        <p:nvSpPr>
          <p:cNvPr id="1084" name="TextBox 1083"/>
          <p:cNvSpPr txBox="1"/>
          <p:nvPr/>
        </p:nvSpPr>
        <p:spPr>
          <a:xfrm>
            <a:off x="310896" y="2834640"/>
            <a:ext cx="254812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"/>
              </a:rPr>
              <a:t>быстрый путь: одна проверка, одно чтение</a:t>
            </a:r>
          </a:p>
        </p:txBody>
      </p:sp>
      <p:sp>
        <p:nvSpPr>
          <p:cNvPr id="1085" name="TextBox 1084"/>
          <p:cNvSpPr txBox="1"/>
          <p:nvPr/>
        </p:nvSpPr>
        <p:spPr>
          <a:xfrm>
            <a:off x="310896" y="4297680"/>
            <a:ext cx="25481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E5B28"/>
                </a:solidFill>
                <a:latin typeface="X5 Sans Medium"/>
              </a:rPr>
              <a:t>читатель объектов A</a:t>
            </a:r>
          </a:p>
        </p:txBody>
      </p:sp>
      <p:sp>
        <p:nvSpPr>
          <p:cNvPr id="1047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243072" y="1188720"/>
            <a:ext cx="2950464" cy="356616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6" name="TextBox 1085"/>
          <p:cNvSpPr txBox="1"/>
          <p:nvPr/>
        </p:nvSpPr>
        <p:spPr>
          <a:xfrm>
            <a:off x="3425952" y="1298448"/>
            <a:ext cx="25847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E5B28"/>
                </a:solidFill>
                <a:latin typeface="X5 Sans Medium"/>
              </a:rPr>
              <a:t>POLY</a:t>
            </a:r>
          </a:p>
        </p:txBody>
      </p:sp>
      <p:sp>
        <p:nvSpPr>
          <p:cNvPr id="1087" name="TextBox 1086"/>
          <p:cNvSpPr txBox="1"/>
          <p:nvPr/>
        </p:nvSpPr>
        <p:spPr>
          <a:xfrm>
            <a:off x="3425952" y="1371600"/>
            <a:ext cx="25847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1E5B28"/>
                </a:solidFill>
                <a:latin typeface="X5 Sans"/>
              </a:rPr>
              <a:t>2–4 формы</a:t>
            </a:r>
          </a:p>
        </p:txBody>
      </p:sp>
      <p:sp>
        <p:nvSpPr>
          <p:cNvPr id="1088" name="Rounded Rectangle 1087"/>
          <p:cNvSpPr/>
          <p:nvPr/>
        </p:nvSpPr>
        <p:spPr>
          <a:xfrm>
            <a:off x="3444240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9" name="TextBox 1088"/>
          <p:cNvSpPr txBox="1"/>
          <p:nvPr/>
        </p:nvSpPr>
        <p:spPr>
          <a:xfrm>
            <a:off x="3444240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E5B28"/>
                </a:solidFill>
                <a:latin typeface="X5 Sans"/>
              </a:rPr>
              <a:t>1</a:t>
            </a:r>
          </a:p>
        </p:txBody>
      </p:sp>
      <p:sp>
        <p:nvSpPr>
          <p:cNvPr id="1090" name="Rounded Rectangle 1089"/>
          <p:cNvSpPr/>
          <p:nvPr/>
        </p:nvSpPr>
        <p:spPr>
          <a:xfrm>
            <a:off x="3718560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1" name="TextBox 1090"/>
          <p:cNvSpPr txBox="1"/>
          <p:nvPr/>
        </p:nvSpPr>
        <p:spPr>
          <a:xfrm>
            <a:off x="3718560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E5B28"/>
                </a:solidFill>
                <a:latin typeface="X5 Sans"/>
              </a:rPr>
              <a:t>2</a:t>
            </a:r>
          </a:p>
        </p:txBody>
      </p:sp>
      <p:sp>
        <p:nvSpPr>
          <p:cNvPr id="1092" name="Rounded Rectangle 1091"/>
          <p:cNvSpPr/>
          <p:nvPr/>
        </p:nvSpPr>
        <p:spPr>
          <a:xfrm>
            <a:off x="3992880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3" name="TextBox 1092"/>
          <p:cNvSpPr txBox="1"/>
          <p:nvPr/>
        </p:nvSpPr>
        <p:spPr>
          <a:xfrm>
            <a:off x="3992880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E5B28"/>
                </a:solidFill>
                <a:latin typeface="X5 Sans"/>
              </a:rPr>
              <a:t>3</a:t>
            </a:r>
          </a:p>
        </p:txBody>
      </p:sp>
      <p:cxnSp>
        <p:nvCxnSpPr>
          <p:cNvPr id="1094" name="Connector 1093"/>
          <p:cNvCxnSpPr/>
          <p:nvPr/>
        </p:nvCxnSpPr>
        <p:spPr>
          <a:xfrm>
            <a:off x="3563112" y="2066543"/>
            <a:ext cx="0" cy="23774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5" name="Rounded Rectangle 1094"/>
          <p:cNvSpPr/>
          <p:nvPr/>
        </p:nvSpPr>
        <p:spPr>
          <a:xfrm>
            <a:off x="3444240" y="2304288"/>
            <a:ext cx="118872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6" name="TextBox 1095"/>
          <p:cNvSpPr txBox="1"/>
          <p:nvPr/>
        </p:nvSpPr>
        <p:spPr>
          <a:xfrm>
            <a:off x="3499104" y="2304288"/>
            <a:ext cx="10789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32" b="0">
                <a:solidFill>
                  <a:srgbClr val="1E5B28"/>
                </a:solidFill>
                <a:latin typeface="Menlo"/>
              </a:rPr>
              <a:t>u.plan</a:t>
            </a:r>
          </a:p>
        </p:txBody>
      </p:sp>
      <p:sp>
        <p:nvSpPr>
          <p:cNvPr id="1097" name="TextBox 1096"/>
          <p:cNvSpPr txBox="1"/>
          <p:nvPr/>
        </p:nvSpPr>
        <p:spPr>
          <a:xfrm>
            <a:off x="3444240" y="2834640"/>
            <a:ext cx="254812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"/>
              </a:rPr>
              <a:t>перебор короткого списка форм</a:t>
            </a:r>
          </a:p>
        </p:txBody>
      </p:sp>
      <p:sp>
        <p:nvSpPr>
          <p:cNvPr id="1048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6376416" y="1188720"/>
            <a:ext cx="2950464" cy="3566160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98" name="TextBox 1097"/>
          <p:cNvSpPr txBox="1"/>
          <p:nvPr/>
        </p:nvSpPr>
        <p:spPr>
          <a:xfrm>
            <a:off x="6559296" y="1298448"/>
            <a:ext cx="25847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99" name="TextBox 1098"/>
          <p:cNvSpPr txBox="1"/>
          <p:nvPr/>
        </p:nvSpPr>
        <p:spPr>
          <a:xfrm>
            <a:off x="6559296" y="1371600"/>
            <a:ext cx="25847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8A1538"/>
                </a:solidFill>
                <a:latin typeface="X5 Sans"/>
              </a:rPr>
              <a:t>5+ форм</a:t>
            </a:r>
          </a:p>
        </p:txBody>
      </p:sp>
      <p:sp>
        <p:nvSpPr>
          <p:cNvPr id="1100" name="Rounded Rectangle 1099"/>
          <p:cNvSpPr/>
          <p:nvPr/>
        </p:nvSpPr>
        <p:spPr>
          <a:xfrm>
            <a:off x="6577584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1" name="TextBox 1100"/>
          <p:cNvSpPr txBox="1"/>
          <p:nvPr/>
        </p:nvSpPr>
        <p:spPr>
          <a:xfrm>
            <a:off x="6577584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1</a:t>
            </a:r>
          </a:p>
        </p:txBody>
      </p:sp>
      <p:sp>
        <p:nvSpPr>
          <p:cNvPr id="1102" name="Rounded Rectangle 1101"/>
          <p:cNvSpPr/>
          <p:nvPr/>
        </p:nvSpPr>
        <p:spPr>
          <a:xfrm>
            <a:off x="6851904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3" name="TextBox 1102"/>
          <p:cNvSpPr txBox="1"/>
          <p:nvPr/>
        </p:nvSpPr>
        <p:spPr>
          <a:xfrm>
            <a:off x="6851904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2</a:t>
            </a:r>
          </a:p>
        </p:txBody>
      </p:sp>
      <p:sp>
        <p:nvSpPr>
          <p:cNvPr id="1104" name="Rounded Rectangle 1103"/>
          <p:cNvSpPr/>
          <p:nvPr/>
        </p:nvSpPr>
        <p:spPr>
          <a:xfrm>
            <a:off x="7126224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5" name="TextBox 1104"/>
          <p:cNvSpPr txBox="1"/>
          <p:nvPr/>
        </p:nvSpPr>
        <p:spPr>
          <a:xfrm>
            <a:off x="7126224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3</a:t>
            </a:r>
          </a:p>
        </p:txBody>
      </p:sp>
      <p:sp>
        <p:nvSpPr>
          <p:cNvPr id="1106" name="Rounded Rectangle 1105"/>
          <p:cNvSpPr/>
          <p:nvPr/>
        </p:nvSpPr>
        <p:spPr>
          <a:xfrm>
            <a:off x="7400544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7" name="TextBox 1106"/>
          <p:cNvSpPr txBox="1"/>
          <p:nvPr/>
        </p:nvSpPr>
        <p:spPr>
          <a:xfrm>
            <a:off x="7400544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4</a:t>
            </a:r>
          </a:p>
        </p:txBody>
      </p:sp>
      <p:sp>
        <p:nvSpPr>
          <p:cNvPr id="1108" name="Rounded Rectangle 1107"/>
          <p:cNvSpPr/>
          <p:nvPr/>
        </p:nvSpPr>
        <p:spPr>
          <a:xfrm>
            <a:off x="7674863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9" name="TextBox 1108"/>
          <p:cNvSpPr txBox="1"/>
          <p:nvPr/>
        </p:nvSpPr>
        <p:spPr>
          <a:xfrm>
            <a:off x="7674863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5</a:t>
            </a:r>
          </a:p>
        </p:txBody>
      </p:sp>
      <p:sp>
        <p:nvSpPr>
          <p:cNvPr id="1110" name="Rounded Rectangle 1109"/>
          <p:cNvSpPr/>
          <p:nvPr/>
        </p:nvSpPr>
        <p:spPr>
          <a:xfrm>
            <a:off x="7949184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1" name="TextBox 1110"/>
          <p:cNvSpPr txBox="1"/>
          <p:nvPr/>
        </p:nvSpPr>
        <p:spPr>
          <a:xfrm>
            <a:off x="7949184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6</a:t>
            </a:r>
          </a:p>
        </p:txBody>
      </p:sp>
      <p:sp>
        <p:nvSpPr>
          <p:cNvPr id="1112" name="Rounded Rectangle 1111"/>
          <p:cNvSpPr/>
          <p:nvPr/>
        </p:nvSpPr>
        <p:spPr>
          <a:xfrm>
            <a:off x="8223503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3" name="TextBox 1112"/>
          <p:cNvSpPr txBox="1"/>
          <p:nvPr/>
        </p:nvSpPr>
        <p:spPr>
          <a:xfrm>
            <a:off x="8223503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7</a:t>
            </a:r>
          </a:p>
        </p:txBody>
      </p:sp>
      <p:sp>
        <p:nvSpPr>
          <p:cNvPr id="1114" name="Rounded Rectangle 1113"/>
          <p:cNvSpPr/>
          <p:nvPr/>
        </p:nvSpPr>
        <p:spPr>
          <a:xfrm>
            <a:off x="8497824" y="1828800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5" name="TextBox 1114"/>
          <p:cNvSpPr txBox="1"/>
          <p:nvPr/>
        </p:nvSpPr>
        <p:spPr>
          <a:xfrm>
            <a:off x="8497824" y="1828800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8</a:t>
            </a:r>
          </a:p>
        </p:txBody>
      </p:sp>
      <p:cxnSp>
        <p:nvCxnSpPr>
          <p:cNvPr id="1116" name="Connector 1115"/>
          <p:cNvCxnSpPr/>
          <p:nvPr/>
        </p:nvCxnSpPr>
        <p:spPr>
          <a:xfrm>
            <a:off x="6696456" y="2066543"/>
            <a:ext cx="0" cy="237745"/>
          </a:xfrm>
          <a:prstGeom prst="line">
            <a:avLst/>
          </a:prstGeom>
          <a:ln w="15875">
            <a:solidFill>
              <a:srgbClr val="8A15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7" name="Rounded Rectangle 1116"/>
          <p:cNvSpPr/>
          <p:nvPr/>
        </p:nvSpPr>
        <p:spPr>
          <a:xfrm>
            <a:off x="6577584" y="2304288"/>
            <a:ext cx="118872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8" name="TextBox 1117"/>
          <p:cNvSpPr txBox="1"/>
          <p:nvPr/>
        </p:nvSpPr>
        <p:spPr>
          <a:xfrm>
            <a:off x="6632448" y="2304288"/>
            <a:ext cx="10789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32" b="0">
                <a:solidFill>
                  <a:srgbClr val="8A1538"/>
                </a:solidFill>
                <a:latin typeface="Menlo"/>
              </a:rPr>
              <a:t>u.plan</a:t>
            </a:r>
          </a:p>
        </p:txBody>
      </p:sp>
      <p:sp>
        <p:nvSpPr>
          <p:cNvPr id="1119" name="TextBox 1118"/>
          <p:cNvSpPr txBox="1"/>
          <p:nvPr/>
        </p:nvSpPr>
        <p:spPr>
          <a:xfrm>
            <a:off x="6577584" y="2834640"/>
            <a:ext cx="254812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8A1538"/>
                </a:solidFill>
                <a:latin typeface="X5 Sans"/>
              </a:rPr>
              <a:t>общий словарь: поиск по имени поля и форме</a:t>
            </a:r>
          </a:p>
        </p:txBody>
      </p:sp>
      <p:sp>
        <p:nvSpPr>
          <p:cNvPr id="1120" name="TextBox 1119"/>
          <p:cNvSpPr txBox="1"/>
          <p:nvPr/>
        </p:nvSpPr>
        <p:spPr>
          <a:xfrm>
            <a:off x="6577584" y="4297680"/>
            <a:ext cx="25481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8A1538"/>
                </a:solidFill>
                <a:latin typeface="X5 Sans Medium"/>
              </a:rPr>
              <a:t>читатель объектов B</a:t>
            </a:r>
          </a:p>
        </p:txBody>
      </p:sp>
      <p:sp>
        <p:nvSpPr>
          <p:cNvPr id="1049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109728" y="4937760"/>
            <a:ext cx="9217152" cy="137160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TextBox 1120"/>
          <p:cNvSpPr txBox="1"/>
          <p:nvPr/>
        </p:nvSpPr>
        <p:spPr>
          <a:xfrm>
            <a:off x="384048" y="4937760"/>
            <a:ext cx="493776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X5 Sans"/>
              </a:rPr>
              <a:t>место чтения запоминает формы</a:t>
            </a:r>
          </a:p>
          <a:p>
            <a:pPr algn="l">
              <a:spcAft>
                <a:spcPts val="300"/>
              </a:spcAft>
            </a:pPr>
            <a:r>
              <a:rPr sz="1232" b="0">
                <a:solidFill>
                  <a:srgbClr val="FFFFFF"/>
                </a:solidFill>
                <a:latin typeface="Menlo"/>
              </a:rPr>
              <a:t>inline cache</a:t>
            </a:r>
            <a:r>
              <a:rPr sz="1400" b="0">
                <a:solidFill>
                  <a:srgbClr val="FFFFFF"/>
                </a:solidFill>
                <a:latin typeface="X5 Sans"/>
              </a:rPr>
              <a:t> · память у места кода, не у объекта</a:t>
            </a:r>
          </a:p>
        </p:txBody>
      </p:sp>
      <p:sp>
        <p:nvSpPr>
          <p:cNvPr id="1122" name="TextBox 1121"/>
          <p:cNvSpPr txBox="1"/>
          <p:nvPr/>
        </p:nvSpPr>
        <p:spPr>
          <a:xfrm>
            <a:off x="5230368" y="4937760"/>
            <a:ext cx="3913632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0">
                <a:solidFill>
                  <a:srgbClr val="E0FBCC"/>
                </a:solidFill>
                <a:latin typeface="X5 Sans Medium"/>
              </a:rPr>
              <a:t>MEGA vs MONO ×2.7–3.4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Журнал --log-ic: 1 → P → 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3.3</a:t>
            </a:r>
          </a:p>
        </p:txBody>
      </p:sp>
      <p:sp>
        <p:nvSpPr>
          <p:cNvPr id="105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TextBox 1050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53" name="TextBox 1052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5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TextBox 1053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55" name="TextBox 1054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56" name="TextBox 1055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57" name="Rounded Rectangle 1056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8" name="TextBox 1057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59" name="TextBox 1058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60" name="TextBox 1059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61" name="Rounded Rectangle 1060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TextBox 106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63" name="TextBox 106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64" name="TextBox 1063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65" name="Rounded Rectangle 1064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6" name="TextBox 106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67" name="TextBox 1066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68" name="TextBox 1067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TextBox 1068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70" name="Connector 1069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1" name="Oval 1070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2" name="Oval 1071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3" name="Oval 1072"/>
          <p:cNvSpPr/>
          <p:nvPr/>
        </p:nvSpPr>
        <p:spPr>
          <a:xfrm>
            <a:off x="9970285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4" name="Oval 1073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5" name="Oval 1074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6" name="Oval 1075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7" name="Oval 1076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8" name="Oval 1077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9" name="Oval 1078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0" name="Oval 1079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1" name="Oval 1080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2" name="Oval 1081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3" name="TextBox 1082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3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место чтения</a:t>
            </a:r>
          </a:p>
        </p:txBody>
      </p:sp>
      <p:sp>
        <p:nvSpPr>
          <p:cNvPr id="1084" name="Rounded Rectangle 1083"/>
          <p:cNvSpPr/>
          <p:nvPr/>
        </p:nvSpPr>
        <p:spPr>
          <a:xfrm>
            <a:off x="109728" y="1188720"/>
            <a:ext cx="6309360" cy="3657600"/>
          </a:xfrm>
          <a:prstGeom prst="roundRect">
            <a:avLst>
              <a:gd name="adj" fmla="val 4000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5" name="Oval 1084"/>
          <p:cNvSpPr/>
          <p:nvPr/>
        </p:nvSpPr>
        <p:spPr>
          <a:xfrm>
            <a:off x="292608" y="133502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6" name="Oval 1085"/>
          <p:cNvSpPr/>
          <p:nvPr/>
        </p:nvSpPr>
        <p:spPr>
          <a:xfrm>
            <a:off x="475488" y="133502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7" name="Oval 1086"/>
          <p:cNvSpPr/>
          <p:nvPr/>
        </p:nvSpPr>
        <p:spPr>
          <a:xfrm>
            <a:off x="658368" y="133502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8" name="TextBox 1087"/>
          <p:cNvSpPr txBox="1"/>
          <p:nvPr/>
        </p:nvSpPr>
        <p:spPr>
          <a:xfrm>
            <a:off x="1024128" y="1280160"/>
            <a:ext cx="5212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скрин R4</a:t>
            </a:r>
          </a:p>
        </p:txBody>
      </p:sp>
      <p:sp>
        <p:nvSpPr>
          <p:cNvPr id="1089" name="TextBox 1088"/>
          <p:cNvSpPr txBox="1"/>
          <p:nvPr/>
        </p:nvSpPr>
        <p:spPr>
          <a:xfrm>
            <a:off x="338328" y="1572768"/>
            <a:ext cx="5852160" cy="3154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AADC00"/>
                </a:solidFill>
                <a:latin typeface="Menlo"/>
              </a:rPr>
              <a:t>$ node --log-ic --logfile=ic.log shape-analyzer.js ref-b.js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AADC00"/>
                </a:solidFill>
                <a:latin typeface="Menlo"/>
              </a:rPr>
              <a:t>$ grep ^LoadIC ic.log | grep ,plan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8FB09A"/>
                </a:solidFill>
                <a:latin typeface="Menlo"/>
              </a:rPr>
              <a:t># тип, строка, колонка, было, стало, форма, поле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LoadIC,30,9</a:t>
            </a:r>
            <a:r>
              <a:rPr sz="1200" b="1">
                <a:solidFill>
                  <a:srgbClr val="FF9DB8"/>
                </a:solidFill>
                <a:latin typeface="Menlo"/>
              </a:rPr>
              <a:t>,0,1,</a:t>
            </a:r>
            <a:r>
              <a:rPr sz="1200" b="0">
                <a:solidFill>
                  <a:srgbClr val="E6F2E9"/>
                </a:solidFill>
                <a:latin typeface="Menlo"/>
              </a:rPr>
              <a:t>0x001d2aad5841,plan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LoadIC,30,9</a:t>
            </a:r>
            <a:r>
              <a:rPr sz="1200" b="1">
                <a:solidFill>
                  <a:srgbClr val="FF9DB8"/>
                </a:solidFill>
                <a:latin typeface="Menlo"/>
              </a:rPr>
              <a:t>,1,P,</a:t>
            </a:r>
            <a:r>
              <a:rPr sz="1200" b="0">
                <a:solidFill>
                  <a:srgbClr val="E6F2E9"/>
                </a:solidFill>
                <a:latin typeface="Menlo"/>
              </a:rPr>
              <a:t>0x001d2aad5379,plan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LoadIC,30,9</a:t>
            </a:r>
            <a:r>
              <a:rPr sz="1200" b="1">
                <a:solidFill>
                  <a:srgbClr val="FF9DB8"/>
                </a:solidFill>
                <a:latin typeface="Menlo"/>
              </a:rPr>
              <a:t>,P,P,</a:t>
            </a:r>
            <a:r>
              <a:rPr sz="1200" b="0">
                <a:solidFill>
                  <a:srgbClr val="E6F2E9"/>
                </a:solidFill>
                <a:latin typeface="Menlo"/>
              </a:rPr>
              <a:t>0x001d2aad5709,plan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LoadIC,30,9</a:t>
            </a:r>
            <a:r>
              <a:rPr sz="1200" b="1">
                <a:solidFill>
                  <a:srgbClr val="FF9DB8"/>
                </a:solidFill>
                <a:latin typeface="Menlo"/>
              </a:rPr>
              <a:t>,P,P,</a:t>
            </a:r>
            <a:r>
              <a:rPr sz="1200" b="0">
                <a:solidFill>
                  <a:srgbClr val="E6F2E9"/>
                </a:solidFill>
                <a:latin typeface="Menlo"/>
              </a:rPr>
              <a:t>0x001d2aad54a1,plan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LoadIC,30,9</a:t>
            </a:r>
            <a:r>
              <a:rPr sz="1200" b="1">
                <a:solidFill>
                  <a:srgbClr val="FF9DB8"/>
                </a:solidFill>
                <a:latin typeface="Menlo"/>
              </a:rPr>
              <a:t>,P,N,</a:t>
            </a:r>
            <a:r>
              <a:rPr sz="1200" b="0">
                <a:solidFill>
                  <a:srgbClr val="E6F2E9"/>
                </a:solidFill>
                <a:latin typeface="Menlo"/>
              </a:rPr>
              <a:t>0x001d2aad5fd9,plan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LoadIC,30,9</a:t>
            </a:r>
            <a:r>
              <a:rPr sz="1200" b="1">
                <a:solidFill>
                  <a:srgbClr val="FF9DB8"/>
                </a:solidFill>
                <a:latin typeface="Menlo"/>
              </a:rPr>
              <a:t>,N,N,</a:t>
            </a:r>
            <a:r>
              <a:rPr sz="1200" b="0">
                <a:solidFill>
                  <a:srgbClr val="E6F2E9"/>
                </a:solidFill>
                <a:latin typeface="Menlo"/>
              </a:rPr>
              <a:t>0x001d2aad6121,plan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8FB09A"/>
                </a:solidFill>
                <a:latin typeface="Menlo"/>
              </a:rPr>
              <a:t># ref-a.js — одна строка: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LoadIC,30,9</a:t>
            </a:r>
            <a:r>
              <a:rPr sz="1200" b="1">
                <a:solidFill>
                  <a:srgbClr val="FF9DB8"/>
                </a:solidFill>
                <a:latin typeface="Menlo"/>
              </a:rPr>
              <a:t>,0,1,</a:t>
            </a:r>
            <a:r>
              <a:rPr sz="1200" b="0">
                <a:solidFill>
                  <a:srgbClr val="E6F2E9"/>
                </a:solidFill>
                <a:latin typeface="Menlo"/>
              </a:rPr>
              <a:t>0x001d8eed53f1,plan</a:t>
            </a:r>
          </a:p>
        </p:txBody>
      </p:sp>
      <p:sp>
        <p:nvSpPr>
          <p:cNvPr id="1053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6858000" y="1188720"/>
            <a:ext cx="2468880" cy="365760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0" name="TextBox 1089"/>
          <p:cNvSpPr txBox="1"/>
          <p:nvPr/>
        </p:nvSpPr>
        <p:spPr>
          <a:xfrm>
            <a:off x="7132320" y="1353312"/>
            <a:ext cx="1920240" cy="33284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FFFFFF"/>
                </a:solidFill>
                <a:latin typeface="X5 Sans Medium"/>
              </a:rPr>
              <a:t>1 → P → N</a:t>
            </a:r>
          </a:p>
          <a:p>
            <a:pPr algn="ctr"/>
          </a:p>
          <a:p>
            <a:pPr algn="ctr"/>
            <a:r>
              <a:rPr sz="1700" b="0">
                <a:solidFill>
                  <a:srgbClr val="FFFFFF"/>
                </a:solidFill>
                <a:latin typeface="X5 Sans"/>
              </a:rPr>
              <a:t>N — на пятой форме</a:t>
            </a:r>
          </a:p>
          <a:p>
            <a:pPr algn="ctr"/>
            <a:r>
              <a:rPr sz="1700" b="0">
                <a:solidFill>
                  <a:srgbClr val="FFFFFF"/>
                </a:solidFill>
                <a:latin typeface="X5 Sans"/>
              </a:rPr>
              <a:t>в первые же вызовы</a:t>
            </a:r>
          </a:p>
          <a:p>
            <a:pPr algn="ctr"/>
          </a:p>
          <a:p>
            <a:pPr algn="ctr"/>
            <a:r>
              <a:rPr sz="1700" b="0">
                <a:solidFill>
                  <a:srgbClr val="FFFFFF"/>
                </a:solidFill>
                <a:latin typeface="X5 Sans"/>
              </a:rPr>
              <a:t>A: одна строка</a:t>
            </a:r>
          </a:p>
        </p:txBody>
      </p:sp>
      <p:sp>
        <p:nvSpPr>
          <p:cNvPr id="1054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109728" y="5029200"/>
            <a:ext cx="9217152" cy="128016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TextBox 1090"/>
          <p:cNvSpPr txBox="1"/>
          <p:nvPr/>
        </p:nvSpPr>
        <p:spPr>
          <a:xfrm>
            <a:off x="246888" y="5111496"/>
            <a:ext cx="8942832" cy="1115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шаг 3 на карте — место чтения: A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 b="0">
                <a:solidFill>
                  <a:srgbClr val="1E5B28"/>
                </a:solidFill>
                <a:latin typeface="X5 Sans"/>
              </a:rPr>
              <a:t> / B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MEGA</a:t>
            </a:r>
          </a:p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в шапке справа заполнилась вторая строка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t>Два вопроса</a:t>
            </a:r>
          </a:p>
        </p:txBody>
      </p:sp>
      <p:sp>
        <p:nvSpPr>
          <p:cNvPr id="1055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3533241" y="1097280"/>
            <a:ext cx="5125212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6" name="TextBox 1055"/>
          <p:cNvSpPr txBox="1"/>
          <p:nvPr/>
        </p:nvSpPr>
        <p:spPr>
          <a:xfrm>
            <a:off x="3533241" y="1097280"/>
            <a:ext cx="512521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Цена объяснена. Улика — ещё нет</a:t>
            </a:r>
          </a:p>
        </p:txBody>
      </p:sp>
      <p:sp>
        <p:nvSpPr>
          <p:cNvPr id="1056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TextBox 1056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1. Спасёт ли компилятор B?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2. Растёт ли цена с числом чтений?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Где мы · после узла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91768" y="2499360"/>
            <a:ext cx="10512552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429768" y="4023360"/>
            <a:ext cx="518160" cy="609600"/>
          </a:xfrm>
          <a:prstGeom prst="roundRect">
            <a:avLst>
              <a:gd name="adj" fmla="val 14117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29768" y="4023360"/>
            <a:ext cx="51816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4861560"/>
            <a:ext cx="518160" cy="609600"/>
          </a:xfrm>
          <a:prstGeom prst="roundRect">
            <a:avLst>
              <a:gd name="adj" fmla="val 14117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29768" y="4861560"/>
            <a:ext cx="51816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8" name="Oval 7"/>
          <p:cNvSpPr/>
          <p:nvPr/>
        </p:nvSpPr>
        <p:spPr>
          <a:xfrm>
            <a:off x="1357375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57375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768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0056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19200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237488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19200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237488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0056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7" name="Oval 16"/>
          <p:cNvSpPr/>
          <p:nvPr/>
        </p:nvSpPr>
        <p:spPr>
          <a:xfrm>
            <a:off x="2237232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237232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71623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вызов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9911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9055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117343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99055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117343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89911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26" name="Oval 25"/>
          <p:cNvSpPr/>
          <p:nvPr/>
        </p:nvSpPr>
        <p:spPr>
          <a:xfrm>
            <a:off x="2996387" y="2104339"/>
            <a:ext cx="790041" cy="790041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3117088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117088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51479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69767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978911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2997199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MONO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978911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2997199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MEGA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69767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--log-ic</a:t>
            </a:r>
          </a:p>
        </p:txBody>
      </p:sp>
      <p:sp>
        <p:nvSpPr>
          <p:cNvPr id="36" name="Diamond 35"/>
          <p:cNvSpPr/>
          <p:nvPr/>
        </p:nvSpPr>
        <p:spPr>
          <a:xfrm>
            <a:off x="3694175" y="2362200"/>
            <a:ext cx="274320" cy="274320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3996944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996944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31336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~700 → ~13 000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49624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ярусы</a:t>
            </a:r>
          </a:p>
        </p:txBody>
      </p:sp>
      <p:sp>
        <p:nvSpPr>
          <p:cNvPr id="41" name="Oval 40"/>
          <p:cNvSpPr/>
          <p:nvPr/>
        </p:nvSpPr>
        <p:spPr>
          <a:xfrm>
            <a:off x="4876800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4876800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11192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29479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ставка</a:t>
            </a:r>
          </a:p>
        </p:txBody>
      </p:sp>
      <p:sp>
        <p:nvSpPr>
          <p:cNvPr id="45" name="Diamond 44"/>
          <p:cNvSpPr/>
          <p:nvPr/>
        </p:nvSpPr>
        <p:spPr>
          <a:xfrm>
            <a:off x="5453887" y="2362200"/>
            <a:ext cx="274320" cy="274320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5756655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5756655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91047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прод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09335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сервис</a:t>
            </a:r>
          </a:p>
        </p:txBody>
      </p:sp>
      <p:sp>
        <p:nvSpPr>
          <p:cNvPr id="50" name="Oval 49"/>
          <p:cNvSpPr/>
          <p:nvPr/>
        </p:nvSpPr>
        <p:spPr>
          <a:xfrm>
            <a:off x="6636512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6636512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70904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89192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агент</a:t>
            </a:r>
          </a:p>
        </p:txBody>
      </p:sp>
      <p:sp>
        <p:nvSpPr>
          <p:cNvPr id="54" name="Oval 53"/>
          <p:cNvSpPr/>
          <p:nvPr/>
        </p:nvSpPr>
        <p:spPr>
          <a:xfrm>
            <a:off x="7516367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7516367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50759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69047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корпус</a:t>
            </a:r>
          </a:p>
        </p:txBody>
      </p:sp>
      <p:sp>
        <p:nvSpPr>
          <p:cNvPr id="58" name="Diamond 57"/>
          <p:cNvSpPr/>
          <p:nvPr/>
        </p:nvSpPr>
        <p:spPr>
          <a:xfrm>
            <a:off x="8093456" y="2362200"/>
            <a:ext cx="274320" cy="274320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Oval 58"/>
          <p:cNvSpPr/>
          <p:nvPr/>
        </p:nvSpPr>
        <p:spPr>
          <a:xfrm>
            <a:off x="8396223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8396223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30615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48903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правила</a:t>
            </a:r>
          </a:p>
        </p:txBody>
      </p:sp>
      <p:sp>
        <p:nvSpPr>
          <p:cNvPr id="63" name="Oval 62"/>
          <p:cNvSpPr/>
          <p:nvPr/>
        </p:nvSpPr>
        <p:spPr>
          <a:xfrm>
            <a:off x="9276079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9276079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10471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верхняя ступень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28759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лев</a:t>
            </a:r>
          </a:p>
        </p:txBody>
      </p:sp>
      <p:sp>
        <p:nvSpPr>
          <p:cNvPr id="67" name="Oval 66"/>
          <p:cNvSpPr/>
          <p:nvPr/>
        </p:nvSpPr>
        <p:spPr>
          <a:xfrm>
            <a:off x="10155935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10155935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11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90328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008615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71" name="Oval 70"/>
          <p:cNvSpPr/>
          <p:nvPr/>
        </p:nvSpPr>
        <p:spPr>
          <a:xfrm>
            <a:off x="11035791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11035791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12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870183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финал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888471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снова слайд 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Лестница по вызовам</a:t>
            </a:r>
          </a:p>
        </p:txBody>
      </p:sp>
      <p:sp>
        <p:nvSpPr>
          <p:cNvPr id="1057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312767" y="1097280"/>
            <a:ext cx="356616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8" name="TextBox 1057"/>
          <p:cNvSpPr txBox="1"/>
          <p:nvPr/>
        </p:nvSpPr>
        <p:spPr>
          <a:xfrm>
            <a:off x="4312767" y="1097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4 из 12 · 4 мин</a:t>
            </a:r>
          </a:p>
        </p:txBody>
      </p:sp>
      <p:sp>
        <p:nvSpPr>
          <p:cNvPr id="1058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9" name="TextBox 1058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Спасёт ли компилятор B от налога?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Спасёт ли компилятор B?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4.1</a:t>
            </a:r>
          </a:p>
        </p:txBody>
      </p:sp>
      <p:sp>
        <p:nvSpPr>
          <p:cNvPr id="105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TextBox 1059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61" name="TextBox 1060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62" name="TextBox 1061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6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3" name="TextBox 1062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64" name="TextBox 1063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65" name="TextBox 1064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66" name="Rounded Rectangle 1065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7" name="TextBox 1066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68" name="TextBox 1067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69" name="TextBox 1068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70" name="Rounded Rectangle 1069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1" name="TextBox 1070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72" name="TextBox 107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73" name="TextBox 1072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74" name="Rounded Rectangle 1073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5" name="TextBox 1074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76" name="TextBox 107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77" name="TextBox 1076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6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TextBox 1077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79" name="Connector 1078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0" name="Oval 1079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1" name="Oval 1080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2" name="Oval 1081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3" name="Oval 1082"/>
          <p:cNvSpPr/>
          <p:nvPr/>
        </p:nvSpPr>
        <p:spPr>
          <a:xfrm>
            <a:off x="10145683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4" name="Oval 1083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5" name="Oval 1084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6" name="Oval 1085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7" name="Oval 1086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8" name="Oval 1087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9" name="Oval 1088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0" name="Oval 1089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1" name="Oval 1090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2" name="TextBox 1091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4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ярусы</a:t>
            </a:r>
          </a:p>
        </p:txBody>
      </p:sp>
      <p:sp>
        <p:nvSpPr>
          <p:cNvPr id="1062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109728" y="1188720"/>
            <a:ext cx="2926080" cy="512064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3" name="TextBox 1092"/>
          <p:cNvSpPr txBox="1"/>
          <p:nvPr/>
        </p:nvSpPr>
        <p:spPr>
          <a:xfrm>
            <a:off x="109728" y="1188720"/>
            <a:ext cx="2926080" cy="5120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00" b="0">
                <a:solidFill>
                  <a:srgbClr val="FFFFFF"/>
                </a:solidFill>
                <a:latin typeface="X5 Sans Medium"/>
              </a:rPr>
              <a:t>Нет.</a:t>
            </a:r>
          </a:p>
        </p:txBody>
      </p:sp>
      <p:sp>
        <p:nvSpPr>
          <p:cNvPr id="106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474720" y="1188720"/>
            <a:ext cx="5852160" cy="160020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4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675887" y="1353312"/>
            <a:ext cx="507492" cy="347472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TextBox 1093"/>
          <p:cNvSpPr txBox="1"/>
          <p:nvPr/>
        </p:nvSpPr>
        <p:spPr>
          <a:xfrm>
            <a:off x="3675887" y="1353312"/>
            <a:ext cx="50749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1095" name="TextBox 1094"/>
          <p:cNvSpPr txBox="1"/>
          <p:nvPr/>
        </p:nvSpPr>
        <p:spPr>
          <a:xfrm>
            <a:off x="3794759" y="1755648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0">
                <a:solidFill>
                  <a:srgbClr val="1E5B28"/>
                </a:solidFill>
                <a:latin typeface="X5 Sans Medium"/>
              </a:rPr>
              <a:t>0.12 мс</a:t>
            </a:r>
          </a:p>
        </p:txBody>
      </p:sp>
      <p:sp>
        <p:nvSpPr>
          <p:cNvPr id="1065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3474720" y="2971800"/>
            <a:ext cx="5852160" cy="160020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66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3675887" y="3136392"/>
            <a:ext cx="507492" cy="347472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96" name="TextBox 1095"/>
          <p:cNvSpPr txBox="1"/>
          <p:nvPr/>
        </p:nvSpPr>
        <p:spPr>
          <a:xfrm>
            <a:off x="3675887" y="3136392"/>
            <a:ext cx="50749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1097" name="TextBox 1096"/>
          <p:cNvSpPr txBox="1"/>
          <p:nvPr/>
        </p:nvSpPr>
        <p:spPr>
          <a:xfrm>
            <a:off x="3794759" y="3538728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0">
                <a:solidFill>
                  <a:srgbClr val="1E5B28"/>
                </a:solidFill>
                <a:latin typeface="X5 Sans Medium"/>
              </a:rPr>
              <a:t>0.79 мс</a:t>
            </a:r>
          </a:p>
        </p:txBody>
      </p:sp>
      <p:sp>
        <p:nvSpPr>
          <p:cNvPr id="1067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474720" y="4754880"/>
            <a:ext cx="5852160" cy="77724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8" name="TextBox 1097"/>
          <p:cNvSpPr txBox="1"/>
          <p:nvPr/>
        </p:nvSpPr>
        <p:spPr>
          <a:xfrm>
            <a:off x="3611879" y="4837176"/>
            <a:ext cx="5577840" cy="6126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горячий цикл = давно скомпилированный код</a:t>
            </a:r>
          </a:p>
        </p:txBody>
      </p:sp>
      <p:sp>
        <p:nvSpPr>
          <p:cNvPr id="1099" name="TextBox 1098"/>
          <p:cNvSpPr txBox="1"/>
          <p:nvPr/>
        </p:nvSpPr>
        <p:spPr>
          <a:xfrm>
            <a:off x="3474720" y="5669280"/>
            <a:ext cx="58521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X5 Sans"/>
              </a:rPr>
              <a:t>читатель у обеих версий оптимизирован TurboFan — проверено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Ярус: четыре способа исполнить одну функцию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4.2</a:t>
            </a:r>
          </a:p>
        </p:txBody>
      </p:sp>
      <p:sp>
        <p:nvSpPr>
          <p:cNvPr id="106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TextBox 1068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70" name="TextBox 1069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71" name="TextBox 1070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6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TextBox 1071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73" name="TextBox 1072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74" name="TextBox 1073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75" name="Rounded Rectangle 1074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6" name="TextBox 1075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77" name="TextBox 1076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78" name="TextBox 1077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79" name="Rounded Rectangle 1078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0" name="TextBox 1079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81" name="TextBox 1080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82" name="TextBox 1081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83" name="Rounded Rectangle 1082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4" name="TextBox 1083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85" name="TextBox 1084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86" name="TextBox 1085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7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7" name="TextBox 1086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88" name="Connector 1087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9" name="Oval 1088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0" name="Oval 1089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1" name="Oval 1090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2" name="Oval 1091"/>
          <p:cNvSpPr/>
          <p:nvPr/>
        </p:nvSpPr>
        <p:spPr>
          <a:xfrm>
            <a:off x="10145683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3" name="Oval 1092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4" name="Oval 1093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5" name="Oval 1094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6" name="Oval 1095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7" name="Oval 1096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8" name="Oval 1097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9" name="Oval 1098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0" name="Oval 1099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1" name="TextBox 1100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4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ярусы</a:t>
            </a:r>
          </a:p>
        </p:txBody>
      </p:sp>
      <p:cxnSp>
        <p:nvCxnSpPr>
          <p:cNvPr id="1102" name="Connector 1101"/>
          <p:cNvCxnSpPr/>
          <p:nvPr/>
        </p:nvCxnSpPr>
        <p:spPr>
          <a:xfrm>
            <a:off x="109728" y="4343400"/>
            <a:ext cx="9217152" cy="0"/>
          </a:xfrm>
          <a:prstGeom prst="line">
            <a:avLst/>
          </a:prstGeom>
          <a:ln w="2222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3" name="TextBox 1102"/>
          <p:cNvSpPr txBox="1"/>
          <p:nvPr/>
        </p:nvSpPr>
        <p:spPr>
          <a:xfrm>
            <a:off x="6949440" y="4709160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количество вызовов функции →</a:t>
            </a:r>
          </a:p>
        </p:txBody>
      </p:sp>
      <p:sp>
        <p:nvSpPr>
          <p:cNvPr id="1104" name="Rounded Rectangle 1103"/>
          <p:cNvSpPr/>
          <p:nvPr/>
        </p:nvSpPr>
        <p:spPr>
          <a:xfrm>
            <a:off x="201168" y="3610217"/>
            <a:ext cx="2203704" cy="733182"/>
          </a:xfrm>
          <a:prstGeom prst="roundRect">
            <a:avLst>
              <a:gd name="adj" fmla="val 9977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5" name="TextBox 1104"/>
          <p:cNvSpPr txBox="1"/>
          <p:nvPr/>
        </p:nvSpPr>
        <p:spPr>
          <a:xfrm>
            <a:off x="274320" y="3646793"/>
            <a:ext cx="2057400" cy="6600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Ignition</a:t>
            </a:r>
          </a:p>
          <a:p>
            <a:pPr algn="ctr">
              <a:spcAft>
                <a:spcPts val="1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интерпретатор</a:t>
            </a:r>
          </a:p>
        </p:txBody>
      </p:sp>
      <p:cxnSp>
        <p:nvCxnSpPr>
          <p:cNvPr id="1106" name="Connector 1105"/>
          <p:cNvCxnSpPr/>
          <p:nvPr/>
        </p:nvCxnSpPr>
        <p:spPr>
          <a:xfrm>
            <a:off x="201168" y="4343400"/>
            <a:ext cx="0" cy="9144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7" name="TextBox 1106"/>
          <p:cNvSpPr txBox="1"/>
          <p:nvPr/>
        </p:nvSpPr>
        <p:spPr>
          <a:xfrm>
            <a:off x="182880" y="4453128"/>
            <a:ext cx="2258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вызов 1</a:t>
            </a:r>
          </a:p>
        </p:txBody>
      </p:sp>
      <p:sp>
        <p:nvSpPr>
          <p:cNvPr id="1108" name="Rounded Rectangle 1107"/>
          <p:cNvSpPr/>
          <p:nvPr/>
        </p:nvSpPr>
        <p:spPr>
          <a:xfrm>
            <a:off x="2459736" y="3243626"/>
            <a:ext cx="2203704" cy="1099773"/>
          </a:xfrm>
          <a:prstGeom prst="roundRect">
            <a:avLst>
              <a:gd name="adj" fmla="val 6651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9" name="TextBox 1108"/>
          <p:cNvSpPr txBox="1"/>
          <p:nvPr/>
        </p:nvSpPr>
        <p:spPr>
          <a:xfrm>
            <a:off x="2532888" y="3280202"/>
            <a:ext cx="2057400" cy="1026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Sparkplug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быстрый компилятор</a:t>
            </a:r>
          </a:p>
        </p:txBody>
      </p:sp>
      <p:cxnSp>
        <p:nvCxnSpPr>
          <p:cNvPr id="1110" name="Connector 1109"/>
          <p:cNvCxnSpPr/>
          <p:nvPr/>
        </p:nvCxnSpPr>
        <p:spPr>
          <a:xfrm>
            <a:off x="2459736" y="4343400"/>
            <a:ext cx="0" cy="9144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1" name="TextBox 1110"/>
          <p:cNvSpPr txBox="1"/>
          <p:nvPr/>
        </p:nvSpPr>
        <p:spPr>
          <a:xfrm>
            <a:off x="2441448" y="4453128"/>
            <a:ext cx="2258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~700</a:t>
            </a:r>
          </a:p>
        </p:txBody>
      </p:sp>
      <p:sp>
        <p:nvSpPr>
          <p:cNvPr id="1112" name="Rounded Rectangle 1111"/>
          <p:cNvSpPr/>
          <p:nvPr/>
        </p:nvSpPr>
        <p:spPr>
          <a:xfrm>
            <a:off x="4718304" y="2673373"/>
            <a:ext cx="2203704" cy="1670026"/>
          </a:xfrm>
          <a:prstGeom prst="roundRect">
            <a:avLst>
              <a:gd name="adj" fmla="val 4380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3" name="TextBox 1112"/>
          <p:cNvSpPr txBox="1"/>
          <p:nvPr/>
        </p:nvSpPr>
        <p:spPr>
          <a:xfrm>
            <a:off x="4791456" y="2709949"/>
            <a:ext cx="2057400" cy="15968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Maglev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компилятор со ставкой</a:t>
            </a:r>
          </a:p>
        </p:txBody>
      </p:sp>
      <p:cxnSp>
        <p:nvCxnSpPr>
          <p:cNvPr id="1114" name="Connector 1113"/>
          <p:cNvCxnSpPr/>
          <p:nvPr/>
        </p:nvCxnSpPr>
        <p:spPr>
          <a:xfrm>
            <a:off x="4718304" y="4343400"/>
            <a:ext cx="0" cy="9144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5" name="TextBox 1114"/>
          <p:cNvSpPr txBox="1"/>
          <p:nvPr/>
        </p:nvSpPr>
        <p:spPr>
          <a:xfrm>
            <a:off x="4700016" y="4453128"/>
            <a:ext cx="2258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~1000</a:t>
            </a:r>
          </a:p>
        </p:txBody>
      </p:sp>
      <p:sp>
        <p:nvSpPr>
          <p:cNvPr id="1116" name="Rounded Rectangle 1115"/>
          <p:cNvSpPr/>
          <p:nvPr/>
        </p:nvSpPr>
        <p:spPr>
          <a:xfrm>
            <a:off x="6976872" y="2103120"/>
            <a:ext cx="2203704" cy="2240280"/>
          </a:xfrm>
          <a:prstGeom prst="roundRect">
            <a:avLst>
              <a:gd name="adj" fmla="val 3319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7" name="TextBox 1116"/>
          <p:cNvSpPr txBox="1"/>
          <p:nvPr/>
        </p:nvSpPr>
        <p:spPr>
          <a:xfrm>
            <a:off x="7050024" y="2139696"/>
            <a:ext cx="2057400" cy="2167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TurboFan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лучший компилятор</a:t>
            </a:r>
          </a:p>
        </p:txBody>
      </p:sp>
      <p:cxnSp>
        <p:nvCxnSpPr>
          <p:cNvPr id="1118" name="Connector 1117"/>
          <p:cNvCxnSpPr/>
          <p:nvPr/>
        </p:nvCxnSpPr>
        <p:spPr>
          <a:xfrm>
            <a:off x="6976872" y="4343400"/>
            <a:ext cx="0" cy="9144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9" name="TextBox 1118"/>
          <p:cNvSpPr txBox="1"/>
          <p:nvPr/>
        </p:nvSpPr>
        <p:spPr>
          <a:xfrm>
            <a:off x="6958584" y="4453128"/>
            <a:ext cx="2258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~13 000</a:t>
            </a:r>
          </a:p>
        </p:txBody>
      </p:sp>
      <p:cxnSp>
        <p:nvCxnSpPr>
          <p:cNvPr id="1120" name="Connector 1119"/>
          <p:cNvCxnSpPr/>
          <p:nvPr/>
        </p:nvCxnSpPr>
        <p:spPr>
          <a:xfrm>
            <a:off x="201168" y="1618488"/>
            <a:ext cx="4462272" cy="0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1" name="Connector 1120"/>
          <p:cNvCxnSpPr/>
          <p:nvPr/>
        </p:nvCxnSpPr>
        <p:spPr>
          <a:xfrm>
            <a:off x="201168" y="1618488"/>
            <a:ext cx="0" cy="91440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2" name="Connector 1121"/>
          <p:cNvCxnSpPr/>
          <p:nvPr/>
        </p:nvCxnSpPr>
        <p:spPr>
          <a:xfrm>
            <a:off x="4663440" y="1618488"/>
            <a:ext cx="0" cy="91440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3" name="TextBox 1122"/>
          <p:cNvSpPr txBox="1"/>
          <p:nvPr/>
        </p:nvSpPr>
        <p:spPr>
          <a:xfrm>
            <a:off x="201168" y="1188720"/>
            <a:ext cx="4462272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6B7280"/>
                </a:solidFill>
                <a:latin typeface="X5 Sans"/>
              </a:rPr>
              <a:t>читают записи мест чтения, ничего не предполагают</a:t>
            </a:r>
          </a:p>
        </p:txBody>
      </p:sp>
      <p:cxnSp>
        <p:nvCxnSpPr>
          <p:cNvPr id="1124" name="Connector 1123"/>
          <p:cNvCxnSpPr/>
          <p:nvPr/>
        </p:nvCxnSpPr>
        <p:spPr>
          <a:xfrm>
            <a:off x="4718304" y="1618488"/>
            <a:ext cx="4462272" cy="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5" name="Connector 1124"/>
          <p:cNvCxnSpPr/>
          <p:nvPr/>
        </p:nvCxnSpPr>
        <p:spPr>
          <a:xfrm>
            <a:off x="4718304" y="1618488"/>
            <a:ext cx="0" cy="9144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6" name="Connector 1125"/>
          <p:cNvCxnSpPr/>
          <p:nvPr/>
        </p:nvCxnSpPr>
        <p:spPr>
          <a:xfrm>
            <a:off x="9180576" y="1618488"/>
            <a:ext cx="0" cy="9144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7" name="TextBox 1126"/>
          <p:cNvSpPr txBox="1"/>
          <p:nvPr/>
        </p:nvSpPr>
        <p:spPr>
          <a:xfrm>
            <a:off x="4718304" y="1188720"/>
            <a:ext cx="4462272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E5B28"/>
                </a:solidFill>
                <a:latin typeface="X5 Sans"/>
              </a:rPr>
              <a:t>вшивают ставку «сюда приходит одна форма» — проверка одним сравнением</a:t>
            </a:r>
          </a:p>
        </p:txBody>
      </p:sp>
      <p:sp>
        <p:nvSpPr>
          <p:cNvPr id="1128" name="TextBox 1127"/>
          <p:cNvSpPr txBox="1"/>
          <p:nvPr/>
        </p:nvSpPr>
        <p:spPr>
          <a:xfrm>
            <a:off x="201168" y="4709160"/>
            <a:ext cx="64739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B7280"/>
                </a:solidFill>
                <a:latin typeface="X5 Sans"/>
              </a:rPr>
              <a:t>8-й вызов — движок заводит записи мест чтения · номиналы флагов: Maglev 400, TurboFan 3000 · считается бюджет байткода, не вызовы</a:t>
            </a:r>
          </a:p>
        </p:txBody>
      </p:sp>
      <p:sp>
        <p:nvSpPr>
          <p:cNvPr id="1129" name="Rounded Rectangle 1128"/>
          <p:cNvSpPr/>
          <p:nvPr/>
        </p:nvSpPr>
        <p:spPr>
          <a:xfrm>
            <a:off x="109728" y="5166360"/>
            <a:ext cx="9217152" cy="1143000"/>
          </a:xfrm>
          <a:prstGeom prst="roundRect">
            <a:avLst>
              <a:gd name="adj" fmla="val 12800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0" name="Oval 1129"/>
          <p:cNvSpPr/>
          <p:nvPr/>
        </p:nvSpPr>
        <p:spPr>
          <a:xfrm>
            <a:off x="292608" y="531266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1" name="Oval 1130"/>
          <p:cNvSpPr/>
          <p:nvPr/>
        </p:nvSpPr>
        <p:spPr>
          <a:xfrm>
            <a:off x="475488" y="531266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2" name="Oval 1131"/>
          <p:cNvSpPr/>
          <p:nvPr/>
        </p:nvSpPr>
        <p:spPr>
          <a:xfrm>
            <a:off x="658368" y="531266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3" name="TextBox 1132"/>
          <p:cNvSpPr txBox="1"/>
          <p:nvPr/>
        </p:nvSpPr>
        <p:spPr>
          <a:xfrm>
            <a:off x="1024128" y="5257800"/>
            <a:ext cx="81198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скрин R5 · байткод Ignition</a:t>
            </a:r>
          </a:p>
        </p:txBody>
      </p:sp>
      <p:sp>
        <p:nvSpPr>
          <p:cNvPr id="1134" name="TextBox 1133"/>
          <p:cNvSpPr txBox="1"/>
          <p:nvPr/>
        </p:nvSpPr>
        <p:spPr>
          <a:xfrm>
            <a:off x="338328" y="5550408"/>
            <a:ext cx="875995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AADC00"/>
                </a:solidFill>
                <a:latin typeface="Menlo"/>
              </a:rPr>
              <a:t>$ node --print-bytecode --print-bytecode-filter=normalizeUser ref-a.js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E6F2E9"/>
                </a:solidFill>
                <a:latin typeface="Menlo"/>
              </a:rPr>
              <a:t>  CreateObjectLiteral [0], [0], #41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E6F2E9"/>
                </a:solidFill>
                <a:latin typeface="Menlo"/>
              </a:rPr>
              <a:t>  GetNamedProperty a0, [1], [1]      DefineNamedOwnProperty r0, [1], [3]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Цена ступеней: ×13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4.3</a:t>
            </a:r>
          </a:p>
        </p:txBody>
      </p:sp>
      <p:sp>
        <p:nvSpPr>
          <p:cNvPr id="107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TextBox 1071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73" name="TextBox 1072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74" name="TextBox 1073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7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TextBox 1074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76" name="TextBox 1075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77" name="TextBox 1076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78" name="Rounded Rectangle 1077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9" name="TextBox 1078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80" name="TextBox 1079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81" name="TextBox 1080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82" name="Rounded Rectangle 1081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3" name="TextBox 108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84" name="TextBox 1083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85" name="TextBox 1084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86" name="Rounded Rectangle 1085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7" name="TextBox 1086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88" name="TextBox 1087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89" name="TextBox 1088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7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0" name="TextBox 1089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91" name="Connector 1090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2" name="Oval 1091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3" name="Oval 1092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4" name="Oval 1093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5" name="Oval 1094"/>
          <p:cNvSpPr/>
          <p:nvPr/>
        </p:nvSpPr>
        <p:spPr>
          <a:xfrm>
            <a:off x="10145683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6" name="Oval 1095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7" name="Oval 1096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8" name="Oval 1097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9" name="Oval 1098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0" name="Oval 1099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1" name="Oval 1100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2" name="Oval 1101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3" name="Oval 1102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4" name="TextBox 1103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4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ярусы</a:t>
            </a:r>
          </a:p>
        </p:txBody>
      </p:sp>
      <p:graphicFrame>
        <p:nvGraphicFramePr>
          <p:cNvPr id="1105" name="Chart 1104"/>
          <p:cNvGraphicFramePr>
            <a:graphicFrameLocks noGrp="1"/>
          </p:cNvGraphicFramePr>
          <p:nvPr/>
        </p:nvGraphicFramePr>
        <p:xfrm>
          <a:off x="109728" y="1188720"/>
          <a:ext cx="566928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7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007608" y="1188720"/>
            <a:ext cx="3319272" cy="201168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TextBox 1105"/>
          <p:cNvSpPr txBox="1"/>
          <p:nvPr/>
        </p:nvSpPr>
        <p:spPr>
          <a:xfrm>
            <a:off x="6281928" y="1353312"/>
            <a:ext cx="2770632" cy="1682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0">
                <a:solidFill>
                  <a:srgbClr val="1E5B28"/>
                </a:solidFill>
                <a:latin typeface="X5 Sans Medium"/>
              </a:rPr>
              <a:t>×13</a:t>
            </a:r>
          </a:p>
          <a:p>
            <a:pPr algn="ctr"/>
            <a:r>
              <a:rPr sz="2200" b="0">
                <a:solidFill>
                  <a:srgbClr val="1E5B28"/>
                </a:solidFill>
                <a:latin typeface="X5 Sans"/>
              </a:rPr>
              <a:t>от интерпретатора до вершины</a:t>
            </a:r>
          </a:p>
        </p:txBody>
      </p:sp>
      <p:sp>
        <p:nvSpPr>
          <p:cNvPr id="1075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6007608" y="3383280"/>
            <a:ext cx="3319272" cy="91440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7" name="TextBox 1106"/>
          <p:cNvSpPr txBox="1"/>
          <p:nvPr/>
        </p:nvSpPr>
        <p:spPr>
          <a:xfrm>
            <a:off x="6144768" y="3465576"/>
            <a:ext cx="304495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32" b="0">
                <a:solidFill>
                  <a:srgbClr val="1E5B28"/>
                </a:solidFill>
                <a:latin typeface="Menlo"/>
              </a:rPr>
              <a:t>--max-opt=0 / 1 / 2 / 3</a:t>
            </a:r>
          </a:p>
        </p:txBody>
      </p:sp>
      <p:sp>
        <p:nvSpPr>
          <p:cNvPr id="1076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007608" y="4434840"/>
            <a:ext cx="3319272" cy="96012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08" name="TextBox 1107"/>
          <p:cNvSpPr txBox="1"/>
          <p:nvPr/>
        </p:nvSpPr>
        <p:spPr>
          <a:xfrm>
            <a:off x="6144768" y="4517136"/>
            <a:ext cx="3044952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одна функция, не A против B</a:t>
            </a:r>
          </a:p>
        </p:txBody>
      </p:sp>
      <p:sp>
        <p:nvSpPr>
          <p:cNvPr id="1109" name="TextBox 1108"/>
          <p:cNvSpPr txBox="1"/>
          <p:nvPr/>
        </p:nvSpPr>
        <p:spPr>
          <a:xfrm>
            <a:off x="109728" y="5532120"/>
            <a:ext cx="9217152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скачок дают оптимизирующие ярусы · на arm64 Sparkplug на этой функции вышел медленнее интерпретатора — показано как намерено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Две колонки: читают записи / вшивают ставку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4.4</a:t>
            </a:r>
          </a:p>
        </p:txBody>
      </p:sp>
      <p:sp>
        <p:nvSpPr>
          <p:cNvPr id="107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TextBox 1077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79" name="TextBox 1078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80" name="TextBox 1079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7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1" name="TextBox 1080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82" name="TextBox 1081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83" name="TextBox 1082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84" name="Rounded Rectangle 1083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5" name="TextBox 1084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86" name="TextBox 1085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87" name="TextBox 1086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88" name="Rounded Rectangle 1087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9" name="TextBox 1088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90" name="TextBox 1089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91" name="TextBox 1090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92" name="Rounded Rectangle 1091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3" name="TextBox 1092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094" name="TextBox 1093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095" name="TextBox 1094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7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6" name="TextBox 1095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097" name="Connector 1096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8" name="Oval 1097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9" name="Oval 1098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0" name="Oval 1099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1" name="Oval 1100"/>
          <p:cNvSpPr/>
          <p:nvPr/>
        </p:nvSpPr>
        <p:spPr>
          <a:xfrm>
            <a:off x="10145683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2" name="Oval 1101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3" name="Oval 1102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4" name="Oval 1103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5" name="Oval 1104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6" name="Oval 1105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7" name="Oval 1106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8" name="Oval 1107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9" name="Oval 1108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0" name="TextBox 1109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4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ярусы</a:t>
            </a:r>
          </a:p>
        </p:txBody>
      </p:sp>
      <p:sp>
        <p:nvSpPr>
          <p:cNvPr id="1080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109728" y="1188720"/>
            <a:ext cx="4389120" cy="51206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11" name="TextBox 1110"/>
          <p:cNvSpPr txBox="1"/>
          <p:nvPr/>
        </p:nvSpPr>
        <p:spPr>
          <a:xfrm>
            <a:off x="384048" y="1353312"/>
            <a:ext cx="3840480" cy="47914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0">
                <a:solidFill>
                  <a:srgbClr val="1E5B28"/>
                </a:solidFill>
                <a:latin typeface="X5 Sans Medium"/>
              </a:rPr>
              <a:t>Ignition · Sparkplug</a:t>
            </a:r>
          </a:p>
          <a:p>
            <a:pPr algn="l"/>
          </a:p>
          <a:p>
            <a:pPr algn="l"/>
            <a:r>
              <a:rPr sz="2100" b="0">
                <a:solidFill>
                  <a:srgbClr val="1E5B28"/>
                </a:solidFill>
                <a:latin typeface="X5 Sans"/>
              </a:rPr>
              <a:t>читают записи мест чтения,</a:t>
            </a:r>
          </a:p>
          <a:p>
            <a:pPr algn="l"/>
            <a:r>
              <a:rPr sz="2100" b="0">
                <a:solidFill>
                  <a:srgbClr val="1E5B28"/>
                </a:solidFill>
                <a:latin typeface="X5 Sans"/>
              </a:rPr>
              <a:t>ничего не предполагают</a:t>
            </a:r>
          </a:p>
        </p:txBody>
      </p:sp>
      <p:sp>
        <p:nvSpPr>
          <p:cNvPr id="1081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4709160" y="1188720"/>
            <a:ext cx="4389120" cy="512064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TextBox 1111"/>
          <p:cNvSpPr txBox="1"/>
          <p:nvPr/>
        </p:nvSpPr>
        <p:spPr>
          <a:xfrm>
            <a:off x="4983480" y="1353312"/>
            <a:ext cx="3840480" cy="47914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X5 Sans Medium"/>
              </a:rPr>
              <a:t>Maglev · TurboFan</a:t>
            </a:r>
          </a:p>
          <a:p>
            <a:pPr algn="l"/>
          </a:p>
          <a:p>
            <a:pPr algn="l"/>
            <a:r>
              <a:rPr sz="2100" b="0">
                <a:solidFill>
                  <a:srgbClr val="FFFFFF"/>
                </a:solidFill>
                <a:latin typeface="X5 Sans"/>
              </a:rPr>
              <a:t>вшивают в машинный код ставку «сюда приходит одна форма»</a:t>
            </a:r>
          </a:p>
          <a:p>
            <a:pPr algn="l"/>
          </a:p>
          <a:p>
            <a:pPr algn="l"/>
            <a:r>
              <a:rPr sz="2100" b="0">
                <a:solidFill>
                  <a:srgbClr val="FFFFFF"/>
                </a:solidFill>
                <a:latin typeface="X5 Sans"/>
              </a:rPr>
              <a:t>проверка — одно сравнение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Ставка и событие wrong map</a:t>
            </a:r>
          </a:p>
        </p:txBody>
      </p:sp>
      <p:sp>
        <p:nvSpPr>
          <p:cNvPr id="1082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312767" y="1097280"/>
            <a:ext cx="356616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3" name="TextBox 1082"/>
          <p:cNvSpPr txBox="1"/>
          <p:nvPr/>
        </p:nvSpPr>
        <p:spPr>
          <a:xfrm>
            <a:off x="4312767" y="1097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5 из 12 · 4 мин</a:t>
            </a:r>
          </a:p>
        </p:txBody>
      </p:sp>
      <p:sp>
        <p:nvSpPr>
          <p:cNvPr id="1083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4" name="TextBox 1083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B доходит до Maglev с восемью формами. Что происходит со ставкой?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Ставка не сыграла: wrong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5.1</a:t>
            </a:r>
          </a:p>
        </p:txBody>
      </p:sp>
      <p:sp>
        <p:nvSpPr>
          <p:cNvPr id="108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TextBox 108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86" name="TextBox 1085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87" name="TextBox 1086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8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TextBox 1087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89" name="TextBox 1088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90" name="TextBox 1089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91" name="Rounded Rectangle 1090"/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2" name="TextBox 1091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93" name="TextBox 1092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94" name="TextBox 1093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95" name="Rounded Rectangle 1094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6" name="TextBox 1095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97" name="TextBox 1096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098" name="TextBox 1097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99" name="Rounded Rectangle 1098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0" name="TextBox 1099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01" name="TextBox 1100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102" name="TextBox 1101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8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TextBox 1102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104" name="Connector 1103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5" name="Oval 1104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6" name="Oval 1105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7" name="Oval 1106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8" name="Oval 1107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9" name="Oval 1108"/>
          <p:cNvSpPr/>
          <p:nvPr/>
        </p:nvSpPr>
        <p:spPr>
          <a:xfrm>
            <a:off x="10321082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0" name="Oval 1109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1" name="Oval 1110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2" name="Oval 1111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3" name="Oval 1112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4" name="Oval 1113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5" name="Oval 1114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6" name="Oval 1115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7" name="TextBox 1116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5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ставка</a:t>
            </a:r>
          </a:p>
        </p:txBody>
      </p:sp>
      <p:sp>
        <p:nvSpPr>
          <p:cNvPr id="108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188720"/>
            <a:ext cx="9217152" cy="169163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TextBox 1117"/>
          <p:cNvSpPr txBox="1"/>
          <p:nvPr/>
        </p:nvSpPr>
        <p:spPr>
          <a:xfrm>
            <a:off x="338328" y="1298448"/>
            <a:ext cx="8759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 Medium"/>
              </a:rPr>
              <a:t>A</a:t>
            </a:r>
            <a:r>
              <a:rPr sz="1400" b="0">
                <a:solidFill>
                  <a:srgbClr val="1E5B28"/>
                </a:solidFill>
                <a:latin typeface="X5 Sans"/>
              </a:rPr>
              <a:t> · читатель объектов A на оптимизирующем ярусе</a:t>
            </a:r>
          </a:p>
        </p:txBody>
      </p:sp>
      <p:sp>
        <p:nvSpPr>
          <p:cNvPr id="1119" name="TextBox 1118"/>
          <p:cNvSpPr txBox="1"/>
          <p:nvPr/>
        </p:nvSpPr>
        <p:spPr>
          <a:xfrm>
            <a:off x="338328" y="1298448"/>
            <a:ext cx="8759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50" b="0">
                <a:solidFill>
                  <a:srgbClr val="6B7280"/>
                </a:solidFill>
                <a:latin typeface="X5 Sans"/>
              </a:rPr>
              <a:t>записи: MONO, 1 форма</a:t>
            </a:r>
          </a:p>
        </p:txBody>
      </p:sp>
      <p:sp>
        <p:nvSpPr>
          <p:cNvPr id="1120" name="Rounded Rectangle 1119"/>
          <p:cNvSpPr/>
          <p:nvPr/>
        </p:nvSpPr>
        <p:spPr>
          <a:xfrm>
            <a:off x="384048" y="1828800"/>
            <a:ext cx="1547164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1" name="TextBox 1120"/>
          <p:cNvSpPr txBox="1"/>
          <p:nvPr/>
        </p:nvSpPr>
        <p:spPr>
          <a:xfrm>
            <a:off x="438912" y="1828800"/>
            <a:ext cx="143743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1E5B28"/>
                </a:solidFill>
                <a:latin typeface="X5 Sans"/>
              </a:rPr>
              <a:t>проверка формы</a:t>
            </a:r>
          </a:p>
        </p:txBody>
      </p:sp>
      <p:cxnSp>
        <p:nvCxnSpPr>
          <p:cNvPr id="1122" name="Connector 1121"/>
          <p:cNvCxnSpPr/>
          <p:nvPr/>
        </p:nvCxnSpPr>
        <p:spPr>
          <a:xfrm>
            <a:off x="1931212" y="2057400"/>
            <a:ext cx="274320" cy="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3" name="Rounded Rectangle 1122"/>
          <p:cNvSpPr/>
          <p:nvPr/>
        </p:nvSpPr>
        <p:spPr>
          <a:xfrm>
            <a:off x="2205532" y="1828800"/>
            <a:ext cx="1815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4" name="TextBox 1123"/>
          <p:cNvSpPr txBox="1"/>
          <p:nvPr/>
        </p:nvSpPr>
        <p:spPr>
          <a:xfrm>
            <a:off x="2260396" y="1828800"/>
            <a:ext cx="170627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1E5B28"/>
                </a:solidFill>
                <a:latin typeface="X5 Sans"/>
              </a:rPr>
              <a:t>быстрый путь вшит</a:t>
            </a:r>
          </a:p>
        </p:txBody>
      </p:sp>
      <p:cxnSp>
        <p:nvCxnSpPr>
          <p:cNvPr id="1125" name="Connector 1124"/>
          <p:cNvCxnSpPr/>
          <p:nvPr/>
        </p:nvCxnSpPr>
        <p:spPr>
          <a:xfrm>
            <a:off x="4021531" y="2057400"/>
            <a:ext cx="5031028" cy="0"/>
          </a:xfrm>
          <a:prstGeom prst="line">
            <a:avLst/>
          </a:prstGeom>
          <a:ln w="38100">
            <a:solidFill>
              <a:srgbClr val="3FA3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6" name="TextBox 1125"/>
          <p:cNvSpPr txBox="1"/>
          <p:nvPr/>
        </p:nvSpPr>
        <p:spPr>
          <a:xfrm>
            <a:off x="384048" y="2377440"/>
            <a:ext cx="86685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X5 Sans"/>
              </a:rPr>
              <a:t>ставка играет каждый вызов · у читателя строки wrong map нет (0 из 5 прогонов)</a:t>
            </a:r>
          </a:p>
        </p:txBody>
      </p:sp>
      <p:sp>
        <p:nvSpPr>
          <p:cNvPr id="1088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109728" y="3063240"/>
            <a:ext cx="9217152" cy="1691639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27" name="TextBox 1126"/>
          <p:cNvSpPr txBox="1"/>
          <p:nvPr/>
        </p:nvSpPr>
        <p:spPr>
          <a:xfrm>
            <a:off x="338328" y="3172968"/>
            <a:ext cx="8759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8A1538"/>
                </a:solidFill>
                <a:latin typeface="X5 Sans Medium"/>
              </a:rPr>
              <a:t>B</a:t>
            </a:r>
            <a:r>
              <a:rPr sz="1400" b="0">
                <a:solidFill>
                  <a:srgbClr val="8A1538"/>
                </a:solidFill>
                <a:latin typeface="X5 Sans"/>
              </a:rPr>
              <a:t> · читатель объектов B на оптимизирующем ярусе</a:t>
            </a:r>
          </a:p>
        </p:txBody>
      </p:sp>
      <p:sp>
        <p:nvSpPr>
          <p:cNvPr id="1128" name="TextBox 1127"/>
          <p:cNvSpPr txBox="1"/>
          <p:nvPr/>
        </p:nvSpPr>
        <p:spPr>
          <a:xfrm>
            <a:off x="338328" y="3172968"/>
            <a:ext cx="8759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50" b="0">
                <a:solidFill>
                  <a:srgbClr val="6B7280"/>
                </a:solidFill>
                <a:latin typeface="X5 Sans"/>
              </a:rPr>
              <a:t>сначала одна форма → потом восемь</a:t>
            </a:r>
          </a:p>
        </p:txBody>
      </p:sp>
      <p:sp>
        <p:nvSpPr>
          <p:cNvPr id="1129" name="Rounded Rectangle 1128"/>
          <p:cNvSpPr/>
          <p:nvPr/>
        </p:nvSpPr>
        <p:spPr>
          <a:xfrm>
            <a:off x="384048" y="3703320"/>
            <a:ext cx="2084831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0" name="TextBox 1129"/>
          <p:cNvSpPr txBox="1"/>
          <p:nvPr/>
        </p:nvSpPr>
        <p:spPr>
          <a:xfrm>
            <a:off x="438912" y="3703320"/>
            <a:ext cx="197510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8A1538"/>
                </a:solidFill>
                <a:latin typeface="X5 Sans"/>
              </a:rPr>
              <a:t>ставка на одну форму</a:t>
            </a:r>
          </a:p>
        </p:txBody>
      </p:sp>
      <p:cxnSp>
        <p:nvCxnSpPr>
          <p:cNvPr id="1131" name="Connector 1130"/>
          <p:cNvCxnSpPr/>
          <p:nvPr/>
        </p:nvCxnSpPr>
        <p:spPr>
          <a:xfrm>
            <a:off x="2468879" y="3931920"/>
            <a:ext cx="274320" cy="0"/>
          </a:xfrm>
          <a:prstGeom prst="line">
            <a:avLst/>
          </a:prstGeom>
          <a:ln w="15875">
            <a:solidFill>
              <a:srgbClr val="8A15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2" name="Oval 1131"/>
          <p:cNvSpPr/>
          <p:nvPr/>
        </p:nvSpPr>
        <p:spPr>
          <a:xfrm>
            <a:off x="2542032" y="3867911"/>
            <a:ext cx="128016" cy="128016"/>
          </a:xfrm>
          <a:prstGeom prst="ellipse">
            <a:avLst/>
          </a:prstGeom>
          <a:solidFill>
            <a:srgbClr val="8A15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3" name="Rounded Rectangle 1132"/>
          <p:cNvSpPr/>
          <p:nvPr/>
        </p:nvSpPr>
        <p:spPr>
          <a:xfrm>
            <a:off x="2743199" y="3703320"/>
            <a:ext cx="740664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4" name="TextBox 1133"/>
          <p:cNvSpPr txBox="1"/>
          <p:nvPr/>
        </p:nvSpPr>
        <p:spPr>
          <a:xfrm>
            <a:off x="2798063" y="3703320"/>
            <a:ext cx="63093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8A1538"/>
                </a:solidFill>
                <a:latin typeface="X5 Sans"/>
              </a:rPr>
              <a:t>откат</a:t>
            </a:r>
          </a:p>
        </p:txBody>
      </p:sp>
      <p:cxnSp>
        <p:nvCxnSpPr>
          <p:cNvPr id="1135" name="Connector 1134"/>
          <p:cNvCxnSpPr/>
          <p:nvPr/>
        </p:nvCxnSpPr>
        <p:spPr>
          <a:xfrm>
            <a:off x="3483863" y="3931920"/>
            <a:ext cx="274320" cy="0"/>
          </a:xfrm>
          <a:prstGeom prst="line">
            <a:avLst/>
          </a:prstGeom>
          <a:ln w="15875">
            <a:solidFill>
              <a:srgbClr val="8A15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6" name="Rounded Rectangle 1135"/>
          <p:cNvSpPr/>
          <p:nvPr/>
        </p:nvSpPr>
        <p:spPr>
          <a:xfrm>
            <a:off x="3758183" y="3703320"/>
            <a:ext cx="1726387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7" name="TextBox 1136"/>
          <p:cNvSpPr txBox="1"/>
          <p:nvPr/>
        </p:nvSpPr>
        <p:spPr>
          <a:xfrm>
            <a:off x="3813047" y="3703320"/>
            <a:ext cx="16166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8A1538"/>
                </a:solidFill>
                <a:latin typeface="X5 Sans"/>
              </a:rPr>
              <a:t>записи обновлены</a:t>
            </a:r>
          </a:p>
        </p:txBody>
      </p:sp>
      <p:cxnSp>
        <p:nvCxnSpPr>
          <p:cNvPr id="1138" name="Connector 1137"/>
          <p:cNvCxnSpPr/>
          <p:nvPr/>
        </p:nvCxnSpPr>
        <p:spPr>
          <a:xfrm>
            <a:off x="5484571" y="3931920"/>
            <a:ext cx="274320" cy="0"/>
          </a:xfrm>
          <a:prstGeom prst="line">
            <a:avLst/>
          </a:prstGeom>
          <a:ln w="15875">
            <a:solidFill>
              <a:srgbClr val="8A15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9" name="Rounded Rectangle 1138"/>
          <p:cNvSpPr/>
          <p:nvPr/>
        </p:nvSpPr>
        <p:spPr>
          <a:xfrm>
            <a:off x="5758891" y="3703320"/>
            <a:ext cx="253288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0" name="TextBox 1139"/>
          <p:cNvSpPr txBox="1"/>
          <p:nvPr/>
        </p:nvSpPr>
        <p:spPr>
          <a:xfrm>
            <a:off x="5813755" y="370332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8A1538"/>
                </a:solidFill>
                <a:latin typeface="X5 Sans"/>
              </a:rPr>
              <a:t>перекомпиляция без ставки</a:t>
            </a:r>
          </a:p>
        </p:txBody>
      </p:sp>
      <p:cxnSp>
        <p:nvCxnSpPr>
          <p:cNvPr id="1141" name="Connector 1140"/>
          <p:cNvCxnSpPr/>
          <p:nvPr/>
        </p:nvCxnSpPr>
        <p:spPr>
          <a:xfrm>
            <a:off x="8291779" y="3931920"/>
            <a:ext cx="760780" cy="0"/>
          </a:xfrm>
          <a:prstGeom prst="line">
            <a:avLst/>
          </a:prstGeom>
          <a:ln w="38100">
            <a:solidFill>
              <a:srgbClr val="D63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2" name="TextBox 1141"/>
          <p:cNvSpPr txBox="1"/>
          <p:nvPr/>
        </p:nvSpPr>
        <p:spPr>
          <a:xfrm>
            <a:off x="2761488" y="339242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1538"/>
                </a:solidFill>
                <a:latin typeface="X5 Sans"/>
              </a:rPr>
              <a:t>↑ </a:t>
            </a:r>
            <a:r>
              <a:rPr sz="968" b="0">
                <a:solidFill>
                  <a:srgbClr val="8A1538"/>
                </a:solidFill>
                <a:latin typeface="Menlo"/>
              </a:rPr>
              <a:t>reason: wrong map</a:t>
            </a:r>
          </a:p>
        </p:txBody>
      </p:sp>
      <p:sp>
        <p:nvSpPr>
          <p:cNvPr id="1143" name="TextBox 1142"/>
          <p:cNvSpPr txBox="1"/>
          <p:nvPr/>
        </p:nvSpPr>
        <p:spPr>
          <a:xfrm>
            <a:off x="384048" y="4251960"/>
            <a:ext cx="86685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6B7280"/>
                </a:solidFill>
                <a:latin typeface="X5 Sans"/>
              </a:rPr>
              <a:t>один откат (5 из 5 прогонов) · дальше — общий путь MEGA, стационарно · в приборе ставки не было вовсе: 0 откатов, TurboFan, и всё равно ×6.6</a:t>
            </a:r>
          </a:p>
        </p:txBody>
      </p:sp>
      <p:sp>
        <p:nvSpPr>
          <p:cNvPr id="1144" name="Rounded Rectangle 1143"/>
          <p:cNvSpPr/>
          <p:nvPr/>
        </p:nvSpPr>
        <p:spPr>
          <a:xfrm>
            <a:off x="109728" y="4892040"/>
            <a:ext cx="6839712" cy="1417320"/>
          </a:xfrm>
          <a:prstGeom prst="roundRect">
            <a:avLst>
              <a:gd name="adj" fmla="val 10322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5" name="Oval 1144"/>
          <p:cNvSpPr/>
          <p:nvPr/>
        </p:nvSpPr>
        <p:spPr>
          <a:xfrm>
            <a:off x="292608" y="503834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6" name="Oval 1145"/>
          <p:cNvSpPr/>
          <p:nvPr/>
        </p:nvSpPr>
        <p:spPr>
          <a:xfrm>
            <a:off x="475488" y="503834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7" name="Oval 1146"/>
          <p:cNvSpPr/>
          <p:nvPr/>
        </p:nvSpPr>
        <p:spPr>
          <a:xfrm>
            <a:off x="658368" y="503834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8" name="TextBox 1147"/>
          <p:cNvSpPr txBox="1"/>
          <p:nvPr/>
        </p:nvSpPr>
        <p:spPr>
          <a:xfrm>
            <a:off x="1024128" y="4983479"/>
            <a:ext cx="57424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скрин R2</a:t>
            </a:r>
          </a:p>
        </p:txBody>
      </p:sp>
      <p:sp>
        <p:nvSpPr>
          <p:cNvPr id="1149" name="TextBox 1148"/>
          <p:cNvSpPr txBox="1"/>
          <p:nvPr/>
        </p:nvSpPr>
        <p:spPr>
          <a:xfrm>
            <a:off x="338328" y="5276088"/>
            <a:ext cx="6382512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AADC00"/>
                </a:solidFill>
                <a:latin typeface="Menlo"/>
              </a:rPr>
              <a:t>$ node --trace-deopt demo-wrongmap.js ref-b.js | grep score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F2E9"/>
                </a:solidFill>
                <a:latin typeface="Menlo"/>
              </a:rPr>
              <a:t>[bailout (reason: </a:t>
            </a:r>
            <a:r>
              <a:rPr sz="1100" b="1">
                <a:solidFill>
                  <a:srgbClr val="FF9DB8"/>
                </a:solidFill>
                <a:latin typeface="Menlo"/>
              </a:rPr>
              <a:t>wrong map</a:t>
            </a:r>
            <a:r>
              <a:rPr sz="1100" b="0">
                <a:solidFill>
                  <a:srgbClr val="E6F2E9"/>
                </a:solidFill>
                <a:latin typeface="Menlo"/>
              </a:rPr>
              <a:t>): … &lt;JSFunction score&gt;, &lt;Code TURBOFAN_JS&gt;</a:t>
            </a:r>
          </a:p>
        </p:txBody>
      </p:sp>
      <p:sp>
        <p:nvSpPr>
          <p:cNvPr id="1089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7132319" y="4892040"/>
            <a:ext cx="2194560" cy="141732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TextBox 1149"/>
          <p:cNvSpPr txBox="1"/>
          <p:nvPr/>
        </p:nvSpPr>
        <p:spPr>
          <a:xfrm>
            <a:off x="7406640" y="5056631"/>
            <a:ext cx="1645919" cy="10881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X5 Sans"/>
              </a:rPr>
              <a:t>термин</a:t>
            </a:r>
          </a:p>
          <a:p>
            <a:pPr algn="ctr"/>
            <a:r>
              <a:rPr sz="1800" b="0">
                <a:solidFill>
                  <a:srgbClr val="FFFFFF"/>
                </a:solidFill>
                <a:latin typeface="X5 Sans Medium"/>
              </a:rPr>
              <a:t>деопт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Стационар: общий путь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5.2</a:t>
            </a:r>
          </a:p>
        </p:txBody>
      </p:sp>
      <p:sp>
        <p:nvSpPr>
          <p:cNvPr id="109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TextBox 1090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92" name="TextBox 1091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093" name="TextBox 1092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9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TextBox 1093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95" name="TextBox 1094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096" name="TextBox 1095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9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TextBox 1096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98" name="TextBox 1097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099" name="TextBox 1098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00" name="Rounded Rectangle 1099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1" name="TextBox 1100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02" name="TextBox 110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103" name="TextBox 1102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04" name="Rounded Rectangle 1103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5" name="TextBox 1104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06" name="TextBox 110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107" name="TextBox 1106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9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8" name="TextBox 1107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109" name="Connector 1108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0" name="Oval 1109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1" name="Oval 1110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2" name="Oval 1111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3" name="Oval 1112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4" name="Oval 1113"/>
          <p:cNvSpPr/>
          <p:nvPr/>
        </p:nvSpPr>
        <p:spPr>
          <a:xfrm>
            <a:off x="10321082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5" name="Oval 1114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6" name="Oval 1115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7" name="Oval 1116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8" name="Oval 1117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9" name="Oval 1118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0" name="Oval 1119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1" name="Oval 1120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2" name="TextBox 1121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5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ставка</a:t>
            </a:r>
          </a:p>
        </p:txBody>
      </p:sp>
      <p:sp>
        <p:nvSpPr>
          <p:cNvPr id="109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188720"/>
            <a:ext cx="9217152" cy="51206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3" name="TextBox 1122"/>
          <p:cNvSpPr txBox="1"/>
          <p:nvPr/>
        </p:nvSpPr>
        <p:spPr>
          <a:xfrm>
            <a:off x="384048" y="1371600"/>
            <a:ext cx="8668512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400" b="0">
                <a:solidFill>
                  <a:srgbClr val="1E5B28"/>
                </a:solidFill>
                <a:latin typeface="X5 Sans Medium"/>
              </a:rPr>
              <a:t>0.79 = цена общего пути</a:t>
            </a:r>
          </a:p>
        </p:txBody>
      </p:sp>
      <p:sp>
        <p:nvSpPr>
          <p:cNvPr id="1095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475488" y="3017520"/>
            <a:ext cx="2676143" cy="173736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4" name="TextBox 1123"/>
          <p:cNvSpPr txBox="1"/>
          <p:nvPr/>
        </p:nvSpPr>
        <p:spPr>
          <a:xfrm>
            <a:off x="658368" y="3127248"/>
            <a:ext cx="2310383" cy="1517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после отката — перекомпиляция без ставки на одну форму</a:t>
            </a:r>
          </a:p>
        </p:txBody>
      </p:sp>
      <p:sp>
        <p:nvSpPr>
          <p:cNvPr id="1096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380231" y="3017520"/>
            <a:ext cx="2676143" cy="173736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TextBox 1124"/>
          <p:cNvSpPr txBox="1"/>
          <p:nvPr/>
        </p:nvSpPr>
        <p:spPr>
          <a:xfrm>
            <a:off x="3563112" y="3127248"/>
            <a:ext cx="2310383" cy="1517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в приборе ставки не было: у читателя B 0 откатов, TurboFan — и всё равно ×6.6</a:t>
            </a:r>
          </a:p>
        </p:txBody>
      </p:sp>
      <p:sp>
        <p:nvSpPr>
          <p:cNvPr id="1097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6284976" y="3017520"/>
            <a:ext cx="2676143" cy="173736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6" name="TextBox 1125"/>
          <p:cNvSpPr txBox="1"/>
          <p:nvPr/>
        </p:nvSpPr>
        <p:spPr>
          <a:xfrm>
            <a:off x="6467856" y="3127248"/>
            <a:ext cx="2310383" cy="1517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деопт — событие, оно заканчивается</a:t>
            </a:r>
          </a:p>
        </p:txBody>
      </p:sp>
      <p:sp>
        <p:nvSpPr>
          <p:cNvPr id="1127" name="TextBox 1126"/>
          <p:cNvSpPr txBox="1"/>
          <p:nvPr/>
        </p:nvSpPr>
        <p:spPr>
          <a:xfrm>
            <a:off x="475488" y="5029200"/>
            <a:ext cx="8485632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читатель оптимизирован TurboFan и у A, и у B — проверено </a:t>
            </a:r>
            <a:r>
              <a:rPr sz="1144" b="0">
                <a:solidFill>
                  <a:srgbClr val="6B7280"/>
                </a:solidFill>
                <a:latin typeface="Menlo"/>
              </a:rPr>
              <a:t>%GetOptimizationStatus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Улика прочитана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5.3</a:t>
            </a:r>
          </a:p>
        </p:txBody>
      </p:sp>
      <p:sp>
        <p:nvSpPr>
          <p:cNvPr id="109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9" name="TextBox 1098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00" name="TextBox 1099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101" name="TextBox 1100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9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2" name="TextBox 1101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03" name="TextBox 1102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04" name="TextBox 1103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0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5" name="TextBox 1104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06" name="TextBox 1105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107" name="TextBox 1106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08" name="Rounded Rectangle 1107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9" name="TextBox 1108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10" name="TextBox 1109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111" name="TextBox 1110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12" name="Rounded Rectangle 1111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3" name="TextBox 1112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14" name="TextBox 1113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115" name="TextBox 1114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0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6" name="TextBox 1115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117" name="Connector 1116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8" name="Oval 1117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9" name="Oval 1118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0" name="Oval 1119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1" name="Oval 1120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2" name="Oval 1121"/>
          <p:cNvSpPr/>
          <p:nvPr/>
        </p:nvSpPr>
        <p:spPr>
          <a:xfrm>
            <a:off x="10321082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3" name="Oval 1122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4" name="Oval 1123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5" name="Oval 1124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6" name="Oval 1125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7" name="Oval 1126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8" name="Oval 1127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9" name="Oval 1128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0" name="TextBox 1129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5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ставка</a:t>
            </a:r>
          </a:p>
        </p:txBody>
      </p:sp>
      <p:sp>
        <p:nvSpPr>
          <p:cNvPr id="1102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109728" y="1188720"/>
            <a:ext cx="4389120" cy="219456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1" name="TextBox 1130"/>
          <p:cNvSpPr txBox="1"/>
          <p:nvPr/>
        </p:nvSpPr>
        <p:spPr>
          <a:xfrm>
            <a:off x="384048" y="1353312"/>
            <a:ext cx="3840480" cy="18653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88" b="0">
                <a:solidFill>
                  <a:srgbClr val="1E5B28"/>
                </a:solidFill>
                <a:latin typeface="Menlo"/>
              </a:rPr>
              <a:t>reason: wrong map</a:t>
            </a:r>
          </a:p>
        </p:txBody>
      </p:sp>
      <p:sp>
        <p:nvSpPr>
          <p:cNvPr id="1103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109728" y="3611880"/>
            <a:ext cx="2103120" cy="269748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2" name="TextBox 1131"/>
          <p:cNvSpPr txBox="1"/>
          <p:nvPr/>
        </p:nvSpPr>
        <p:spPr>
          <a:xfrm>
            <a:off x="384048" y="3776472"/>
            <a:ext cx="1554479" cy="2368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map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= форма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(узел 2)</a:t>
            </a:r>
          </a:p>
        </p:txBody>
      </p:sp>
      <p:sp>
        <p:nvSpPr>
          <p:cNvPr id="1104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2395728" y="3611880"/>
            <a:ext cx="2103120" cy="269748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3" name="TextBox 1132"/>
          <p:cNvSpPr txBox="1"/>
          <p:nvPr/>
        </p:nvSpPr>
        <p:spPr>
          <a:xfrm>
            <a:off x="2670048" y="3776472"/>
            <a:ext cx="1554479" cy="2368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wrong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= ставка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(узел 4)</a:t>
            </a:r>
          </a:p>
        </p:txBody>
      </p:sp>
      <p:sp>
        <p:nvSpPr>
          <p:cNvPr id="1105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4709160" y="1188720"/>
            <a:ext cx="4389120" cy="512064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TextBox 1133"/>
          <p:cNvSpPr txBox="1"/>
          <p:nvPr/>
        </p:nvSpPr>
        <p:spPr>
          <a:xfrm>
            <a:off x="4709160" y="1463040"/>
            <a:ext cx="438912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800" b="0">
                <a:solidFill>
                  <a:srgbClr val="FFFFFF"/>
                </a:solidFill>
                <a:latin typeface="X5 Sans Medium"/>
              </a:rPr>
              <a:t>2008</a:t>
            </a:r>
          </a:p>
        </p:txBody>
      </p:sp>
      <p:sp>
        <p:nvSpPr>
          <p:cNvPr id="1135" name="TextBox 1134"/>
          <p:cNvSpPr txBox="1"/>
          <p:nvPr/>
        </p:nvSpPr>
        <p:spPr>
          <a:xfrm>
            <a:off x="5047488" y="3566160"/>
            <a:ext cx="3712463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E0FBCC"/>
                </a:solidFill>
                <a:latin typeface="X5 Sans"/>
              </a:rPr>
              <a:t>формы и записи мест чтения — с первого релиза V8</a:t>
            </a:r>
          </a:p>
          <a:p>
            <a:pPr algn="ctr"/>
          </a:p>
          <a:p>
            <a:pPr algn="ctr"/>
            <a:r>
              <a:rPr sz="1800" b="0">
                <a:solidFill>
                  <a:srgbClr val="E0FBCC"/>
                </a:solidFill>
                <a:latin typeface="X5 Sans"/>
              </a:rPr>
              <a:t>старше всех ступеней лестницы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Где мы · после узла 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91768" y="2499360"/>
            <a:ext cx="10512552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429768" y="4023360"/>
            <a:ext cx="518160" cy="609600"/>
          </a:xfrm>
          <a:prstGeom prst="roundRect">
            <a:avLst>
              <a:gd name="adj" fmla="val 14117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29768" y="4023360"/>
            <a:ext cx="51816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4861560"/>
            <a:ext cx="518160" cy="609600"/>
          </a:xfrm>
          <a:prstGeom prst="roundRect">
            <a:avLst>
              <a:gd name="adj" fmla="val 14117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29768" y="4861560"/>
            <a:ext cx="51816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8" name="Oval 7"/>
          <p:cNvSpPr/>
          <p:nvPr/>
        </p:nvSpPr>
        <p:spPr>
          <a:xfrm>
            <a:off x="1357375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57375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768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0056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19200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237488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19200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237488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0056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7" name="Oval 16"/>
          <p:cNvSpPr/>
          <p:nvPr/>
        </p:nvSpPr>
        <p:spPr>
          <a:xfrm>
            <a:off x="2237232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237232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71623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вызов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9911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9055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117343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99055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117343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89911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26" name="Oval 25"/>
          <p:cNvSpPr/>
          <p:nvPr/>
        </p:nvSpPr>
        <p:spPr>
          <a:xfrm>
            <a:off x="3117088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117088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51479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69767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978911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2997199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MONO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978911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2997199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MEGA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69767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--log-ic</a:t>
            </a:r>
          </a:p>
        </p:txBody>
      </p:sp>
      <p:sp>
        <p:nvSpPr>
          <p:cNvPr id="35" name="Diamond 34"/>
          <p:cNvSpPr/>
          <p:nvPr/>
        </p:nvSpPr>
        <p:spPr>
          <a:xfrm>
            <a:off x="3694175" y="2362200"/>
            <a:ext cx="274320" cy="274320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3996944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3996944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31336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~700 → ~13 000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49624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858768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3877056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858768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877056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49624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--max-opt</a:t>
            </a:r>
          </a:p>
        </p:txBody>
      </p:sp>
      <p:sp>
        <p:nvSpPr>
          <p:cNvPr id="45" name="Oval 44"/>
          <p:cNvSpPr/>
          <p:nvPr/>
        </p:nvSpPr>
        <p:spPr>
          <a:xfrm>
            <a:off x="4756099" y="2104339"/>
            <a:ext cx="790041" cy="790041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4876800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4876800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11192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29479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ставка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738624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4756912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сыграла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738624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4756912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wrong map → общий путь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29479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--trace-deopt</a:t>
            </a:r>
          </a:p>
        </p:txBody>
      </p:sp>
      <p:sp>
        <p:nvSpPr>
          <p:cNvPr id="55" name="Diamond 54"/>
          <p:cNvSpPr/>
          <p:nvPr/>
        </p:nvSpPr>
        <p:spPr>
          <a:xfrm>
            <a:off x="5453887" y="2362200"/>
            <a:ext cx="274320" cy="274320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Oval 55"/>
          <p:cNvSpPr/>
          <p:nvPr/>
        </p:nvSpPr>
        <p:spPr>
          <a:xfrm>
            <a:off x="5756655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5756655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91047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прод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09335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сервис</a:t>
            </a:r>
          </a:p>
        </p:txBody>
      </p:sp>
      <p:sp>
        <p:nvSpPr>
          <p:cNvPr id="60" name="Oval 59"/>
          <p:cNvSpPr/>
          <p:nvPr/>
        </p:nvSpPr>
        <p:spPr>
          <a:xfrm>
            <a:off x="6636512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6636512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70904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89192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агент</a:t>
            </a:r>
          </a:p>
        </p:txBody>
      </p:sp>
      <p:sp>
        <p:nvSpPr>
          <p:cNvPr id="64" name="Oval 63"/>
          <p:cNvSpPr/>
          <p:nvPr/>
        </p:nvSpPr>
        <p:spPr>
          <a:xfrm>
            <a:off x="7516367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7516367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350759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69047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корпус</a:t>
            </a:r>
          </a:p>
        </p:txBody>
      </p:sp>
      <p:sp>
        <p:nvSpPr>
          <p:cNvPr id="68" name="Diamond 67"/>
          <p:cNvSpPr/>
          <p:nvPr/>
        </p:nvSpPr>
        <p:spPr>
          <a:xfrm>
            <a:off x="8093456" y="2362200"/>
            <a:ext cx="274320" cy="274320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Oval 68"/>
          <p:cNvSpPr/>
          <p:nvPr/>
        </p:nvSpPr>
        <p:spPr>
          <a:xfrm>
            <a:off x="8396223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8396223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30615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248903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правила</a:t>
            </a:r>
          </a:p>
        </p:txBody>
      </p:sp>
      <p:sp>
        <p:nvSpPr>
          <p:cNvPr id="73" name="Oval 72"/>
          <p:cNvSpPr/>
          <p:nvPr/>
        </p:nvSpPr>
        <p:spPr>
          <a:xfrm>
            <a:off x="9276079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9276079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10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110471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верхняя ступень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128759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лев</a:t>
            </a:r>
          </a:p>
        </p:txBody>
      </p:sp>
      <p:sp>
        <p:nvSpPr>
          <p:cNvPr id="77" name="Oval 76"/>
          <p:cNvSpPr/>
          <p:nvPr/>
        </p:nvSpPr>
        <p:spPr>
          <a:xfrm>
            <a:off x="10155935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10155935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90328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—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008615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81" name="Oval 80"/>
          <p:cNvSpPr/>
          <p:nvPr/>
        </p:nvSpPr>
        <p:spPr>
          <a:xfrm>
            <a:off x="11035791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11035791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12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870183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финал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888471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снова слайд 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Установившаяся судьба в сервисе</a:t>
            </a:r>
          </a:p>
        </p:txBody>
      </p:sp>
      <p:sp>
        <p:nvSpPr>
          <p:cNvPr id="1106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312767" y="1097280"/>
            <a:ext cx="356616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7" name="TextBox 1106"/>
          <p:cNvSpPr txBox="1"/>
          <p:nvPr/>
        </p:nvSpPr>
        <p:spPr>
          <a:xfrm>
            <a:off x="4312767" y="1097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6 из 12 · 6 мин</a:t>
            </a:r>
          </a:p>
        </p:txBody>
      </p:sp>
      <p:sp>
        <p:nvSpPr>
          <p:cNvPr id="1107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8" name="TextBox 1107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Судьбы установились в цикле. А в сервисе, где JSON.parse, база и сеть — сколько от этих шести с лишним раз доживает?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Кривая R: цена растёт с числом чтений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6.1</a:t>
            </a:r>
          </a:p>
        </p:txBody>
      </p:sp>
      <p:sp>
        <p:nvSpPr>
          <p:cNvPr id="110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TextBox 1108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10" name="TextBox 1109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111" name="TextBox 1110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0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TextBox 1111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13" name="TextBox 1112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14" name="TextBox 1113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1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TextBox 1114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16" name="TextBox 1115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117" name="TextBox 1116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18" name="Rounded Rectangle 1117"/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9" name="TextBox 1118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20" name="TextBox 1119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121" name="TextBox 1120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22" name="Rounded Rectangle 1121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3" name="TextBox 1122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24" name="TextBox 1123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125" name="TextBox 1124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1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6" name="TextBox 1125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127" name="Connector 1126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8" name="Oval 1127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9" name="Oval 1128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0" name="Oval 1129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1" name="Oval 1130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2" name="Oval 1131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3" name="Oval 1132"/>
          <p:cNvSpPr/>
          <p:nvPr/>
        </p:nvSpPr>
        <p:spPr>
          <a:xfrm>
            <a:off x="10496480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4" name="Oval 1133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5" name="Oval 1134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6" name="Oval 1135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7" name="Oval 1136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8" name="Oval 1137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9" name="Oval 1138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0" name="TextBox 1139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6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сервис</a:t>
            </a:r>
          </a:p>
        </p:txBody>
      </p:sp>
      <p:sp>
        <p:nvSpPr>
          <p:cNvPr id="1141" name="TextBox 1140"/>
          <p:cNvSpPr txBox="1"/>
          <p:nvPr/>
        </p:nvSpPr>
        <p:spPr>
          <a:xfrm>
            <a:off x="109728" y="1024128"/>
            <a:ext cx="92171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200k NDJSON · parse → normalize → consume (R проходов чтения) → serialize · процесс на ячейку · прогрев 300 / замер 1000 / 5 повторов · чексумма совпала во всех 150 ячейках</a:t>
            </a:r>
          </a:p>
        </p:txBody>
      </p:sp>
      <p:graphicFrame>
        <p:nvGraphicFramePr>
          <p:cNvPr id="1142" name="Chart 1141"/>
          <p:cNvGraphicFramePr>
            <a:graphicFrameLocks noGrp="1"/>
          </p:cNvGraphicFramePr>
          <p:nvPr/>
        </p:nvGraphicFramePr>
        <p:xfrm>
          <a:off x="109728" y="1554480"/>
          <a:ext cx="5760720" cy="3931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1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099048" y="1554480"/>
            <a:ext cx="3227832" cy="8229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TextBox 1142"/>
          <p:cNvSpPr txBox="1"/>
          <p:nvPr/>
        </p:nvSpPr>
        <p:spPr>
          <a:xfrm>
            <a:off x="6190488" y="1609344"/>
            <a:ext cx="3044952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R = 1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+29–31%</a:t>
            </a:r>
          </a:p>
        </p:txBody>
      </p:sp>
      <p:sp>
        <p:nvSpPr>
          <p:cNvPr id="111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099048" y="2468880"/>
            <a:ext cx="3227832" cy="8229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TextBox 1143"/>
          <p:cNvSpPr txBox="1"/>
          <p:nvPr/>
        </p:nvSpPr>
        <p:spPr>
          <a:xfrm>
            <a:off x="6190488" y="2523744"/>
            <a:ext cx="3044952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R = 5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×1.95–1.98</a:t>
            </a:r>
          </a:p>
        </p:txBody>
      </p:sp>
      <p:sp>
        <p:nvSpPr>
          <p:cNvPr id="111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099048" y="3383280"/>
            <a:ext cx="3227832" cy="8229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5" name="TextBox 1144"/>
          <p:cNvSpPr txBox="1"/>
          <p:nvPr/>
        </p:nvSpPr>
        <p:spPr>
          <a:xfrm>
            <a:off x="6190488" y="3438144"/>
            <a:ext cx="3044952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R = 20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×3.1–3.3</a:t>
            </a:r>
          </a:p>
        </p:txBody>
      </p:sp>
      <p:sp>
        <p:nvSpPr>
          <p:cNvPr id="1115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6099048" y="4343400"/>
            <a:ext cx="3227832" cy="114300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6" name="TextBox 1145"/>
          <p:cNvSpPr txBox="1"/>
          <p:nvPr/>
        </p:nvSpPr>
        <p:spPr>
          <a:xfrm>
            <a:off x="6208776" y="4409236"/>
            <a:ext cx="3008376" cy="1011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батч 500 = батч 5000</a:t>
            </a:r>
          </a:p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доля parse: 65% → 10%</a:t>
            </a:r>
          </a:p>
        </p:txBody>
      </p:sp>
      <p:sp>
        <p:nvSpPr>
          <p:cNvPr id="1147" name="TextBox 1146"/>
          <p:cNvSpPr txBox="1"/>
          <p:nvPr/>
        </p:nvSpPr>
        <p:spPr>
          <a:xfrm>
            <a:off x="109728" y="5623560"/>
            <a:ext cx="921715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ручка одна — число чтений · serialize ×1.34–1.56 при меньших байтах · пара той же формы 1 vs 8, чей код — в следующей главе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HTTP: 2302 против 1180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6.2</a:t>
            </a:r>
          </a:p>
        </p:txBody>
      </p:sp>
      <p:sp>
        <p:nvSpPr>
          <p:cNvPr id="111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7" name="TextBox 1116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18" name="TextBox 1117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119" name="TextBox 1118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1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0" name="TextBox 1119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21" name="TextBox 1120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22" name="TextBox 1121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1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3" name="TextBox 1122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24" name="TextBox 1123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125" name="TextBox 1124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1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6" name="TextBox 1125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27" name="TextBox 1126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128" name="TextBox 1127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29" name="Rounded Rectangle 1128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0" name="TextBox 1129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31" name="TextBox 1130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132" name="TextBox 1131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2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3" name="TextBox 1132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134" name="Connector 1133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5" name="Oval 1134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6" name="Oval 1135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7" name="Oval 1136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8" name="Oval 1137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9" name="Oval 1138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0" name="Oval 1139"/>
          <p:cNvSpPr/>
          <p:nvPr/>
        </p:nvSpPr>
        <p:spPr>
          <a:xfrm>
            <a:off x="10496480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1" name="Oval 1140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2" name="Oval 1141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3" name="Oval 1142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4" name="Oval 1143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5" name="Oval 1144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6" name="Oval 1145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7" name="TextBox 1146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6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сервис</a:t>
            </a:r>
          </a:p>
        </p:txBody>
      </p:sp>
      <p:graphicFrame>
        <p:nvGraphicFramePr>
          <p:cNvPr id="1148" name="Chart 1147"/>
          <p:cNvGraphicFramePr>
            <a:graphicFrameLocks noGrp="1"/>
          </p:cNvGraphicFramePr>
          <p:nvPr/>
        </p:nvGraphicFramePr>
        <p:xfrm>
          <a:off x="109728" y="1188720"/>
          <a:ext cx="42062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2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4544568" y="1188720"/>
            <a:ext cx="4782312" cy="19202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9" name="TextBox 1148"/>
          <p:cNvSpPr txBox="1"/>
          <p:nvPr/>
        </p:nvSpPr>
        <p:spPr>
          <a:xfrm>
            <a:off x="4544568" y="1188720"/>
            <a:ext cx="4782312" cy="192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0" b="0">
                <a:solidFill>
                  <a:srgbClr val="1E5B28"/>
                </a:solidFill>
                <a:latin typeface="X5 Sans Medium"/>
              </a:rPr>
              <a:t>×1.95</a:t>
            </a:r>
          </a:p>
        </p:txBody>
      </p:sp>
      <p:sp>
        <p:nvSpPr>
          <p:cNvPr id="1122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4544568" y="3246120"/>
            <a:ext cx="2276856" cy="86868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TextBox 1149"/>
          <p:cNvSpPr txBox="1"/>
          <p:nvPr/>
        </p:nvSpPr>
        <p:spPr>
          <a:xfrm>
            <a:off x="4636007" y="3300984"/>
            <a:ext cx="2093975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p50 · 21 → 41 мс</a:t>
            </a:r>
          </a:p>
        </p:txBody>
      </p:sp>
      <p:sp>
        <p:nvSpPr>
          <p:cNvPr id="1123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7050023" y="3246120"/>
            <a:ext cx="2276856" cy="86868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1" name="TextBox 1150"/>
          <p:cNvSpPr txBox="1"/>
          <p:nvPr/>
        </p:nvSpPr>
        <p:spPr>
          <a:xfrm>
            <a:off x="7141463" y="3300984"/>
            <a:ext cx="2093975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p99 · 42 → 82 мс (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+95%</a:t>
            </a:r>
            <a:r>
              <a:rPr sz="1400" b="0">
                <a:solidFill>
                  <a:srgbClr val="1E5B28"/>
                </a:solidFill>
                <a:latin typeface="X5 Sans"/>
              </a:rPr>
              <a:t>)</a:t>
            </a:r>
          </a:p>
        </p:txBody>
      </p:sp>
      <p:sp>
        <p:nvSpPr>
          <p:cNvPr id="1152" name="Rounded Rectangle 1151"/>
          <p:cNvSpPr/>
          <p:nvPr/>
        </p:nvSpPr>
        <p:spPr>
          <a:xfrm>
            <a:off x="4544568" y="4251960"/>
            <a:ext cx="4782312" cy="2057400"/>
          </a:xfrm>
          <a:prstGeom prst="roundRect">
            <a:avLst>
              <a:gd name="adj" fmla="val 7111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3" name="Oval 1152"/>
          <p:cNvSpPr/>
          <p:nvPr/>
        </p:nvSpPr>
        <p:spPr>
          <a:xfrm>
            <a:off x="4727448" y="439826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4" name="Oval 1153"/>
          <p:cNvSpPr/>
          <p:nvPr/>
        </p:nvSpPr>
        <p:spPr>
          <a:xfrm>
            <a:off x="4910328" y="439826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5" name="Oval 1154"/>
          <p:cNvSpPr/>
          <p:nvPr/>
        </p:nvSpPr>
        <p:spPr>
          <a:xfrm>
            <a:off x="5093208" y="439826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6" name="TextBox 1155"/>
          <p:cNvSpPr txBox="1"/>
          <p:nvPr/>
        </p:nvSpPr>
        <p:spPr>
          <a:xfrm>
            <a:off x="5458968" y="4343400"/>
            <a:ext cx="36850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запись R7 · R = 5</a:t>
            </a:r>
          </a:p>
        </p:txBody>
      </p:sp>
      <p:sp>
        <p:nvSpPr>
          <p:cNvPr id="1157" name="TextBox 1156"/>
          <p:cNvSpPr txBox="1"/>
          <p:nvPr/>
        </p:nvSpPr>
        <p:spPr>
          <a:xfrm>
            <a:off x="4773168" y="4636008"/>
            <a:ext cx="4325112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0">
                <a:solidFill>
                  <a:srgbClr val="AADC00"/>
                </a:solidFill>
                <a:latin typeface="Menlo"/>
              </a:rPr>
              <a:t>$ autocannon -c 50 -d 20 "/process?batch=1000"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Menlo"/>
              </a:rPr>
              <a:t>mono-llm   </a:t>
            </a:r>
            <a:r>
              <a:rPr sz="1050" b="1">
                <a:solidFill>
                  <a:srgbClr val="FF9DB8"/>
                </a:solidFill>
                <a:latin typeface="Menlo"/>
              </a:rPr>
              <a:t>2302</a:t>
            </a:r>
            <a:r>
              <a:rPr sz="1050" b="0">
                <a:solidFill>
                  <a:srgbClr val="E6F2E9"/>
                </a:solidFill>
                <a:latin typeface="Menlo"/>
              </a:rPr>
              <a:t> rps   p50 21 ms   p99 42 ms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Menlo"/>
              </a:rPr>
              <a:t>guard-llm  </a:t>
            </a:r>
            <a:r>
              <a:rPr sz="1050" b="1">
                <a:solidFill>
                  <a:srgbClr val="FF9DB8"/>
                </a:solidFill>
                <a:latin typeface="Menlo"/>
              </a:rPr>
              <a:t>1180</a:t>
            </a:r>
            <a:r>
              <a:rPr sz="1050" b="0">
                <a:solidFill>
                  <a:srgbClr val="E6F2E9"/>
                </a:solidFill>
                <a:latin typeface="Menlo"/>
              </a:rPr>
              <a:t> rps   p50 41 ms   p99 82 ms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Menlo"/>
              </a:rPr>
              <a:t>mixed-mono 2005 rps   p50 24 ms   p99 48 ms</a:t>
            </a:r>
          </a:p>
        </p:txBody>
      </p:sp>
      <p:sp>
        <p:nvSpPr>
          <p:cNvPr id="1158" name="TextBox 1157"/>
          <p:cNvSpPr txBox="1"/>
          <p:nvPr/>
        </p:nvSpPr>
        <p:spPr>
          <a:xfrm>
            <a:off x="109728" y="5349240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6B7280"/>
                </a:solidFill>
                <a:latin typeface="X5 Sans"/>
              </a:rPr>
              <a:t>node:http · 50 соединений · 20 с</a:t>
            </a:r>
          </a:p>
          <a:p>
            <a:pPr algn="ctr">
              <a:spcAft>
                <a:spcPts val="300"/>
              </a:spcAft>
            </a:pPr>
            <a:r>
              <a:rPr sz="1200" b="0">
                <a:solidFill>
                  <a:srgbClr val="6B7280"/>
                </a:solidFill>
                <a:latin typeface="X5 Sans"/>
              </a:rPr>
              <a:t>термин: </a:t>
            </a:r>
            <a:r>
              <a:rPr sz="1200" b="0">
                <a:solidFill>
                  <a:srgbClr val="6B7280"/>
                </a:solidFill>
                <a:latin typeface="X5 Sans Medium"/>
              </a:rPr>
              <a:t>p99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Где это не важно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6.3</a:t>
            </a:r>
          </a:p>
        </p:txBody>
      </p:sp>
      <p:sp>
        <p:nvSpPr>
          <p:cNvPr id="112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TextBox 112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26" name="TextBox 1125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127" name="TextBox 1126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2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TextBox 1127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29" name="TextBox 1128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30" name="TextBox 1129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2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TextBox 1130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32" name="TextBox 1131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133" name="TextBox 1132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2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TextBox 1133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35" name="TextBox 1134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136" name="TextBox 1135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37" name="Rounded Rectangle 1136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8" name="TextBox 1137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39" name="TextBox 1138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140" name="TextBox 1139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2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1" name="TextBox 1140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142" name="Connector 1141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3" name="Oval 1142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4" name="Oval 1143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5" name="Oval 1144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6" name="Oval 1145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7" name="Oval 1146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8" name="Oval 1147"/>
          <p:cNvSpPr/>
          <p:nvPr/>
        </p:nvSpPr>
        <p:spPr>
          <a:xfrm>
            <a:off x="10496480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9" name="Oval 1148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0" name="Oval 1149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1" name="Oval 1150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2" name="Oval 1151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3" name="Oval 1152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4" name="Oval 1153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5" name="TextBox 1154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6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сервис</a:t>
            </a:r>
          </a:p>
        </p:txBody>
      </p:sp>
      <p:sp>
        <p:nvSpPr>
          <p:cNvPr id="1129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109728" y="1188720"/>
            <a:ext cx="2919984" cy="27432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56" name="TextBox 1155"/>
          <p:cNvSpPr txBox="1"/>
          <p:nvPr/>
        </p:nvSpPr>
        <p:spPr>
          <a:xfrm>
            <a:off x="365760" y="1342339"/>
            <a:ext cx="2407920" cy="24359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 Medium"/>
              </a:rPr>
              <a:t>ingest без чтений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R≈0: +6–10% (if-guard)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+13–18% (спред)</a:t>
            </a:r>
          </a:p>
        </p:txBody>
      </p:sp>
      <p:sp>
        <p:nvSpPr>
          <p:cNvPr id="1130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258312" y="1188720"/>
            <a:ext cx="2919984" cy="27432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57" name="TextBox 1156"/>
          <p:cNvSpPr txBox="1"/>
          <p:nvPr/>
        </p:nvSpPr>
        <p:spPr>
          <a:xfrm>
            <a:off x="3514344" y="1342339"/>
            <a:ext cx="2407920" cy="24359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 Medium"/>
              </a:rPr>
              <a:t>I/O-bound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ждёт базу десятки мс — не видно ни в p50, ни в p99</a:t>
            </a:r>
          </a:p>
        </p:txBody>
      </p:sp>
      <p:sp>
        <p:nvSpPr>
          <p:cNvPr id="1131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406896" y="1188720"/>
            <a:ext cx="2919984" cy="27432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58" name="TextBox 1157"/>
          <p:cNvSpPr txBox="1"/>
          <p:nvPr/>
        </p:nvSpPr>
        <p:spPr>
          <a:xfrm>
            <a:off x="6662928" y="1342339"/>
            <a:ext cx="2407920" cy="24359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 Medium"/>
              </a:rPr>
              <a:t>малые батчи, R=1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0.17 vs 0.22 мс на 500 записей</a:t>
            </a:r>
          </a:p>
        </p:txBody>
      </p:sp>
      <p:sp>
        <p:nvSpPr>
          <p:cNvPr id="1132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109728" y="4160520"/>
            <a:ext cx="9217152" cy="123444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9" name="TextBox 1158"/>
          <p:cNvSpPr txBox="1"/>
          <p:nvPr/>
        </p:nvSpPr>
        <p:spPr>
          <a:xfrm>
            <a:off x="384048" y="4325112"/>
            <a:ext cx="8668512" cy="9052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X5 Sans"/>
              </a:rPr>
              <a:t>читаете нормализованное — от трети до трёх с лишним раз; только складываете — единицы процентов</a:t>
            </a:r>
          </a:p>
        </p:txBody>
      </p:sp>
      <p:sp>
        <p:nvSpPr>
          <p:cNvPr id="1160" name="TextBox 1159"/>
          <p:cNvSpPr txBox="1"/>
          <p:nvPr/>
        </p:nvSpPr>
        <p:spPr>
          <a:xfrm>
            <a:off x="109728" y="5532120"/>
            <a:ext cx="9217152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«упрётся в базу» — верно при R≈0 · мой consume плотный — калибруйте R на свой профиль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[резерв] Как мерили — и где легко соврать</a:t>
            </a:r>
          </a:p>
        </p:txBody>
      </p:sp>
      <p:sp>
        <p:nvSpPr>
          <p:cNvPr id="1133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429768" y="1234440"/>
            <a:ext cx="2724912" cy="18288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4" name="TextBox 1133"/>
          <p:cNvSpPr txBox="1"/>
          <p:nvPr/>
        </p:nvSpPr>
        <p:spPr>
          <a:xfrm>
            <a:off x="630936" y="1355140"/>
            <a:ext cx="2322576" cy="1587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 Medium"/>
              </a:rPr>
              <a:t>одна среда</a:t>
            </a:r>
          </a:p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"/>
              </a:rPr>
              <a:t>Docker, </a:t>
            </a:r>
            <a:r>
              <a:rPr sz="1276" b="0">
                <a:solidFill>
                  <a:srgbClr val="1E5B28"/>
                </a:solidFill>
                <a:latin typeface="Menlo"/>
              </a:rPr>
              <a:t>node:24.21.0-alpine</a:t>
            </a:r>
            <a:r>
              <a:rPr sz="1450" b="0">
                <a:solidFill>
                  <a:srgbClr val="1E5B28"/>
                </a:solidFill>
                <a:latin typeface="X5 Sans"/>
              </a:rPr>
              <a:t>, тег запиннен, </a:t>
            </a:r>
            <a:r>
              <a:rPr sz="1276" b="0">
                <a:solidFill>
                  <a:srgbClr val="1E5B28"/>
                </a:solidFill>
                <a:latin typeface="Menlo"/>
              </a:rPr>
              <a:t>--cpus 2</a:t>
            </a:r>
          </a:p>
        </p:txBody>
      </p:sp>
      <p:sp>
        <p:nvSpPr>
          <p:cNvPr id="1134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291839" y="1234440"/>
            <a:ext cx="2724912" cy="18288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5" name="TextBox 1134"/>
          <p:cNvSpPr txBox="1"/>
          <p:nvPr/>
        </p:nvSpPr>
        <p:spPr>
          <a:xfrm>
            <a:off x="3493008" y="1355140"/>
            <a:ext cx="2322576" cy="1587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 Medium"/>
              </a:rPr>
              <a:t>процесс на ячейку</a:t>
            </a:r>
          </a:p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"/>
              </a:rPr>
              <a:t>записи мест чтения не текут между вариантами</a:t>
            </a:r>
          </a:p>
        </p:txBody>
      </p:sp>
      <p:sp>
        <p:nvSpPr>
          <p:cNvPr id="1135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153912" y="1234440"/>
            <a:ext cx="2724912" cy="18288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6" name="TextBox 1135"/>
          <p:cNvSpPr txBox="1"/>
          <p:nvPr/>
        </p:nvSpPr>
        <p:spPr>
          <a:xfrm>
            <a:off x="6355079" y="1355140"/>
            <a:ext cx="2322576" cy="1587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 Medium"/>
              </a:rPr>
              <a:t>прогрев → замер</a:t>
            </a:r>
          </a:p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"/>
              </a:rPr>
              <a:t>300 / 1000 итераций, 5 повторов, медианы</a:t>
            </a:r>
          </a:p>
        </p:txBody>
      </p:sp>
      <p:sp>
        <p:nvSpPr>
          <p:cNvPr id="1136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9015984" y="1234440"/>
            <a:ext cx="2724912" cy="18288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7" name="TextBox 1136"/>
          <p:cNvSpPr txBox="1"/>
          <p:nvPr/>
        </p:nvSpPr>
        <p:spPr>
          <a:xfrm>
            <a:off x="9217152" y="1355140"/>
            <a:ext cx="2322576" cy="1587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 Medium"/>
              </a:rPr>
              <a:t>чексуммы</a:t>
            </a:r>
          </a:p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"/>
              </a:rPr>
              <a:t>результат A и B совпал во всех 150 ячейках</a:t>
            </a:r>
          </a:p>
        </p:txBody>
      </p:sp>
      <p:sp>
        <p:nvSpPr>
          <p:cNvPr id="1137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429768" y="3291840"/>
            <a:ext cx="2724912" cy="228600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8" name="TextBox 1137"/>
          <p:cNvSpPr txBox="1"/>
          <p:nvPr/>
        </p:nvSpPr>
        <p:spPr>
          <a:xfrm>
            <a:off x="630936" y="3412540"/>
            <a:ext cx="2322576" cy="20445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E5B28"/>
                </a:solidFill>
                <a:latin typeface="X5 Sans Medium"/>
              </a:rPr>
              <a:t>общий процесс</a:t>
            </a:r>
          </a:p>
          <a:p>
            <a:pPr algn="l">
              <a:spcAft>
                <a:spcPts val="400"/>
              </a:spcAft>
            </a:pPr>
            <a:r>
              <a:rPr sz="1350" b="0">
                <a:solidFill>
                  <a:srgbClr val="1E5B28"/>
                </a:solidFill>
                <a:latin typeface="X5 Sans"/>
              </a:rPr>
              <a:t>кейсы заражают друг друга: так «try/catch дорогой» даёт ×3</a:t>
            </a:r>
          </a:p>
        </p:txBody>
      </p:sp>
      <p:sp>
        <p:nvSpPr>
          <p:cNvPr id="1138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3291839" y="3291840"/>
            <a:ext cx="2724912" cy="228600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9" name="TextBox 1138"/>
          <p:cNvSpPr txBox="1"/>
          <p:nvPr/>
        </p:nvSpPr>
        <p:spPr>
          <a:xfrm>
            <a:off x="3493008" y="3412540"/>
            <a:ext cx="2322576" cy="20445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E5B28"/>
                </a:solidFill>
                <a:latin typeface="X5 Sans Medium"/>
              </a:rPr>
              <a:t>трейс без фильтра</a:t>
            </a:r>
          </a:p>
          <a:p>
            <a:pPr algn="l">
              <a:spcAft>
                <a:spcPts val="400"/>
              </a:spcAft>
            </a:pPr>
            <a:r>
              <a:rPr sz="1188" b="0">
                <a:solidFill>
                  <a:srgbClr val="1E5B28"/>
                </a:solidFill>
                <a:latin typeface="Menlo"/>
              </a:rPr>
              <a:t>wrong map</a:t>
            </a:r>
            <a:r>
              <a:rPr sz="1350" b="0">
                <a:solidFill>
                  <a:srgbClr val="1E5B28"/>
                </a:solidFill>
                <a:latin typeface="X5 Sans"/>
              </a:rPr>
              <a:t> есть и у A — в normalizeUser и в обёртке модуля; смотреть только читателя</a:t>
            </a:r>
          </a:p>
        </p:txBody>
      </p:sp>
      <p:sp>
        <p:nvSpPr>
          <p:cNvPr id="1139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6153912" y="3291840"/>
            <a:ext cx="2724912" cy="228600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40" name="TextBox 1139"/>
          <p:cNvSpPr txBox="1"/>
          <p:nvPr/>
        </p:nvSpPr>
        <p:spPr>
          <a:xfrm>
            <a:off x="6355079" y="3412540"/>
            <a:ext cx="2322576" cy="20445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E5B28"/>
                </a:solidFill>
                <a:latin typeface="X5 Sans Medium"/>
              </a:rPr>
              <a:t>помеха на старте</a:t>
            </a:r>
          </a:p>
          <a:p>
            <a:pPr algn="l">
              <a:spcAft>
                <a:spcPts val="400"/>
              </a:spcAft>
            </a:pPr>
            <a:r>
              <a:rPr sz="1350" b="0">
                <a:solidFill>
                  <a:srgbClr val="1E5B28"/>
                </a:solidFill>
                <a:latin typeface="X5 Sans"/>
              </a:rPr>
              <a:t>первая серия дала 3.5 мс вместо 0.8 — забракована, перемеряна с контролем эталона</a:t>
            </a:r>
          </a:p>
        </p:txBody>
      </p:sp>
      <p:sp>
        <p:nvSpPr>
          <p:cNvPr id="1140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9015984" y="3291840"/>
            <a:ext cx="2724912" cy="228600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41" name="TextBox 1140"/>
          <p:cNvSpPr txBox="1"/>
          <p:nvPr/>
        </p:nvSpPr>
        <p:spPr>
          <a:xfrm>
            <a:off x="9217152" y="3412540"/>
            <a:ext cx="2322576" cy="20445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E5B28"/>
                </a:solidFill>
                <a:latin typeface="X5 Sans Medium"/>
              </a:rPr>
              <a:t>чужая архитектура</a:t>
            </a:r>
          </a:p>
          <a:p>
            <a:pPr algn="l">
              <a:spcAft>
                <a:spcPts val="400"/>
              </a:spcAft>
            </a:pPr>
            <a:r>
              <a:rPr sz="1350" b="0">
                <a:solidFill>
                  <a:srgbClr val="1E5B28"/>
                </a:solidFill>
                <a:latin typeface="X5 Sans"/>
              </a:rPr>
              <a:t>эмуляция x64 на маке искажает JIT; настоящий x64 — в CI: то же направление</a:t>
            </a:r>
          </a:p>
        </p:txBody>
      </p:sp>
      <p:sp>
        <p:nvSpPr>
          <p:cNvPr id="1142" name="TextBox 1141"/>
          <p:cNvSpPr txBox="1"/>
          <p:nvPr/>
        </p:nvSpPr>
        <p:spPr>
          <a:xfrm>
            <a:off x="429768" y="5760720"/>
            <a:ext cx="1132027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микробенч ≠ прод: поэтому после прибора — пайплайн с JSON.parse и сериализацией, а после него — HTTP под нагрузкой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Кто написал B: агент</a:t>
            </a:r>
          </a:p>
        </p:txBody>
      </p:sp>
      <p:sp>
        <p:nvSpPr>
          <p:cNvPr id="1141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312767" y="1097280"/>
            <a:ext cx="356616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2" name="TextBox 1141"/>
          <p:cNvSpPr txBox="1"/>
          <p:nvPr/>
        </p:nvSpPr>
        <p:spPr>
          <a:xfrm>
            <a:off x="4312767" y="1097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7 из 12 · 6 мин</a:t>
            </a:r>
          </a:p>
        </p:txBody>
      </p:sp>
      <p:sp>
        <p:nvSpPr>
          <p:cNvPr id="1142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TextBox 1142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Движок с первого вызова не сделал ни одного выбора. Единственный выбор — как собрать объект — сделан в тексте. Кто написал B, и почему ревью пропустило?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Кто написал B?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7.1</a:t>
            </a:r>
          </a:p>
        </p:txBody>
      </p:sp>
      <p:sp>
        <p:nvSpPr>
          <p:cNvPr id="114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TextBox 1143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45" name="TextBox 114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146" name="TextBox 1145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4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TextBox 1146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48" name="TextBox 1147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49" name="TextBox 1148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4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TextBox 1149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51" name="TextBox 1150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152" name="TextBox 1151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4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TextBox 115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54" name="TextBox 1153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155" name="TextBox 1154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56" name="Rounded Rectangle 1155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7" name="TextBox 1156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58" name="TextBox 1157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159" name="TextBox 1158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4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TextBox 1159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161" name="Connector 1160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2" name="Oval 1161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3" name="Oval 1162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4" name="Oval 1163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5" name="Oval 1164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6" name="Oval 1165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7" name="Oval 1166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8" name="Oval 1167"/>
          <p:cNvSpPr/>
          <p:nvPr/>
        </p:nvSpPr>
        <p:spPr>
          <a:xfrm>
            <a:off x="10671879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9" name="Oval 1168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0" name="Oval 1169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1" name="Oval 1170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2" name="Oval 1171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3" name="Oval 1172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4" name="TextBox 1173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7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агент</a:t>
            </a:r>
          </a:p>
        </p:txBody>
      </p:sp>
      <p:sp>
        <p:nvSpPr>
          <p:cNvPr id="1175" name="Rounded Rectangle 1174"/>
          <p:cNvSpPr/>
          <p:nvPr/>
        </p:nvSpPr>
        <p:spPr>
          <a:xfrm>
            <a:off x="109728" y="1188720"/>
            <a:ext cx="5212080" cy="5120640"/>
          </a:xfrm>
          <a:prstGeom prst="roundRect">
            <a:avLst>
              <a:gd name="adj" fmla="val 2857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6" name="Oval 1175"/>
          <p:cNvSpPr/>
          <p:nvPr/>
        </p:nvSpPr>
        <p:spPr>
          <a:xfrm>
            <a:off x="292608" y="133502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7" name="Oval 1176"/>
          <p:cNvSpPr/>
          <p:nvPr/>
        </p:nvSpPr>
        <p:spPr>
          <a:xfrm>
            <a:off x="475488" y="133502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8" name="Oval 1177"/>
          <p:cNvSpPr/>
          <p:nvPr/>
        </p:nvSpPr>
        <p:spPr>
          <a:xfrm>
            <a:off x="658368" y="133502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9" name="TextBox 1178"/>
          <p:cNvSpPr txBox="1"/>
          <p:nvPr/>
        </p:nvSpPr>
        <p:spPr>
          <a:xfrm>
            <a:off x="1024128" y="1280160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запись R8</a:t>
            </a:r>
          </a:p>
        </p:txBody>
      </p:sp>
      <p:sp>
        <p:nvSpPr>
          <p:cNvPr id="1180" name="TextBox 1179"/>
          <p:cNvSpPr txBox="1"/>
          <p:nvPr/>
        </p:nvSpPr>
        <p:spPr>
          <a:xfrm>
            <a:off x="338328" y="1572768"/>
            <a:ext cx="475488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AADC00"/>
                </a:solidFill>
                <a:latin typeface="Menlo"/>
              </a:rPr>
              <a:t>$ claude -p --model opus "$(cat P1.txt)" &gt; raw.txt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8FB09A"/>
                </a:solidFill>
                <a:latin typeface="Menlo"/>
              </a:rPr>
              <a:t># тикет: normalizeUser · 5 обязательных полей,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8FB09A"/>
                </a:solidFill>
                <a:latin typeface="Menlo"/>
              </a:rPr>
              <a:t># 3 опциональных, дефолты · про скорость — ни слова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AADC00"/>
                </a:solidFill>
                <a:latin typeface="Menlo"/>
              </a:rPr>
              <a:t>$ node extract.js raw.txt &gt; candidate.js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AADC00"/>
                </a:solidFill>
                <a:latin typeface="Menlo"/>
              </a:rPr>
              <a:t>$ node --allow-natives-syntax shape-analyzer.js \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    candidate.js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{</a:t>
            </a:r>
            <a:r>
              <a:rPr sz="1200" b="1">
                <a:solidFill>
                  <a:srgbClr val="FF9DB8"/>
                </a:solidFill>
                <a:latin typeface="Menlo"/>
              </a:rPr>
              <a:t>"shapes":8</a:t>
            </a:r>
            <a:r>
              <a:rPr sz="1200" b="0">
                <a:solidFill>
                  <a:srgbClr val="E6F2E9"/>
                </a:solidFill>
                <a:latin typeface="Menlo"/>
              </a:rPr>
              <a:t>,</a:t>
            </a:r>
            <a:r>
              <a:rPr sz="1200" b="1">
                <a:solidFill>
                  <a:srgbClr val="FF9DB8"/>
                </a:solidFill>
                <a:latin typeface="Menlo"/>
              </a:rPr>
              <a:t>"ic":"MEGA"</a:t>
            </a:r>
            <a:r>
              <a:rPr sz="1200" b="0">
                <a:solidFill>
                  <a:srgbClr val="E6F2E9"/>
                </a:solidFill>
                <a:latin typeface="Menlo"/>
              </a:rPr>
              <a:t>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Menlo"/>
              </a:rPr>
              <a:t> "p50_ms":0.76,"correct":true}</a:t>
            </a:r>
          </a:p>
        </p:txBody>
      </p:sp>
      <p:sp>
        <p:nvSpPr>
          <p:cNvPr id="1148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760720" y="1188720"/>
            <a:ext cx="3566160" cy="118872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81" name="TextBox 1180"/>
          <p:cNvSpPr txBox="1"/>
          <p:nvPr/>
        </p:nvSpPr>
        <p:spPr>
          <a:xfrm>
            <a:off x="5961888" y="1309420"/>
            <a:ext cx="3163824" cy="9473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"/>
              </a:rPr>
              <a:t>тот же тикет, что в трекере · слова «производительность» в нём нет</a:t>
            </a:r>
          </a:p>
        </p:txBody>
      </p:sp>
      <p:sp>
        <p:nvSpPr>
          <p:cNvPr id="1149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760720" y="2487168"/>
            <a:ext cx="3566160" cy="118872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82" name="TextBox 1181"/>
          <p:cNvSpPr txBox="1"/>
          <p:nvPr/>
        </p:nvSpPr>
        <p:spPr>
          <a:xfrm>
            <a:off x="5961888" y="2607868"/>
            <a:ext cx="3163824" cy="9473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32" b="0">
                <a:solidFill>
                  <a:srgbClr val="1E5B28"/>
                </a:solidFill>
                <a:latin typeface="Menlo"/>
              </a:rPr>
              <a:t>claude -p --model opus</a:t>
            </a:r>
            <a:r>
              <a:rPr sz="1400" b="0">
                <a:solidFill>
                  <a:srgbClr val="1E5B28"/>
                </a:solidFill>
                <a:latin typeface="X5 Sans"/>
              </a:rPr>
              <a:t> · каждая генерация — свежая сессия</a:t>
            </a:r>
          </a:p>
        </p:txBody>
      </p:sp>
      <p:sp>
        <p:nvSpPr>
          <p:cNvPr id="1150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760720" y="3785615"/>
            <a:ext cx="3566160" cy="118872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83" name="TextBox 1182"/>
          <p:cNvSpPr txBox="1"/>
          <p:nvPr/>
        </p:nvSpPr>
        <p:spPr>
          <a:xfrm>
            <a:off x="5961888" y="3906316"/>
            <a:ext cx="3163824" cy="9473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"/>
              </a:rPr>
              <a:t>4 ветки × 15 =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60</a:t>
            </a:r>
            <a:r>
              <a:rPr sz="1400" b="0">
                <a:solidFill>
                  <a:srgbClr val="1E5B28"/>
                </a:solidFill>
                <a:latin typeface="X5 Sans"/>
              </a:rPr>
              <a:t> генераций</a:t>
            </a:r>
          </a:p>
        </p:txBody>
      </p:sp>
      <p:sp>
        <p:nvSpPr>
          <p:cNvPr id="1151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760720" y="5084064"/>
            <a:ext cx="3566160" cy="118872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84" name="TextBox 1183"/>
          <p:cNvSpPr txBox="1"/>
          <p:nvPr/>
        </p:nvSpPr>
        <p:spPr>
          <a:xfrm>
            <a:off x="5961888" y="5204764"/>
            <a:ext cx="3163824" cy="9473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"/>
              </a:rPr>
              <a:t>прибор проверен на A/B: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0.12 / 0.79 мс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Без правил: 30/30 MEGA — и ни одной ошибки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7.2</a:t>
            </a:r>
          </a:p>
        </p:txBody>
      </p:sp>
      <p:sp>
        <p:nvSpPr>
          <p:cNvPr id="115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TextBox 1152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54" name="TextBox 1153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155" name="TextBox 1154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5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6" name="TextBox 1155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57" name="TextBox 1156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58" name="TextBox 1157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5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9" name="TextBox 1158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60" name="TextBox 1159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161" name="TextBox 1160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5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2" name="TextBox 116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63" name="TextBox 116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164" name="TextBox 1163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65" name="Rounded Rectangle 1164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6" name="TextBox 116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67" name="TextBox 1166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168" name="TextBox 1167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5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9" name="TextBox 1168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170" name="Connector 1169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1" name="Oval 1170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2" name="Oval 1171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3" name="Oval 1172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4" name="Oval 1173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5" name="Oval 1174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6" name="Oval 1175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7" name="Oval 1176"/>
          <p:cNvSpPr/>
          <p:nvPr/>
        </p:nvSpPr>
        <p:spPr>
          <a:xfrm>
            <a:off x="10671879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8" name="Oval 1177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9" name="Oval 1178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0" name="Oval 1179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1" name="Oval 1180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2" name="Oval 1181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3" name="TextBox 1182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7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агент</a:t>
            </a:r>
          </a:p>
        </p:txBody>
      </p:sp>
      <p:sp>
        <p:nvSpPr>
          <p:cNvPr id="1157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109728" y="1188720"/>
            <a:ext cx="9217152" cy="512064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84" name="TextBox 1183"/>
          <p:cNvSpPr txBox="1"/>
          <p:nvPr/>
        </p:nvSpPr>
        <p:spPr>
          <a:xfrm>
            <a:off x="384048" y="1325880"/>
            <a:ext cx="8668512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00" b="0">
                <a:solidFill>
                  <a:srgbClr val="8A1538"/>
                </a:solidFill>
                <a:latin typeface="X5 Sans Medium"/>
              </a:rPr>
              <a:t>30/30 MEGA</a:t>
            </a:r>
          </a:p>
        </p:txBody>
      </p:sp>
      <p:sp>
        <p:nvSpPr>
          <p:cNvPr id="1158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475488" y="3108960"/>
            <a:ext cx="2676143" cy="1463040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85" name="TextBox 1184"/>
          <p:cNvSpPr txBox="1"/>
          <p:nvPr/>
        </p:nvSpPr>
        <p:spPr>
          <a:xfrm>
            <a:off x="612648" y="3191256"/>
            <a:ext cx="2401824" cy="1298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 Medium"/>
              </a:rPr>
              <a:t>8</a:t>
            </a:r>
            <a:r>
              <a:rPr sz="1700" b="0">
                <a:solidFill>
                  <a:srgbClr val="1E5B28"/>
                </a:solidFill>
                <a:latin typeface="X5 Sans"/>
              </a:rPr>
              <a:t> форм</a:t>
            </a:r>
          </a:p>
        </p:txBody>
      </p:sp>
      <p:sp>
        <p:nvSpPr>
          <p:cNvPr id="1159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3380231" y="3108960"/>
            <a:ext cx="2676143" cy="1463040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86" name="TextBox 1185"/>
          <p:cNvSpPr txBox="1"/>
          <p:nvPr/>
        </p:nvSpPr>
        <p:spPr>
          <a:xfrm>
            <a:off x="3517391" y="3191256"/>
            <a:ext cx="2401824" cy="1298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p50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0.79 мс</a:t>
            </a:r>
            <a:r>
              <a:rPr sz="1700" b="0">
                <a:solidFill>
                  <a:srgbClr val="1E5B28"/>
                </a:solidFill>
                <a:latin typeface="X5 Sans"/>
              </a:rPr>
              <a:t> (0.76–0.83)</a:t>
            </a:r>
          </a:p>
        </p:txBody>
      </p:sp>
      <p:sp>
        <p:nvSpPr>
          <p:cNvPr id="1160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6284976" y="3108960"/>
            <a:ext cx="2676143" cy="1463040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87" name="TextBox 1186"/>
          <p:cNvSpPr txBox="1"/>
          <p:nvPr/>
        </p:nvSpPr>
        <p:spPr>
          <a:xfrm>
            <a:off x="6422136" y="3191256"/>
            <a:ext cx="2401824" cy="1298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 Medium"/>
              </a:rPr>
              <a:t>0</a:t>
            </a:r>
            <a:r>
              <a:rPr sz="1700" b="0">
                <a:solidFill>
                  <a:srgbClr val="1E5B28"/>
                </a:solidFill>
                <a:latin typeface="X5 Sans"/>
              </a:rPr>
              <a:t> битых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0</a:t>
            </a:r>
            <a:r>
              <a:rPr sz="1700" b="0">
                <a:solidFill>
                  <a:srgbClr val="1E5B28"/>
                </a:solidFill>
                <a:latin typeface="X5 Sans"/>
              </a:rPr>
              <a:t> некорректных из 60</a:t>
            </a:r>
          </a:p>
        </p:txBody>
      </p:sp>
      <p:sp>
        <p:nvSpPr>
          <p:cNvPr id="1188" name="TextBox 1187"/>
          <p:cNvSpPr txBox="1"/>
          <p:nvPr/>
        </p:nvSpPr>
        <p:spPr>
          <a:xfrm>
            <a:off x="475488" y="4846320"/>
            <a:ext cx="8485632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0">
                <a:solidFill>
                  <a:srgbClr val="1E5B28"/>
                </a:solidFill>
                <a:latin typeface="X5 Sans Medium"/>
              </a:rPr>
              <a:t>«Ревью пропустит»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Две записи — одна судьба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7.3</a:t>
            </a:r>
          </a:p>
        </p:txBody>
      </p:sp>
      <p:sp>
        <p:nvSpPr>
          <p:cNvPr id="116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2" name="TextBox 1161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63" name="TextBox 1162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164" name="TextBox 1163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6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5" name="TextBox 1164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66" name="TextBox 1165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67" name="TextBox 1166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6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8" name="TextBox 1167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69" name="TextBox 1168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170" name="TextBox 1169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6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1" name="TextBox 1170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72" name="TextBox 117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173" name="TextBox 1172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74" name="Rounded Rectangle 1173"/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19444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5" name="TextBox 1174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76" name="TextBox 117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177" name="TextBox 1176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6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TextBox 1177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179" name="Connector 1178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0" name="Oval 1179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1" name="Oval 1180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2" name="Oval 1181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3" name="Oval 1182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4" name="Oval 1183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5" name="Oval 1184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6" name="Oval 1185"/>
          <p:cNvSpPr/>
          <p:nvPr/>
        </p:nvSpPr>
        <p:spPr>
          <a:xfrm>
            <a:off x="10671879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7" name="Oval 1186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8" name="Oval 1187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9" name="Oval 1188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0" name="Oval 1189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1" name="Oval 1190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2" name="TextBox 1191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7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агент</a:t>
            </a:r>
          </a:p>
        </p:txBody>
      </p:sp>
      <p:sp>
        <p:nvSpPr>
          <p:cNvPr id="1166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109728" y="1188720"/>
            <a:ext cx="4389120" cy="329184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67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292608" y="1335024"/>
            <a:ext cx="2011680" cy="310896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93" name="TextBox 1192"/>
          <p:cNvSpPr txBox="1"/>
          <p:nvPr/>
        </p:nvSpPr>
        <p:spPr>
          <a:xfrm>
            <a:off x="292608" y="1335024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8A1538"/>
                </a:solidFill>
                <a:latin typeface="X5 Sans Medium"/>
              </a:rPr>
              <a:t>B с первого слайда</a:t>
            </a:r>
          </a:p>
        </p:txBody>
      </p:sp>
      <p:sp>
        <p:nvSpPr>
          <p:cNvPr id="1194" name="TextBox 1193"/>
          <p:cNvSpPr txBox="1"/>
          <p:nvPr/>
        </p:nvSpPr>
        <p:spPr>
          <a:xfrm>
            <a:off x="384048" y="1737360"/>
            <a:ext cx="3931920" cy="2606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Menlo"/>
              </a:rPr>
              <a:t>return {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Menlo"/>
              </a:rPr>
              <a:t>  id, name, email, plan, credits,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8A1538"/>
                </a:solidFill>
                <a:latin typeface="Menlo"/>
              </a:rPr>
              <a:t>  ...(raw.referrer &amp;&amp; { referrer: … }),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8A1538"/>
                </a:solidFill>
                <a:latin typeface="Menlo"/>
              </a:rPr>
              <a:t>  ...(raw.trialUntil &amp;&amp; { trialUntil: … }),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8A1538"/>
                </a:solidFill>
                <a:latin typeface="Menlo"/>
              </a:rPr>
              <a:t>  ...(raw.teamId &amp;&amp; { teamId: … }),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Menlo"/>
              </a:rPr>
              <a:t>};</a:t>
            </a:r>
          </a:p>
        </p:txBody>
      </p:sp>
      <p:sp>
        <p:nvSpPr>
          <p:cNvPr id="1168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4709160" y="1188720"/>
            <a:ext cx="4389120" cy="329184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69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4892040" y="1335024"/>
            <a:ext cx="1737360" cy="310896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95" name="TextBox 1194"/>
          <p:cNvSpPr txBox="1"/>
          <p:nvPr/>
        </p:nvSpPr>
        <p:spPr>
          <a:xfrm>
            <a:off x="4892040" y="1335024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8A1538"/>
                </a:solidFill>
                <a:latin typeface="X5 Sans Medium"/>
              </a:rPr>
              <a:t>агент, 30 из 30</a:t>
            </a:r>
          </a:p>
        </p:txBody>
      </p:sp>
      <p:sp>
        <p:nvSpPr>
          <p:cNvPr id="1196" name="TextBox 1195"/>
          <p:cNvSpPr txBox="1"/>
          <p:nvPr/>
        </p:nvSpPr>
        <p:spPr>
          <a:xfrm>
            <a:off x="4983480" y="1737360"/>
            <a:ext cx="3931920" cy="2606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Menlo"/>
              </a:rPr>
              <a:t>const result = { id, name, email, … };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8A1538"/>
                </a:solidFill>
                <a:latin typeface="Menlo"/>
              </a:rPr>
              <a:t>if (src.referrer != null)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Menlo"/>
              </a:rPr>
              <a:t>  result.referrer = src.referrer;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8A1538"/>
                </a:solidFill>
                <a:latin typeface="Menlo"/>
              </a:rPr>
              <a:t>if (src.trialUntil != null) result.trialUntil = …;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8A1538"/>
                </a:solidFill>
                <a:latin typeface="Menlo"/>
              </a:rPr>
              <a:t>if (src.teamId != null) result.teamId = …;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Menlo"/>
              </a:rPr>
              <a:t>return result;</a:t>
            </a:r>
          </a:p>
        </p:txBody>
      </p:sp>
      <p:sp>
        <p:nvSpPr>
          <p:cNvPr id="1170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109728" y="4663440"/>
            <a:ext cx="2919984" cy="731520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97" name="TextBox 1196"/>
          <p:cNvSpPr txBox="1"/>
          <p:nvPr/>
        </p:nvSpPr>
        <p:spPr>
          <a:xfrm>
            <a:off x="201168" y="4718303"/>
            <a:ext cx="2737104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8A1538"/>
                </a:solidFill>
                <a:latin typeface="X5 Sans"/>
              </a:rPr>
              <a:t>спред </a:t>
            </a:r>
            <a:r>
              <a:rPr sz="1500" b="0">
                <a:solidFill>
                  <a:srgbClr val="8A1538"/>
                </a:solidFill>
                <a:latin typeface="X5 Sans Medium"/>
              </a:rPr>
              <a:t>0/30</a:t>
            </a:r>
          </a:p>
        </p:txBody>
      </p:sp>
      <p:sp>
        <p:nvSpPr>
          <p:cNvPr id="1171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3258312" y="4663440"/>
            <a:ext cx="2919984" cy="731520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98" name="TextBox 1197"/>
          <p:cNvSpPr txBox="1"/>
          <p:nvPr/>
        </p:nvSpPr>
        <p:spPr>
          <a:xfrm>
            <a:off x="3349752" y="4718303"/>
            <a:ext cx="2737104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8A1538"/>
                </a:solidFill>
                <a:latin typeface="X5 Sans"/>
              </a:rPr>
              <a:t>Object.assign </a:t>
            </a:r>
            <a:r>
              <a:rPr sz="1500" b="0">
                <a:solidFill>
                  <a:srgbClr val="8A1538"/>
                </a:solidFill>
                <a:latin typeface="X5 Sans Medium"/>
              </a:rPr>
              <a:t>0/30</a:t>
            </a:r>
          </a:p>
        </p:txBody>
      </p:sp>
      <p:sp>
        <p:nvSpPr>
          <p:cNvPr id="1172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6406896" y="4663440"/>
            <a:ext cx="2919984" cy="731520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99" name="TextBox 1198"/>
          <p:cNvSpPr txBox="1"/>
          <p:nvPr/>
        </p:nvSpPr>
        <p:spPr>
          <a:xfrm>
            <a:off x="6498336" y="4718303"/>
            <a:ext cx="2737104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8A1538"/>
                </a:solidFill>
                <a:latin typeface="X5 Sans"/>
              </a:rPr>
              <a:t>if после литерала </a:t>
            </a:r>
            <a:r>
              <a:rPr sz="1500" b="0">
                <a:solidFill>
                  <a:srgbClr val="8A1538"/>
                </a:solidFill>
                <a:latin typeface="X5 Sans Medium"/>
              </a:rPr>
              <a:t>30/30</a:t>
            </a:r>
          </a:p>
        </p:txBody>
      </p:sp>
      <p:sp>
        <p:nvSpPr>
          <p:cNvPr id="1173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109728" y="5532120"/>
            <a:ext cx="9217152" cy="77724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0" name="TextBox 1199"/>
          <p:cNvSpPr txBox="1"/>
          <p:nvPr/>
        </p:nvSpPr>
        <p:spPr>
          <a:xfrm>
            <a:off x="201168" y="5586983"/>
            <a:ext cx="9034272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буквы другие — набор ключей тот же: 2³ = 8 форм · 0.79 ∈ [0.76 – 0.83]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Чей код стоял в сервисе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7.4</a:t>
            </a:r>
          </a:p>
        </p:txBody>
      </p:sp>
      <p:sp>
        <p:nvSpPr>
          <p:cNvPr id="117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5" name="TextBox 117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76" name="TextBox 1175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177" name="TextBox 1176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7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TextBox 1177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79" name="TextBox 1178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80" name="TextBox 1179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7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TextBox 1180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82" name="TextBox 1181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183" name="TextBox 1182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7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4" name="TextBox 1183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85" name="TextBox 1184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186" name="TextBox 1185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7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TextBox 1186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188" name="TextBox 1187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189" name="TextBox 1188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?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агент без правил</a:t>
            </a:r>
          </a:p>
        </p:txBody>
      </p:sp>
      <p:sp>
        <p:nvSpPr>
          <p:cNvPr id="117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TextBox 1189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191" name="Connector 1190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2" name="Oval 1191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3" name="Oval 1192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4" name="Oval 1193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5" name="Oval 1194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6" name="Oval 1195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7" name="Oval 1196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8" name="Oval 1197"/>
          <p:cNvSpPr/>
          <p:nvPr/>
        </p:nvSpPr>
        <p:spPr>
          <a:xfrm>
            <a:off x="10671879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9" name="Oval 1198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0" name="Oval 1199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1" name="Oval 1200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2" name="Oval 1201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3" name="Oval 1202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4" name="TextBox 1203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7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агент</a:t>
            </a:r>
          </a:p>
        </p:txBody>
      </p:sp>
      <p:sp>
        <p:nvSpPr>
          <p:cNvPr id="1180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109728" y="1188720"/>
            <a:ext cx="9217152" cy="146304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05" name="TextBox 1204"/>
          <p:cNvSpPr txBox="1"/>
          <p:nvPr/>
        </p:nvSpPr>
        <p:spPr>
          <a:xfrm>
            <a:off x="384048" y="1353312"/>
            <a:ext cx="8668512" cy="11338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0">
                <a:solidFill>
                  <a:srgbClr val="1E5B28"/>
                </a:solidFill>
                <a:latin typeface="X5 Sans"/>
              </a:rPr>
              <a:t>1180 rps = guard-llm = </a:t>
            </a:r>
            <a:r>
              <a:rPr sz="1848" b="0">
                <a:solidFill>
                  <a:srgbClr val="1E5B28"/>
                </a:solidFill>
                <a:latin typeface="Menlo"/>
              </a:rPr>
              <a:t>out/p1-no-rules/candidate_1.js</a:t>
            </a:r>
          </a:p>
        </p:txBody>
      </p:sp>
      <p:sp>
        <p:nvSpPr>
          <p:cNvPr id="1181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109728" y="2880360"/>
            <a:ext cx="2919984" cy="13716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06" name="TextBox 1205"/>
          <p:cNvSpPr txBox="1"/>
          <p:nvPr/>
        </p:nvSpPr>
        <p:spPr>
          <a:xfrm>
            <a:off x="292608" y="2990088"/>
            <a:ext cx="2554224" cy="11521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1E5B28"/>
                </a:solidFill>
                <a:latin typeface="X5 Sans"/>
              </a:rPr>
              <a:t>P1 / P2</a:t>
            </a:r>
          </a:p>
          <a:p>
            <a:pPr algn="ctr"/>
            <a:r>
              <a:rPr sz="1600" b="0">
                <a:solidFill>
                  <a:srgbClr val="1E5B28"/>
                </a:solidFill>
                <a:latin typeface="X5 Sans Medium"/>
              </a:rPr>
              <a:t>15/15 · 15/15 MEGA</a:t>
            </a:r>
          </a:p>
        </p:txBody>
      </p:sp>
      <p:sp>
        <p:nvSpPr>
          <p:cNvPr id="1182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258312" y="2880360"/>
            <a:ext cx="2919984" cy="13716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07" name="TextBox 1206"/>
          <p:cNvSpPr txBox="1"/>
          <p:nvPr/>
        </p:nvSpPr>
        <p:spPr>
          <a:xfrm>
            <a:off x="3441192" y="2990088"/>
            <a:ext cx="2554224" cy="11521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1E5B28"/>
                </a:solidFill>
                <a:latin typeface="X5 Sans"/>
              </a:rPr>
              <a:t>один вендор</a:t>
            </a:r>
          </a:p>
          <a:p>
            <a:pPr algn="ctr"/>
            <a:r>
              <a:rPr sz="1600" b="0">
                <a:solidFill>
                  <a:srgbClr val="1E5B28"/>
                </a:solidFill>
                <a:latin typeface="X5 Sans Medium"/>
              </a:rPr>
              <a:t>N = 15</a:t>
            </a:r>
          </a:p>
        </p:txBody>
      </p:sp>
      <p:sp>
        <p:nvSpPr>
          <p:cNvPr id="1183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406896" y="2880360"/>
            <a:ext cx="2919984" cy="13716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08" name="TextBox 1207"/>
          <p:cNvSpPr txBox="1"/>
          <p:nvPr/>
        </p:nvSpPr>
        <p:spPr>
          <a:xfrm>
            <a:off x="6589776" y="2990088"/>
            <a:ext cx="2554224" cy="11521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1E5B28"/>
                </a:solidFill>
                <a:latin typeface="X5 Sans"/>
              </a:rPr>
              <a:t>напарник (2302)</a:t>
            </a:r>
          </a:p>
          <a:p>
            <a:pPr algn="ctr"/>
            <a:r>
              <a:rPr sz="1600" b="0">
                <a:solidFill>
                  <a:srgbClr val="1E5B28"/>
                </a:solidFill>
                <a:latin typeface="X5 Sans Medium"/>
              </a:rPr>
              <a:t>— дальше</a:t>
            </a:r>
          </a:p>
        </p:txBody>
      </p:sp>
      <p:sp>
        <p:nvSpPr>
          <p:cNvPr id="1184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109728" y="4480560"/>
            <a:ext cx="9217152" cy="182880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9" name="TextBox 1208"/>
          <p:cNvSpPr txBox="1"/>
          <p:nvPr/>
        </p:nvSpPr>
        <p:spPr>
          <a:xfrm>
            <a:off x="384048" y="4645152"/>
            <a:ext cx="8668512" cy="1499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X5 Sans"/>
              </a:rPr>
              <a:t>в шапке: автор B — </a:t>
            </a:r>
            <a:r>
              <a:rPr sz="1800" b="0">
                <a:solidFill>
                  <a:srgbClr val="FFFFFF"/>
                </a:solidFill>
                <a:latin typeface="X5 Sans Medium"/>
              </a:rPr>
              <a:t>агент без правил, 30 из 30</a:t>
            </a:r>
          </a:p>
          <a:p>
            <a:pPr algn="ctr"/>
            <a:r>
              <a:rPr sz="1800" b="0">
                <a:solidFill>
                  <a:srgbClr val="FFFFFF"/>
                </a:solidFill>
                <a:latin typeface="X5 Sans"/>
              </a:rPr>
              <a:t>автор A — по-прежнему «?»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Откуда идиома: корпус</a:t>
            </a:r>
          </a:p>
        </p:txBody>
      </p:sp>
      <p:sp>
        <p:nvSpPr>
          <p:cNvPr id="1185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312767" y="1097280"/>
            <a:ext cx="356616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6" name="TextBox 1185"/>
          <p:cNvSpPr txBox="1"/>
          <p:nvPr/>
        </p:nvSpPr>
        <p:spPr>
          <a:xfrm>
            <a:off x="4312767" y="1097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8 из 12 · 5 мин</a:t>
            </a:r>
          </a:p>
        </p:txBody>
      </p:sp>
      <p:sp>
        <p:nvSpPr>
          <p:cNvPr id="1186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TextBox 1186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Код корректный, а форм восемь. Почему агент по умолчанию пишет так — откуда идиома?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«Добавь ключ, только если есть значение»</a:t>
            </a:r>
          </a:p>
        </p:txBody>
      </p:sp>
      <p:sp>
        <p:nvSpPr>
          <p:cNvPr id="1187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3108045" y="1097280"/>
            <a:ext cx="5975604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8" name="TextBox 1187"/>
          <p:cNvSpPr txBox="1"/>
          <p:nvPr/>
        </p:nvSpPr>
        <p:spPr>
          <a:xfrm>
            <a:off x="3108045" y="1097280"/>
            <a:ext cx="59756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30/30 — без единого примера в промпте</a:t>
            </a:r>
          </a:p>
        </p:txBody>
      </p:sp>
      <p:sp>
        <p:nvSpPr>
          <p:cNvPr id="1188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9" name="TextBox 1188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Частота в корпусе — нет замера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 том же корпусе перф-советы: живые и мёртвые вперемешку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Живое: одна строка матрицы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8.2</a:t>
            </a:r>
          </a:p>
        </p:txBody>
      </p:sp>
      <p:sp>
        <p:nvSpPr>
          <p:cNvPr id="118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TextBox 1189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91" name="TextBox 1190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192" name="TextBox 1191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9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TextBox 1192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94" name="TextBox 1193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195" name="TextBox 1194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9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TextBox 1195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97" name="TextBox 1196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198" name="TextBox 1197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9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9" name="TextBox 1198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00" name="TextBox 1199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201" name="TextBox 1200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9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2" name="TextBox 1201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203" name="TextBox 1202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204" name="TextBox 1203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?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агент без правил</a:t>
            </a:r>
          </a:p>
        </p:txBody>
      </p:sp>
      <p:sp>
        <p:nvSpPr>
          <p:cNvPr id="119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5" name="TextBox 1204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206" name="Connector 1205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7" name="Oval 1206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8" name="Oval 1207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9" name="Oval 1208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0" name="Oval 1209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1" name="Oval 1210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2" name="Oval 1211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3" name="Oval 1212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4" name="Oval 1213"/>
          <p:cNvSpPr/>
          <p:nvPr/>
        </p:nvSpPr>
        <p:spPr>
          <a:xfrm>
            <a:off x="10847277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5" name="Oval 1214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6" name="Oval 1215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7" name="Oval 1216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8" name="Oval 1217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9" name="TextBox 1218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8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корпус</a:t>
            </a:r>
          </a:p>
        </p:txBody>
      </p:sp>
      <p:sp>
        <p:nvSpPr>
          <p:cNvPr id="119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188720"/>
            <a:ext cx="9217152" cy="278892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TextBox 1219"/>
          <p:cNvSpPr txBox="1"/>
          <p:nvPr/>
        </p:nvSpPr>
        <p:spPr>
          <a:xfrm>
            <a:off x="384048" y="1298448"/>
            <a:ext cx="86685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 Medium"/>
              </a:rPr>
              <a:t>живое</a:t>
            </a:r>
            <a:r>
              <a:rPr sz="1400" b="0">
                <a:solidFill>
                  <a:srgbClr val="1E5B28"/>
                </a:solidFill>
                <a:latin typeface="X5 Sans"/>
              </a:rPr>
              <a:t> · чтение объектов 8 форм против 1</a:t>
            </a:r>
          </a:p>
        </p:txBody>
      </p:sp>
      <p:sp>
        <p:nvSpPr>
          <p:cNvPr id="1196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84048" y="1783080"/>
            <a:ext cx="2697480" cy="196596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1" name="TextBox 1220"/>
          <p:cNvSpPr txBox="1"/>
          <p:nvPr/>
        </p:nvSpPr>
        <p:spPr>
          <a:xfrm>
            <a:off x="493776" y="1848916"/>
            <a:ext cx="2478024" cy="18342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×3.4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Node 22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V8 12.4</a:t>
            </a:r>
          </a:p>
        </p:txBody>
      </p:sp>
      <p:sp>
        <p:nvSpPr>
          <p:cNvPr id="1197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218688" y="1783080"/>
            <a:ext cx="2697480" cy="196596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2" name="TextBox 1221"/>
          <p:cNvSpPr txBox="1"/>
          <p:nvPr/>
        </p:nvSpPr>
        <p:spPr>
          <a:xfrm>
            <a:off x="3328416" y="1848916"/>
            <a:ext cx="2478024" cy="18342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×2.7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Node 24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V8 13.6</a:t>
            </a:r>
          </a:p>
        </p:txBody>
      </p:sp>
      <p:sp>
        <p:nvSpPr>
          <p:cNvPr id="1198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053328" y="1783080"/>
            <a:ext cx="2697480" cy="196596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23" name="TextBox 1222"/>
          <p:cNvSpPr txBox="1"/>
          <p:nvPr/>
        </p:nvSpPr>
        <p:spPr>
          <a:xfrm>
            <a:off x="6163056" y="1848916"/>
            <a:ext cx="2478024" cy="18342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 Medium"/>
              </a:rPr>
              <a:t>—</a:t>
            </a:r>
          </a:p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Node 20</a:t>
            </a:r>
          </a:p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замер двоится: ×3.6 / ×14</a:t>
            </a:r>
          </a:p>
        </p:txBody>
      </p:sp>
      <p:sp>
        <p:nvSpPr>
          <p:cNvPr id="119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4160520"/>
            <a:ext cx="9217152" cy="21488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4" name="TextBox 1223"/>
          <p:cNvSpPr txBox="1"/>
          <p:nvPr/>
        </p:nvSpPr>
        <p:spPr>
          <a:xfrm>
            <a:off x="384048" y="4224528"/>
            <a:ext cx="86685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 Medium"/>
              </a:rPr>
              <a:t>живое</a:t>
            </a:r>
            <a:r>
              <a:rPr sz="1400" b="0">
                <a:solidFill>
                  <a:srgbClr val="1E5B28"/>
                </a:solidFill>
                <a:latin typeface="X5 Sans"/>
              </a:rPr>
              <a:t> · </a:t>
            </a:r>
            <a:r>
              <a:rPr sz="1232" b="0">
                <a:solidFill>
                  <a:srgbClr val="1E5B28"/>
                </a:solidFill>
                <a:latin typeface="Menlo"/>
              </a:rPr>
              <a:t>delete</a:t>
            </a:r>
            <a:r>
              <a:rPr sz="1400" b="0">
                <a:solidFill>
                  <a:srgbClr val="1E5B28"/>
                </a:solidFill>
                <a:latin typeface="X5 Sans"/>
              </a:rPr>
              <a:t> → словарный режим (dictionary mode)</a:t>
            </a:r>
          </a:p>
        </p:txBody>
      </p:sp>
      <p:sp>
        <p:nvSpPr>
          <p:cNvPr id="1200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84048" y="4754880"/>
            <a:ext cx="2737103" cy="91440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5" name="TextBox 1224"/>
          <p:cNvSpPr txBox="1"/>
          <p:nvPr/>
        </p:nvSpPr>
        <p:spPr>
          <a:xfrm>
            <a:off x="475488" y="4809744"/>
            <a:ext cx="2554223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Node 20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×10</a:t>
            </a:r>
          </a:p>
        </p:txBody>
      </p:sp>
      <p:sp>
        <p:nvSpPr>
          <p:cNvPr id="1201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349751" y="4754880"/>
            <a:ext cx="2737103" cy="91440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TextBox 1225"/>
          <p:cNvSpPr txBox="1"/>
          <p:nvPr/>
        </p:nvSpPr>
        <p:spPr>
          <a:xfrm>
            <a:off x="3441191" y="4809744"/>
            <a:ext cx="2554223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Node 22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×28</a:t>
            </a:r>
          </a:p>
        </p:txBody>
      </p:sp>
      <p:sp>
        <p:nvSpPr>
          <p:cNvPr id="1202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6315455" y="4754880"/>
            <a:ext cx="2737103" cy="91440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7" name="TextBox 1226"/>
          <p:cNvSpPr txBox="1"/>
          <p:nvPr/>
        </p:nvSpPr>
        <p:spPr>
          <a:xfrm>
            <a:off x="6406895" y="4809744"/>
            <a:ext cx="2554223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Node 24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×29</a:t>
            </a:r>
          </a:p>
        </p:txBody>
      </p:sp>
      <p:sp>
        <p:nvSpPr>
          <p:cNvPr id="1228" name="TextBox 1227"/>
          <p:cNvSpPr txBox="1"/>
          <p:nvPr/>
        </p:nvSpPr>
        <p:spPr>
          <a:xfrm>
            <a:off x="384048" y="5806440"/>
            <a:ext cx="86685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X5 Sans"/>
              </a:rPr>
              <a:t>кратность разная, знак один на всех версиях · каждый кейс — отдельный процесс, 5 повторов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Мёртвое — и стык с объектами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8.3</a:t>
            </a:r>
          </a:p>
        </p:txBody>
      </p:sp>
      <p:sp>
        <p:nvSpPr>
          <p:cNvPr id="120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4" name="TextBox 1203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05" name="TextBox 120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206" name="TextBox 1205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0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7" name="TextBox 1206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08" name="TextBox 1207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209" name="TextBox 1208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0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0" name="TextBox 1209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11" name="TextBox 1210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212" name="TextBox 1211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0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3" name="TextBox 121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14" name="TextBox 1213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215" name="TextBox 1214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0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6" name="TextBox 121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217" name="TextBox 1216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218" name="TextBox 1217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?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агент без правил</a:t>
            </a:r>
          </a:p>
        </p:txBody>
      </p:sp>
      <p:sp>
        <p:nvSpPr>
          <p:cNvPr id="120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9" name="TextBox 1218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220" name="Connector 1219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1" name="Oval 1220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2" name="Oval 1221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3" name="Oval 1222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4" name="Oval 1223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5" name="Oval 1224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6" name="Oval 1225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7" name="Oval 1226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8" name="Oval 1227"/>
          <p:cNvSpPr/>
          <p:nvPr/>
        </p:nvSpPr>
        <p:spPr>
          <a:xfrm>
            <a:off x="10847277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9" name="Oval 1228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0" name="Oval 1229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1" name="Oval 1230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2" name="Oval 1231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3" name="TextBox 1232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8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корпус</a:t>
            </a:r>
          </a:p>
        </p:txBody>
      </p:sp>
      <p:sp>
        <p:nvSpPr>
          <p:cNvPr id="1234" name="Rounded Rectangle 1233"/>
          <p:cNvSpPr/>
          <p:nvPr/>
        </p:nvSpPr>
        <p:spPr>
          <a:xfrm>
            <a:off x="109728" y="1188720"/>
            <a:ext cx="5029200" cy="3200400"/>
          </a:xfrm>
          <a:prstGeom prst="roundRect">
            <a:avLst>
              <a:gd name="adj" fmla="val 4571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5" name="Oval 1234"/>
          <p:cNvSpPr/>
          <p:nvPr/>
        </p:nvSpPr>
        <p:spPr>
          <a:xfrm>
            <a:off x="292608" y="133502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6" name="Oval 1235"/>
          <p:cNvSpPr/>
          <p:nvPr/>
        </p:nvSpPr>
        <p:spPr>
          <a:xfrm>
            <a:off x="475488" y="133502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7" name="Oval 1236"/>
          <p:cNvSpPr/>
          <p:nvPr/>
        </p:nvSpPr>
        <p:spPr>
          <a:xfrm>
            <a:off x="658368" y="133502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8" name="TextBox 1237"/>
          <p:cNvSpPr txBox="1"/>
          <p:nvPr/>
        </p:nvSpPr>
        <p:spPr>
          <a:xfrm>
            <a:off x="1024128" y="128016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скрин · эксп. 3</a:t>
            </a:r>
          </a:p>
        </p:txBody>
      </p:sp>
      <p:sp>
        <p:nvSpPr>
          <p:cNvPr id="1239" name="TextBox 1238"/>
          <p:cNvSpPr txBox="1"/>
          <p:nvPr/>
        </p:nvSpPr>
        <p:spPr>
          <a:xfrm>
            <a:off x="338328" y="1572768"/>
            <a:ext cx="4572000" cy="2697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0">
                <a:solidFill>
                  <a:srgbClr val="AADC00"/>
                </a:solidFill>
                <a:latin typeface="Menlo"/>
              </a:rPr>
              <a:t>$ CASE=naive-pair node trycatch-myth.js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Menlo"/>
              </a:rPr>
              <a:t>{"bench":"trycatch","case":"naive-plain",</a:t>
            </a:r>
            <a:r>
              <a:rPr sz="1050" b="1">
                <a:solidFill>
                  <a:srgbClr val="FF9DB8"/>
                </a:solidFill>
                <a:latin typeface="Menlo"/>
              </a:rPr>
              <a:t>"ms":21</a:t>
            </a:r>
            <a:r>
              <a:rPr sz="1050" b="0">
                <a:solidFill>
                  <a:srgbClr val="E6F2E9"/>
                </a:solidFill>
                <a:latin typeface="Menlo"/>
              </a:rPr>
              <a:t>}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Menlo"/>
              </a:rPr>
              <a:t>{"bench":"trycatch","case":"naive-try",</a:t>
            </a:r>
            <a:r>
              <a:rPr sz="1050" b="1">
                <a:solidFill>
                  <a:srgbClr val="FF9DB8"/>
                </a:solidFill>
                <a:latin typeface="Menlo"/>
              </a:rPr>
              <a:t>"ms":65</a:t>
            </a:r>
            <a:r>
              <a:rPr sz="1050" b="0">
                <a:solidFill>
                  <a:srgbClr val="E6F2E9"/>
                </a:solidFill>
                <a:latin typeface="Menlo"/>
              </a:rPr>
              <a:t>}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AADC00"/>
                </a:solidFill>
                <a:latin typeface="Menlo"/>
              </a:rPr>
              <a:t>$ CASE=honest-plain node trycatch-myth.js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Menlo"/>
              </a:rPr>
              <a:t>{"bench":"trycatch","case":"honest-plain",</a:t>
            </a:r>
            <a:r>
              <a:rPr sz="1050" b="1">
                <a:solidFill>
                  <a:srgbClr val="FF9DB8"/>
                </a:solidFill>
                <a:latin typeface="Menlo"/>
              </a:rPr>
              <a:t>"ms":13</a:t>
            </a:r>
            <a:r>
              <a:rPr sz="1050" b="0">
                <a:solidFill>
                  <a:srgbClr val="E6F2E9"/>
                </a:solidFill>
                <a:latin typeface="Menlo"/>
              </a:rPr>
              <a:t>}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AADC00"/>
                </a:solidFill>
                <a:latin typeface="Menlo"/>
              </a:rPr>
              <a:t>$ CASE=honest-try node trycatch-myth.js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Menlo"/>
              </a:rPr>
              <a:t>{"bench":"trycatch","case":"honest-try",</a:t>
            </a:r>
            <a:r>
              <a:rPr sz="1050" b="1">
                <a:solidFill>
                  <a:srgbClr val="FF9DB8"/>
                </a:solidFill>
                <a:latin typeface="Menlo"/>
              </a:rPr>
              <a:t>"ms":13</a:t>
            </a:r>
            <a:r>
              <a:rPr sz="1050" b="0">
                <a:solidFill>
                  <a:srgbClr val="E6F2E9"/>
                </a:solidFill>
                <a:latin typeface="Menlo"/>
              </a:rPr>
              <a:t>}</a:t>
            </a:r>
          </a:p>
        </p:txBody>
      </p:sp>
      <p:sp>
        <p:nvSpPr>
          <p:cNvPr id="1209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367528" y="1188720"/>
            <a:ext cx="3959352" cy="32004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40" name="TextBox 1239"/>
          <p:cNvSpPr txBox="1"/>
          <p:nvPr/>
        </p:nvSpPr>
        <p:spPr>
          <a:xfrm>
            <a:off x="5641848" y="1417320"/>
            <a:ext cx="341071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1E5B28"/>
                </a:solidFill>
                <a:latin typeface="X5 Sans Medium"/>
              </a:rPr>
              <a:t>«try/catch дорогой»</a:t>
            </a:r>
          </a:p>
        </p:txBody>
      </p:sp>
      <p:sp>
        <p:nvSpPr>
          <p:cNvPr id="1241" name="TextBox 1240"/>
          <p:cNvSpPr txBox="1"/>
          <p:nvPr/>
        </p:nvSpPr>
        <p:spPr>
          <a:xfrm>
            <a:off x="5641848" y="2240280"/>
            <a:ext cx="3410712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E5B28"/>
                </a:solidFill>
                <a:latin typeface="X5 Sans"/>
              </a:rPr>
              <a:t>один процесс: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×2.8–3.0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E5B28"/>
                </a:solidFill>
                <a:latin typeface="X5 Sans"/>
              </a:rPr>
              <a:t>отдельные процессы: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14 = 14 мс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E5B28"/>
                </a:solidFill>
                <a:latin typeface="X5 Sans"/>
              </a:rPr>
              <a:t>кратность была артефактом бенча</a:t>
            </a:r>
          </a:p>
        </p:txBody>
      </p:sp>
      <p:sp>
        <p:nvSpPr>
          <p:cNvPr id="1210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109728" y="4617720"/>
            <a:ext cx="9217152" cy="118872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TextBox 1241"/>
          <p:cNvSpPr txBox="1"/>
          <p:nvPr/>
        </p:nvSpPr>
        <p:spPr>
          <a:xfrm>
            <a:off x="384048" y="4782312"/>
            <a:ext cx="866851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X5 Sans"/>
              </a:rPr>
              <a:t>Норма «условный ключ» нарушает живое правило. Агент живое от мёртвого не отличает</a:t>
            </a:r>
          </a:p>
        </p:txBody>
      </p:sp>
      <p:sp>
        <p:nvSpPr>
          <p:cNvPr id="1243" name="TextBox 1242"/>
          <p:cNvSpPr txBox="1"/>
          <p:nvPr/>
        </p:nvSpPr>
        <p:spPr>
          <a:xfrm>
            <a:off x="109728" y="5897880"/>
            <a:ext cx="92171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X5 Sans"/>
              </a:rPr>
              <a:t>Node 22 — без Maglev по умолчанию: PITFALLS.md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Где мы · после узла 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91768" y="2499360"/>
            <a:ext cx="10512552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429768" y="4023360"/>
            <a:ext cx="518160" cy="609600"/>
          </a:xfrm>
          <a:prstGeom prst="roundRect">
            <a:avLst>
              <a:gd name="adj" fmla="val 14117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29768" y="4023360"/>
            <a:ext cx="51816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4861560"/>
            <a:ext cx="518160" cy="609600"/>
          </a:xfrm>
          <a:prstGeom prst="roundRect">
            <a:avLst>
              <a:gd name="adj" fmla="val 14117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29768" y="4861560"/>
            <a:ext cx="51816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8" name="Oval 7"/>
          <p:cNvSpPr/>
          <p:nvPr/>
        </p:nvSpPr>
        <p:spPr>
          <a:xfrm>
            <a:off x="1357375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57375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768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0056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19200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237488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19200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237488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0056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7" name="Oval 16"/>
          <p:cNvSpPr/>
          <p:nvPr/>
        </p:nvSpPr>
        <p:spPr>
          <a:xfrm>
            <a:off x="2237232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237232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71623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вызов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9911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9055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117343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99055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117343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89911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26" name="Oval 25"/>
          <p:cNvSpPr/>
          <p:nvPr/>
        </p:nvSpPr>
        <p:spPr>
          <a:xfrm>
            <a:off x="3117088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117088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51479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69767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978911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2997199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MONO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978911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2997199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MEGA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69767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--log-ic</a:t>
            </a:r>
          </a:p>
        </p:txBody>
      </p:sp>
      <p:sp>
        <p:nvSpPr>
          <p:cNvPr id="35" name="Diamond 34"/>
          <p:cNvSpPr/>
          <p:nvPr/>
        </p:nvSpPr>
        <p:spPr>
          <a:xfrm>
            <a:off x="3694175" y="2362200"/>
            <a:ext cx="274320" cy="274320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3996944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3996944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31336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~700 → ~13 000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49624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858768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3877056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858768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877056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49624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--max-opt</a:t>
            </a:r>
          </a:p>
        </p:txBody>
      </p:sp>
      <p:sp>
        <p:nvSpPr>
          <p:cNvPr id="45" name="Oval 44"/>
          <p:cNvSpPr/>
          <p:nvPr/>
        </p:nvSpPr>
        <p:spPr>
          <a:xfrm>
            <a:off x="4876800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4876800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11192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29479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ставка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738624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4756912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сыграла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738624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4756912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wrong map → общий путь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29479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--trace-deopt</a:t>
            </a:r>
          </a:p>
        </p:txBody>
      </p:sp>
      <p:sp>
        <p:nvSpPr>
          <p:cNvPr id="54" name="Diamond 53"/>
          <p:cNvSpPr/>
          <p:nvPr/>
        </p:nvSpPr>
        <p:spPr>
          <a:xfrm>
            <a:off x="5453887" y="2362200"/>
            <a:ext cx="274320" cy="274320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Oval 54"/>
          <p:cNvSpPr/>
          <p:nvPr/>
        </p:nvSpPr>
        <p:spPr>
          <a:xfrm>
            <a:off x="5756655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5756655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91047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прод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09335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сервис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618479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5636767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2302 rps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618479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5636767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1180 rps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609335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autocannon</a:t>
            </a:r>
          </a:p>
        </p:txBody>
      </p:sp>
      <p:sp>
        <p:nvSpPr>
          <p:cNvPr id="64" name="Oval 63"/>
          <p:cNvSpPr/>
          <p:nvPr/>
        </p:nvSpPr>
        <p:spPr>
          <a:xfrm>
            <a:off x="6636512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6636512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70904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89192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агент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498336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6516624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автор: ?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498336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6516624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без правил · 30/30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89192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claude -p + прибор</a:t>
            </a:r>
          </a:p>
        </p:txBody>
      </p:sp>
      <p:sp>
        <p:nvSpPr>
          <p:cNvPr id="73" name="Oval 72"/>
          <p:cNvSpPr/>
          <p:nvPr/>
        </p:nvSpPr>
        <p:spPr>
          <a:xfrm>
            <a:off x="7395667" y="2104339"/>
            <a:ext cx="790041" cy="790041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Oval 73"/>
          <p:cNvSpPr/>
          <p:nvPr/>
        </p:nvSpPr>
        <p:spPr>
          <a:xfrm>
            <a:off x="7516367" y="2225040"/>
            <a:ext cx="548640" cy="548640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7516367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FFFFFF"/>
                </a:solidFill>
                <a:latin typeface="X5 Sans Medium"/>
              </a:rPr>
              <a:t>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50759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369047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1E5B28"/>
                </a:solidFill>
                <a:latin typeface="X5 Sans Medium"/>
              </a:rPr>
              <a:t>корпус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378191" y="40233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7396480" y="40233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1E5B28"/>
                </a:solidFill>
                <a:latin typeface="X5 Sans"/>
              </a:rPr>
              <a:t>живое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378191" y="4861560"/>
            <a:ext cx="824992" cy="670560"/>
          </a:xfrm>
          <a:prstGeom prst="roundRect">
            <a:avLst>
              <a:gd name="adj" fmla="val 818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7396480" y="4861560"/>
            <a:ext cx="788416" cy="670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3" b="0">
                <a:solidFill>
                  <a:srgbClr val="8A1538"/>
                </a:solidFill>
                <a:latin typeface="X5 Sans"/>
              </a:rPr>
              <a:t>мёртвое рядом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369047" y="5730240"/>
            <a:ext cx="84328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3" b="0">
                <a:solidFill>
                  <a:srgbClr val="6B7280"/>
                </a:solidFill>
                <a:latin typeface="X5 Sans"/>
              </a:rPr>
              <a:t>матрица по версиям</a:t>
            </a:r>
          </a:p>
        </p:txBody>
      </p:sp>
      <p:sp>
        <p:nvSpPr>
          <p:cNvPr id="83" name="Diamond 82"/>
          <p:cNvSpPr/>
          <p:nvPr/>
        </p:nvSpPr>
        <p:spPr>
          <a:xfrm>
            <a:off x="8093456" y="2362200"/>
            <a:ext cx="274320" cy="274320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Oval 83"/>
          <p:cNvSpPr/>
          <p:nvPr/>
        </p:nvSpPr>
        <p:spPr>
          <a:xfrm>
            <a:off x="8396223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8396223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30615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48903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правила</a:t>
            </a:r>
          </a:p>
        </p:txBody>
      </p:sp>
      <p:sp>
        <p:nvSpPr>
          <p:cNvPr id="88" name="Oval 87"/>
          <p:cNvSpPr/>
          <p:nvPr/>
        </p:nvSpPr>
        <p:spPr>
          <a:xfrm>
            <a:off x="9276079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9276079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10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110471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верхняя ступень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128759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лев</a:t>
            </a:r>
          </a:p>
        </p:txBody>
      </p:sp>
      <p:sp>
        <p:nvSpPr>
          <p:cNvPr id="92" name="Oval 91"/>
          <p:cNvSpPr/>
          <p:nvPr/>
        </p:nvSpPr>
        <p:spPr>
          <a:xfrm>
            <a:off x="10155935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10155935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990328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—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008615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96" name="Oval 95"/>
          <p:cNvSpPr/>
          <p:nvPr/>
        </p:nvSpPr>
        <p:spPr>
          <a:xfrm>
            <a:off x="11035791" y="2225040"/>
            <a:ext cx="548640" cy="548640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11035791" y="2225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3" b="0">
                <a:solidFill>
                  <a:srgbClr val="9CA3AF"/>
                </a:solidFill>
                <a:latin typeface="X5 Sans Medium"/>
              </a:rPr>
              <a:t>12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870183" y="1554480"/>
            <a:ext cx="8798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3" b="0">
                <a:solidFill>
                  <a:srgbClr val="C9CED6"/>
                </a:solidFill>
                <a:latin typeface="X5 Sans"/>
              </a:rPr>
              <a:t>финал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888471" y="2956560"/>
            <a:ext cx="84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63" b="0">
                <a:solidFill>
                  <a:srgbClr val="B6BCC6"/>
                </a:solidFill>
                <a:latin typeface="X5 Sans Medium"/>
              </a:rPr>
              <a:t>снова слайд 1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Как заставить писать A: правила</a:t>
            </a:r>
          </a:p>
        </p:txBody>
      </p:sp>
      <p:sp>
        <p:nvSpPr>
          <p:cNvPr id="1211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312767" y="1097280"/>
            <a:ext cx="356616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2" name="TextBox 1211"/>
          <p:cNvSpPr txBox="1"/>
          <p:nvPr/>
        </p:nvSpPr>
        <p:spPr>
          <a:xfrm>
            <a:off x="4312767" y="1097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9 из 12 · 7 мин</a:t>
            </a:r>
          </a:p>
        </p:txBody>
      </p:sp>
      <p:sp>
        <p:nvSpPr>
          <p:cNvPr id="1212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3" name="TextBox 1212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Если агент не отличает живое от мёртвого сам — можно ли положить ему живое? И поменяет ли это форму, а не только слова?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Контракт: четыре правила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9.1</a:t>
            </a:r>
          </a:p>
        </p:txBody>
      </p:sp>
      <p:sp>
        <p:nvSpPr>
          <p:cNvPr id="121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4" name="TextBox 1213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15" name="TextBox 121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216" name="TextBox 1215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1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TextBox 1216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18" name="TextBox 1217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219" name="TextBox 1218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1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TextBox 1219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21" name="TextBox 1220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222" name="TextBox 1221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1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TextBox 122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24" name="TextBox 1223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225" name="TextBox 1224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1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TextBox 122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227" name="TextBox 1226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228" name="TextBox 1227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?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агент без правил</a:t>
            </a:r>
          </a:p>
        </p:txBody>
      </p:sp>
      <p:sp>
        <p:nvSpPr>
          <p:cNvPr id="121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9" name="TextBox 1228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230" name="Connector 1229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1" name="Oval 1230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2" name="Oval 1231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3" name="Oval 1232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4" name="Oval 1233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5" name="Oval 1234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6" name="Oval 1235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7" name="Oval 1236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8" name="Oval 1237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9" name="Oval 1238"/>
          <p:cNvSpPr/>
          <p:nvPr/>
        </p:nvSpPr>
        <p:spPr>
          <a:xfrm>
            <a:off x="11022676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0" name="Oval 1239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1" name="Oval 1240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2" name="Oval 1241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3" name="TextBox 1242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9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правила</a:t>
            </a:r>
          </a:p>
        </p:txBody>
      </p:sp>
      <p:sp>
        <p:nvSpPr>
          <p:cNvPr id="1219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109728" y="1188720"/>
            <a:ext cx="4389120" cy="17830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44" name="TextBox 1243"/>
          <p:cNvSpPr txBox="1"/>
          <p:nvPr/>
        </p:nvSpPr>
        <p:spPr>
          <a:xfrm>
            <a:off x="475488" y="1408176"/>
            <a:ext cx="3657600" cy="1344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1E5B28"/>
                </a:solidFill>
                <a:latin typeface="X5 Sans"/>
              </a:rPr>
              <a:t>Один набор полей в одном порядке; нет значения → </a:t>
            </a:r>
            <a:r>
              <a:rPr sz="1496" b="0">
                <a:solidFill>
                  <a:srgbClr val="1E5B28"/>
                </a:solidFill>
                <a:latin typeface="Menlo"/>
              </a:rPr>
              <a:t>null</a:t>
            </a:r>
          </a:p>
        </p:txBody>
      </p:sp>
      <p:sp>
        <p:nvSpPr>
          <p:cNvPr id="1220" name="Скругленный прямоугольник 31">
            <a:extLst>
              <a:ext uri="{FF2B5EF4-FFF2-40B4-BE49-F238E27FC236}">
                <a16:creationId xmlns:a16="http://schemas.microsoft.com/office/drawing/2014/main" id="{ED4F56E1-E0EF-B148-B4E0-D745E41DE208}"/>
              </a:ext>
            </a:extLst>
          </p:cNvPr>
          <p:cNvSpPr/>
          <p:nvPr/>
        </p:nvSpPr>
        <p:spPr>
          <a:xfrm>
            <a:off x="3767328" y="2286000"/>
            <a:ext cx="548640" cy="548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333"/>
              </a:spcAft>
              <a:buClrTx/>
              <a:buSzPct val="100000"/>
              <a:buFontTx/>
              <a:buNone/>
              <a:tabLst/>
              <a:defRPr/>
            </a:pPr>
          </a:p>
        </p:txBody>
      </p:sp>
      <p:sp>
        <p:nvSpPr>
          <p:cNvPr id="1245" name="TextBox 1244"/>
          <p:cNvSpPr txBox="1"/>
          <p:nvPr/>
        </p:nvSpPr>
        <p:spPr>
          <a:xfrm>
            <a:off x="3767328" y="228600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 Medium"/>
              </a:rPr>
              <a:t>1</a:t>
            </a:r>
          </a:p>
        </p:txBody>
      </p:sp>
      <p:sp>
        <p:nvSpPr>
          <p:cNvPr id="1221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4709160" y="1188720"/>
            <a:ext cx="4389120" cy="17830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46" name="TextBox 1245"/>
          <p:cNvSpPr txBox="1"/>
          <p:nvPr/>
        </p:nvSpPr>
        <p:spPr>
          <a:xfrm>
            <a:off x="5074920" y="1408176"/>
            <a:ext cx="3657600" cy="1344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1E5B28"/>
                </a:solidFill>
                <a:latin typeface="X5 Sans"/>
              </a:rPr>
              <a:t>После создания не добавлять и не удалять</a:t>
            </a:r>
          </a:p>
          <a:p>
            <a:pPr algn="l"/>
            <a:r>
              <a:rPr sz="1700" b="0">
                <a:solidFill>
                  <a:srgbClr val="1E5B28"/>
                </a:solidFill>
                <a:latin typeface="X5 Sans"/>
              </a:rPr>
              <a:t>(</a:t>
            </a:r>
            <a:r>
              <a:rPr sz="1496" b="0">
                <a:solidFill>
                  <a:srgbClr val="1E5B28"/>
                </a:solidFill>
                <a:latin typeface="Menlo"/>
              </a:rPr>
              <a:t>delete</a:t>
            </a:r>
            <a:r>
              <a:rPr sz="1700" b="0">
                <a:solidFill>
                  <a:srgbClr val="1E5B28"/>
                </a:solidFill>
                <a:latin typeface="X5 Sans"/>
              </a:rPr>
              <a:t> ×10–×30)</a:t>
            </a:r>
          </a:p>
        </p:txBody>
      </p:sp>
      <p:sp>
        <p:nvSpPr>
          <p:cNvPr id="1222" name="Скругленный прямоугольник 31">
            <a:extLst>
              <a:ext uri="{FF2B5EF4-FFF2-40B4-BE49-F238E27FC236}">
                <a16:creationId xmlns:a16="http://schemas.microsoft.com/office/drawing/2014/main" id="{ED4F56E1-E0EF-B148-B4E0-D745E41DE208}"/>
              </a:ext>
            </a:extLst>
          </p:cNvPr>
          <p:cNvSpPr/>
          <p:nvPr/>
        </p:nvSpPr>
        <p:spPr>
          <a:xfrm>
            <a:off x="8366760" y="2286000"/>
            <a:ext cx="548640" cy="548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333"/>
              </a:spcAft>
              <a:buClrTx/>
              <a:buSzPct val="100000"/>
              <a:buFontTx/>
              <a:buNone/>
              <a:tabLst/>
              <a:defRPr/>
            </a:pPr>
          </a:p>
        </p:txBody>
      </p:sp>
      <p:sp>
        <p:nvSpPr>
          <p:cNvPr id="1247" name="TextBox 1246"/>
          <p:cNvSpPr txBox="1"/>
          <p:nvPr/>
        </p:nvSpPr>
        <p:spPr>
          <a:xfrm>
            <a:off x="8366760" y="228600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 Medium"/>
              </a:rPr>
              <a:t>2</a:t>
            </a:r>
          </a:p>
        </p:txBody>
      </p:sp>
      <p:sp>
        <p:nvSpPr>
          <p:cNvPr id="1223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109728" y="3154680"/>
            <a:ext cx="4389120" cy="17830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48" name="TextBox 1247"/>
          <p:cNvSpPr txBox="1"/>
          <p:nvPr/>
        </p:nvSpPr>
        <p:spPr>
          <a:xfrm>
            <a:off x="475488" y="3374136"/>
            <a:ext cx="3657600" cy="1344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1E5B28"/>
                </a:solidFill>
                <a:latin typeface="X5 Sans"/>
              </a:rPr>
              <a:t>Однородные массивы, без дырок</a:t>
            </a:r>
          </a:p>
        </p:txBody>
      </p:sp>
      <p:sp>
        <p:nvSpPr>
          <p:cNvPr id="1224" name="Скругленный прямоугольник 31">
            <a:extLst>
              <a:ext uri="{FF2B5EF4-FFF2-40B4-BE49-F238E27FC236}">
                <a16:creationId xmlns:a16="http://schemas.microsoft.com/office/drawing/2014/main" id="{ED4F56E1-E0EF-B148-B4E0-D745E41DE208}"/>
              </a:ext>
            </a:extLst>
          </p:cNvPr>
          <p:cNvSpPr/>
          <p:nvPr/>
        </p:nvSpPr>
        <p:spPr>
          <a:xfrm>
            <a:off x="3767328" y="4251960"/>
            <a:ext cx="548640" cy="548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333"/>
              </a:spcAft>
              <a:buClrTx/>
              <a:buSzPct val="100000"/>
              <a:buFontTx/>
              <a:buNone/>
              <a:tabLst/>
              <a:defRPr/>
            </a:pPr>
          </a:p>
        </p:txBody>
      </p:sp>
      <p:sp>
        <p:nvSpPr>
          <p:cNvPr id="1249" name="TextBox 1248"/>
          <p:cNvSpPr txBox="1"/>
          <p:nvPr/>
        </p:nvSpPr>
        <p:spPr>
          <a:xfrm>
            <a:off x="3767328" y="42519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 Medium"/>
              </a:rPr>
              <a:t>3</a:t>
            </a:r>
          </a:p>
        </p:txBody>
      </p:sp>
      <p:sp>
        <p:nvSpPr>
          <p:cNvPr id="1225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4709160" y="3154680"/>
            <a:ext cx="4389120" cy="17830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50" name="TextBox 1249"/>
          <p:cNvSpPr txBox="1"/>
          <p:nvPr/>
        </p:nvSpPr>
        <p:spPr>
          <a:xfrm>
            <a:off x="5074920" y="3374136"/>
            <a:ext cx="3657600" cy="1344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1E5B28"/>
                </a:solidFill>
                <a:latin typeface="X5 Sans"/>
              </a:rPr>
              <a:t>Стабильные типы аргументов, возвратов и полей</a:t>
            </a:r>
          </a:p>
        </p:txBody>
      </p:sp>
      <p:sp>
        <p:nvSpPr>
          <p:cNvPr id="1226" name="Скругленный прямоугольник 31">
            <a:extLst>
              <a:ext uri="{FF2B5EF4-FFF2-40B4-BE49-F238E27FC236}">
                <a16:creationId xmlns:a16="http://schemas.microsoft.com/office/drawing/2014/main" id="{ED4F56E1-E0EF-B148-B4E0-D745E41DE208}"/>
              </a:ext>
            </a:extLst>
          </p:cNvPr>
          <p:cNvSpPr/>
          <p:nvPr/>
        </p:nvSpPr>
        <p:spPr>
          <a:xfrm>
            <a:off x="8366760" y="4251960"/>
            <a:ext cx="548640" cy="548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333"/>
              </a:spcAft>
              <a:buClrTx/>
              <a:buSzPct val="100000"/>
              <a:buFontTx/>
              <a:buNone/>
              <a:tabLst/>
              <a:defRPr/>
            </a:pPr>
          </a:p>
        </p:txBody>
      </p:sp>
      <p:sp>
        <p:nvSpPr>
          <p:cNvPr id="1251" name="TextBox 1250"/>
          <p:cNvSpPr txBox="1"/>
          <p:nvPr/>
        </p:nvSpPr>
        <p:spPr>
          <a:xfrm>
            <a:off x="8366760" y="42519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 Medium"/>
              </a:rPr>
              <a:t>4</a:t>
            </a:r>
          </a:p>
        </p:txBody>
      </p:sp>
      <p:sp>
        <p:nvSpPr>
          <p:cNvPr id="122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5120640"/>
            <a:ext cx="5120640" cy="118872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2" name="TextBox 1251"/>
          <p:cNvSpPr txBox="1"/>
          <p:nvPr/>
        </p:nvSpPr>
        <p:spPr>
          <a:xfrm>
            <a:off x="384048" y="5303520"/>
            <a:ext cx="4663440" cy="8686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Menlo"/>
              </a:rPr>
              <a:t>// из v8-rules.md, пункт 1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6B7280"/>
                </a:solidFill>
                <a:latin typeface="Menlo"/>
              </a:rPr>
              <a:t>запрещено:  { ...base, ...(cond &amp;&amp; { extra }) }</a:t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1E5B28"/>
                </a:solidFill>
                <a:latin typeface="Menlo"/>
              </a:rPr>
              <a:t>правильно:  { ...base, extra: cond ? value : null }</a:t>
            </a:r>
          </a:p>
        </p:txBody>
      </p:sp>
      <p:sp>
        <p:nvSpPr>
          <p:cNvPr id="1228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5458968" y="5120640"/>
            <a:ext cx="3867912" cy="118872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3" name="TextBox 1252"/>
          <p:cNvSpPr txBox="1"/>
          <p:nvPr/>
        </p:nvSpPr>
        <p:spPr>
          <a:xfrm>
            <a:off x="5568696" y="5186476"/>
            <a:ext cx="3648456" cy="10570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E5B28"/>
                </a:solidFill>
                <a:latin typeface="X5 Sans"/>
              </a:rPr>
              <a:t>порядок тоже деньги: 2 формы</a:t>
            </a:r>
          </a:p>
          <a:p>
            <a:pPr algn="ctr"/>
            <a:r>
              <a:rPr sz="1200" b="0">
                <a:solidFill>
                  <a:srgbClr val="1E5B28"/>
                </a:solidFill>
                <a:latin typeface="X5 Sans"/>
              </a:rPr>
              <a:t>чтение ×1.39–1.52 · 2005 rps (−13%)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Тот же агент + файл правил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9.2</a:t>
            </a:r>
          </a:p>
        </p:txBody>
      </p:sp>
      <p:sp>
        <p:nvSpPr>
          <p:cNvPr id="122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" name="TextBox 1229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31" name="TextBox 1230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232" name="TextBox 1231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3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3" name="TextBox 1232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34" name="TextBox 1233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235" name="TextBox 1234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3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6" name="TextBox 1235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37" name="TextBox 1236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238" name="TextBox 1237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3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9" name="TextBox 1238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40" name="TextBox 1239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241" name="TextBox 1240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3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TextBox 1241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243" name="TextBox 1242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244" name="TextBox 1243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?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агент без правил</a:t>
            </a:r>
          </a:p>
        </p:txBody>
      </p:sp>
      <p:sp>
        <p:nvSpPr>
          <p:cNvPr id="123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5" name="TextBox 1244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246" name="Connector 1245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7" name="Oval 1246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8" name="Oval 1247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9" name="Oval 1248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0" name="Oval 1249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1" name="Oval 1250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2" name="Oval 1251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3" name="Oval 1252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4" name="Oval 1253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5" name="Oval 1254"/>
          <p:cNvSpPr/>
          <p:nvPr/>
        </p:nvSpPr>
        <p:spPr>
          <a:xfrm>
            <a:off x="11022676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6" name="Oval 1255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7" name="Oval 1256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8" name="Oval 1257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9" name="TextBox 1258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9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правила</a:t>
            </a:r>
          </a:p>
        </p:txBody>
      </p:sp>
      <p:sp>
        <p:nvSpPr>
          <p:cNvPr id="1260" name="Rounded Rectangle 1259"/>
          <p:cNvSpPr/>
          <p:nvPr/>
        </p:nvSpPr>
        <p:spPr>
          <a:xfrm>
            <a:off x="109728" y="1188720"/>
            <a:ext cx="4480560" cy="5120640"/>
          </a:xfrm>
          <a:prstGeom prst="roundRect">
            <a:avLst>
              <a:gd name="adj" fmla="val 3265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1" name="Oval 1260"/>
          <p:cNvSpPr/>
          <p:nvPr/>
        </p:nvSpPr>
        <p:spPr>
          <a:xfrm>
            <a:off x="292608" y="133502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2" name="Oval 1261"/>
          <p:cNvSpPr/>
          <p:nvPr/>
        </p:nvSpPr>
        <p:spPr>
          <a:xfrm>
            <a:off x="475488" y="133502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3" name="Oval 1262"/>
          <p:cNvSpPr/>
          <p:nvPr/>
        </p:nvSpPr>
        <p:spPr>
          <a:xfrm>
            <a:off x="658368" y="133502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4" name="TextBox 1263"/>
          <p:cNvSpPr txBox="1"/>
          <p:nvPr/>
        </p:nvSpPr>
        <p:spPr>
          <a:xfrm>
            <a:off x="1024128" y="1280160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LIVE №2 · фолбэк — запись R9</a:t>
            </a:r>
          </a:p>
        </p:txBody>
      </p:sp>
      <p:sp>
        <p:nvSpPr>
          <p:cNvPr id="1265" name="TextBox 1264"/>
          <p:cNvSpPr txBox="1"/>
          <p:nvPr/>
        </p:nvSpPr>
        <p:spPr>
          <a:xfrm>
            <a:off x="338328" y="1572768"/>
            <a:ext cx="402336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AADC00"/>
                </a:solidFill>
                <a:latin typeface="Menlo"/>
              </a:rPr>
              <a:t>$ claude -p --model opus \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F2E9"/>
                </a:solidFill>
                <a:latin typeface="Menlo"/>
              </a:rPr>
              <a:t>    "$(cat prompts/P1.txt v8-rules.md)" &gt; raw.txt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8FB09A"/>
                </a:solidFill>
                <a:latin typeface="Menlo"/>
              </a:rPr>
              <a:t># тот же тикет + файл правил инлайном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AADC00"/>
                </a:solidFill>
                <a:latin typeface="Menlo"/>
              </a:rPr>
              <a:t>$ node extract.js raw.txt &gt; candidate.js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AADC00"/>
                </a:solidFill>
                <a:latin typeface="Menlo"/>
              </a:rPr>
              <a:t>$ node --allow-natives-syntax \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F2E9"/>
                </a:solidFill>
                <a:latin typeface="Menlo"/>
              </a:rPr>
              <a:t>    shape-analyzer.js candidate.js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F2E9"/>
                </a:solidFill>
                <a:latin typeface="Menlo"/>
              </a:rPr>
              <a:t>{</a:t>
            </a:r>
            <a:r>
              <a:rPr sz="1100" b="1">
                <a:solidFill>
                  <a:srgbClr val="FF9DB8"/>
                </a:solidFill>
                <a:latin typeface="Menlo"/>
              </a:rPr>
              <a:t>"shapes":1</a:t>
            </a:r>
            <a:r>
              <a:rPr sz="1100" b="0">
                <a:solidFill>
                  <a:srgbClr val="E6F2E9"/>
                </a:solidFill>
                <a:latin typeface="Menlo"/>
              </a:rPr>
              <a:t>,</a:t>
            </a:r>
            <a:r>
              <a:rPr sz="1100" b="1">
                <a:solidFill>
                  <a:srgbClr val="FF9DB8"/>
                </a:solidFill>
                <a:latin typeface="Menlo"/>
              </a:rPr>
              <a:t>"ic":"MONO"</a:t>
            </a:r>
            <a:r>
              <a:rPr sz="1100" b="0">
                <a:solidFill>
                  <a:srgbClr val="E6F2E9"/>
                </a:solidFill>
                <a:latin typeface="Menlo"/>
              </a:rPr>
              <a:t>,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F2E9"/>
                </a:solidFill>
                <a:latin typeface="Menlo"/>
              </a:rPr>
              <a:t> "p50_ms":0.12,"correct":true}</a:t>
            </a:r>
          </a:p>
        </p:txBody>
      </p:sp>
      <p:sp>
        <p:nvSpPr>
          <p:cNvPr id="123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4800600" y="1188720"/>
            <a:ext cx="4297680" cy="51206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TextBox 1265"/>
          <p:cNvSpPr txBox="1"/>
          <p:nvPr/>
        </p:nvSpPr>
        <p:spPr>
          <a:xfrm>
            <a:off x="4800600" y="1280160"/>
            <a:ext cx="429768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400" b="0">
                <a:solidFill>
                  <a:srgbClr val="1E5B28"/>
                </a:solidFill>
                <a:latin typeface="X5 Sans Medium"/>
              </a:rPr>
              <a:t>30/30 MONO</a:t>
            </a:r>
          </a:p>
        </p:txBody>
      </p:sp>
      <p:sp>
        <p:nvSpPr>
          <p:cNvPr id="1267" name="TextBox 1266"/>
          <p:cNvSpPr txBox="1"/>
          <p:nvPr/>
        </p:nvSpPr>
        <p:spPr>
          <a:xfrm>
            <a:off x="5047488" y="2697480"/>
            <a:ext cx="3803904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1 форма · ни одной POLY</a:t>
            </a:r>
          </a:p>
          <a:p>
            <a:pPr algn="ctr">
              <a:spcAft>
                <a:spcPts val="8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p50 </a:t>
            </a:r>
            <a:r>
              <a:rPr sz="1600" b="0">
                <a:solidFill>
                  <a:srgbClr val="1E5B28"/>
                </a:solidFill>
                <a:latin typeface="X5 Sans Medium"/>
              </a:rPr>
              <a:t>0.12 мс</a:t>
            </a:r>
            <a:r>
              <a:rPr sz="1600" b="0">
                <a:solidFill>
                  <a:srgbClr val="1E5B28"/>
                </a:solidFill>
                <a:latin typeface="X5 Sans"/>
              </a:rPr>
              <a:t> в обеих ветках · 0.12–0.13</a:t>
            </a:r>
          </a:p>
          <a:p>
            <a:pPr algn="ctr">
              <a:spcAft>
                <a:spcPts val="800"/>
              </a:spcAft>
            </a:pPr>
            <a:r>
              <a:rPr sz="1600" b="0">
                <a:solidFill>
                  <a:srgbClr val="1E5B28"/>
                </a:solidFill>
                <a:latin typeface="X5 Sans Medium"/>
              </a:rPr>
              <a:t>×6.7</a:t>
            </a:r>
            <a:r>
              <a:rPr sz="1600" b="0">
                <a:solidFill>
                  <a:srgbClr val="1E5B28"/>
                </a:solidFill>
                <a:latin typeface="X5 Sans"/>
              </a:rPr>
              <a:t> к 0.79 — диапазоны не пересекаются</a:t>
            </a:r>
          </a:p>
        </p:txBody>
      </p:sp>
      <p:sp>
        <p:nvSpPr>
          <p:cNvPr id="1236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047488" y="5029200"/>
            <a:ext cx="3803904" cy="100584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8" name="TextBox 1267"/>
          <p:cNvSpPr txBox="1"/>
          <p:nvPr/>
        </p:nvSpPr>
        <p:spPr>
          <a:xfrm>
            <a:off x="5184648" y="5111496"/>
            <a:ext cx="3529584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«отвечала за 0.79 мс — отвечает за 0.12»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Идиома с правилами — литерал с null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9.3</a:t>
            </a:r>
          </a:p>
        </p:txBody>
      </p:sp>
      <p:sp>
        <p:nvSpPr>
          <p:cNvPr id="123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8" name="TextBox 1237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39" name="TextBox 1238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240" name="TextBox 1239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3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1" name="TextBox 1240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42" name="TextBox 1241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243" name="TextBox 1242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3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TextBox 1243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45" name="TextBox 1244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246" name="TextBox 1245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4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7" name="TextBox 1246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48" name="TextBox 1247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249" name="TextBox 1248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4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0" name="TextBox 1249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251" name="TextBox 1250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252" name="TextBox 1251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?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агент без правил</a:t>
            </a:r>
          </a:p>
        </p:txBody>
      </p:sp>
      <p:sp>
        <p:nvSpPr>
          <p:cNvPr id="124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3" name="TextBox 1252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254" name="Connector 1253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5" name="Oval 1254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6" name="Oval 1255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7" name="Oval 1256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8" name="Oval 1257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9" name="Oval 1258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0" name="Oval 1259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1" name="Oval 1260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2" name="Oval 1261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3" name="Oval 1262"/>
          <p:cNvSpPr/>
          <p:nvPr/>
        </p:nvSpPr>
        <p:spPr>
          <a:xfrm>
            <a:off x="11022676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4" name="Oval 1263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5" name="Oval 1264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6" name="Oval 1265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7" name="TextBox 1266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9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правила</a:t>
            </a:r>
          </a:p>
        </p:txBody>
      </p:sp>
      <p:sp>
        <p:nvSpPr>
          <p:cNvPr id="124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188720"/>
            <a:ext cx="4389120" cy="32918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292608" y="1335024"/>
            <a:ext cx="2011680" cy="310896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8" name="TextBox 1267"/>
          <p:cNvSpPr txBox="1"/>
          <p:nvPr/>
        </p:nvSpPr>
        <p:spPr>
          <a:xfrm>
            <a:off x="292608" y="1335024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1E5B28"/>
                </a:solidFill>
                <a:latin typeface="X5 Sans Medium"/>
              </a:rPr>
              <a:t>A с первого слайда</a:t>
            </a:r>
          </a:p>
        </p:txBody>
      </p:sp>
      <p:sp>
        <p:nvSpPr>
          <p:cNvPr id="1269" name="TextBox 1268"/>
          <p:cNvSpPr txBox="1"/>
          <p:nvPr/>
        </p:nvSpPr>
        <p:spPr>
          <a:xfrm>
            <a:off x="384048" y="1737360"/>
            <a:ext cx="3931920" cy="2606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6B7280"/>
                </a:solidFill>
                <a:latin typeface="Menlo"/>
              </a:rPr>
              <a:t>return {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6B7280"/>
                </a:solidFill>
                <a:latin typeface="Menlo"/>
              </a:rPr>
              <a:t>  id, name, email, plan, credits,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E5B28"/>
                </a:solidFill>
                <a:latin typeface="Menlo"/>
              </a:rPr>
              <a:t>  referrer: raw.referrer ?? null,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E5B28"/>
                </a:solidFill>
                <a:latin typeface="Menlo"/>
              </a:rPr>
              <a:t>  trialUntil: raw.trialUntil ?? null,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E5B28"/>
                </a:solidFill>
                <a:latin typeface="Menlo"/>
              </a:rPr>
              <a:t>  teamId: raw.teamId ?? null,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6B7280"/>
                </a:solidFill>
                <a:latin typeface="Menlo"/>
              </a:rPr>
              <a:t>};</a:t>
            </a:r>
          </a:p>
        </p:txBody>
      </p:sp>
      <p:sp>
        <p:nvSpPr>
          <p:cNvPr id="124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4709160" y="1188720"/>
            <a:ext cx="4389120" cy="32918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6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4892040" y="1335024"/>
            <a:ext cx="2651760" cy="310896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0" name="TextBox 1269"/>
          <p:cNvSpPr txBox="1"/>
          <p:nvPr/>
        </p:nvSpPr>
        <p:spPr>
          <a:xfrm>
            <a:off x="4892040" y="1335024"/>
            <a:ext cx="26517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1E5B28"/>
                </a:solidFill>
                <a:latin typeface="X5 Sans Medium"/>
              </a:rPr>
              <a:t>агент + правила, 30 из 30</a:t>
            </a:r>
          </a:p>
        </p:txBody>
      </p:sp>
      <p:sp>
        <p:nvSpPr>
          <p:cNvPr id="1271" name="TextBox 1270"/>
          <p:cNvSpPr txBox="1"/>
          <p:nvPr/>
        </p:nvSpPr>
        <p:spPr>
          <a:xfrm>
            <a:off x="4983480" y="1737360"/>
            <a:ext cx="3931920" cy="2606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Menlo"/>
              </a:rPr>
              <a:t>return {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Menlo"/>
              </a:rPr>
              <a:t>  id: …, name: …, email: …, plan: …,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Menlo"/>
              </a:rPr>
              <a:t>  referrer: src.referrer != null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1E5B28"/>
                </a:solidFill>
                <a:latin typeface="Menlo"/>
              </a:rPr>
              <a:t>    ? src.referrer : null,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1E5B28"/>
                </a:solidFill>
                <a:latin typeface="Menlo"/>
              </a:rPr>
              <a:t>  trialUntil: … != null ? … : null,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1E5B28"/>
                </a:solidFill>
                <a:latin typeface="Menlo"/>
              </a:rPr>
              <a:t>  teamId: … != null ? … : null,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Menlo"/>
              </a:rPr>
              <a:t>};</a:t>
            </a:r>
          </a:p>
        </p:txBody>
      </p:sp>
      <p:sp>
        <p:nvSpPr>
          <p:cNvPr id="1247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109728" y="4663440"/>
            <a:ext cx="2919984" cy="73152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TextBox 1271"/>
          <p:cNvSpPr txBox="1"/>
          <p:nvPr/>
        </p:nvSpPr>
        <p:spPr>
          <a:xfrm>
            <a:off x="201168" y="4718303"/>
            <a:ext cx="2737104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единый литерал</a:t>
            </a:r>
          </a:p>
        </p:txBody>
      </p:sp>
      <p:sp>
        <p:nvSpPr>
          <p:cNvPr id="1248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258312" y="4663440"/>
            <a:ext cx="2919984" cy="73152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3" name="TextBox 1272"/>
          <p:cNvSpPr txBox="1"/>
          <p:nvPr/>
        </p:nvSpPr>
        <p:spPr>
          <a:xfrm>
            <a:off x="3349752" y="4718303"/>
            <a:ext cx="2737104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ни одного if после литерала</a:t>
            </a:r>
          </a:p>
        </p:txBody>
      </p:sp>
      <p:sp>
        <p:nvSpPr>
          <p:cNvPr id="1249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6406896" y="4663440"/>
            <a:ext cx="2919984" cy="73152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4" name="TextBox 1273"/>
          <p:cNvSpPr txBox="1"/>
          <p:nvPr/>
        </p:nvSpPr>
        <p:spPr>
          <a:xfrm>
            <a:off x="6498336" y="4718303"/>
            <a:ext cx="2737104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1 форма</a:t>
            </a:r>
          </a:p>
        </p:txBody>
      </p:sp>
      <p:sp>
        <p:nvSpPr>
          <p:cNvPr id="1250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109728" y="5532120"/>
            <a:ext cx="9217152" cy="77724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TextBox 1274"/>
          <p:cNvSpPr txBox="1"/>
          <p:nvPr/>
        </p:nvSpPr>
        <p:spPr>
          <a:xfrm>
            <a:off x="201168" y="5586983"/>
            <a:ext cx="9034272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функцию A агент не видел — тернарник с null взят из примера в первом правиле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Один агент. Разница — файл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9.4</a:t>
            </a:r>
          </a:p>
        </p:txBody>
      </p:sp>
      <p:sp>
        <p:nvSpPr>
          <p:cNvPr id="125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2" name="TextBox 1251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53" name="TextBox 1252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254" name="TextBox 1253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5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5" name="TextBox 1254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56" name="TextBox 1255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257" name="TextBox 1256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5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8" name="TextBox 1257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59" name="TextBox 1258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260" name="TextBox 1259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5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1" name="TextBox 1260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62" name="TextBox 126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263" name="TextBox 1262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5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4" name="TextBox 1263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265" name="TextBox 1264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266" name="TextBox 1265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>
                <a:solidFill>
                  <a:srgbClr val="1E5B28"/>
                </a:solidFill>
                <a:latin typeface="X5 Sans Medium"/>
              </a:rPr>
              <a:t>агент + файл правил</a:t>
            </a:r>
            <a:r>
              <a:rPr sz="900">
                <a:solidFill>
                  <a:srgbClr val="B6BCC6"/>
                </a:solidFill>
                <a:latin typeface="X5 Sans Medium"/>
              </a:rPr>
              <a:t>  /  </a:t>
            </a:r>
            <a:r>
              <a:rPr sz="900">
                <a:solidFill>
                  <a:srgbClr val="8A1538"/>
                </a:solidFill>
                <a:latin typeface="X5 Sans Medium"/>
              </a:rPr>
              <a:t>агент без правил</a:t>
            </a:r>
          </a:p>
        </p:txBody>
      </p:sp>
      <p:sp>
        <p:nvSpPr>
          <p:cNvPr id="125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7" name="TextBox 1266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268" name="Connector 1267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9" name="Oval 1268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0" name="Oval 1269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1" name="Oval 1270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2" name="Oval 1271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3" name="Oval 1272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4" name="Oval 1273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5" name="Oval 1274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6" name="Oval 1275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7" name="Oval 1276"/>
          <p:cNvSpPr/>
          <p:nvPr/>
        </p:nvSpPr>
        <p:spPr>
          <a:xfrm>
            <a:off x="11022676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8" name="Oval 1277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9" name="Oval 1278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0" name="Oval 1279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1" name="TextBox 1280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9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правила</a:t>
            </a:r>
          </a:p>
        </p:txBody>
      </p:sp>
      <p:sp>
        <p:nvSpPr>
          <p:cNvPr id="125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188720"/>
            <a:ext cx="9217152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8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10896" y="1353312"/>
            <a:ext cx="2523744" cy="347472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2" name="TextBox 1281"/>
          <p:cNvSpPr txBox="1"/>
          <p:nvPr/>
        </p:nvSpPr>
        <p:spPr>
          <a:xfrm>
            <a:off x="310896" y="1353312"/>
            <a:ext cx="2523744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E5B28"/>
                </a:solidFill>
                <a:latin typeface="X5 Sans Medium"/>
              </a:rPr>
              <a:t>с правилами · mono-llm</a:t>
            </a:r>
          </a:p>
        </p:txBody>
      </p:sp>
      <p:sp>
        <p:nvSpPr>
          <p:cNvPr id="1283" name="TextBox 1282"/>
          <p:cNvSpPr txBox="1"/>
          <p:nvPr/>
        </p:nvSpPr>
        <p:spPr>
          <a:xfrm>
            <a:off x="429768" y="1755648"/>
            <a:ext cx="857707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0">
                <a:solidFill>
                  <a:srgbClr val="1E5B28"/>
                </a:solidFill>
                <a:latin typeface="X5 Sans Medium"/>
              </a:rPr>
              <a:t>2302 rps</a:t>
            </a:r>
            <a:r>
              <a:rPr sz="2400" b="0">
                <a:solidFill>
                  <a:srgbClr val="1E5B28"/>
                </a:solidFill>
                <a:latin typeface="X5 Sans"/>
              </a:rPr>
              <a:t> · </a:t>
            </a:r>
            <a:r>
              <a:rPr sz="2112" b="0">
                <a:solidFill>
                  <a:srgbClr val="1E5B28"/>
                </a:solidFill>
                <a:latin typeface="Menlo"/>
              </a:rPr>
              <a:t>out/p1-rules/candidate_1.js</a:t>
            </a:r>
          </a:p>
        </p:txBody>
      </p:sp>
      <p:sp>
        <p:nvSpPr>
          <p:cNvPr id="1259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109728" y="2788920"/>
            <a:ext cx="9217152" cy="146304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60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310896" y="2953512"/>
            <a:ext cx="2523744" cy="347472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84" name="TextBox 1283"/>
          <p:cNvSpPr txBox="1"/>
          <p:nvPr/>
        </p:nvSpPr>
        <p:spPr>
          <a:xfrm>
            <a:off x="310896" y="2953512"/>
            <a:ext cx="2523744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 Medium"/>
              </a:rPr>
              <a:t>без правил · guard-llm</a:t>
            </a:r>
          </a:p>
        </p:txBody>
      </p:sp>
      <p:sp>
        <p:nvSpPr>
          <p:cNvPr id="1285" name="TextBox 1284"/>
          <p:cNvSpPr txBox="1"/>
          <p:nvPr/>
        </p:nvSpPr>
        <p:spPr>
          <a:xfrm>
            <a:off x="429768" y="3355848"/>
            <a:ext cx="857707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0">
                <a:solidFill>
                  <a:srgbClr val="1E5B28"/>
                </a:solidFill>
                <a:latin typeface="X5 Sans Medium"/>
              </a:rPr>
              <a:t>1180 rps</a:t>
            </a:r>
            <a:r>
              <a:rPr sz="2400" b="0">
                <a:solidFill>
                  <a:srgbClr val="1E5B28"/>
                </a:solidFill>
                <a:latin typeface="X5 Sans"/>
              </a:rPr>
              <a:t> · </a:t>
            </a:r>
            <a:r>
              <a:rPr sz="2112" b="0">
                <a:solidFill>
                  <a:srgbClr val="1E5B28"/>
                </a:solidFill>
                <a:latin typeface="Menlo"/>
              </a:rPr>
              <a:t>out/p1-no-rules/candidate_1.js</a:t>
            </a:r>
          </a:p>
        </p:txBody>
      </p:sp>
      <p:sp>
        <p:nvSpPr>
          <p:cNvPr id="1261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109728" y="4480560"/>
            <a:ext cx="9217152" cy="77724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6" name="TextBox 1285"/>
          <p:cNvSpPr txBox="1"/>
          <p:nvPr/>
        </p:nvSpPr>
        <p:spPr>
          <a:xfrm>
            <a:off x="246888" y="4562856"/>
            <a:ext cx="8942832" cy="6126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«генерации, не пара с первого слайда; одна пара форм, два прибора»</a:t>
            </a:r>
          </a:p>
        </p:txBody>
      </p:sp>
      <p:sp>
        <p:nvSpPr>
          <p:cNvPr id="1262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109728" y="5440680"/>
            <a:ext cx="4494276" cy="8686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87" name="TextBox 1286"/>
          <p:cNvSpPr txBox="1"/>
          <p:nvPr/>
        </p:nvSpPr>
        <p:spPr>
          <a:xfrm>
            <a:off x="292608" y="5550408"/>
            <a:ext cx="4128515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оговорка: правила инлайнились явно, с запретом и примером</a:t>
            </a:r>
          </a:p>
        </p:txBody>
      </p:sp>
      <p:sp>
        <p:nvSpPr>
          <p:cNvPr id="1263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4832604" y="5440680"/>
            <a:ext cx="4494276" cy="8686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88" name="TextBox 1287"/>
          <p:cNvSpPr txBox="1"/>
          <p:nvPr/>
        </p:nvSpPr>
        <p:spPr>
          <a:xfrm>
            <a:off x="5015484" y="5550408"/>
            <a:ext cx="4128515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носитель: </a:t>
            </a:r>
            <a:r>
              <a:rPr sz="1144" b="0">
                <a:solidFill>
                  <a:srgbClr val="1E5B28"/>
                </a:solidFill>
                <a:latin typeface="Menlo"/>
              </a:rPr>
              <a:t>CLAUDE.md</a:t>
            </a:r>
            <a:r>
              <a:rPr sz="1300" b="0">
                <a:solidFill>
                  <a:srgbClr val="1E5B28"/>
                </a:solidFill>
                <a:latin typeface="X5 Sans"/>
              </a:rPr>
              <a:t> · cursor rules · codex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Что за лев и надолго ли правила</a:t>
            </a:r>
          </a:p>
        </p:txBody>
      </p:sp>
      <p:sp>
        <p:nvSpPr>
          <p:cNvPr id="1264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241901" y="1097280"/>
            <a:ext cx="3707891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5" name="TextBox 1264"/>
          <p:cNvSpPr txBox="1"/>
          <p:nvPr/>
        </p:nvSpPr>
        <p:spPr>
          <a:xfrm>
            <a:off x="4241901" y="1097280"/>
            <a:ext cx="370789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10 из 12 · 3 мин</a:t>
            </a:r>
          </a:p>
        </p:txBody>
      </p:sp>
      <p:sp>
        <p:nvSpPr>
          <p:cNvPr id="1265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TextBox 1265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Файл работает сегодня. В описании доклада сказано, что TurboFan меняют на Turbolev — не устареет ли файл вместе с компилятором?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Turbolev: из чего собран и в каком статусе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10.1</a:t>
            </a:r>
          </a:p>
        </p:txBody>
      </p:sp>
      <p:sp>
        <p:nvSpPr>
          <p:cNvPr id="126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7" name="TextBox 1266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68" name="TextBox 1267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269" name="TextBox 1268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6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0" name="TextBox 1269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71" name="TextBox 1270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272" name="TextBox 1271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6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3" name="TextBox 1272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74" name="TextBox 1273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275" name="TextBox 1274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6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6" name="TextBox 1275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77" name="TextBox 1276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278" name="TextBox 1277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7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9" name="TextBox 1278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280" name="TextBox 1279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281" name="TextBox 1280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с файлом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без</a:t>
            </a:r>
          </a:p>
        </p:txBody>
      </p:sp>
      <p:sp>
        <p:nvSpPr>
          <p:cNvPr id="127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2" name="TextBox 1281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283" name="Connector 1282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4" name="Oval 1283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5" name="Oval 1284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6" name="Oval 1285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7" name="Oval 1286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8" name="Oval 1287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9" name="Oval 1288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0" name="Oval 1289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1" name="Oval 1290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2" name="Oval 1291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3" name="Oval 1292"/>
          <p:cNvSpPr/>
          <p:nvPr/>
        </p:nvSpPr>
        <p:spPr>
          <a:xfrm>
            <a:off x="11198074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4" name="Oval 1293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5" name="Oval 1294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6" name="TextBox 1295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10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лев</a:t>
            </a:r>
          </a:p>
        </p:txBody>
      </p:sp>
      <p:cxnSp>
        <p:nvCxnSpPr>
          <p:cNvPr id="1297" name="Connector 1296"/>
          <p:cNvCxnSpPr/>
          <p:nvPr/>
        </p:nvCxnSpPr>
        <p:spPr>
          <a:xfrm>
            <a:off x="109728" y="4160520"/>
            <a:ext cx="5394960" cy="0"/>
          </a:xfrm>
          <a:prstGeom prst="line">
            <a:avLst/>
          </a:prstGeom>
          <a:ln w="2222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8" name="TextBox 1297"/>
          <p:cNvSpPr txBox="1"/>
          <p:nvPr/>
        </p:nvSpPr>
        <p:spPr>
          <a:xfrm>
            <a:off x="3127248" y="4526280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количество вызовов функции →</a:t>
            </a:r>
          </a:p>
        </p:txBody>
      </p:sp>
      <p:sp>
        <p:nvSpPr>
          <p:cNvPr id="1299" name="Rounded Rectangle 1298"/>
          <p:cNvSpPr/>
          <p:nvPr/>
        </p:nvSpPr>
        <p:spPr>
          <a:xfrm>
            <a:off x="201168" y="3487189"/>
            <a:ext cx="1248156" cy="673330"/>
          </a:xfrm>
          <a:prstGeom prst="roundRect">
            <a:avLst>
              <a:gd name="adj" fmla="val 108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0" name="TextBox 1299"/>
          <p:cNvSpPr txBox="1"/>
          <p:nvPr/>
        </p:nvSpPr>
        <p:spPr>
          <a:xfrm>
            <a:off x="274320" y="3523765"/>
            <a:ext cx="1101852" cy="6001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Ignition</a:t>
            </a:r>
          </a:p>
          <a:p>
            <a:pPr algn="ctr">
              <a:spcAft>
                <a:spcPts val="1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интерпретатор</a:t>
            </a:r>
          </a:p>
        </p:txBody>
      </p:sp>
      <p:cxnSp>
        <p:nvCxnSpPr>
          <p:cNvPr id="1301" name="Connector 1300"/>
          <p:cNvCxnSpPr/>
          <p:nvPr/>
        </p:nvCxnSpPr>
        <p:spPr>
          <a:xfrm>
            <a:off x="201168" y="4160520"/>
            <a:ext cx="0" cy="91439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2" name="TextBox 1301"/>
          <p:cNvSpPr txBox="1"/>
          <p:nvPr/>
        </p:nvSpPr>
        <p:spPr>
          <a:xfrm>
            <a:off x="182880" y="4270248"/>
            <a:ext cx="13030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вызов 1</a:t>
            </a:r>
          </a:p>
        </p:txBody>
      </p:sp>
      <p:sp>
        <p:nvSpPr>
          <p:cNvPr id="1303" name="Rounded Rectangle 1302"/>
          <p:cNvSpPr/>
          <p:nvPr/>
        </p:nvSpPr>
        <p:spPr>
          <a:xfrm>
            <a:off x="1504188" y="3150523"/>
            <a:ext cx="1248156" cy="1009996"/>
          </a:xfrm>
          <a:prstGeom prst="roundRect">
            <a:avLst>
              <a:gd name="adj" fmla="val 7242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4" name="TextBox 1303"/>
          <p:cNvSpPr txBox="1"/>
          <p:nvPr/>
        </p:nvSpPr>
        <p:spPr>
          <a:xfrm>
            <a:off x="1577340" y="3187099"/>
            <a:ext cx="1101852" cy="9368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Sparkplug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быстрый компилятор</a:t>
            </a:r>
          </a:p>
        </p:txBody>
      </p:sp>
      <p:cxnSp>
        <p:nvCxnSpPr>
          <p:cNvPr id="1305" name="Connector 1304"/>
          <p:cNvCxnSpPr/>
          <p:nvPr/>
        </p:nvCxnSpPr>
        <p:spPr>
          <a:xfrm>
            <a:off x="1504188" y="4160520"/>
            <a:ext cx="0" cy="91439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6" name="TextBox 1305"/>
          <p:cNvSpPr txBox="1"/>
          <p:nvPr/>
        </p:nvSpPr>
        <p:spPr>
          <a:xfrm>
            <a:off x="1485900" y="4270248"/>
            <a:ext cx="13030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~700</a:t>
            </a:r>
          </a:p>
        </p:txBody>
      </p:sp>
      <p:sp>
        <p:nvSpPr>
          <p:cNvPr id="1307" name="Rounded Rectangle 1306"/>
          <p:cNvSpPr/>
          <p:nvPr/>
        </p:nvSpPr>
        <p:spPr>
          <a:xfrm>
            <a:off x="2807208" y="2626821"/>
            <a:ext cx="1248156" cy="1533698"/>
          </a:xfrm>
          <a:prstGeom prst="roundRect">
            <a:avLst>
              <a:gd name="adj" fmla="val 5860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8" name="TextBox 1307"/>
          <p:cNvSpPr txBox="1"/>
          <p:nvPr/>
        </p:nvSpPr>
        <p:spPr>
          <a:xfrm>
            <a:off x="2880360" y="2663397"/>
            <a:ext cx="1101852" cy="14605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Maglev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компилятор со ставкой</a:t>
            </a:r>
          </a:p>
        </p:txBody>
      </p:sp>
      <p:cxnSp>
        <p:nvCxnSpPr>
          <p:cNvPr id="1309" name="Connector 1308"/>
          <p:cNvCxnSpPr/>
          <p:nvPr/>
        </p:nvCxnSpPr>
        <p:spPr>
          <a:xfrm>
            <a:off x="2807208" y="4160520"/>
            <a:ext cx="0" cy="91439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0" name="TextBox 1309"/>
          <p:cNvSpPr txBox="1"/>
          <p:nvPr/>
        </p:nvSpPr>
        <p:spPr>
          <a:xfrm>
            <a:off x="2788920" y="4270248"/>
            <a:ext cx="13030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~1000</a:t>
            </a:r>
          </a:p>
        </p:txBody>
      </p:sp>
      <p:sp>
        <p:nvSpPr>
          <p:cNvPr id="1311" name="Rounded Rectangle 1310"/>
          <p:cNvSpPr/>
          <p:nvPr/>
        </p:nvSpPr>
        <p:spPr>
          <a:xfrm>
            <a:off x="4110228" y="2103120"/>
            <a:ext cx="1248156" cy="2057400"/>
          </a:xfrm>
          <a:prstGeom prst="roundRect">
            <a:avLst>
              <a:gd name="adj" fmla="val 5860"/>
            </a:avLst>
          </a:prstGeom>
          <a:solidFill>
            <a:srgbClr val="AADC00"/>
          </a:solidFill>
          <a:ln w="254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2" name="TextBox 1311"/>
          <p:cNvSpPr txBox="1"/>
          <p:nvPr/>
        </p:nvSpPr>
        <p:spPr>
          <a:xfrm>
            <a:off x="4183380" y="2139696"/>
            <a:ext cx="1101852" cy="1984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TurboFan → Turbolev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лучший компилятор</a:t>
            </a:r>
          </a:p>
        </p:txBody>
      </p:sp>
      <p:cxnSp>
        <p:nvCxnSpPr>
          <p:cNvPr id="1313" name="Connector 1312"/>
          <p:cNvCxnSpPr/>
          <p:nvPr/>
        </p:nvCxnSpPr>
        <p:spPr>
          <a:xfrm>
            <a:off x="4110228" y="4160520"/>
            <a:ext cx="0" cy="91439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4" name="TextBox 1313"/>
          <p:cNvSpPr txBox="1"/>
          <p:nvPr/>
        </p:nvSpPr>
        <p:spPr>
          <a:xfrm>
            <a:off x="4091940" y="4270248"/>
            <a:ext cx="13030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~13 000</a:t>
            </a:r>
          </a:p>
        </p:txBody>
      </p:sp>
      <p:cxnSp>
        <p:nvCxnSpPr>
          <p:cNvPr id="1315" name="Connector 1314"/>
          <p:cNvCxnSpPr/>
          <p:nvPr/>
        </p:nvCxnSpPr>
        <p:spPr>
          <a:xfrm>
            <a:off x="201168" y="1618488"/>
            <a:ext cx="2551176" cy="0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6" name="Connector 1315"/>
          <p:cNvCxnSpPr/>
          <p:nvPr/>
        </p:nvCxnSpPr>
        <p:spPr>
          <a:xfrm>
            <a:off x="201168" y="1618488"/>
            <a:ext cx="0" cy="91440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7" name="Connector 1316"/>
          <p:cNvCxnSpPr/>
          <p:nvPr/>
        </p:nvCxnSpPr>
        <p:spPr>
          <a:xfrm>
            <a:off x="2752344" y="1618488"/>
            <a:ext cx="0" cy="91440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8" name="TextBox 1317"/>
          <p:cNvSpPr txBox="1"/>
          <p:nvPr/>
        </p:nvSpPr>
        <p:spPr>
          <a:xfrm>
            <a:off x="201168" y="1188720"/>
            <a:ext cx="2551176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6B7280"/>
                </a:solidFill>
                <a:latin typeface="X5 Sans"/>
              </a:rPr>
              <a:t>читают записи мест чтения, ничего не предполагают</a:t>
            </a:r>
          </a:p>
        </p:txBody>
      </p:sp>
      <p:cxnSp>
        <p:nvCxnSpPr>
          <p:cNvPr id="1319" name="Connector 1318"/>
          <p:cNvCxnSpPr/>
          <p:nvPr/>
        </p:nvCxnSpPr>
        <p:spPr>
          <a:xfrm>
            <a:off x="2807208" y="1618488"/>
            <a:ext cx="2551176" cy="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0" name="Connector 1319"/>
          <p:cNvCxnSpPr/>
          <p:nvPr/>
        </p:nvCxnSpPr>
        <p:spPr>
          <a:xfrm>
            <a:off x="2807208" y="1618488"/>
            <a:ext cx="0" cy="9144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1" name="Connector 1320"/>
          <p:cNvCxnSpPr/>
          <p:nvPr/>
        </p:nvCxnSpPr>
        <p:spPr>
          <a:xfrm>
            <a:off x="5358384" y="1618488"/>
            <a:ext cx="0" cy="9144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2" name="TextBox 1321"/>
          <p:cNvSpPr txBox="1"/>
          <p:nvPr/>
        </p:nvSpPr>
        <p:spPr>
          <a:xfrm>
            <a:off x="2807208" y="1188720"/>
            <a:ext cx="2551176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E5B28"/>
                </a:solidFill>
                <a:latin typeface="X5 Sans"/>
              </a:rPr>
              <a:t>вшивают ставку «сюда приходит одна форма» — проверка одним сравнением</a:t>
            </a:r>
          </a:p>
        </p:txBody>
      </p:sp>
      <p:sp>
        <p:nvSpPr>
          <p:cNvPr id="1323" name="TextBox 1322"/>
          <p:cNvSpPr txBox="1"/>
          <p:nvPr/>
        </p:nvSpPr>
        <p:spPr>
          <a:xfrm>
            <a:off x="201168" y="4526280"/>
            <a:ext cx="2651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B7280"/>
                </a:solidFill>
                <a:latin typeface="X5 Sans"/>
              </a:rPr>
              <a:t>8-й вызов — движок заводит записи мест чтения · номиналы флагов: Maglev 400, TurboFan 3000 · считается бюджет байткода, не вызовы</a:t>
            </a:r>
          </a:p>
        </p:txBody>
      </p:sp>
      <p:sp>
        <p:nvSpPr>
          <p:cNvPr id="1272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733288" y="1188720"/>
            <a:ext cx="3593591" cy="105156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TextBox 1323"/>
          <p:cNvSpPr txBox="1"/>
          <p:nvPr/>
        </p:nvSpPr>
        <p:spPr>
          <a:xfrm>
            <a:off x="5824728" y="1243584"/>
            <a:ext cx="3410711" cy="9418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Maglev</a:t>
            </a:r>
            <a:r>
              <a:rPr sz="1300" b="0">
                <a:solidFill>
                  <a:srgbClr val="1E5B28"/>
                </a:solidFill>
                <a:latin typeface="X5 Sans"/>
              </a:rPr>
              <a:t> — фронтенд</a:t>
            </a:r>
          </a:p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те же записи → та же ставка</a:t>
            </a:r>
          </a:p>
        </p:txBody>
      </p:sp>
      <p:sp>
        <p:nvSpPr>
          <p:cNvPr id="1273" name="Нашивка 6">
            <a:extLst>
              <a:ext uri="{FF2B5EF4-FFF2-40B4-BE49-F238E27FC236}">
                <a16:creationId xmlns:a16="http://schemas.microsoft.com/office/drawing/2014/main" id="{F80B4974-C140-AA86-1C4E-8502021E883C}"/>
              </a:ext>
            </a:extLst>
          </p:cNvPr>
          <p:cNvSpPr/>
          <p:nvPr/>
        </p:nvSpPr>
        <p:spPr>
          <a:xfrm>
            <a:off x="7438644" y="2286000"/>
            <a:ext cx="182880" cy="320040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4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733288" y="2651760"/>
            <a:ext cx="3593591" cy="105156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5" name="TextBox 1324"/>
          <p:cNvSpPr txBox="1"/>
          <p:nvPr/>
        </p:nvSpPr>
        <p:spPr>
          <a:xfrm>
            <a:off x="5824728" y="2706624"/>
            <a:ext cx="3410711" cy="9418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Turboshaft</a:t>
            </a:r>
            <a:r>
              <a:rPr sz="1300" b="0">
                <a:solidFill>
                  <a:srgbClr val="1E5B28"/>
                </a:solidFill>
                <a:latin typeface="X5 Sans"/>
              </a:rPr>
              <a:t> — бэкенд</a:t>
            </a:r>
          </a:p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напрямую, мимо IR TurboFan</a:t>
            </a:r>
          </a:p>
        </p:txBody>
      </p:sp>
      <p:sp>
        <p:nvSpPr>
          <p:cNvPr id="1275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733288" y="3840480"/>
            <a:ext cx="3593591" cy="1005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26" name="TextBox 1325"/>
          <p:cNvSpPr txBox="1"/>
          <p:nvPr/>
        </p:nvSpPr>
        <p:spPr>
          <a:xfrm>
            <a:off x="5843016" y="3906316"/>
            <a:ext cx="3374135" cy="8741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E5B28"/>
                </a:solidFill>
                <a:latin typeface="X5 Sans"/>
              </a:rPr>
              <a:t>«4th tier compiler instead of Turbofan» — замена ступени, не пятая</a:t>
            </a:r>
          </a:p>
        </p:txBody>
      </p:sp>
      <p:sp>
        <p:nvSpPr>
          <p:cNvPr id="1276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109728" y="5029200"/>
            <a:ext cx="9217152" cy="128016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7" name="TextBox 1326"/>
          <p:cNvSpPr txBox="1"/>
          <p:nvPr/>
        </p:nvSpPr>
        <p:spPr>
          <a:xfrm>
            <a:off x="246888" y="5111496"/>
            <a:ext cx="8942832" cy="1115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32" b="0">
                <a:solidFill>
                  <a:srgbClr val="FFFFFF"/>
                </a:solidFill>
                <a:latin typeface="Menlo"/>
              </a:rPr>
              <a:t>--turbolev</a:t>
            </a:r>
            <a:r>
              <a:rPr sz="1400" b="0">
                <a:solidFill>
                  <a:srgbClr val="FFFFFF"/>
                </a:solidFill>
                <a:latin typeface="X5 Sans"/>
              </a:rPr>
              <a:t> есть в V8 13.6 (Node 24) · по умолчанию выключен — и там, и в основной ветке V8 (сентябрь 2026)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X5 Sans"/>
              </a:rPr>
              <a:t>срок включения не объявлен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Числа под --turbolev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10.2</a:t>
            </a:r>
          </a:p>
        </p:txBody>
      </p:sp>
      <p:sp>
        <p:nvSpPr>
          <p:cNvPr id="127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TextBox 1277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79" name="TextBox 1278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280" name="TextBox 1279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7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1" name="TextBox 1280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82" name="TextBox 1281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283" name="TextBox 1282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7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TextBox 1283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85" name="TextBox 1284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286" name="TextBox 1285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8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7" name="TextBox 1286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88" name="TextBox 1287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289" name="TextBox 1288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8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TextBox 1289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291" name="TextBox 1290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292" name="TextBox 1291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с файлом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без</a:t>
            </a:r>
          </a:p>
        </p:txBody>
      </p:sp>
      <p:sp>
        <p:nvSpPr>
          <p:cNvPr id="128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TextBox 1292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294" name="Connector 1293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5" name="Oval 1294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6" name="Oval 1295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7" name="Oval 1296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8" name="Oval 1297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9" name="Oval 1298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0" name="Oval 1299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1" name="Oval 1300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2" name="Oval 1301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3" name="Oval 1302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4" name="Oval 1303"/>
          <p:cNvSpPr/>
          <p:nvPr/>
        </p:nvSpPr>
        <p:spPr>
          <a:xfrm>
            <a:off x="11198074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5" name="Oval 1304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6" name="Oval 1305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7" name="TextBox 1306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10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лев</a:t>
            </a:r>
          </a:p>
        </p:txBody>
      </p:sp>
      <p:sp>
        <p:nvSpPr>
          <p:cNvPr id="1308" name="Rounded Rectangle 1307"/>
          <p:cNvSpPr/>
          <p:nvPr/>
        </p:nvSpPr>
        <p:spPr>
          <a:xfrm>
            <a:off x="109728" y="1188720"/>
            <a:ext cx="5394960" cy="2651760"/>
          </a:xfrm>
          <a:prstGeom prst="roundRect">
            <a:avLst>
              <a:gd name="adj" fmla="val 5517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9" name="Oval 1308"/>
          <p:cNvSpPr/>
          <p:nvPr/>
        </p:nvSpPr>
        <p:spPr>
          <a:xfrm>
            <a:off x="292608" y="1335024"/>
            <a:ext cx="100584" cy="1005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0" name="Oval 1309"/>
          <p:cNvSpPr/>
          <p:nvPr/>
        </p:nvSpPr>
        <p:spPr>
          <a:xfrm>
            <a:off x="475488" y="1335024"/>
            <a:ext cx="100584" cy="100584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1" name="Oval 1310"/>
          <p:cNvSpPr/>
          <p:nvPr/>
        </p:nvSpPr>
        <p:spPr>
          <a:xfrm>
            <a:off x="658368" y="1335024"/>
            <a:ext cx="100584" cy="10058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2" name="TextBox 1311"/>
          <p:cNvSpPr txBox="1"/>
          <p:nvPr/>
        </p:nvSpPr>
        <p:spPr>
          <a:xfrm>
            <a:off x="1024128" y="1280160"/>
            <a:ext cx="4297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запись R10 · Node 24.21.0</a:t>
            </a:r>
          </a:p>
        </p:txBody>
      </p:sp>
      <p:sp>
        <p:nvSpPr>
          <p:cNvPr id="1313" name="TextBox 1312"/>
          <p:cNvSpPr txBox="1"/>
          <p:nvPr/>
        </p:nvSpPr>
        <p:spPr>
          <a:xfrm>
            <a:off x="338328" y="1572768"/>
            <a:ext cx="4937760" cy="2148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AADC00"/>
                </a:solidFill>
                <a:latin typeface="Menlo"/>
              </a:rPr>
              <a:t>$ node --allow-natives-syntax --turbolev shape-analyzer.js ref-a.js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E6F2E9"/>
                </a:solidFill>
                <a:latin typeface="Menlo"/>
              </a:rPr>
              <a:t>{"shapes":1,"ic":"MONO",</a:t>
            </a:r>
            <a:r>
              <a:rPr sz="1000" b="1">
                <a:solidFill>
                  <a:srgbClr val="FF9DB8"/>
                </a:solidFill>
                <a:latin typeface="Menlo"/>
              </a:rPr>
              <a:t>"p50_ms":0.13</a:t>
            </a:r>
            <a:r>
              <a:rPr sz="1000" b="0">
                <a:solidFill>
                  <a:srgbClr val="E6F2E9"/>
                </a:solidFill>
                <a:latin typeface="Menlo"/>
              </a:rPr>
              <a:t>,"correct":true}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AADC00"/>
                </a:solidFill>
                <a:latin typeface="Menlo"/>
              </a:rPr>
              <a:t>$ node --allow-natives-syntax --turbolev shape-analyzer.js ref-b.js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E6F2E9"/>
                </a:solidFill>
                <a:latin typeface="Menlo"/>
              </a:rPr>
              <a:t>{"shapes":8,"ic":"MEGA",</a:t>
            </a:r>
            <a:r>
              <a:rPr sz="1000" b="1">
                <a:solidFill>
                  <a:srgbClr val="FF9DB8"/>
                </a:solidFill>
                <a:latin typeface="Menlo"/>
              </a:rPr>
              <a:t>"p50_ms":0.88</a:t>
            </a:r>
            <a:r>
              <a:rPr sz="1000" b="0">
                <a:solidFill>
                  <a:srgbClr val="E6F2E9"/>
                </a:solidFill>
                <a:latin typeface="Menlo"/>
              </a:rPr>
              <a:t>,"correct":true}</a:t>
            </a:r>
          </a:p>
        </p:txBody>
      </p:sp>
      <p:graphicFrame>
        <p:nvGraphicFramePr>
          <p:cNvPr id="1314" name="Chart 1313"/>
          <p:cNvGraphicFramePr>
            <a:graphicFrameLocks noGrp="1"/>
          </p:cNvGraphicFramePr>
          <p:nvPr/>
        </p:nvGraphicFramePr>
        <p:xfrm>
          <a:off x="109728" y="3977639"/>
          <a:ext cx="5394960" cy="2331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8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5733288" y="1188720"/>
            <a:ext cx="3593591" cy="160020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TextBox 1314"/>
          <p:cNvSpPr txBox="1"/>
          <p:nvPr/>
        </p:nvSpPr>
        <p:spPr>
          <a:xfrm>
            <a:off x="5870448" y="1271016"/>
            <a:ext cx="3319272" cy="1435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без флага: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0.12 / 0.79</a:t>
            </a:r>
            <a:r>
              <a:rPr sz="1400" b="0">
                <a:solidFill>
                  <a:srgbClr val="1E5B28"/>
                </a:solidFill>
                <a:latin typeface="X5 Sans"/>
              </a:rPr>
              <a:t> · ×6.6</a:t>
            </a:r>
          </a:p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с флагом: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0.14 / 0.95</a:t>
            </a:r>
            <a:r>
              <a:rPr sz="1400" b="0">
                <a:solidFill>
                  <a:srgbClr val="1E5B28"/>
                </a:solidFill>
                <a:latin typeface="X5 Sans"/>
              </a:rPr>
              <a:t> · ×6.8</a:t>
            </a:r>
          </a:p>
        </p:txBody>
      </p:sp>
      <p:sp>
        <p:nvSpPr>
          <p:cNvPr id="1284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733288" y="2926080"/>
            <a:ext cx="3593591" cy="100584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6" name="TextBox 1315"/>
          <p:cNvSpPr txBox="1"/>
          <p:nvPr/>
        </p:nvSpPr>
        <p:spPr>
          <a:xfrm>
            <a:off x="5843016" y="2991916"/>
            <a:ext cx="3374135" cy="8741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1E5B28"/>
                </a:solidFill>
                <a:latin typeface="X5 Sans"/>
              </a:rPr>
              <a:t>разница между A и B — та же</a:t>
            </a:r>
          </a:p>
        </p:txBody>
      </p:sp>
      <p:sp>
        <p:nvSpPr>
          <p:cNvPr id="1285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5733288" y="4069080"/>
            <a:ext cx="3593591" cy="118872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7" name="TextBox 1316"/>
          <p:cNvSpPr txBox="1"/>
          <p:nvPr/>
        </p:nvSpPr>
        <p:spPr>
          <a:xfrm>
            <a:off x="5843016" y="4134916"/>
            <a:ext cx="3374135" cy="10570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E5B28"/>
                </a:solidFill>
                <a:latin typeface="X5 Sans"/>
              </a:rPr>
              <a:t>заявленный выигрыш — скорость компиляции:</a:t>
            </a:r>
          </a:p>
          <a:p>
            <a:pPr algn="ctr"/>
            <a:r>
              <a:rPr sz="1200" b="0">
                <a:solidFill>
                  <a:srgbClr val="1E5B28"/>
                </a:solidFill>
                <a:latin typeface="X5 Sans"/>
              </a:rPr>
              <a:t>Turboshaft-бэкенд ≈ вдвое быстрее (Chrome 120)</a:t>
            </a:r>
          </a:p>
        </p:txBody>
      </p:sp>
      <p:sp>
        <p:nvSpPr>
          <p:cNvPr id="1286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733288" y="5394960"/>
            <a:ext cx="3593591" cy="9144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18" name="TextBox 1317"/>
          <p:cNvSpPr txBox="1"/>
          <p:nvPr/>
        </p:nvSpPr>
        <p:spPr>
          <a:xfrm>
            <a:off x="5843016" y="5460796"/>
            <a:ext cx="3374135" cy="7827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E5B28"/>
                </a:solidFill>
                <a:latin typeface="X5 Sans"/>
              </a:rPr>
              <a:t>о качестве кода источники молчат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Ставка та же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10.3</a:t>
            </a:r>
          </a:p>
        </p:txBody>
      </p:sp>
      <p:sp>
        <p:nvSpPr>
          <p:cNvPr id="128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8" name="TextBox 1287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89" name="TextBox 1288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290" name="TextBox 1289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8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1" name="TextBox 1290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92" name="TextBox 1291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293" name="TextBox 1292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8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4" name="TextBox 1293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95" name="TextBox 1294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296" name="TextBox 1295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9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7" name="TextBox 1296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98" name="TextBox 1297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299" name="TextBox 1298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9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0" name="TextBox 1299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301" name="TextBox 1300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302" name="TextBox 1301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с файлом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без</a:t>
            </a:r>
          </a:p>
        </p:txBody>
      </p:sp>
      <p:sp>
        <p:nvSpPr>
          <p:cNvPr id="129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3" name="TextBox 1302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304" name="Connector 1303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5" name="Oval 1304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6" name="Oval 1305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7" name="Oval 1306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8" name="Oval 1307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9" name="Oval 1308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0" name="Oval 1309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1" name="Oval 1310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2" name="Oval 1311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3" name="Oval 1312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4" name="Oval 1313"/>
          <p:cNvSpPr/>
          <p:nvPr/>
        </p:nvSpPr>
        <p:spPr>
          <a:xfrm>
            <a:off x="11198074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5" name="Oval 1314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6" name="Oval 1315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7" name="TextBox 1316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10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лев</a:t>
            </a:r>
          </a:p>
        </p:txBody>
      </p:sp>
      <p:sp>
        <p:nvSpPr>
          <p:cNvPr id="129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280160"/>
            <a:ext cx="1417320" cy="17373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TextBox 1317"/>
          <p:cNvSpPr txBox="1"/>
          <p:nvPr/>
        </p:nvSpPr>
        <p:spPr>
          <a:xfrm>
            <a:off x="182880" y="1324051"/>
            <a:ext cx="1271016" cy="16495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2010</a:t>
            </a:r>
          </a:p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Crankshaft</a:t>
            </a:r>
          </a:p>
        </p:txBody>
      </p:sp>
      <p:sp>
        <p:nvSpPr>
          <p:cNvPr id="129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623060" y="1280160"/>
            <a:ext cx="1417320" cy="17373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9" name="TextBox 1318"/>
          <p:cNvSpPr txBox="1"/>
          <p:nvPr/>
        </p:nvSpPr>
        <p:spPr>
          <a:xfrm>
            <a:off x="1696212" y="1324051"/>
            <a:ext cx="1271016" cy="16495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2017</a:t>
            </a:r>
          </a:p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TurboFan</a:t>
            </a:r>
          </a:p>
        </p:txBody>
      </p:sp>
      <p:sp>
        <p:nvSpPr>
          <p:cNvPr id="129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136392" y="1280160"/>
            <a:ext cx="1417320" cy="17373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0" name="TextBox 1319"/>
          <p:cNvSpPr txBox="1"/>
          <p:nvPr/>
        </p:nvSpPr>
        <p:spPr>
          <a:xfrm>
            <a:off x="3209544" y="1324051"/>
            <a:ext cx="1271016" cy="16495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2021</a:t>
            </a:r>
          </a:p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Sparkplug</a:t>
            </a:r>
          </a:p>
        </p:txBody>
      </p:sp>
      <p:sp>
        <p:nvSpPr>
          <p:cNvPr id="129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4649724" y="1280160"/>
            <a:ext cx="1417320" cy="17373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TextBox 1320"/>
          <p:cNvSpPr txBox="1"/>
          <p:nvPr/>
        </p:nvSpPr>
        <p:spPr>
          <a:xfrm>
            <a:off x="4722876" y="1324051"/>
            <a:ext cx="1271016" cy="16495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2023</a:t>
            </a:r>
          </a:p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Maglev</a:t>
            </a:r>
          </a:p>
        </p:txBody>
      </p:sp>
      <p:sp>
        <p:nvSpPr>
          <p:cNvPr id="129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163056" y="1280160"/>
            <a:ext cx="1417320" cy="17373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2" name="TextBox 1321"/>
          <p:cNvSpPr txBox="1"/>
          <p:nvPr/>
        </p:nvSpPr>
        <p:spPr>
          <a:xfrm>
            <a:off x="6236208" y="1324051"/>
            <a:ext cx="1271016" cy="16495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2022→23</a:t>
            </a:r>
          </a:p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Turboshaft</a:t>
            </a:r>
          </a:p>
        </p:txBody>
      </p:sp>
      <p:sp>
        <p:nvSpPr>
          <p:cNvPr id="1298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7676388" y="1280160"/>
            <a:ext cx="1417320" cy="1737360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3" name="TextBox 1322"/>
          <p:cNvSpPr txBox="1"/>
          <p:nvPr/>
        </p:nvSpPr>
        <p:spPr>
          <a:xfrm>
            <a:off x="7749540" y="1324051"/>
            <a:ext cx="1271016" cy="16495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за флагом</a:t>
            </a:r>
          </a:p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Turbolev</a:t>
            </a:r>
          </a:p>
        </p:txBody>
      </p:sp>
      <p:sp>
        <p:nvSpPr>
          <p:cNvPr id="1299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109728" y="3291840"/>
            <a:ext cx="9217152" cy="301752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TextBox 1323"/>
          <p:cNvSpPr txBox="1"/>
          <p:nvPr/>
        </p:nvSpPr>
        <p:spPr>
          <a:xfrm>
            <a:off x="109728" y="3383280"/>
            <a:ext cx="3108960" cy="2834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800" b="0">
                <a:solidFill>
                  <a:srgbClr val="FFFFFF"/>
                </a:solidFill>
                <a:latin typeface="X5 Sans Medium"/>
              </a:rPr>
              <a:t>2008</a:t>
            </a:r>
          </a:p>
        </p:txBody>
      </p:sp>
      <p:sp>
        <p:nvSpPr>
          <p:cNvPr id="1325" name="TextBox 1324"/>
          <p:cNvSpPr txBox="1"/>
          <p:nvPr/>
        </p:nvSpPr>
        <p:spPr>
          <a:xfrm>
            <a:off x="3310128" y="3383280"/>
            <a:ext cx="5650992" cy="2834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E0FBCC"/>
                </a:solidFill>
                <a:latin typeface="X5 Sans"/>
              </a:rPr>
              <a:t>формы и записи мест чтения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E0FBCC"/>
                </a:solidFill>
                <a:latin typeface="X5 Sans"/>
              </a:rPr>
              <a:t>старше всех ступеней лестницы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E0FBCC"/>
                </a:solidFill>
                <a:latin typeface="X5 Sans"/>
              </a:rPr>
              <a:t>развилка не двигается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Карта целиком — и как проверить у себя</a:t>
            </a:r>
          </a:p>
        </p:txBody>
      </p:sp>
      <p:sp>
        <p:nvSpPr>
          <p:cNvPr id="1300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241901" y="1097280"/>
            <a:ext cx="3707891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1" name="TextBox 1300"/>
          <p:cNvSpPr txBox="1"/>
          <p:nvPr/>
        </p:nvSpPr>
        <p:spPr>
          <a:xfrm>
            <a:off x="4241901" y="1097280"/>
            <a:ext cx="370789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11 из 12 · 3 мин</a:t>
            </a:r>
          </a:p>
        </p:txBody>
      </p:sp>
      <p:sp>
        <p:nvSpPr>
          <p:cNvPr id="1301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2" name="TextBox 1301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Если движок никогда не менял ставку, а агент пишет и A, и B — что остаётся человеку?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Карта целиком: две развилки, один файл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11.1</a:t>
            </a:r>
          </a:p>
        </p:txBody>
      </p:sp>
      <p:sp>
        <p:nvSpPr>
          <p:cNvPr id="130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3" name="TextBox 1302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304" name="TextBox 1303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305" name="TextBox 1304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30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6" name="TextBox 1305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307" name="TextBox 1306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308" name="TextBox 1307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30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9" name="TextBox 1308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310" name="TextBox 1309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311" name="TextBox 1310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30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2" name="TextBox 131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313" name="TextBox 131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314" name="TextBox 1313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30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TextBox 1314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316" name="TextBox 131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317" name="TextBox 1316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с файлом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без</a:t>
            </a:r>
          </a:p>
        </p:txBody>
      </p:sp>
      <p:sp>
        <p:nvSpPr>
          <p:cNvPr id="130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TextBox 1317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319" name="Connector 1318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0" name="Oval 1319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1" name="Oval 1320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2" name="Oval 1321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3" name="Oval 1322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4" name="Oval 1323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5" name="Oval 1324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6" name="Oval 1325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7" name="Oval 1326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8" name="Oval 1327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9" name="Oval 1328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0" name="Oval 1329"/>
          <p:cNvSpPr/>
          <p:nvPr/>
        </p:nvSpPr>
        <p:spPr>
          <a:xfrm>
            <a:off x="11373473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1" name="Oval 1330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2" name="TextBox 1331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11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карта целиком</a:t>
            </a:r>
          </a:p>
        </p:txBody>
      </p:sp>
      <p:cxnSp>
        <p:nvCxnSpPr>
          <p:cNvPr id="1333" name="Connector 1332"/>
          <p:cNvCxnSpPr/>
          <p:nvPr/>
        </p:nvCxnSpPr>
        <p:spPr>
          <a:xfrm>
            <a:off x="566928" y="1801368"/>
            <a:ext cx="8714231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4" name="Rounded Rectangle 1333"/>
          <p:cNvSpPr/>
          <p:nvPr/>
        </p:nvSpPr>
        <p:spPr>
          <a:xfrm>
            <a:off x="109728" y="2715768"/>
            <a:ext cx="310896" cy="365760"/>
          </a:xfrm>
          <a:prstGeom prst="roundRect">
            <a:avLst>
              <a:gd name="adj" fmla="val 23529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5" name="TextBox 1334"/>
          <p:cNvSpPr txBox="1"/>
          <p:nvPr/>
        </p:nvSpPr>
        <p:spPr>
          <a:xfrm>
            <a:off x="109728" y="2715768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1336" name="Rounded Rectangle 1335"/>
          <p:cNvSpPr/>
          <p:nvPr/>
        </p:nvSpPr>
        <p:spPr>
          <a:xfrm>
            <a:off x="109728" y="3218688"/>
            <a:ext cx="310896" cy="365760"/>
          </a:xfrm>
          <a:prstGeom prst="roundRect">
            <a:avLst>
              <a:gd name="adj" fmla="val 23529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7" name="TextBox 1336"/>
          <p:cNvSpPr txBox="1"/>
          <p:nvPr/>
        </p:nvSpPr>
        <p:spPr>
          <a:xfrm>
            <a:off x="109728" y="3218688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1338" name="Oval 1337"/>
          <p:cNvSpPr/>
          <p:nvPr/>
        </p:nvSpPr>
        <p:spPr>
          <a:xfrm>
            <a:off x="767334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9" name="TextBox 1338"/>
          <p:cNvSpPr txBox="1"/>
          <p:nvPr/>
        </p:nvSpPr>
        <p:spPr>
          <a:xfrm>
            <a:off x="767334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340" name="TextBox 1339"/>
          <p:cNvSpPr txBox="1"/>
          <p:nvPr/>
        </p:nvSpPr>
        <p:spPr>
          <a:xfrm>
            <a:off x="566927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341" name="TextBox 1340"/>
          <p:cNvSpPr txBox="1"/>
          <p:nvPr/>
        </p:nvSpPr>
        <p:spPr>
          <a:xfrm>
            <a:off x="585215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342" name="Rounded Rectangle 1341"/>
          <p:cNvSpPr/>
          <p:nvPr/>
        </p:nvSpPr>
        <p:spPr>
          <a:xfrm>
            <a:off x="594359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3" name="TextBox 1342"/>
          <p:cNvSpPr txBox="1"/>
          <p:nvPr/>
        </p:nvSpPr>
        <p:spPr>
          <a:xfrm>
            <a:off x="612647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344" name="Rounded Rectangle 1343"/>
          <p:cNvSpPr/>
          <p:nvPr/>
        </p:nvSpPr>
        <p:spPr>
          <a:xfrm>
            <a:off x="594359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5" name="TextBox 1344"/>
          <p:cNvSpPr txBox="1"/>
          <p:nvPr/>
        </p:nvSpPr>
        <p:spPr>
          <a:xfrm>
            <a:off x="612647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346" name="TextBox 1345"/>
          <p:cNvSpPr txBox="1"/>
          <p:nvPr/>
        </p:nvSpPr>
        <p:spPr>
          <a:xfrm>
            <a:off x="585215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347" name="Oval 1346"/>
          <p:cNvSpPr/>
          <p:nvPr/>
        </p:nvSpPr>
        <p:spPr>
          <a:xfrm>
            <a:off x="1497330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8" name="TextBox 1347"/>
          <p:cNvSpPr txBox="1"/>
          <p:nvPr/>
        </p:nvSpPr>
        <p:spPr>
          <a:xfrm>
            <a:off x="1497330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349" name="TextBox 1348"/>
          <p:cNvSpPr txBox="1"/>
          <p:nvPr/>
        </p:nvSpPr>
        <p:spPr>
          <a:xfrm>
            <a:off x="1296924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вызов 1</a:t>
            </a:r>
          </a:p>
        </p:txBody>
      </p:sp>
      <p:sp>
        <p:nvSpPr>
          <p:cNvPr id="1350" name="TextBox 1349"/>
          <p:cNvSpPr txBox="1"/>
          <p:nvPr/>
        </p:nvSpPr>
        <p:spPr>
          <a:xfrm>
            <a:off x="1315212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1351" name="Rounded Rectangle 1350"/>
          <p:cNvSpPr/>
          <p:nvPr/>
        </p:nvSpPr>
        <p:spPr>
          <a:xfrm>
            <a:off x="1324356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2" name="TextBox 1351"/>
          <p:cNvSpPr txBox="1"/>
          <p:nvPr/>
        </p:nvSpPr>
        <p:spPr>
          <a:xfrm>
            <a:off x="1342644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1353" name="Rounded Rectangle 1352"/>
          <p:cNvSpPr/>
          <p:nvPr/>
        </p:nvSpPr>
        <p:spPr>
          <a:xfrm>
            <a:off x="1324356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4" name="TextBox 1353"/>
          <p:cNvSpPr txBox="1"/>
          <p:nvPr/>
        </p:nvSpPr>
        <p:spPr>
          <a:xfrm>
            <a:off x="1342644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1355" name="TextBox 1354"/>
          <p:cNvSpPr txBox="1"/>
          <p:nvPr/>
        </p:nvSpPr>
        <p:spPr>
          <a:xfrm>
            <a:off x="1315212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1356" name="Oval 1355"/>
          <p:cNvSpPr/>
          <p:nvPr/>
        </p:nvSpPr>
        <p:spPr>
          <a:xfrm>
            <a:off x="2227325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7" name="TextBox 1356"/>
          <p:cNvSpPr txBox="1"/>
          <p:nvPr/>
        </p:nvSpPr>
        <p:spPr>
          <a:xfrm>
            <a:off x="2227325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3</a:t>
            </a:r>
          </a:p>
        </p:txBody>
      </p:sp>
      <p:sp>
        <p:nvSpPr>
          <p:cNvPr id="1358" name="TextBox 1357"/>
          <p:cNvSpPr txBox="1"/>
          <p:nvPr/>
        </p:nvSpPr>
        <p:spPr>
          <a:xfrm>
            <a:off x="2026920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1359" name="TextBox 1358"/>
          <p:cNvSpPr txBox="1"/>
          <p:nvPr/>
        </p:nvSpPr>
        <p:spPr>
          <a:xfrm>
            <a:off x="2045208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1360" name="Rounded Rectangle 1359"/>
          <p:cNvSpPr/>
          <p:nvPr/>
        </p:nvSpPr>
        <p:spPr>
          <a:xfrm>
            <a:off x="2054352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1" name="TextBox 1360"/>
          <p:cNvSpPr txBox="1"/>
          <p:nvPr/>
        </p:nvSpPr>
        <p:spPr>
          <a:xfrm>
            <a:off x="2072640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MONO</a:t>
            </a:r>
          </a:p>
        </p:txBody>
      </p:sp>
      <p:sp>
        <p:nvSpPr>
          <p:cNvPr id="1362" name="Rounded Rectangle 1361"/>
          <p:cNvSpPr/>
          <p:nvPr/>
        </p:nvSpPr>
        <p:spPr>
          <a:xfrm>
            <a:off x="2054352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3" name="TextBox 1362"/>
          <p:cNvSpPr txBox="1"/>
          <p:nvPr/>
        </p:nvSpPr>
        <p:spPr>
          <a:xfrm>
            <a:off x="2072640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MEGA</a:t>
            </a:r>
          </a:p>
        </p:txBody>
      </p:sp>
      <p:sp>
        <p:nvSpPr>
          <p:cNvPr id="1364" name="TextBox 1363"/>
          <p:cNvSpPr txBox="1"/>
          <p:nvPr/>
        </p:nvSpPr>
        <p:spPr>
          <a:xfrm>
            <a:off x="2045208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--log-ic</a:t>
            </a:r>
          </a:p>
        </p:txBody>
      </p:sp>
      <p:sp>
        <p:nvSpPr>
          <p:cNvPr id="1365" name="Diamond 1364"/>
          <p:cNvSpPr/>
          <p:nvPr/>
        </p:nvSpPr>
        <p:spPr>
          <a:xfrm>
            <a:off x="2674620" y="1719072"/>
            <a:ext cx="164592" cy="164592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6" name="Oval 1365"/>
          <p:cNvSpPr/>
          <p:nvPr/>
        </p:nvSpPr>
        <p:spPr>
          <a:xfrm>
            <a:off x="2957322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7" name="TextBox 1366"/>
          <p:cNvSpPr txBox="1"/>
          <p:nvPr/>
        </p:nvSpPr>
        <p:spPr>
          <a:xfrm>
            <a:off x="2957322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4</a:t>
            </a:r>
          </a:p>
        </p:txBody>
      </p:sp>
      <p:sp>
        <p:nvSpPr>
          <p:cNvPr id="1368" name="TextBox 1367"/>
          <p:cNvSpPr txBox="1"/>
          <p:nvPr/>
        </p:nvSpPr>
        <p:spPr>
          <a:xfrm>
            <a:off x="2756915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~700 → ~13 000</a:t>
            </a:r>
          </a:p>
        </p:txBody>
      </p:sp>
      <p:sp>
        <p:nvSpPr>
          <p:cNvPr id="1369" name="TextBox 1368"/>
          <p:cNvSpPr txBox="1"/>
          <p:nvPr/>
        </p:nvSpPr>
        <p:spPr>
          <a:xfrm>
            <a:off x="2775203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sp>
        <p:nvSpPr>
          <p:cNvPr id="1370" name="Rounded Rectangle 1369"/>
          <p:cNvSpPr/>
          <p:nvPr/>
        </p:nvSpPr>
        <p:spPr>
          <a:xfrm>
            <a:off x="2784347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1" name="TextBox 1370"/>
          <p:cNvSpPr txBox="1"/>
          <p:nvPr/>
        </p:nvSpPr>
        <p:spPr>
          <a:xfrm>
            <a:off x="2802635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1372" name="Rounded Rectangle 1371"/>
          <p:cNvSpPr/>
          <p:nvPr/>
        </p:nvSpPr>
        <p:spPr>
          <a:xfrm>
            <a:off x="2784347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3" name="TextBox 1372"/>
          <p:cNvSpPr txBox="1"/>
          <p:nvPr/>
        </p:nvSpPr>
        <p:spPr>
          <a:xfrm>
            <a:off x="2802635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1374" name="TextBox 1373"/>
          <p:cNvSpPr txBox="1"/>
          <p:nvPr/>
        </p:nvSpPr>
        <p:spPr>
          <a:xfrm>
            <a:off x="2775203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--max-opt</a:t>
            </a:r>
          </a:p>
        </p:txBody>
      </p:sp>
      <p:sp>
        <p:nvSpPr>
          <p:cNvPr id="1375" name="Oval 1374"/>
          <p:cNvSpPr/>
          <p:nvPr/>
        </p:nvSpPr>
        <p:spPr>
          <a:xfrm>
            <a:off x="3687318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6" name="TextBox 1375"/>
          <p:cNvSpPr txBox="1"/>
          <p:nvPr/>
        </p:nvSpPr>
        <p:spPr>
          <a:xfrm>
            <a:off x="3687318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5</a:t>
            </a:r>
          </a:p>
        </p:txBody>
      </p:sp>
      <p:sp>
        <p:nvSpPr>
          <p:cNvPr id="1377" name="TextBox 1376"/>
          <p:cNvSpPr txBox="1"/>
          <p:nvPr/>
        </p:nvSpPr>
        <p:spPr>
          <a:xfrm>
            <a:off x="3486912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1378" name="TextBox 1377"/>
          <p:cNvSpPr txBox="1"/>
          <p:nvPr/>
        </p:nvSpPr>
        <p:spPr>
          <a:xfrm>
            <a:off x="3505200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ставка</a:t>
            </a:r>
          </a:p>
        </p:txBody>
      </p:sp>
      <p:sp>
        <p:nvSpPr>
          <p:cNvPr id="1379" name="Rounded Rectangle 1378"/>
          <p:cNvSpPr/>
          <p:nvPr/>
        </p:nvSpPr>
        <p:spPr>
          <a:xfrm>
            <a:off x="3514344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0" name="TextBox 1379"/>
          <p:cNvSpPr txBox="1"/>
          <p:nvPr/>
        </p:nvSpPr>
        <p:spPr>
          <a:xfrm>
            <a:off x="3532632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сыграла</a:t>
            </a:r>
          </a:p>
        </p:txBody>
      </p:sp>
      <p:sp>
        <p:nvSpPr>
          <p:cNvPr id="1381" name="Rounded Rectangle 1380"/>
          <p:cNvSpPr/>
          <p:nvPr/>
        </p:nvSpPr>
        <p:spPr>
          <a:xfrm>
            <a:off x="3514344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2" name="TextBox 1381"/>
          <p:cNvSpPr txBox="1"/>
          <p:nvPr/>
        </p:nvSpPr>
        <p:spPr>
          <a:xfrm>
            <a:off x="3532632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wrong map → общий путь</a:t>
            </a:r>
          </a:p>
        </p:txBody>
      </p:sp>
      <p:sp>
        <p:nvSpPr>
          <p:cNvPr id="1383" name="TextBox 1382"/>
          <p:cNvSpPr txBox="1"/>
          <p:nvPr/>
        </p:nvSpPr>
        <p:spPr>
          <a:xfrm>
            <a:off x="3505200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--trace-deopt</a:t>
            </a:r>
          </a:p>
        </p:txBody>
      </p:sp>
      <p:sp>
        <p:nvSpPr>
          <p:cNvPr id="1384" name="Diamond 1383"/>
          <p:cNvSpPr/>
          <p:nvPr/>
        </p:nvSpPr>
        <p:spPr>
          <a:xfrm>
            <a:off x="4134612" y="1719072"/>
            <a:ext cx="164592" cy="164592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5" name="Oval 1384"/>
          <p:cNvSpPr/>
          <p:nvPr/>
        </p:nvSpPr>
        <p:spPr>
          <a:xfrm>
            <a:off x="4417314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6" name="TextBox 1385"/>
          <p:cNvSpPr txBox="1"/>
          <p:nvPr/>
        </p:nvSpPr>
        <p:spPr>
          <a:xfrm>
            <a:off x="4417314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6</a:t>
            </a:r>
          </a:p>
        </p:txBody>
      </p:sp>
      <p:sp>
        <p:nvSpPr>
          <p:cNvPr id="1387" name="TextBox 1386"/>
          <p:cNvSpPr txBox="1"/>
          <p:nvPr/>
        </p:nvSpPr>
        <p:spPr>
          <a:xfrm>
            <a:off x="4216908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прод</a:t>
            </a:r>
          </a:p>
        </p:txBody>
      </p:sp>
      <p:sp>
        <p:nvSpPr>
          <p:cNvPr id="1388" name="TextBox 1387"/>
          <p:cNvSpPr txBox="1"/>
          <p:nvPr/>
        </p:nvSpPr>
        <p:spPr>
          <a:xfrm>
            <a:off x="4235195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сервис</a:t>
            </a:r>
          </a:p>
        </p:txBody>
      </p:sp>
      <p:sp>
        <p:nvSpPr>
          <p:cNvPr id="1389" name="Rounded Rectangle 1388"/>
          <p:cNvSpPr/>
          <p:nvPr/>
        </p:nvSpPr>
        <p:spPr>
          <a:xfrm>
            <a:off x="4244340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0" name="TextBox 1389"/>
          <p:cNvSpPr txBox="1"/>
          <p:nvPr/>
        </p:nvSpPr>
        <p:spPr>
          <a:xfrm>
            <a:off x="4262628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2302 rps</a:t>
            </a:r>
          </a:p>
        </p:txBody>
      </p:sp>
      <p:sp>
        <p:nvSpPr>
          <p:cNvPr id="1391" name="Rounded Rectangle 1390"/>
          <p:cNvSpPr/>
          <p:nvPr/>
        </p:nvSpPr>
        <p:spPr>
          <a:xfrm>
            <a:off x="4244340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2" name="TextBox 1391"/>
          <p:cNvSpPr txBox="1"/>
          <p:nvPr/>
        </p:nvSpPr>
        <p:spPr>
          <a:xfrm>
            <a:off x="4262628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1180 rps</a:t>
            </a:r>
          </a:p>
        </p:txBody>
      </p:sp>
      <p:sp>
        <p:nvSpPr>
          <p:cNvPr id="1393" name="TextBox 1392"/>
          <p:cNvSpPr txBox="1"/>
          <p:nvPr/>
        </p:nvSpPr>
        <p:spPr>
          <a:xfrm>
            <a:off x="4235195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autocannon</a:t>
            </a:r>
          </a:p>
        </p:txBody>
      </p:sp>
      <p:sp>
        <p:nvSpPr>
          <p:cNvPr id="1394" name="Oval 1393"/>
          <p:cNvSpPr/>
          <p:nvPr/>
        </p:nvSpPr>
        <p:spPr>
          <a:xfrm>
            <a:off x="5147310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5" name="TextBox 1394"/>
          <p:cNvSpPr txBox="1"/>
          <p:nvPr/>
        </p:nvSpPr>
        <p:spPr>
          <a:xfrm>
            <a:off x="5147310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7</a:t>
            </a:r>
          </a:p>
        </p:txBody>
      </p:sp>
      <p:sp>
        <p:nvSpPr>
          <p:cNvPr id="1396" name="TextBox 1395"/>
          <p:cNvSpPr txBox="1"/>
          <p:nvPr/>
        </p:nvSpPr>
        <p:spPr>
          <a:xfrm>
            <a:off x="4946904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397" name="TextBox 1396"/>
          <p:cNvSpPr txBox="1"/>
          <p:nvPr/>
        </p:nvSpPr>
        <p:spPr>
          <a:xfrm>
            <a:off x="4965192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агент</a:t>
            </a:r>
          </a:p>
        </p:txBody>
      </p:sp>
      <p:sp>
        <p:nvSpPr>
          <p:cNvPr id="1398" name="Rounded Rectangle 1397"/>
          <p:cNvSpPr/>
          <p:nvPr/>
        </p:nvSpPr>
        <p:spPr>
          <a:xfrm>
            <a:off x="4974336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9" name="TextBox 1398"/>
          <p:cNvSpPr txBox="1"/>
          <p:nvPr/>
        </p:nvSpPr>
        <p:spPr>
          <a:xfrm>
            <a:off x="4992624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автор: ?</a:t>
            </a:r>
          </a:p>
        </p:txBody>
      </p:sp>
      <p:sp>
        <p:nvSpPr>
          <p:cNvPr id="1400" name="Rounded Rectangle 1399"/>
          <p:cNvSpPr/>
          <p:nvPr/>
        </p:nvSpPr>
        <p:spPr>
          <a:xfrm>
            <a:off x="4974336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1" name="TextBox 1400"/>
          <p:cNvSpPr txBox="1"/>
          <p:nvPr/>
        </p:nvSpPr>
        <p:spPr>
          <a:xfrm>
            <a:off x="4992624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без правил · 30/30</a:t>
            </a:r>
          </a:p>
        </p:txBody>
      </p:sp>
      <p:sp>
        <p:nvSpPr>
          <p:cNvPr id="1402" name="TextBox 1401"/>
          <p:cNvSpPr txBox="1"/>
          <p:nvPr/>
        </p:nvSpPr>
        <p:spPr>
          <a:xfrm>
            <a:off x="4965192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claude -p + прибор</a:t>
            </a:r>
          </a:p>
        </p:txBody>
      </p:sp>
      <p:sp>
        <p:nvSpPr>
          <p:cNvPr id="1403" name="Oval 1402"/>
          <p:cNvSpPr/>
          <p:nvPr/>
        </p:nvSpPr>
        <p:spPr>
          <a:xfrm>
            <a:off x="5877306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4" name="TextBox 1403"/>
          <p:cNvSpPr txBox="1"/>
          <p:nvPr/>
        </p:nvSpPr>
        <p:spPr>
          <a:xfrm>
            <a:off x="5877306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8</a:t>
            </a:r>
          </a:p>
        </p:txBody>
      </p:sp>
      <p:sp>
        <p:nvSpPr>
          <p:cNvPr id="1405" name="TextBox 1404"/>
          <p:cNvSpPr txBox="1"/>
          <p:nvPr/>
        </p:nvSpPr>
        <p:spPr>
          <a:xfrm>
            <a:off x="5676900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406" name="TextBox 1405"/>
          <p:cNvSpPr txBox="1"/>
          <p:nvPr/>
        </p:nvSpPr>
        <p:spPr>
          <a:xfrm>
            <a:off x="5695187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корпус</a:t>
            </a:r>
          </a:p>
        </p:txBody>
      </p:sp>
      <p:sp>
        <p:nvSpPr>
          <p:cNvPr id="1407" name="Rounded Rectangle 1406"/>
          <p:cNvSpPr/>
          <p:nvPr/>
        </p:nvSpPr>
        <p:spPr>
          <a:xfrm>
            <a:off x="5704332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8" name="TextBox 1407"/>
          <p:cNvSpPr txBox="1"/>
          <p:nvPr/>
        </p:nvSpPr>
        <p:spPr>
          <a:xfrm>
            <a:off x="5722620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живое</a:t>
            </a:r>
          </a:p>
        </p:txBody>
      </p:sp>
      <p:sp>
        <p:nvSpPr>
          <p:cNvPr id="1409" name="Rounded Rectangle 1408"/>
          <p:cNvSpPr/>
          <p:nvPr/>
        </p:nvSpPr>
        <p:spPr>
          <a:xfrm>
            <a:off x="5704332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0" name="TextBox 1409"/>
          <p:cNvSpPr txBox="1"/>
          <p:nvPr/>
        </p:nvSpPr>
        <p:spPr>
          <a:xfrm>
            <a:off x="5722620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мёртвое рядом</a:t>
            </a:r>
          </a:p>
        </p:txBody>
      </p:sp>
      <p:sp>
        <p:nvSpPr>
          <p:cNvPr id="1411" name="TextBox 1410"/>
          <p:cNvSpPr txBox="1"/>
          <p:nvPr/>
        </p:nvSpPr>
        <p:spPr>
          <a:xfrm>
            <a:off x="5695187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матрица по версиям</a:t>
            </a:r>
          </a:p>
        </p:txBody>
      </p:sp>
      <p:sp>
        <p:nvSpPr>
          <p:cNvPr id="1412" name="Diamond 1411"/>
          <p:cNvSpPr/>
          <p:nvPr/>
        </p:nvSpPr>
        <p:spPr>
          <a:xfrm>
            <a:off x="6324600" y="1719072"/>
            <a:ext cx="164592" cy="164592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3" name="Oval 1412"/>
          <p:cNvSpPr/>
          <p:nvPr/>
        </p:nvSpPr>
        <p:spPr>
          <a:xfrm>
            <a:off x="6607302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4" name="TextBox 1413"/>
          <p:cNvSpPr txBox="1"/>
          <p:nvPr/>
        </p:nvSpPr>
        <p:spPr>
          <a:xfrm>
            <a:off x="6607302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9</a:t>
            </a:r>
          </a:p>
        </p:txBody>
      </p:sp>
      <p:sp>
        <p:nvSpPr>
          <p:cNvPr id="1415" name="TextBox 1414"/>
          <p:cNvSpPr txBox="1"/>
          <p:nvPr/>
        </p:nvSpPr>
        <p:spPr>
          <a:xfrm>
            <a:off x="6406896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416" name="TextBox 1415"/>
          <p:cNvSpPr txBox="1"/>
          <p:nvPr/>
        </p:nvSpPr>
        <p:spPr>
          <a:xfrm>
            <a:off x="6425184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правила</a:t>
            </a:r>
          </a:p>
        </p:txBody>
      </p:sp>
      <p:sp>
        <p:nvSpPr>
          <p:cNvPr id="1417" name="Rounded Rectangle 1416"/>
          <p:cNvSpPr/>
          <p:nvPr/>
        </p:nvSpPr>
        <p:spPr>
          <a:xfrm>
            <a:off x="6434328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8" name="TextBox 1417"/>
          <p:cNvSpPr txBox="1"/>
          <p:nvPr/>
        </p:nvSpPr>
        <p:spPr>
          <a:xfrm>
            <a:off x="6452616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с файлом · 30/30</a:t>
            </a:r>
          </a:p>
        </p:txBody>
      </p:sp>
      <p:sp>
        <p:nvSpPr>
          <p:cNvPr id="1419" name="Rounded Rectangle 1418"/>
          <p:cNvSpPr/>
          <p:nvPr/>
        </p:nvSpPr>
        <p:spPr>
          <a:xfrm>
            <a:off x="6434328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0" name="TextBox 1419"/>
          <p:cNvSpPr txBox="1"/>
          <p:nvPr/>
        </p:nvSpPr>
        <p:spPr>
          <a:xfrm>
            <a:off x="6452616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без файла</a:t>
            </a:r>
          </a:p>
        </p:txBody>
      </p:sp>
      <p:sp>
        <p:nvSpPr>
          <p:cNvPr id="1421" name="TextBox 1420"/>
          <p:cNvSpPr txBox="1"/>
          <p:nvPr/>
        </p:nvSpPr>
        <p:spPr>
          <a:xfrm>
            <a:off x="6425184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v8-rules.md</a:t>
            </a:r>
          </a:p>
        </p:txBody>
      </p:sp>
      <p:sp>
        <p:nvSpPr>
          <p:cNvPr id="1422" name="Oval 1421"/>
          <p:cNvSpPr/>
          <p:nvPr/>
        </p:nvSpPr>
        <p:spPr>
          <a:xfrm>
            <a:off x="7337297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3" name="TextBox 1422"/>
          <p:cNvSpPr txBox="1"/>
          <p:nvPr/>
        </p:nvSpPr>
        <p:spPr>
          <a:xfrm>
            <a:off x="7337297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10</a:t>
            </a:r>
          </a:p>
        </p:txBody>
      </p:sp>
      <p:sp>
        <p:nvSpPr>
          <p:cNvPr id="1424" name="TextBox 1423"/>
          <p:cNvSpPr txBox="1"/>
          <p:nvPr/>
        </p:nvSpPr>
        <p:spPr>
          <a:xfrm>
            <a:off x="7136891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верхняя ступень</a:t>
            </a:r>
          </a:p>
        </p:txBody>
      </p:sp>
      <p:sp>
        <p:nvSpPr>
          <p:cNvPr id="1425" name="TextBox 1424"/>
          <p:cNvSpPr txBox="1"/>
          <p:nvPr/>
        </p:nvSpPr>
        <p:spPr>
          <a:xfrm>
            <a:off x="7155179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лев</a:t>
            </a:r>
          </a:p>
        </p:txBody>
      </p:sp>
      <p:sp>
        <p:nvSpPr>
          <p:cNvPr id="1426" name="Rounded Rectangle 1425"/>
          <p:cNvSpPr/>
          <p:nvPr/>
        </p:nvSpPr>
        <p:spPr>
          <a:xfrm>
            <a:off x="7164323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7" name="TextBox 1426"/>
          <p:cNvSpPr txBox="1"/>
          <p:nvPr/>
        </p:nvSpPr>
        <p:spPr>
          <a:xfrm>
            <a:off x="7182611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ставка та же</a:t>
            </a:r>
          </a:p>
        </p:txBody>
      </p:sp>
      <p:sp>
        <p:nvSpPr>
          <p:cNvPr id="1428" name="Rounded Rectangle 1427"/>
          <p:cNvSpPr/>
          <p:nvPr/>
        </p:nvSpPr>
        <p:spPr>
          <a:xfrm>
            <a:off x="7164323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9" name="TextBox 1428"/>
          <p:cNvSpPr txBox="1"/>
          <p:nvPr/>
        </p:nvSpPr>
        <p:spPr>
          <a:xfrm>
            <a:off x="7182611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ставка та же</a:t>
            </a:r>
          </a:p>
        </p:txBody>
      </p:sp>
      <p:sp>
        <p:nvSpPr>
          <p:cNvPr id="1430" name="TextBox 1429"/>
          <p:cNvSpPr txBox="1"/>
          <p:nvPr/>
        </p:nvSpPr>
        <p:spPr>
          <a:xfrm>
            <a:off x="7155179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--turbolev</a:t>
            </a:r>
          </a:p>
        </p:txBody>
      </p:sp>
      <p:sp>
        <p:nvSpPr>
          <p:cNvPr id="1431" name="Oval 1430"/>
          <p:cNvSpPr/>
          <p:nvPr/>
        </p:nvSpPr>
        <p:spPr>
          <a:xfrm>
            <a:off x="7994873" y="1564355"/>
            <a:ext cx="474024" cy="474024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2" name="Oval 1431"/>
          <p:cNvSpPr/>
          <p:nvPr/>
        </p:nvSpPr>
        <p:spPr>
          <a:xfrm>
            <a:off x="8067294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3" name="TextBox 1432"/>
          <p:cNvSpPr txBox="1"/>
          <p:nvPr/>
        </p:nvSpPr>
        <p:spPr>
          <a:xfrm>
            <a:off x="8067294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11</a:t>
            </a:r>
          </a:p>
        </p:txBody>
      </p:sp>
      <p:sp>
        <p:nvSpPr>
          <p:cNvPr id="1434" name="TextBox 1433"/>
          <p:cNvSpPr txBox="1"/>
          <p:nvPr/>
        </p:nvSpPr>
        <p:spPr>
          <a:xfrm>
            <a:off x="7866888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—</a:t>
            </a:r>
          </a:p>
        </p:txBody>
      </p:sp>
      <p:sp>
        <p:nvSpPr>
          <p:cNvPr id="1435" name="TextBox 1434"/>
          <p:cNvSpPr txBox="1"/>
          <p:nvPr/>
        </p:nvSpPr>
        <p:spPr>
          <a:xfrm>
            <a:off x="7885176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1436" name="Rounded Rectangle 1435"/>
          <p:cNvSpPr/>
          <p:nvPr/>
        </p:nvSpPr>
        <p:spPr>
          <a:xfrm>
            <a:off x="7894320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7" name="TextBox 1436"/>
          <p:cNvSpPr txBox="1"/>
          <p:nvPr/>
        </p:nvSpPr>
        <p:spPr>
          <a:xfrm>
            <a:off x="7912608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форма + файл</a:t>
            </a:r>
          </a:p>
        </p:txBody>
      </p:sp>
      <p:sp>
        <p:nvSpPr>
          <p:cNvPr id="1438" name="Rounded Rectangle 1437"/>
          <p:cNvSpPr/>
          <p:nvPr/>
        </p:nvSpPr>
        <p:spPr>
          <a:xfrm>
            <a:off x="7894320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9" name="TextBox 1438"/>
          <p:cNvSpPr txBox="1"/>
          <p:nvPr/>
        </p:nvSpPr>
        <p:spPr>
          <a:xfrm>
            <a:off x="7912608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форма + нет файла</a:t>
            </a:r>
          </a:p>
        </p:txBody>
      </p:sp>
      <p:sp>
        <p:nvSpPr>
          <p:cNvPr id="1440" name="TextBox 1439"/>
          <p:cNvSpPr txBox="1"/>
          <p:nvPr/>
        </p:nvSpPr>
        <p:spPr>
          <a:xfrm>
            <a:off x="7885176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как проверить у себя</a:t>
            </a:r>
          </a:p>
        </p:txBody>
      </p:sp>
      <p:sp>
        <p:nvSpPr>
          <p:cNvPr id="1441" name="Oval 1440"/>
          <p:cNvSpPr/>
          <p:nvPr/>
        </p:nvSpPr>
        <p:spPr>
          <a:xfrm>
            <a:off x="8797290" y="1636776"/>
            <a:ext cx="329184" cy="32918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2" name="TextBox 1441"/>
          <p:cNvSpPr txBox="1"/>
          <p:nvPr/>
        </p:nvSpPr>
        <p:spPr>
          <a:xfrm>
            <a:off x="8797290" y="1636776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80" b="0">
                <a:solidFill>
                  <a:srgbClr val="FFFFFF"/>
                </a:solidFill>
                <a:latin typeface="X5 Sans Medium"/>
              </a:rPr>
              <a:t>12</a:t>
            </a:r>
          </a:p>
        </p:txBody>
      </p:sp>
      <p:sp>
        <p:nvSpPr>
          <p:cNvPr id="1443" name="TextBox 1442"/>
          <p:cNvSpPr txBox="1"/>
          <p:nvPr/>
        </p:nvSpPr>
        <p:spPr>
          <a:xfrm>
            <a:off x="8596884" y="1234440"/>
            <a:ext cx="7299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финал</a:t>
            </a:r>
          </a:p>
        </p:txBody>
      </p:sp>
      <p:sp>
        <p:nvSpPr>
          <p:cNvPr id="1444" name="TextBox 1443"/>
          <p:cNvSpPr txBox="1"/>
          <p:nvPr/>
        </p:nvSpPr>
        <p:spPr>
          <a:xfrm>
            <a:off x="8615172" y="2075688"/>
            <a:ext cx="6934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0">
                <a:solidFill>
                  <a:srgbClr val="1E5B28"/>
                </a:solidFill>
                <a:latin typeface="X5 Sans Medium"/>
              </a:rPr>
              <a:t>снова слайд 1</a:t>
            </a:r>
          </a:p>
        </p:txBody>
      </p:sp>
      <p:sp>
        <p:nvSpPr>
          <p:cNvPr id="1445" name="Rounded Rectangle 1444"/>
          <p:cNvSpPr/>
          <p:nvPr/>
        </p:nvSpPr>
        <p:spPr>
          <a:xfrm>
            <a:off x="8624316" y="271576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6" name="TextBox 1445"/>
          <p:cNvSpPr txBox="1"/>
          <p:nvPr/>
        </p:nvSpPr>
        <p:spPr>
          <a:xfrm>
            <a:off x="8642604" y="271576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1E5B28"/>
                </a:solidFill>
                <a:latin typeface="X5 Sans"/>
              </a:rPr>
              <a:t>1 → MONO → 2302</a:t>
            </a:r>
          </a:p>
        </p:txBody>
      </p:sp>
      <p:sp>
        <p:nvSpPr>
          <p:cNvPr id="1447" name="Rounded Rectangle 1446"/>
          <p:cNvSpPr/>
          <p:nvPr/>
        </p:nvSpPr>
        <p:spPr>
          <a:xfrm>
            <a:off x="8624316" y="3218688"/>
            <a:ext cx="675132" cy="402336"/>
          </a:xfrm>
          <a:prstGeom prst="roundRect">
            <a:avLst>
              <a:gd name="adj" fmla="val 13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8" name="TextBox 1447"/>
          <p:cNvSpPr txBox="1"/>
          <p:nvPr/>
        </p:nvSpPr>
        <p:spPr>
          <a:xfrm>
            <a:off x="8642604" y="3218688"/>
            <a:ext cx="6385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0">
                <a:solidFill>
                  <a:srgbClr val="8A1538"/>
                </a:solidFill>
                <a:latin typeface="X5 Sans"/>
              </a:rPr>
              <a:t>8 → MEGA → 1180</a:t>
            </a:r>
          </a:p>
        </p:txBody>
      </p:sp>
      <p:sp>
        <p:nvSpPr>
          <p:cNvPr id="1449" name="TextBox 1448"/>
          <p:cNvSpPr txBox="1"/>
          <p:nvPr/>
        </p:nvSpPr>
        <p:spPr>
          <a:xfrm>
            <a:off x="8615172" y="3739896"/>
            <a:ext cx="6934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30" b="0">
                <a:solidFill>
                  <a:srgbClr val="6B7280"/>
                </a:solidFill>
                <a:latin typeface="X5 Sans"/>
              </a:rPr>
              <a:t>репо</a:t>
            </a:r>
          </a:p>
        </p:txBody>
      </p:sp>
      <p:sp>
        <p:nvSpPr>
          <p:cNvPr id="1308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109728" y="4160520"/>
            <a:ext cx="4389120" cy="1005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450" name="TextBox 1449"/>
          <p:cNvSpPr txBox="1"/>
          <p:nvPr/>
        </p:nvSpPr>
        <p:spPr>
          <a:xfrm>
            <a:off x="338328" y="429768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"/>
              </a:rPr>
              <a:t>справа развилку задаёт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форма при сборке</a:t>
            </a:r>
          </a:p>
        </p:txBody>
      </p:sp>
      <p:sp>
        <p:nvSpPr>
          <p:cNvPr id="1309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4709160" y="4160520"/>
            <a:ext cx="4389120" cy="1005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451" name="TextBox 1450"/>
          <p:cNvSpPr txBox="1"/>
          <p:nvPr/>
        </p:nvSpPr>
        <p:spPr>
          <a:xfrm>
            <a:off x="4937760" y="429768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"/>
              </a:rPr>
              <a:t>слева —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файл правил</a:t>
            </a:r>
            <a:r>
              <a:rPr sz="1400" b="0">
                <a:solidFill>
                  <a:srgbClr val="1E5B28"/>
                </a:solidFill>
                <a:latin typeface="X5 Sans"/>
              </a:rPr>
              <a:t> в контексте агента</a:t>
            </a:r>
          </a:p>
        </p:txBody>
      </p:sp>
      <p:sp>
        <p:nvSpPr>
          <p:cNvPr id="1310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109728" y="5257800"/>
            <a:ext cx="4389120" cy="1005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452" name="TextBox 1451"/>
          <p:cNvSpPr txBox="1"/>
          <p:nvPr/>
        </p:nvSpPr>
        <p:spPr>
          <a:xfrm>
            <a:off x="338328" y="539496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"/>
              </a:rPr>
              <a:t>человек: файл — до агента · ревью — после</a:t>
            </a:r>
          </a:p>
        </p:txBody>
      </p:sp>
      <p:sp>
        <p:nvSpPr>
          <p:cNvPr id="1311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4709160" y="5257800"/>
            <a:ext cx="4389120" cy="100584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3" name="TextBox 1452"/>
          <p:cNvSpPr txBox="1"/>
          <p:nvPr/>
        </p:nvSpPr>
        <p:spPr>
          <a:xfrm>
            <a:off x="4937760" y="539496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"/>
              </a:rPr>
              <a:t>билдер (tsc / esbuild) — нет замера, эксп. 4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Вывод: что агент, что человек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11.2</a:t>
            </a:r>
          </a:p>
        </p:txBody>
      </p:sp>
      <p:sp>
        <p:nvSpPr>
          <p:cNvPr id="131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3" name="TextBox 1312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314" name="TextBox 1313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315" name="TextBox 1314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31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6" name="TextBox 1315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317" name="TextBox 1316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318" name="TextBox 1317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31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9" name="TextBox 1318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320" name="TextBox 1319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321" name="TextBox 1320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31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2" name="TextBox 132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323" name="TextBox 132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324" name="TextBox 1323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31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5" name="TextBox 1324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326" name="TextBox 132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327" name="TextBox 1326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с файлом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без</a:t>
            </a:r>
          </a:p>
        </p:txBody>
      </p:sp>
      <p:sp>
        <p:nvSpPr>
          <p:cNvPr id="131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8" name="TextBox 1327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329" name="Connector 1328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0" name="Oval 1329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1" name="Oval 1330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2" name="Oval 1331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3" name="Oval 1332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4" name="Oval 1333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5" name="Oval 1334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6" name="Oval 1335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7" name="Oval 1336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8" name="Oval 1337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9" name="Oval 1338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0" name="Oval 1339"/>
          <p:cNvSpPr/>
          <p:nvPr/>
        </p:nvSpPr>
        <p:spPr>
          <a:xfrm>
            <a:off x="11373473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1" name="Oval 1340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2" name="TextBox 1341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11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карта целиком</a:t>
            </a:r>
          </a:p>
        </p:txBody>
      </p:sp>
      <p:sp>
        <p:nvSpPr>
          <p:cNvPr id="1318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109728" y="1280160"/>
            <a:ext cx="2919984" cy="301752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43" name="TextBox 1342"/>
          <p:cNvSpPr txBox="1"/>
          <p:nvPr/>
        </p:nvSpPr>
        <p:spPr>
          <a:xfrm>
            <a:off x="292608" y="1389888"/>
            <a:ext cx="2554224" cy="27980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1E5B28"/>
                </a:solidFill>
                <a:latin typeface="X5 Sans Medium"/>
              </a:rPr>
              <a:t>0 некорректных из 60</a:t>
            </a:r>
          </a:p>
        </p:txBody>
      </p:sp>
      <p:sp>
        <p:nvSpPr>
          <p:cNvPr id="1319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258312" y="1280160"/>
            <a:ext cx="2919984" cy="301752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44" name="TextBox 1343"/>
          <p:cNvSpPr txBox="1"/>
          <p:nvPr/>
        </p:nvSpPr>
        <p:spPr>
          <a:xfrm>
            <a:off x="3441192" y="1389888"/>
            <a:ext cx="2554224" cy="27980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1E5B28"/>
                </a:solidFill>
                <a:latin typeface="X5 Sans Medium"/>
              </a:rPr>
              <a:t>30/30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1E5B28"/>
                </a:solidFill>
                <a:latin typeface="X5 Sans"/>
              </a:rPr>
              <a:t>идиоматика корпуса</a:t>
            </a:r>
          </a:p>
        </p:txBody>
      </p:sp>
      <p:sp>
        <p:nvSpPr>
          <p:cNvPr id="1320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406896" y="1280160"/>
            <a:ext cx="2919984" cy="301752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45" name="TextBox 1344"/>
          <p:cNvSpPr txBox="1"/>
          <p:nvPr/>
        </p:nvSpPr>
        <p:spPr>
          <a:xfrm>
            <a:off x="6589776" y="1389888"/>
            <a:ext cx="2554224" cy="27980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1E5B28"/>
                </a:solidFill>
                <a:latin typeface="X5 Sans Medium"/>
              </a:rPr>
              <a:t>перф-сознательность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1E5B28"/>
                </a:solidFill>
                <a:latin typeface="X5 Sans"/>
              </a:rPr>
              <a:t>— человек</a:t>
            </a:r>
          </a:p>
        </p:txBody>
      </p:sp>
      <p:sp>
        <p:nvSpPr>
          <p:cNvPr id="1321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109728" y="4572000"/>
            <a:ext cx="9217152" cy="146304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6" name="TextBox 1345"/>
          <p:cNvSpPr txBox="1"/>
          <p:nvPr/>
        </p:nvSpPr>
        <p:spPr>
          <a:xfrm>
            <a:off x="384048" y="4736592"/>
            <a:ext cx="8668512" cy="11338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X5 Sans"/>
              </a:rPr>
              <a:t>человек: файл — до агента · ревью — после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Как проверить у себя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11.3</a:t>
            </a:r>
          </a:p>
        </p:txBody>
      </p:sp>
      <p:sp>
        <p:nvSpPr>
          <p:cNvPr id="132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3" name="TextBox 1322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324" name="TextBox 1323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325" name="TextBox 1324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32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6" name="TextBox 1325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327" name="TextBox 1326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328" name="TextBox 1327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32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9" name="TextBox 1328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330" name="TextBox 1329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331" name="TextBox 1330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32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2" name="TextBox 1331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333" name="TextBox 133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334" name="TextBox 1333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32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5" name="TextBox 1334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336" name="TextBox 133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337" name="TextBox 1336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с файлом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без</a:t>
            </a:r>
          </a:p>
        </p:txBody>
      </p:sp>
      <p:sp>
        <p:nvSpPr>
          <p:cNvPr id="132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8" name="TextBox 1337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339" name="Connector 1338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0" name="Oval 1339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1" name="Oval 1340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2" name="Oval 1341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3" name="Oval 1342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4" name="Oval 1343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5" name="Oval 1344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6" name="Oval 1345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7" name="Oval 1346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8" name="Oval 1347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9" name="Oval 1348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0" name="Oval 1349"/>
          <p:cNvSpPr/>
          <p:nvPr/>
        </p:nvSpPr>
        <p:spPr>
          <a:xfrm>
            <a:off x="11373473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1" name="Oval 1350"/>
          <p:cNvSpPr/>
          <p:nvPr/>
        </p:nvSpPr>
        <p:spPr>
          <a:xfrm>
            <a:off x="11608307" y="5353812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2" name="TextBox 1351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11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карта целиком</a:t>
            </a:r>
          </a:p>
        </p:txBody>
      </p:sp>
      <p:sp>
        <p:nvSpPr>
          <p:cNvPr id="132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188720"/>
            <a:ext cx="9217152" cy="12801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3" name="TextBox 1352"/>
          <p:cNvSpPr txBox="1"/>
          <p:nvPr/>
        </p:nvSpPr>
        <p:spPr>
          <a:xfrm>
            <a:off x="429768" y="1188720"/>
            <a:ext cx="548640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32" b="0">
                <a:solidFill>
                  <a:srgbClr val="1E5B28"/>
                </a:solidFill>
                <a:latin typeface="Menlo"/>
              </a:rPr>
              <a:t>node --allow-natives-syntax lab/shape-analyzer.js &lt;файл&gt;</a:t>
            </a:r>
          </a:p>
        </p:txBody>
      </p:sp>
      <p:sp>
        <p:nvSpPr>
          <p:cNvPr id="1354" name="TextBox 1353"/>
          <p:cNvSpPr txBox="1"/>
          <p:nvPr/>
        </p:nvSpPr>
        <p:spPr>
          <a:xfrm>
            <a:off x="6053328" y="1188720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 Medium"/>
              </a:rPr>
              <a:t>%HaveSameMap → число форм</a:t>
            </a:r>
          </a:p>
        </p:txBody>
      </p:sp>
      <p:sp>
        <p:nvSpPr>
          <p:cNvPr id="132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2606040"/>
            <a:ext cx="9217152" cy="12801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5" name="TextBox 1354"/>
          <p:cNvSpPr txBox="1"/>
          <p:nvPr/>
        </p:nvSpPr>
        <p:spPr>
          <a:xfrm>
            <a:off x="429768" y="2606040"/>
            <a:ext cx="548640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32" b="0">
                <a:solidFill>
                  <a:srgbClr val="1E5B28"/>
                </a:solidFill>
                <a:latin typeface="Menlo"/>
              </a:rPr>
              <a:t>node --log-ic --no-logfile-per-isolate --logfile=ic.log …</a:t>
            </a:r>
          </a:p>
        </p:txBody>
      </p:sp>
      <p:sp>
        <p:nvSpPr>
          <p:cNvPr id="1356" name="TextBox 1355"/>
          <p:cNvSpPr txBox="1"/>
          <p:nvPr/>
        </p:nvSpPr>
        <p:spPr>
          <a:xfrm>
            <a:off x="6053328" y="2606040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 Medium"/>
              </a:rPr>
              <a:t>--log-ic → MONO / MEGA</a:t>
            </a:r>
          </a:p>
        </p:txBody>
      </p:sp>
      <p:sp>
        <p:nvSpPr>
          <p:cNvPr id="133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4023360"/>
            <a:ext cx="9217152" cy="12801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7" name="TextBox 1356"/>
          <p:cNvSpPr txBox="1"/>
          <p:nvPr/>
        </p:nvSpPr>
        <p:spPr>
          <a:xfrm>
            <a:off x="429768" y="4023360"/>
            <a:ext cx="548640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32" b="0">
                <a:solidFill>
                  <a:srgbClr val="1E5B28"/>
                </a:solidFill>
                <a:latin typeface="Menlo"/>
              </a:rPr>
              <a:t>docker/run.sh</a:t>
            </a:r>
            <a:r>
              <a:rPr sz="1400" b="0">
                <a:solidFill>
                  <a:srgbClr val="1E5B28"/>
                </a:solidFill>
                <a:latin typeface="X5 Sans"/>
              </a:rPr>
              <a:t> → </a:t>
            </a:r>
            <a:r>
              <a:rPr sz="1232" b="0">
                <a:solidFill>
                  <a:srgbClr val="1E5B28"/>
                </a:solidFill>
                <a:latin typeface="Menlo"/>
              </a:rPr>
              <a:t>bash docker/verify.sh out</a:t>
            </a:r>
          </a:p>
        </p:txBody>
      </p:sp>
      <p:sp>
        <p:nvSpPr>
          <p:cNvPr id="1358" name="TextBox 1357"/>
          <p:cNvSpPr txBox="1"/>
          <p:nvPr/>
        </p:nvSpPr>
        <p:spPr>
          <a:xfrm>
            <a:off x="6053328" y="4023360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 Medium"/>
              </a:rPr>
              <a:t>всё целиком — на своей машине</a:t>
            </a:r>
          </a:p>
        </p:txBody>
      </p:sp>
      <p:sp>
        <p:nvSpPr>
          <p:cNvPr id="1359" name="TextBox 1358"/>
          <p:cNvSpPr txBox="1"/>
          <p:nvPr/>
        </p:nvSpPr>
        <p:spPr>
          <a:xfrm>
            <a:off x="109728" y="5577840"/>
            <a:ext cx="921715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X5 Sans"/>
              </a:rPr>
              <a:t>на вопросы: compile hints · Sparkplug не спекулирует · дырявые массивы · delete · как мерили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Кольцо</a:t>
            </a:r>
          </a:p>
        </p:txBody>
      </p:sp>
      <p:sp>
        <p:nvSpPr>
          <p:cNvPr id="1331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241901" y="1097280"/>
            <a:ext cx="3707891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2" name="TextBox 1331"/>
          <p:cNvSpPr txBox="1"/>
          <p:nvPr/>
        </p:nvSpPr>
        <p:spPr>
          <a:xfrm>
            <a:off x="4241901" y="1097280"/>
            <a:ext cx="370789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12 из 12 · 2 мин</a:t>
            </a:r>
          </a:p>
        </p:txBody>
      </p:sp>
      <p:sp>
        <p:nvSpPr>
          <p:cNvPr id="1332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3" name="TextBox 1332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Вопрос зала: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Смогу ли я теперь прочитать судьбу функции сам?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Две функции, две судьбы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12.1</a:t>
            </a:r>
          </a:p>
        </p:txBody>
      </p:sp>
      <p:sp>
        <p:nvSpPr>
          <p:cNvPr id="133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8872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4" name="TextBox 1333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335" name="TextBox 1334"/>
          <p:cNvSpPr txBox="1"/>
          <p:nvPr/>
        </p:nvSpPr>
        <p:spPr>
          <a:xfrm>
            <a:off x="9692640" y="124358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2</a:t>
            </a:r>
          </a:p>
        </p:txBody>
      </p:sp>
      <p:sp>
        <p:nvSpPr>
          <p:cNvPr id="1336" name="TextBox 1335"/>
          <p:cNvSpPr txBox="1"/>
          <p:nvPr/>
        </p:nvSpPr>
        <p:spPr>
          <a:xfrm>
            <a:off x="9646919" y="142646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33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92024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7" name="TextBox 1336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338" name="TextBox 1337"/>
          <p:cNvSpPr txBox="1"/>
          <p:nvPr/>
        </p:nvSpPr>
        <p:spPr>
          <a:xfrm>
            <a:off x="9692640" y="197510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3</a:t>
            </a:r>
          </a:p>
        </p:txBody>
      </p:sp>
      <p:sp>
        <p:nvSpPr>
          <p:cNvPr id="1339" name="TextBox 1338"/>
          <p:cNvSpPr txBox="1"/>
          <p:nvPr/>
        </p:nvSpPr>
        <p:spPr>
          <a:xfrm>
            <a:off x="9646919" y="215798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33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65176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0" name="TextBox 1339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341" name="TextBox 1340"/>
          <p:cNvSpPr txBox="1"/>
          <p:nvPr/>
        </p:nvSpPr>
        <p:spPr>
          <a:xfrm>
            <a:off x="9692640" y="270662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5</a:t>
            </a:r>
          </a:p>
        </p:txBody>
      </p:sp>
      <p:sp>
        <p:nvSpPr>
          <p:cNvPr id="1342" name="TextBox 1341"/>
          <p:cNvSpPr txBox="1"/>
          <p:nvPr/>
        </p:nvSpPr>
        <p:spPr>
          <a:xfrm>
            <a:off x="9646919" y="288950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33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38328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3" name="TextBox 1342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344" name="TextBox 1343"/>
          <p:cNvSpPr txBox="1"/>
          <p:nvPr/>
        </p:nvSpPr>
        <p:spPr>
          <a:xfrm>
            <a:off x="9692640" y="3438144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6</a:t>
            </a:r>
          </a:p>
        </p:txBody>
      </p:sp>
      <p:sp>
        <p:nvSpPr>
          <p:cNvPr id="1345" name="TextBox 1344"/>
          <p:cNvSpPr txBox="1"/>
          <p:nvPr/>
        </p:nvSpPr>
        <p:spPr>
          <a:xfrm>
            <a:off x="9646919" y="362102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33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114800"/>
            <a:ext cx="2295144" cy="65836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6" name="TextBox 1345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автор</a:t>
            </a:r>
          </a:p>
        </p:txBody>
      </p:sp>
      <p:sp>
        <p:nvSpPr>
          <p:cNvPr id="1347" name="TextBox 1346"/>
          <p:cNvSpPr txBox="1"/>
          <p:nvPr/>
        </p:nvSpPr>
        <p:spPr>
          <a:xfrm>
            <a:off x="9692640" y="4169663"/>
            <a:ext cx="2020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X5 Sans"/>
              </a:rPr>
              <a:t>узел 7</a:t>
            </a:r>
          </a:p>
        </p:txBody>
      </p:sp>
      <p:sp>
        <p:nvSpPr>
          <p:cNvPr id="1348" name="TextBox 1347"/>
          <p:cNvSpPr txBox="1"/>
          <p:nvPr/>
        </p:nvSpPr>
        <p:spPr>
          <a:xfrm>
            <a:off x="9646919" y="4352544"/>
            <a:ext cx="2112263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с файлом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без</a:t>
            </a:r>
          </a:p>
        </p:txBody>
      </p:sp>
      <p:sp>
        <p:nvSpPr>
          <p:cNvPr id="133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846320"/>
            <a:ext cx="2295144" cy="146304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9" name="TextBox 1348"/>
          <p:cNvSpPr txBox="1"/>
          <p:nvPr/>
        </p:nvSpPr>
        <p:spPr>
          <a:xfrm>
            <a:off x="9692640" y="4937759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X5 Sans"/>
              </a:rPr>
              <a:t>карта доклада</a:t>
            </a:r>
          </a:p>
        </p:txBody>
      </p:sp>
      <p:cxnSp>
        <p:nvCxnSpPr>
          <p:cNvPr id="1350" name="Connector 1349"/>
          <p:cNvCxnSpPr/>
          <p:nvPr/>
        </p:nvCxnSpPr>
        <p:spPr>
          <a:xfrm>
            <a:off x="9738359" y="5413248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1" name="Oval 1350"/>
          <p:cNvSpPr/>
          <p:nvPr/>
        </p:nvSpPr>
        <p:spPr>
          <a:xfrm>
            <a:off x="9678924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2" name="Oval 1351"/>
          <p:cNvSpPr/>
          <p:nvPr/>
        </p:nvSpPr>
        <p:spPr>
          <a:xfrm>
            <a:off x="985432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3" name="Oval 1352"/>
          <p:cNvSpPr/>
          <p:nvPr/>
        </p:nvSpPr>
        <p:spPr>
          <a:xfrm>
            <a:off x="10029721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4" name="Oval 1353"/>
          <p:cNvSpPr/>
          <p:nvPr/>
        </p:nvSpPr>
        <p:spPr>
          <a:xfrm>
            <a:off x="1020511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5" name="Oval 1354"/>
          <p:cNvSpPr/>
          <p:nvPr/>
        </p:nvSpPr>
        <p:spPr>
          <a:xfrm>
            <a:off x="10380518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6" name="Oval 1355"/>
          <p:cNvSpPr/>
          <p:nvPr/>
        </p:nvSpPr>
        <p:spPr>
          <a:xfrm>
            <a:off x="10555916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7" name="Oval 1356"/>
          <p:cNvSpPr/>
          <p:nvPr/>
        </p:nvSpPr>
        <p:spPr>
          <a:xfrm>
            <a:off x="10731315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8" name="Oval 1357"/>
          <p:cNvSpPr/>
          <p:nvPr/>
        </p:nvSpPr>
        <p:spPr>
          <a:xfrm>
            <a:off x="10906713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9" name="Oval 1358"/>
          <p:cNvSpPr/>
          <p:nvPr/>
        </p:nvSpPr>
        <p:spPr>
          <a:xfrm>
            <a:off x="11082112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0" name="Oval 1359"/>
          <p:cNvSpPr/>
          <p:nvPr/>
        </p:nvSpPr>
        <p:spPr>
          <a:xfrm>
            <a:off x="11257510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1" name="Oval 1360"/>
          <p:cNvSpPr/>
          <p:nvPr/>
        </p:nvSpPr>
        <p:spPr>
          <a:xfrm>
            <a:off x="11432909" y="5353812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2" name="Oval 1361"/>
          <p:cNvSpPr/>
          <p:nvPr/>
        </p:nvSpPr>
        <p:spPr>
          <a:xfrm>
            <a:off x="11548871" y="5294376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3" name="TextBox 1362"/>
          <p:cNvSpPr txBox="1"/>
          <p:nvPr/>
        </p:nvSpPr>
        <p:spPr>
          <a:xfrm>
            <a:off x="9665207" y="5669280"/>
            <a:ext cx="207568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 Medium"/>
              </a:rPr>
              <a:t>шаг 12 из 12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E5B28"/>
                </a:solidFill>
                <a:latin typeface="X5 Sans"/>
              </a:rPr>
              <a:t>снова слайд 1</a:t>
            </a:r>
          </a:p>
        </p:txBody>
      </p:sp>
      <p:sp>
        <p:nvSpPr>
          <p:cNvPr id="133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09728" y="1188720"/>
            <a:ext cx="9217152" cy="96012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0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10896" y="1353312"/>
            <a:ext cx="1467612" cy="347472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4" name="TextBox 1363"/>
          <p:cNvSpPr txBox="1"/>
          <p:nvPr/>
        </p:nvSpPr>
        <p:spPr>
          <a:xfrm>
            <a:off x="310896" y="1353312"/>
            <a:ext cx="146761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E5B28"/>
                </a:solidFill>
                <a:latin typeface="X5 Sans Medium"/>
              </a:rPr>
              <a:t>A · ?? null</a:t>
            </a:r>
          </a:p>
        </p:txBody>
      </p:sp>
      <p:sp>
        <p:nvSpPr>
          <p:cNvPr id="1365" name="TextBox 1364"/>
          <p:cNvSpPr txBox="1"/>
          <p:nvPr/>
        </p:nvSpPr>
        <p:spPr>
          <a:xfrm>
            <a:off x="429768" y="1755648"/>
            <a:ext cx="85770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20" b="0">
                <a:solidFill>
                  <a:srgbClr val="1E5B28"/>
                </a:solidFill>
                <a:latin typeface="Menlo"/>
              </a:rPr>
              <a:t>referrer: raw.referrer ?? null</a:t>
            </a:r>
            <a:r>
              <a:rPr sz="1500" b="0">
                <a:solidFill>
                  <a:srgbClr val="1E5B28"/>
                </a:solidFill>
                <a:latin typeface="X5 Sans"/>
              </a:rPr>
              <a:t> ·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0.12 мс</a:t>
            </a:r>
          </a:p>
        </p:txBody>
      </p:sp>
      <p:sp>
        <p:nvSpPr>
          <p:cNvPr id="1341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109728" y="2240280"/>
            <a:ext cx="9217152" cy="96012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42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310896" y="2404872"/>
            <a:ext cx="2139696" cy="347472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66" name="TextBox 1365"/>
          <p:cNvSpPr txBox="1"/>
          <p:nvPr/>
        </p:nvSpPr>
        <p:spPr>
          <a:xfrm>
            <a:off x="310896" y="2404872"/>
            <a:ext cx="213969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 Medium"/>
              </a:rPr>
              <a:t>B · условный спред</a:t>
            </a:r>
          </a:p>
        </p:txBody>
      </p:sp>
      <p:sp>
        <p:nvSpPr>
          <p:cNvPr id="1367" name="TextBox 1366"/>
          <p:cNvSpPr txBox="1"/>
          <p:nvPr/>
        </p:nvSpPr>
        <p:spPr>
          <a:xfrm>
            <a:off x="429768" y="2807208"/>
            <a:ext cx="85770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20" b="0">
                <a:solidFill>
                  <a:srgbClr val="1E5B28"/>
                </a:solidFill>
                <a:latin typeface="Menlo"/>
              </a:rPr>
              <a:t>...(raw.referrer &amp;&amp; { referrer: raw.referrer })</a:t>
            </a:r>
            <a:r>
              <a:rPr sz="1500" b="0">
                <a:solidFill>
                  <a:srgbClr val="1E5B28"/>
                </a:solidFill>
                <a:latin typeface="X5 Sans"/>
              </a:rPr>
              <a:t> ·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0.79 мс</a:t>
            </a:r>
          </a:p>
        </p:txBody>
      </p:sp>
      <p:cxnSp>
        <p:nvCxnSpPr>
          <p:cNvPr id="1368" name="Connector 1367"/>
          <p:cNvCxnSpPr/>
          <p:nvPr/>
        </p:nvCxnSpPr>
        <p:spPr>
          <a:xfrm>
            <a:off x="536448" y="3866692"/>
            <a:ext cx="8744711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9" name="Rounded Rectangle 1368"/>
          <p:cNvSpPr/>
          <p:nvPr/>
        </p:nvSpPr>
        <p:spPr>
          <a:xfrm>
            <a:off x="109728" y="4720132"/>
            <a:ext cx="290169" cy="341375"/>
          </a:xfrm>
          <a:prstGeom prst="roundRect">
            <a:avLst>
              <a:gd name="adj" fmla="val 25210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0" name="TextBox 1369"/>
          <p:cNvSpPr txBox="1"/>
          <p:nvPr/>
        </p:nvSpPr>
        <p:spPr>
          <a:xfrm>
            <a:off x="109728" y="4720132"/>
            <a:ext cx="290169" cy="3413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1371" name="Rounded Rectangle 1370"/>
          <p:cNvSpPr/>
          <p:nvPr/>
        </p:nvSpPr>
        <p:spPr>
          <a:xfrm>
            <a:off x="109728" y="5189524"/>
            <a:ext cx="290169" cy="341375"/>
          </a:xfrm>
          <a:prstGeom prst="roundRect">
            <a:avLst>
              <a:gd name="adj" fmla="val 25210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2" name="TextBox 1371"/>
          <p:cNvSpPr txBox="1"/>
          <p:nvPr/>
        </p:nvSpPr>
        <p:spPr>
          <a:xfrm>
            <a:off x="109728" y="5189524"/>
            <a:ext cx="290169" cy="3413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1373" name="Oval 1372"/>
          <p:cNvSpPr/>
          <p:nvPr/>
        </p:nvSpPr>
        <p:spPr>
          <a:xfrm>
            <a:off x="749096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4" name="TextBox 1373"/>
          <p:cNvSpPr txBox="1"/>
          <p:nvPr/>
        </p:nvSpPr>
        <p:spPr>
          <a:xfrm>
            <a:off x="749096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375" name="TextBox 1374"/>
          <p:cNvSpPr txBox="1"/>
          <p:nvPr/>
        </p:nvSpPr>
        <p:spPr>
          <a:xfrm>
            <a:off x="536448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376" name="TextBox 1375"/>
          <p:cNvSpPr txBox="1"/>
          <p:nvPr/>
        </p:nvSpPr>
        <p:spPr>
          <a:xfrm>
            <a:off x="554736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377" name="Rounded Rectangle 1376"/>
          <p:cNvSpPr/>
          <p:nvPr/>
        </p:nvSpPr>
        <p:spPr>
          <a:xfrm>
            <a:off x="563880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8" name="TextBox 1377"/>
          <p:cNvSpPr txBox="1"/>
          <p:nvPr/>
        </p:nvSpPr>
        <p:spPr>
          <a:xfrm>
            <a:off x="582168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379" name="Rounded Rectangle 1378"/>
          <p:cNvSpPr/>
          <p:nvPr/>
        </p:nvSpPr>
        <p:spPr>
          <a:xfrm>
            <a:off x="563880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0" name="TextBox 1379"/>
          <p:cNvSpPr txBox="1"/>
          <p:nvPr/>
        </p:nvSpPr>
        <p:spPr>
          <a:xfrm>
            <a:off x="582168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381" name="TextBox 1380"/>
          <p:cNvSpPr txBox="1"/>
          <p:nvPr/>
        </p:nvSpPr>
        <p:spPr>
          <a:xfrm>
            <a:off x="554736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382" name="Oval 1381"/>
          <p:cNvSpPr/>
          <p:nvPr/>
        </p:nvSpPr>
        <p:spPr>
          <a:xfrm>
            <a:off x="1481632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3" name="TextBox 1382"/>
          <p:cNvSpPr txBox="1"/>
          <p:nvPr/>
        </p:nvSpPr>
        <p:spPr>
          <a:xfrm>
            <a:off x="1481632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384" name="TextBox 1383"/>
          <p:cNvSpPr txBox="1"/>
          <p:nvPr/>
        </p:nvSpPr>
        <p:spPr>
          <a:xfrm>
            <a:off x="1268984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вызов 1</a:t>
            </a:r>
          </a:p>
        </p:txBody>
      </p:sp>
      <p:sp>
        <p:nvSpPr>
          <p:cNvPr id="1385" name="TextBox 1384"/>
          <p:cNvSpPr txBox="1"/>
          <p:nvPr/>
        </p:nvSpPr>
        <p:spPr>
          <a:xfrm>
            <a:off x="1287272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1386" name="Rounded Rectangle 1385"/>
          <p:cNvSpPr/>
          <p:nvPr/>
        </p:nvSpPr>
        <p:spPr>
          <a:xfrm>
            <a:off x="1296416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7" name="TextBox 1386"/>
          <p:cNvSpPr txBox="1"/>
          <p:nvPr/>
        </p:nvSpPr>
        <p:spPr>
          <a:xfrm>
            <a:off x="1314704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1388" name="Rounded Rectangle 1387"/>
          <p:cNvSpPr/>
          <p:nvPr/>
        </p:nvSpPr>
        <p:spPr>
          <a:xfrm>
            <a:off x="1296416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9" name="TextBox 1388"/>
          <p:cNvSpPr txBox="1"/>
          <p:nvPr/>
        </p:nvSpPr>
        <p:spPr>
          <a:xfrm>
            <a:off x="1314704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1390" name="TextBox 1389"/>
          <p:cNvSpPr txBox="1"/>
          <p:nvPr/>
        </p:nvSpPr>
        <p:spPr>
          <a:xfrm>
            <a:off x="1287272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1391" name="Oval 1390"/>
          <p:cNvSpPr/>
          <p:nvPr/>
        </p:nvSpPr>
        <p:spPr>
          <a:xfrm>
            <a:off x="2214168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2" name="TextBox 1391"/>
          <p:cNvSpPr txBox="1"/>
          <p:nvPr/>
        </p:nvSpPr>
        <p:spPr>
          <a:xfrm>
            <a:off x="2214168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3</a:t>
            </a:r>
          </a:p>
        </p:txBody>
      </p:sp>
      <p:sp>
        <p:nvSpPr>
          <p:cNvPr id="1393" name="TextBox 1392"/>
          <p:cNvSpPr txBox="1"/>
          <p:nvPr/>
        </p:nvSpPr>
        <p:spPr>
          <a:xfrm>
            <a:off x="2001519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1394" name="TextBox 1393"/>
          <p:cNvSpPr txBox="1"/>
          <p:nvPr/>
        </p:nvSpPr>
        <p:spPr>
          <a:xfrm>
            <a:off x="2019807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1395" name="Rounded Rectangle 1394"/>
          <p:cNvSpPr/>
          <p:nvPr/>
        </p:nvSpPr>
        <p:spPr>
          <a:xfrm>
            <a:off x="2028951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6" name="TextBox 1395"/>
          <p:cNvSpPr txBox="1"/>
          <p:nvPr/>
        </p:nvSpPr>
        <p:spPr>
          <a:xfrm>
            <a:off x="2047239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MONO</a:t>
            </a:r>
          </a:p>
        </p:txBody>
      </p:sp>
      <p:sp>
        <p:nvSpPr>
          <p:cNvPr id="1397" name="Rounded Rectangle 1396"/>
          <p:cNvSpPr/>
          <p:nvPr/>
        </p:nvSpPr>
        <p:spPr>
          <a:xfrm>
            <a:off x="2028951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8" name="TextBox 1397"/>
          <p:cNvSpPr txBox="1"/>
          <p:nvPr/>
        </p:nvSpPr>
        <p:spPr>
          <a:xfrm>
            <a:off x="2047239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MEGA</a:t>
            </a:r>
          </a:p>
        </p:txBody>
      </p:sp>
      <p:sp>
        <p:nvSpPr>
          <p:cNvPr id="1399" name="TextBox 1398"/>
          <p:cNvSpPr txBox="1"/>
          <p:nvPr/>
        </p:nvSpPr>
        <p:spPr>
          <a:xfrm>
            <a:off x="2019807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--log-ic</a:t>
            </a:r>
          </a:p>
        </p:txBody>
      </p:sp>
      <p:sp>
        <p:nvSpPr>
          <p:cNvPr id="1400" name="Diamond 1399"/>
          <p:cNvSpPr/>
          <p:nvPr/>
        </p:nvSpPr>
        <p:spPr>
          <a:xfrm>
            <a:off x="2657246" y="3789883"/>
            <a:ext cx="153619" cy="153619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1" name="Oval 1400"/>
          <p:cNvSpPr/>
          <p:nvPr/>
        </p:nvSpPr>
        <p:spPr>
          <a:xfrm>
            <a:off x="2946704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2" name="TextBox 1401"/>
          <p:cNvSpPr txBox="1"/>
          <p:nvPr/>
        </p:nvSpPr>
        <p:spPr>
          <a:xfrm>
            <a:off x="2946704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4</a:t>
            </a:r>
          </a:p>
        </p:txBody>
      </p:sp>
      <p:sp>
        <p:nvSpPr>
          <p:cNvPr id="1403" name="TextBox 1402"/>
          <p:cNvSpPr txBox="1"/>
          <p:nvPr/>
        </p:nvSpPr>
        <p:spPr>
          <a:xfrm>
            <a:off x="2734056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~700 → ~13 000</a:t>
            </a:r>
          </a:p>
        </p:txBody>
      </p:sp>
      <p:sp>
        <p:nvSpPr>
          <p:cNvPr id="1404" name="TextBox 1403"/>
          <p:cNvSpPr txBox="1"/>
          <p:nvPr/>
        </p:nvSpPr>
        <p:spPr>
          <a:xfrm>
            <a:off x="2752344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sp>
        <p:nvSpPr>
          <p:cNvPr id="1405" name="Rounded Rectangle 1404"/>
          <p:cNvSpPr/>
          <p:nvPr/>
        </p:nvSpPr>
        <p:spPr>
          <a:xfrm>
            <a:off x="2761487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6" name="TextBox 1405"/>
          <p:cNvSpPr txBox="1"/>
          <p:nvPr/>
        </p:nvSpPr>
        <p:spPr>
          <a:xfrm>
            <a:off x="2779775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1407" name="Rounded Rectangle 1406"/>
          <p:cNvSpPr/>
          <p:nvPr/>
        </p:nvSpPr>
        <p:spPr>
          <a:xfrm>
            <a:off x="2761487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8" name="TextBox 1407"/>
          <p:cNvSpPr txBox="1"/>
          <p:nvPr/>
        </p:nvSpPr>
        <p:spPr>
          <a:xfrm>
            <a:off x="2779775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1409" name="TextBox 1408"/>
          <p:cNvSpPr txBox="1"/>
          <p:nvPr/>
        </p:nvSpPr>
        <p:spPr>
          <a:xfrm>
            <a:off x="2752344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--max-opt</a:t>
            </a:r>
          </a:p>
        </p:txBody>
      </p:sp>
      <p:sp>
        <p:nvSpPr>
          <p:cNvPr id="1410" name="Oval 1409"/>
          <p:cNvSpPr/>
          <p:nvPr/>
        </p:nvSpPr>
        <p:spPr>
          <a:xfrm>
            <a:off x="3679240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1" name="TextBox 1410"/>
          <p:cNvSpPr txBox="1"/>
          <p:nvPr/>
        </p:nvSpPr>
        <p:spPr>
          <a:xfrm>
            <a:off x="3679240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5</a:t>
            </a:r>
          </a:p>
        </p:txBody>
      </p:sp>
      <p:sp>
        <p:nvSpPr>
          <p:cNvPr id="1412" name="TextBox 1411"/>
          <p:cNvSpPr txBox="1"/>
          <p:nvPr/>
        </p:nvSpPr>
        <p:spPr>
          <a:xfrm>
            <a:off x="3466592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1413" name="TextBox 1412"/>
          <p:cNvSpPr txBox="1"/>
          <p:nvPr/>
        </p:nvSpPr>
        <p:spPr>
          <a:xfrm>
            <a:off x="3484880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ставка</a:t>
            </a:r>
          </a:p>
        </p:txBody>
      </p:sp>
      <p:sp>
        <p:nvSpPr>
          <p:cNvPr id="1414" name="Rounded Rectangle 1413"/>
          <p:cNvSpPr/>
          <p:nvPr/>
        </p:nvSpPr>
        <p:spPr>
          <a:xfrm>
            <a:off x="3494023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5" name="TextBox 1414"/>
          <p:cNvSpPr txBox="1"/>
          <p:nvPr/>
        </p:nvSpPr>
        <p:spPr>
          <a:xfrm>
            <a:off x="3512311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сыграла</a:t>
            </a:r>
          </a:p>
        </p:txBody>
      </p:sp>
      <p:sp>
        <p:nvSpPr>
          <p:cNvPr id="1416" name="Rounded Rectangle 1415"/>
          <p:cNvSpPr/>
          <p:nvPr/>
        </p:nvSpPr>
        <p:spPr>
          <a:xfrm>
            <a:off x="3494023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7" name="TextBox 1416"/>
          <p:cNvSpPr txBox="1"/>
          <p:nvPr/>
        </p:nvSpPr>
        <p:spPr>
          <a:xfrm>
            <a:off x="3512311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wrong map → общий путь</a:t>
            </a:r>
          </a:p>
        </p:txBody>
      </p:sp>
      <p:sp>
        <p:nvSpPr>
          <p:cNvPr id="1418" name="TextBox 1417"/>
          <p:cNvSpPr txBox="1"/>
          <p:nvPr/>
        </p:nvSpPr>
        <p:spPr>
          <a:xfrm>
            <a:off x="3484880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--trace-deopt</a:t>
            </a:r>
          </a:p>
        </p:txBody>
      </p:sp>
      <p:sp>
        <p:nvSpPr>
          <p:cNvPr id="1419" name="Diamond 1418"/>
          <p:cNvSpPr/>
          <p:nvPr/>
        </p:nvSpPr>
        <p:spPr>
          <a:xfrm>
            <a:off x="4122318" y="3789883"/>
            <a:ext cx="153619" cy="153619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0" name="Oval 1419"/>
          <p:cNvSpPr/>
          <p:nvPr/>
        </p:nvSpPr>
        <p:spPr>
          <a:xfrm>
            <a:off x="4411776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1" name="TextBox 1420"/>
          <p:cNvSpPr txBox="1"/>
          <p:nvPr/>
        </p:nvSpPr>
        <p:spPr>
          <a:xfrm>
            <a:off x="4411776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6</a:t>
            </a:r>
          </a:p>
        </p:txBody>
      </p:sp>
      <p:sp>
        <p:nvSpPr>
          <p:cNvPr id="1422" name="TextBox 1421"/>
          <p:cNvSpPr txBox="1"/>
          <p:nvPr/>
        </p:nvSpPr>
        <p:spPr>
          <a:xfrm>
            <a:off x="4199128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прод</a:t>
            </a:r>
          </a:p>
        </p:txBody>
      </p:sp>
      <p:sp>
        <p:nvSpPr>
          <p:cNvPr id="1423" name="TextBox 1422"/>
          <p:cNvSpPr txBox="1"/>
          <p:nvPr/>
        </p:nvSpPr>
        <p:spPr>
          <a:xfrm>
            <a:off x="4217416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сервис</a:t>
            </a:r>
          </a:p>
        </p:txBody>
      </p:sp>
      <p:sp>
        <p:nvSpPr>
          <p:cNvPr id="1424" name="Rounded Rectangle 1423"/>
          <p:cNvSpPr/>
          <p:nvPr/>
        </p:nvSpPr>
        <p:spPr>
          <a:xfrm>
            <a:off x="4226560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5" name="TextBox 1424"/>
          <p:cNvSpPr txBox="1"/>
          <p:nvPr/>
        </p:nvSpPr>
        <p:spPr>
          <a:xfrm>
            <a:off x="4244848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2302 rps</a:t>
            </a:r>
          </a:p>
        </p:txBody>
      </p:sp>
      <p:sp>
        <p:nvSpPr>
          <p:cNvPr id="1426" name="Rounded Rectangle 1425"/>
          <p:cNvSpPr/>
          <p:nvPr/>
        </p:nvSpPr>
        <p:spPr>
          <a:xfrm>
            <a:off x="4226560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7" name="TextBox 1426"/>
          <p:cNvSpPr txBox="1"/>
          <p:nvPr/>
        </p:nvSpPr>
        <p:spPr>
          <a:xfrm>
            <a:off x="4244848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1180 rps</a:t>
            </a:r>
          </a:p>
        </p:txBody>
      </p:sp>
      <p:sp>
        <p:nvSpPr>
          <p:cNvPr id="1428" name="TextBox 1427"/>
          <p:cNvSpPr txBox="1"/>
          <p:nvPr/>
        </p:nvSpPr>
        <p:spPr>
          <a:xfrm>
            <a:off x="4217416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autocannon</a:t>
            </a:r>
          </a:p>
        </p:txBody>
      </p:sp>
      <p:sp>
        <p:nvSpPr>
          <p:cNvPr id="1429" name="Oval 1428"/>
          <p:cNvSpPr/>
          <p:nvPr/>
        </p:nvSpPr>
        <p:spPr>
          <a:xfrm>
            <a:off x="5144312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0" name="TextBox 1429"/>
          <p:cNvSpPr txBox="1"/>
          <p:nvPr/>
        </p:nvSpPr>
        <p:spPr>
          <a:xfrm>
            <a:off x="5144312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7</a:t>
            </a:r>
          </a:p>
        </p:txBody>
      </p:sp>
      <p:sp>
        <p:nvSpPr>
          <p:cNvPr id="1431" name="TextBox 1430"/>
          <p:cNvSpPr txBox="1"/>
          <p:nvPr/>
        </p:nvSpPr>
        <p:spPr>
          <a:xfrm>
            <a:off x="4931664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432" name="TextBox 1431"/>
          <p:cNvSpPr txBox="1"/>
          <p:nvPr/>
        </p:nvSpPr>
        <p:spPr>
          <a:xfrm>
            <a:off x="4949952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агент</a:t>
            </a:r>
          </a:p>
        </p:txBody>
      </p:sp>
      <p:sp>
        <p:nvSpPr>
          <p:cNvPr id="1433" name="Rounded Rectangle 1432"/>
          <p:cNvSpPr/>
          <p:nvPr/>
        </p:nvSpPr>
        <p:spPr>
          <a:xfrm>
            <a:off x="4959096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4" name="TextBox 1433"/>
          <p:cNvSpPr txBox="1"/>
          <p:nvPr/>
        </p:nvSpPr>
        <p:spPr>
          <a:xfrm>
            <a:off x="4977384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автор: ?</a:t>
            </a:r>
          </a:p>
        </p:txBody>
      </p:sp>
      <p:sp>
        <p:nvSpPr>
          <p:cNvPr id="1435" name="Rounded Rectangle 1434"/>
          <p:cNvSpPr/>
          <p:nvPr/>
        </p:nvSpPr>
        <p:spPr>
          <a:xfrm>
            <a:off x="4959096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6" name="TextBox 1435"/>
          <p:cNvSpPr txBox="1"/>
          <p:nvPr/>
        </p:nvSpPr>
        <p:spPr>
          <a:xfrm>
            <a:off x="4977384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без правил · 30/30</a:t>
            </a:r>
          </a:p>
        </p:txBody>
      </p:sp>
      <p:sp>
        <p:nvSpPr>
          <p:cNvPr id="1437" name="TextBox 1436"/>
          <p:cNvSpPr txBox="1"/>
          <p:nvPr/>
        </p:nvSpPr>
        <p:spPr>
          <a:xfrm>
            <a:off x="4949952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claude -p + прибор</a:t>
            </a:r>
          </a:p>
        </p:txBody>
      </p:sp>
      <p:sp>
        <p:nvSpPr>
          <p:cNvPr id="1438" name="Oval 1437"/>
          <p:cNvSpPr/>
          <p:nvPr/>
        </p:nvSpPr>
        <p:spPr>
          <a:xfrm>
            <a:off x="5876848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9" name="TextBox 1438"/>
          <p:cNvSpPr txBox="1"/>
          <p:nvPr/>
        </p:nvSpPr>
        <p:spPr>
          <a:xfrm>
            <a:off x="5876848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8</a:t>
            </a:r>
          </a:p>
        </p:txBody>
      </p:sp>
      <p:sp>
        <p:nvSpPr>
          <p:cNvPr id="1440" name="TextBox 1439"/>
          <p:cNvSpPr txBox="1"/>
          <p:nvPr/>
        </p:nvSpPr>
        <p:spPr>
          <a:xfrm>
            <a:off x="5664200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441" name="TextBox 1440"/>
          <p:cNvSpPr txBox="1"/>
          <p:nvPr/>
        </p:nvSpPr>
        <p:spPr>
          <a:xfrm>
            <a:off x="5682488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корпус</a:t>
            </a:r>
          </a:p>
        </p:txBody>
      </p:sp>
      <p:sp>
        <p:nvSpPr>
          <p:cNvPr id="1442" name="Rounded Rectangle 1441"/>
          <p:cNvSpPr/>
          <p:nvPr/>
        </p:nvSpPr>
        <p:spPr>
          <a:xfrm>
            <a:off x="5691632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3" name="TextBox 1442"/>
          <p:cNvSpPr txBox="1"/>
          <p:nvPr/>
        </p:nvSpPr>
        <p:spPr>
          <a:xfrm>
            <a:off x="5709920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живое</a:t>
            </a:r>
          </a:p>
        </p:txBody>
      </p:sp>
      <p:sp>
        <p:nvSpPr>
          <p:cNvPr id="1444" name="Rounded Rectangle 1443"/>
          <p:cNvSpPr/>
          <p:nvPr/>
        </p:nvSpPr>
        <p:spPr>
          <a:xfrm>
            <a:off x="5691632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5" name="TextBox 1444"/>
          <p:cNvSpPr txBox="1"/>
          <p:nvPr/>
        </p:nvSpPr>
        <p:spPr>
          <a:xfrm>
            <a:off x="5709920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мёртвое рядом</a:t>
            </a:r>
          </a:p>
        </p:txBody>
      </p:sp>
      <p:sp>
        <p:nvSpPr>
          <p:cNvPr id="1446" name="TextBox 1445"/>
          <p:cNvSpPr txBox="1"/>
          <p:nvPr/>
        </p:nvSpPr>
        <p:spPr>
          <a:xfrm>
            <a:off x="5682488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матрица по версиям</a:t>
            </a:r>
          </a:p>
        </p:txBody>
      </p:sp>
      <p:sp>
        <p:nvSpPr>
          <p:cNvPr id="1447" name="Diamond 1446"/>
          <p:cNvSpPr/>
          <p:nvPr/>
        </p:nvSpPr>
        <p:spPr>
          <a:xfrm>
            <a:off x="6319926" y="3789883"/>
            <a:ext cx="153619" cy="153619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8" name="Oval 1447"/>
          <p:cNvSpPr/>
          <p:nvPr/>
        </p:nvSpPr>
        <p:spPr>
          <a:xfrm>
            <a:off x="6609384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9" name="TextBox 1448"/>
          <p:cNvSpPr txBox="1"/>
          <p:nvPr/>
        </p:nvSpPr>
        <p:spPr>
          <a:xfrm>
            <a:off x="6609384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9</a:t>
            </a:r>
          </a:p>
        </p:txBody>
      </p:sp>
      <p:sp>
        <p:nvSpPr>
          <p:cNvPr id="1450" name="TextBox 1449"/>
          <p:cNvSpPr txBox="1"/>
          <p:nvPr/>
        </p:nvSpPr>
        <p:spPr>
          <a:xfrm>
            <a:off x="6396736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до первого вызова</a:t>
            </a:r>
          </a:p>
        </p:txBody>
      </p:sp>
      <p:sp>
        <p:nvSpPr>
          <p:cNvPr id="1451" name="TextBox 1450"/>
          <p:cNvSpPr txBox="1"/>
          <p:nvPr/>
        </p:nvSpPr>
        <p:spPr>
          <a:xfrm>
            <a:off x="6415024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правила</a:t>
            </a:r>
          </a:p>
        </p:txBody>
      </p:sp>
      <p:sp>
        <p:nvSpPr>
          <p:cNvPr id="1452" name="Rounded Rectangle 1451"/>
          <p:cNvSpPr/>
          <p:nvPr/>
        </p:nvSpPr>
        <p:spPr>
          <a:xfrm>
            <a:off x="6424168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3" name="TextBox 1452"/>
          <p:cNvSpPr txBox="1"/>
          <p:nvPr/>
        </p:nvSpPr>
        <p:spPr>
          <a:xfrm>
            <a:off x="6442456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с файлом · 30/30</a:t>
            </a:r>
          </a:p>
        </p:txBody>
      </p:sp>
      <p:sp>
        <p:nvSpPr>
          <p:cNvPr id="1454" name="Rounded Rectangle 1453"/>
          <p:cNvSpPr/>
          <p:nvPr/>
        </p:nvSpPr>
        <p:spPr>
          <a:xfrm>
            <a:off x="6424168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5" name="TextBox 1454"/>
          <p:cNvSpPr txBox="1"/>
          <p:nvPr/>
        </p:nvSpPr>
        <p:spPr>
          <a:xfrm>
            <a:off x="6442456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без файла</a:t>
            </a:r>
          </a:p>
        </p:txBody>
      </p:sp>
      <p:sp>
        <p:nvSpPr>
          <p:cNvPr id="1456" name="TextBox 1455"/>
          <p:cNvSpPr txBox="1"/>
          <p:nvPr/>
        </p:nvSpPr>
        <p:spPr>
          <a:xfrm>
            <a:off x="6415024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v8-rules.md</a:t>
            </a:r>
          </a:p>
        </p:txBody>
      </p:sp>
      <p:sp>
        <p:nvSpPr>
          <p:cNvPr id="1457" name="Oval 1456"/>
          <p:cNvSpPr/>
          <p:nvPr/>
        </p:nvSpPr>
        <p:spPr>
          <a:xfrm>
            <a:off x="7341920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8" name="TextBox 1457"/>
          <p:cNvSpPr txBox="1"/>
          <p:nvPr/>
        </p:nvSpPr>
        <p:spPr>
          <a:xfrm>
            <a:off x="7341920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10</a:t>
            </a:r>
          </a:p>
        </p:txBody>
      </p:sp>
      <p:sp>
        <p:nvSpPr>
          <p:cNvPr id="1459" name="TextBox 1458"/>
          <p:cNvSpPr txBox="1"/>
          <p:nvPr/>
        </p:nvSpPr>
        <p:spPr>
          <a:xfrm>
            <a:off x="7129271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верхняя ступень</a:t>
            </a:r>
          </a:p>
        </p:txBody>
      </p:sp>
      <p:sp>
        <p:nvSpPr>
          <p:cNvPr id="1460" name="TextBox 1459"/>
          <p:cNvSpPr txBox="1"/>
          <p:nvPr/>
        </p:nvSpPr>
        <p:spPr>
          <a:xfrm>
            <a:off x="7147559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лев</a:t>
            </a:r>
          </a:p>
        </p:txBody>
      </p:sp>
      <p:sp>
        <p:nvSpPr>
          <p:cNvPr id="1461" name="Rounded Rectangle 1460"/>
          <p:cNvSpPr/>
          <p:nvPr/>
        </p:nvSpPr>
        <p:spPr>
          <a:xfrm>
            <a:off x="7156703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2" name="TextBox 1461"/>
          <p:cNvSpPr txBox="1"/>
          <p:nvPr/>
        </p:nvSpPr>
        <p:spPr>
          <a:xfrm>
            <a:off x="7174991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ставка та же</a:t>
            </a:r>
          </a:p>
        </p:txBody>
      </p:sp>
      <p:sp>
        <p:nvSpPr>
          <p:cNvPr id="1463" name="Rounded Rectangle 1462"/>
          <p:cNvSpPr/>
          <p:nvPr/>
        </p:nvSpPr>
        <p:spPr>
          <a:xfrm>
            <a:off x="7156703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4" name="TextBox 1463"/>
          <p:cNvSpPr txBox="1"/>
          <p:nvPr/>
        </p:nvSpPr>
        <p:spPr>
          <a:xfrm>
            <a:off x="7174991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ставка та же</a:t>
            </a:r>
          </a:p>
        </p:txBody>
      </p:sp>
      <p:sp>
        <p:nvSpPr>
          <p:cNvPr id="1465" name="TextBox 1464"/>
          <p:cNvSpPr txBox="1"/>
          <p:nvPr/>
        </p:nvSpPr>
        <p:spPr>
          <a:xfrm>
            <a:off x="7147559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--turbolev</a:t>
            </a:r>
          </a:p>
        </p:txBody>
      </p:sp>
      <p:sp>
        <p:nvSpPr>
          <p:cNvPr id="1466" name="Oval 1465"/>
          <p:cNvSpPr/>
          <p:nvPr/>
        </p:nvSpPr>
        <p:spPr>
          <a:xfrm>
            <a:off x="8074456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7" name="TextBox 1466"/>
          <p:cNvSpPr txBox="1"/>
          <p:nvPr/>
        </p:nvSpPr>
        <p:spPr>
          <a:xfrm>
            <a:off x="8074456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11</a:t>
            </a:r>
          </a:p>
        </p:txBody>
      </p:sp>
      <p:sp>
        <p:nvSpPr>
          <p:cNvPr id="1468" name="TextBox 1467"/>
          <p:cNvSpPr txBox="1"/>
          <p:nvPr/>
        </p:nvSpPr>
        <p:spPr>
          <a:xfrm>
            <a:off x="7861807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—</a:t>
            </a:r>
          </a:p>
        </p:txBody>
      </p:sp>
      <p:sp>
        <p:nvSpPr>
          <p:cNvPr id="1469" name="TextBox 1468"/>
          <p:cNvSpPr txBox="1"/>
          <p:nvPr/>
        </p:nvSpPr>
        <p:spPr>
          <a:xfrm>
            <a:off x="7880095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1470" name="Rounded Rectangle 1469"/>
          <p:cNvSpPr/>
          <p:nvPr/>
        </p:nvSpPr>
        <p:spPr>
          <a:xfrm>
            <a:off x="7889239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1" name="TextBox 1470"/>
          <p:cNvSpPr txBox="1"/>
          <p:nvPr/>
        </p:nvSpPr>
        <p:spPr>
          <a:xfrm>
            <a:off x="7907528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форма + файл</a:t>
            </a:r>
          </a:p>
        </p:txBody>
      </p:sp>
      <p:sp>
        <p:nvSpPr>
          <p:cNvPr id="1472" name="Rounded Rectangle 1471"/>
          <p:cNvSpPr/>
          <p:nvPr/>
        </p:nvSpPr>
        <p:spPr>
          <a:xfrm>
            <a:off x="7889239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3" name="TextBox 1472"/>
          <p:cNvSpPr txBox="1"/>
          <p:nvPr/>
        </p:nvSpPr>
        <p:spPr>
          <a:xfrm>
            <a:off x="7907528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форма + нет файла</a:t>
            </a:r>
          </a:p>
        </p:txBody>
      </p:sp>
      <p:sp>
        <p:nvSpPr>
          <p:cNvPr id="1474" name="TextBox 1473"/>
          <p:cNvSpPr txBox="1"/>
          <p:nvPr/>
        </p:nvSpPr>
        <p:spPr>
          <a:xfrm>
            <a:off x="7880095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как проверить у себя</a:t>
            </a:r>
          </a:p>
        </p:txBody>
      </p:sp>
      <p:sp>
        <p:nvSpPr>
          <p:cNvPr id="1475" name="Oval 1474"/>
          <p:cNvSpPr/>
          <p:nvPr/>
        </p:nvSpPr>
        <p:spPr>
          <a:xfrm>
            <a:off x="8739400" y="3645481"/>
            <a:ext cx="442423" cy="442423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6" name="Oval 1475"/>
          <p:cNvSpPr/>
          <p:nvPr/>
        </p:nvSpPr>
        <p:spPr>
          <a:xfrm>
            <a:off x="8806992" y="3713073"/>
            <a:ext cx="307238" cy="307238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7" name="TextBox 1476"/>
          <p:cNvSpPr txBox="1"/>
          <p:nvPr/>
        </p:nvSpPr>
        <p:spPr>
          <a:xfrm>
            <a:off x="8806992" y="3713073"/>
            <a:ext cx="307238" cy="307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66" b="0">
                <a:solidFill>
                  <a:srgbClr val="FFFFFF"/>
                </a:solidFill>
                <a:latin typeface="X5 Sans Medium"/>
              </a:rPr>
              <a:t>12</a:t>
            </a:r>
          </a:p>
        </p:txBody>
      </p:sp>
      <p:sp>
        <p:nvSpPr>
          <p:cNvPr id="1478" name="TextBox 1477"/>
          <p:cNvSpPr txBox="1"/>
          <p:nvPr/>
        </p:nvSpPr>
        <p:spPr>
          <a:xfrm>
            <a:off x="8594343" y="3337560"/>
            <a:ext cx="732536" cy="256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финал</a:t>
            </a:r>
          </a:p>
        </p:txBody>
      </p:sp>
      <p:sp>
        <p:nvSpPr>
          <p:cNvPr id="1479" name="TextBox 1478"/>
          <p:cNvSpPr txBox="1"/>
          <p:nvPr/>
        </p:nvSpPr>
        <p:spPr>
          <a:xfrm>
            <a:off x="8612631" y="4122724"/>
            <a:ext cx="695960" cy="512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6" b="0">
                <a:solidFill>
                  <a:srgbClr val="1E5B28"/>
                </a:solidFill>
                <a:latin typeface="X5 Sans Medium"/>
              </a:rPr>
              <a:t>снова слайд 1</a:t>
            </a:r>
          </a:p>
        </p:txBody>
      </p:sp>
      <p:sp>
        <p:nvSpPr>
          <p:cNvPr id="1480" name="Rounded Rectangle 1479"/>
          <p:cNvSpPr/>
          <p:nvPr/>
        </p:nvSpPr>
        <p:spPr>
          <a:xfrm>
            <a:off x="8621775" y="4720132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1" name="TextBox 1480"/>
          <p:cNvSpPr txBox="1"/>
          <p:nvPr/>
        </p:nvSpPr>
        <p:spPr>
          <a:xfrm>
            <a:off x="8640064" y="4720132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1E5B28"/>
                </a:solidFill>
                <a:latin typeface="X5 Sans"/>
              </a:rPr>
              <a:t>1 → MONO → 2302</a:t>
            </a:r>
          </a:p>
        </p:txBody>
      </p:sp>
      <p:sp>
        <p:nvSpPr>
          <p:cNvPr id="1482" name="Rounded Rectangle 1481"/>
          <p:cNvSpPr/>
          <p:nvPr/>
        </p:nvSpPr>
        <p:spPr>
          <a:xfrm>
            <a:off x="8621775" y="5189524"/>
            <a:ext cx="677672" cy="375513"/>
          </a:xfrm>
          <a:prstGeom prst="roundRect">
            <a:avLst>
              <a:gd name="adj" fmla="val 14610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3" name="TextBox 1482"/>
          <p:cNvSpPr txBox="1"/>
          <p:nvPr/>
        </p:nvSpPr>
        <p:spPr>
          <a:xfrm>
            <a:off x="8640064" y="5189524"/>
            <a:ext cx="641096" cy="3755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>
                <a:solidFill>
                  <a:srgbClr val="8A1538"/>
                </a:solidFill>
                <a:latin typeface="X5 Sans"/>
              </a:rPr>
              <a:t>8 → MEGA → 1180</a:t>
            </a:r>
          </a:p>
        </p:txBody>
      </p:sp>
      <p:sp>
        <p:nvSpPr>
          <p:cNvPr id="1484" name="TextBox 1483"/>
          <p:cNvSpPr txBox="1"/>
          <p:nvPr/>
        </p:nvSpPr>
        <p:spPr>
          <a:xfrm>
            <a:off x="8612631" y="5675985"/>
            <a:ext cx="69596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16" b="0">
                <a:solidFill>
                  <a:srgbClr val="6B7280"/>
                </a:solidFill>
                <a:latin typeface="X5 Sans"/>
              </a:rPr>
              <a:t>репо</a:t>
            </a:r>
          </a:p>
        </p:txBody>
      </p:sp>
      <p:sp>
        <p:nvSpPr>
          <p:cNvPr id="1485" name="TextBox 1484"/>
          <p:cNvSpPr txBox="1"/>
          <p:nvPr/>
        </p:nvSpPr>
        <p:spPr>
          <a:xfrm>
            <a:off x="109728" y="5943600"/>
            <a:ext cx="92171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X5 Sans"/>
              </a:rPr>
              <a:t>0.12 / 0.79 — функция (shape-analyzer) · 2302 / 1180 — сервис (pipeline + autocannon) · одна пара форм 1 vs 8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t>Спасибо</a:t>
            </a:r>
          </a:p>
        </p:txBody>
      </p:sp>
      <p:sp>
        <p:nvSpPr>
          <p:cNvPr id="1343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3320643" y="1097280"/>
            <a:ext cx="5550407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4" name="TextBox 1343"/>
          <p:cNvSpPr txBox="1"/>
          <p:nvPr/>
        </p:nvSpPr>
        <p:spPr>
          <a:xfrm>
            <a:off x="3320643" y="1097280"/>
            <a:ext cx="5550407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ветка v8-talk-verify · PITFALLS.md</a:t>
            </a:r>
          </a:p>
        </p:txBody>
      </p:sp>
      <p:sp>
        <p:nvSpPr>
          <p:cNvPr id="1344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5" name="TextBox 1344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github.com/Yoshimuro/issues-memory-research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Александр Зайцев</a:t>
            </a:r>
          </a:p>
        </p:txBody>
      </p:sp>
      <p:sp>
        <p:nvSpPr>
          <p:cNvPr id="1346" name="Rounded Rectangle 1345"/>
          <p:cNvSpPr/>
          <p:nvPr/>
        </p:nvSpPr>
        <p:spPr>
          <a:xfrm>
            <a:off x="9464040" y="685800"/>
            <a:ext cx="2103120" cy="2103120"/>
          </a:xfrm>
          <a:prstGeom prst="roundRect">
            <a:avLst>
              <a:gd name="adj" fmla="val 65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47" name="Picture 1346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822960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Q&amp;A-резерв</a:t>
            </a:r>
          </a:p>
        </p:txBody>
      </p:sp>
      <p:sp>
        <p:nvSpPr>
          <p:cNvPr id="1345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429768" y="1280160"/>
            <a:ext cx="2724912" cy="2148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46" name="TextBox 1345"/>
          <p:cNvSpPr txBox="1"/>
          <p:nvPr/>
        </p:nvSpPr>
        <p:spPr>
          <a:xfrm>
            <a:off x="612647" y="1389888"/>
            <a:ext cx="2359152" cy="1929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compile hints</a:t>
            </a:r>
          </a:p>
        </p:txBody>
      </p:sp>
      <p:sp>
        <p:nvSpPr>
          <p:cNvPr id="1346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291839" y="1280160"/>
            <a:ext cx="2724912" cy="2148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47" name="TextBox 1346"/>
          <p:cNvSpPr txBox="1"/>
          <p:nvPr/>
        </p:nvSpPr>
        <p:spPr>
          <a:xfrm>
            <a:off x="3474720" y="1389888"/>
            <a:ext cx="2359152" cy="1929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Sparkplug не спекулирует</a:t>
            </a:r>
          </a:p>
        </p:txBody>
      </p:sp>
      <p:sp>
        <p:nvSpPr>
          <p:cNvPr id="1347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153912" y="1280160"/>
            <a:ext cx="2724912" cy="2148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48" name="TextBox 1347"/>
          <p:cNvSpPr txBox="1"/>
          <p:nvPr/>
        </p:nvSpPr>
        <p:spPr>
          <a:xfrm>
            <a:off x="6336792" y="1389888"/>
            <a:ext cx="2359152" cy="1929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сколько деоптов?</a:t>
            </a:r>
          </a:p>
        </p:txBody>
      </p:sp>
      <p:sp>
        <p:nvSpPr>
          <p:cNvPr id="1348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9015984" y="1280160"/>
            <a:ext cx="2724912" cy="2148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49" name="TextBox 1348"/>
          <p:cNvSpPr txBox="1"/>
          <p:nvPr/>
        </p:nvSpPr>
        <p:spPr>
          <a:xfrm>
            <a:off x="9198864" y="1389888"/>
            <a:ext cx="2359152" cy="1929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а на x64?</a:t>
            </a:r>
          </a:p>
        </p:txBody>
      </p:sp>
      <p:sp>
        <p:nvSpPr>
          <p:cNvPr id="1349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429768" y="3611879"/>
            <a:ext cx="2724912" cy="2148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50" name="TextBox 1349"/>
          <p:cNvSpPr txBox="1"/>
          <p:nvPr/>
        </p:nvSpPr>
        <p:spPr>
          <a:xfrm>
            <a:off x="612647" y="3721607"/>
            <a:ext cx="2359152" cy="1929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дырявые массивы</a:t>
            </a:r>
          </a:p>
        </p:txBody>
      </p:sp>
      <p:sp>
        <p:nvSpPr>
          <p:cNvPr id="1350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291839" y="3611879"/>
            <a:ext cx="2724912" cy="2148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51" name="TextBox 1350"/>
          <p:cNvSpPr txBox="1"/>
          <p:nvPr/>
        </p:nvSpPr>
        <p:spPr>
          <a:xfrm>
            <a:off x="3474720" y="3721607"/>
            <a:ext cx="2359152" cy="1929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84" b="0">
                <a:solidFill>
                  <a:srgbClr val="1E5B28"/>
                </a:solidFill>
                <a:latin typeface="Menlo"/>
              </a:rPr>
              <a:t>delete</a:t>
            </a:r>
          </a:p>
        </p:txBody>
      </p:sp>
      <p:sp>
        <p:nvSpPr>
          <p:cNvPr id="1351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153912" y="3611879"/>
            <a:ext cx="2724912" cy="2148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52" name="TextBox 1351"/>
          <p:cNvSpPr txBox="1"/>
          <p:nvPr/>
        </p:nvSpPr>
        <p:spPr>
          <a:xfrm>
            <a:off x="6336792" y="3721607"/>
            <a:ext cx="2359152" cy="1929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порядок полей</a:t>
            </a:r>
          </a:p>
        </p:txBody>
      </p:sp>
      <p:sp>
        <p:nvSpPr>
          <p:cNvPr id="1352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9015984" y="3611879"/>
            <a:ext cx="2724912" cy="214884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53" name="TextBox 1352"/>
          <p:cNvSpPr txBox="1"/>
          <p:nvPr/>
        </p:nvSpPr>
        <p:spPr>
          <a:xfrm>
            <a:off x="9198864" y="3721607"/>
            <a:ext cx="2359152" cy="1929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билдер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ase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G Cover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LG Cover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P Cover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LP Cover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B Cover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W Content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W Content Special 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Green Special 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Purple Special 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1.xml><?xml version="1.0" encoding="utf-8"?>
<a:theme xmlns:a="http://schemas.openxmlformats.org/drawingml/2006/main" name="Blue Special 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Green Ribbon Content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3.xml><?xml version="1.0" encoding="utf-8"?>
<a:theme xmlns:a="http://schemas.openxmlformats.org/drawingml/2006/main" name="MGreen Ribbon Content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4.xml><?xml version="1.0" encoding="utf-8"?>
<a:theme xmlns:a="http://schemas.openxmlformats.org/drawingml/2006/main" name="2_MGreen Ribbon Content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5.xml><?xml version="1.0" encoding="utf-8"?>
<a:theme xmlns:a="http://schemas.openxmlformats.org/drawingml/2006/main" name="1_MGreen Ribbon Content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6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1863</TotalTime>
  <Words>2032</Words>
  <Application>Microsoft Macintosh PowerPoint</Application>
  <PresentationFormat>Широкоэкранный</PresentationFormat>
  <Paragraphs>253</Paragraphs>
  <Slides>37</Slides>
  <Notes>37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15</vt:i4>
      </vt:variant>
      <vt:variant>
        <vt:lpstr>Заголовки слайдов</vt:lpstr>
      </vt:variant>
      <vt:variant>
        <vt:i4>37</vt:i4>
      </vt:variant>
    </vt:vector>
  </HeadingPairs>
  <TitlesOfParts>
    <vt:vector size="57" baseType="lpstr">
      <vt:lpstr>Calibri</vt:lpstr>
      <vt:lpstr>X5 Sans Light</vt:lpstr>
      <vt:lpstr>X5 Sans</vt:lpstr>
      <vt:lpstr>X5 Sans Medium</vt:lpstr>
      <vt:lpstr>Arial</vt:lpstr>
      <vt:lpstr>Base</vt:lpstr>
      <vt:lpstr>G Cover</vt:lpstr>
      <vt:lpstr>LG Cover</vt:lpstr>
      <vt:lpstr>P Cover</vt:lpstr>
      <vt:lpstr>LP Cover</vt:lpstr>
      <vt:lpstr>B Cover</vt:lpstr>
      <vt:lpstr>W Content</vt:lpstr>
      <vt:lpstr>W Content Special </vt:lpstr>
      <vt:lpstr>Green Special </vt:lpstr>
      <vt:lpstr>Purple Special </vt:lpstr>
      <vt:lpstr>Blue Special </vt:lpstr>
      <vt:lpstr>Green Ribbon Content</vt:lpstr>
      <vt:lpstr>MGreen Ribbon Content</vt:lpstr>
      <vt:lpstr>2_MGreen Ribbon Content</vt:lpstr>
      <vt:lpstr>1_MGreen Ribbon Content</vt:lpstr>
      <vt:lpstr>Миллион строчек нейрослопа</vt:lpstr>
      <vt:lpstr>Май 2026. Один пулреквест (#30412)</vt:lpstr>
      <vt:lpstr>Этот код написал ИИ</vt:lpstr>
      <vt:lpstr>«Целиком этот код никто не читал»</vt:lpstr>
      <vt:lpstr>Почему это важно</vt:lpstr>
      <vt:lpstr>Окей или не окей?</vt:lpstr>
      <vt:lpstr>Презентация PowerPoint</vt:lpstr>
      <vt:lpstr>Презентация PowerPoint</vt:lpstr>
      <vt:lpstr>Смена владельца</vt:lpstr>
      <vt:lpstr>Зачем вообще Rust</vt:lpstr>
      <vt:lpstr>Зачем вообще Rust</vt:lpstr>
      <vt:lpstr>Как вообще переводят рантайм</vt:lpstr>
      <vt:lpstr>Презентация PowerPoint</vt:lpstr>
      <vt:lpstr>Презентация PowerPoint</vt:lpstr>
      <vt:lpstr>Самое интересное: повторяли поведение Zig</vt:lpstr>
      <vt:lpstr>Скорость, невозможная для ручной команды</vt:lpstr>
      <vt:lpstr>Тесты: хорошая новость</vt:lpstr>
      <vt:lpstr>Тесты: плохая новость</vt:lpstr>
      <vt:lpstr>Unsafe-блоки</vt:lpstr>
      <vt:lpstr>Масштаб проблемы</vt:lpstr>
      <vt:lpstr>Реальные баги, а не «страшно в теории» </vt:lpstr>
      <vt:lpstr>Презентация PowerPoint</vt:lpstr>
      <vt:lpstr>…и система закрыла PR сама</vt:lpstr>
      <vt:lpstr>А теперь стоп.</vt:lpstr>
      <vt:lpstr>Презентация PowerPoint</vt:lpstr>
      <vt:lpstr>Презентация PowerPoint</vt:lpstr>
      <vt:lpstr>Презентация PowerPoint</vt:lpstr>
      <vt:lpstr>Презентация PowerPoint</vt:lpstr>
      <vt:lpstr>«Целиком этот код никто не читал»</vt:lpstr>
      <vt:lpstr>«Очень высокая вероятность, что весь этот код просто выбросят»</vt:lpstr>
      <vt:lpstr>Презентация PowerPoint</vt:lpstr>
      <vt:lpstr>Ось спора №1</vt:lpstr>
      <vt:lpstr>Ось спора №2</vt:lpstr>
      <vt:lpstr>Ось спора №3</vt:lpstr>
      <vt:lpstr>Ось спора №4</vt:lpstr>
      <vt:lpstr>Спорим.</vt:lpstr>
      <vt:lpstr>Источники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Mikhail Laptev</dc:creator>
  <cp:lastModifiedBy>Microsoft Office User</cp:lastModifiedBy>
  <cp:revision>97</cp:revision>
  <dcterms:created xsi:type="dcterms:W3CDTF">2025-05-13T22:37:01Z</dcterms:created>
  <dcterms:modified xsi:type="dcterms:W3CDTF">2026-06-30T17:52:19Z</dcterms:modified>
</cp:coreProperties>
</file>