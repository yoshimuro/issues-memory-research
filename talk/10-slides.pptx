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857" r:id="rId52"/>
    <p:sldId id="858" r:id="rId51"/>
    <p:sldId id="859" r:id="rId50"/>
    <p:sldId id="860" r:id="rId49"/>
    <p:sldId id="861" r:id="rId48"/>
    <p:sldId id="862" r:id="rId47"/>
    <p:sldId id="863" r:id="rId46"/>
    <p:sldId id="864" r:id="rId45"/>
    <p:sldId id="865" r:id="rId44"/>
    <p:sldId id="866" r:id="rId43"/>
    <p:sldId id="867" r:id="rId42"/>
    <p:sldId id="868" r:id="rId41"/>
    <p:sldId id="869" r:id="rId40"/>
    <p:sldId id="870" r:id="rId39"/>
    <p:sldId id="871" r:id="rId38"/>
    <p:sldId id="872" r:id="rId37"/>
    <p:sldId id="873" r:id="rId36"/>
    <p:sldId id="874" r:id="rId35"/>
    <p:sldId id="875" r:id="rId34"/>
    <p:sldId id="876" r:id="rId33"/>
    <p:sldId id="877" r:id="rId32"/>
    <p:sldId id="878" r:id="rId31"/>
    <p:sldId id="879" r:id="rId30"/>
    <p:sldId id="880" r:id="rId29"/>
    <p:sldId id="881" r:id="rId28"/>
    <p:sldId id="882" r:id="rId27"/>
    <p:sldId id="883" r:id="rId26"/>
    <p:sldId id="884" r:id="rId25"/>
    <p:sldId id="885" r:id="rId24"/>
    <p:sldId id="886" r:id="rId23"/>
    <p:sldId id="887" r:id="rId22"/>
    <p:sldId id="888" r:id="rId21"/>
    <p:sldId id="889" r:id="rId20"/>
    <p:sldId id="890" r:id="rId19"/>
    <p:sldId id="891" r:id="rId18"/>
    <p:sldId id="892" r:id="rId17"/>
    <p:sldId id="893" r:id="rId16"/>
    <p:sldId id="894" r:id="rId119"/>
    <p:sldId id="895" r:id="rId120"/>
    <p:sldId id="896" r:id="rId121"/>
    <p:sldId id="897" r:id="rId122"/>
    <p:sldId id="898" r:id="rId123"/>
    <p:sldId id="899" r:id="rId124"/>
    <p:sldId id="900" r:id="rId125"/>
    <p:sldId id="901" r:id="rId126"/>
    <p:sldId id="902" r:id="rId127"/>
    <p:sldId id="903" r:id="rId128"/>
    <p:sldId id="904" r:id="rId129"/>
    <p:sldId id="905" r:id="rId130"/>
    <p:sldId id="906" r:id="rId131"/>
    <p:sldId id="907" r:id="rId132"/>
    <p:sldId id="908" r:id="rId133"/>
    <p:sldId id="909" r:id="rId134"/>
    <p:sldId id="910" r:id="rId135"/>
    <p:sldId id="911" r:id="rId136"/>
    <p:sldId id="912" r:id="rId137"/>
    <p:sldId id="913" r:id="rId13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" Target="slides/slide94.xml"/><Relationship Id="rId17" Type="http://schemas.openxmlformats.org/officeDocument/2006/relationships/slide" Target="slides/slide93.xml"/><Relationship Id="rId18" Type="http://schemas.openxmlformats.org/officeDocument/2006/relationships/slide" Target="slides/slide92.xml"/><Relationship Id="rId19" Type="http://schemas.openxmlformats.org/officeDocument/2006/relationships/slide" Target="slides/slide91.xml"/><Relationship Id="rId20" Type="http://schemas.openxmlformats.org/officeDocument/2006/relationships/slide" Target="slides/slide90.xml"/><Relationship Id="rId21" Type="http://schemas.openxmlformats.org/officeDocument/2006/relationships/slide" Target="slides/slide89.xml"/><Relationship Id="rId22" Type="http://schemas.openxmlformats.org/officeDocument/2006/relationships/slide" Target="slides/slide88.xml"/><Relationship Id="rId23" Type="http://schemas.openxmlformats.org/officeDocument/2006/relationships/slide" Target="slides/slide87.xml"/><Relationship Id="rId24" Type="http://schemas.openxmlformats.org/officeDocument/2006/relationships/slide" Target="slides/slide86.xml"/><Relationship Id="rId25" Type="http://schemas.openxmlformats.org/officeDocument/2006/relationships/slide" Target="slides/slide85.xml"/><Relationship Id="rId26" Type="http://schemas.openxmlformats.org/officeDocument/2006/relationships/slide" Target="slides/slide84.xml"/><Relationship Id="rId27" Type="http://schemas.openxmlformats.org/officeDocument/2006/relationships/slide" Target="slides/slide83.xml"/><Relationship Id="rId28" Type="http://schemas.openxmlformats.org/officeDocument/2006/relationships/slide" Target="slides/slide82.xml"/><Relationship Id="rId29" Type="http://schemas.openxmlformats.org/officeDocument/2006/relationships/slide" Target="slides/slide81.xml"/><Relationship Id="rId30" Type="http://schemas.openxmlformats.org/officeDocument/2006/relationships/slide" Target="slides/slide80.xml"/><Relationship Id="rId31" Type="http://schemas.openxmlformats.org/officeDocument/2006/relationships/slide" Target="slides/slide79.xml"/><Relationship Id="rId32" Type="http://schemas.openxmlformats.org/officeDocument/2006/relationships/slide" Target="slides/slide78.xml"/><Relationship Id="rId33" Type="http://schemas.openxmlformats.org/officeDocument/2006/relationships/slide" Target="slides/slide77.xml"/><Relationship Id="rId34" Type="http://schemas.openxmlformats.org/officeDocument/2006/relationships/slide" Target="slides/slide76.xml"/><Relationship Id="rId35" Type="http://schemas.openxmlformats.org/officeDocument/2006/relationships/slide" Target="slides/slide75.xml"/><Relationship Id="rId36" Type="http://schemas.openxmlformats.org/officeDocument/2006/relationships/slide" Target="slides/slide74.xml"/><Relationship Id="rId37" Type="http://schemas.openxmlformats.org/officeDocument/2006/relationships/slide" Target="slides/slide73.xml"/><Relationship Id="rId38" Type="http://schemas.openxmlformats.org/officeDocument/2006/relationships/slide" Target="slides/slide72.xml"/><Relationship Id="rId39" Type="http://schemas.openxmlformats.org/officeDocument/2006/relationships/slide" Target="slides/slide71.xml"/><Relationship Id="rId40" Type="http://schemas.openxmlformats.org/officeDocument/2006/relationships/slide" Target="slides/slide70.xml"/><Relationship Id="rId41" Type="http://schemas.openxmlformats.org/officeDocument/2006/relationships/slide" Target="slides/slide69.xml"/><Relationship Id="rId42" Type="http://schemas.openxmlformats.org/officeDocument/2006/relationships/slide" Target="slides/slide68.xml"/><Relationship Id="rId43" Type="http://schemas.openxmlformats.org/officeDocument/2006/relationships/slide" Target="slides/slide67.xml"/><Relationship Id="rId44" Type="http://schemas.openxmlformats.org/officeDocument/2006/relationships/slide" Target="slides/slide66.xml"/><Relationship Id="rId45" Type="http://schemas.openxmlformats.org/officeDocument/2006/relationships/slide" Target="slides/slide65.xml"/><Relationship Id="rId46" Type="http://schemas.openxmlformats.org/officeDocument/2006/relationships/slide" Target="slides/slide64.xml"/><Relationship Id="rId47" Type="http://schemas.openxmlformats.org/officeDocument/2006/relationships/slide" Target="slides/slide63.xml"/><Relationship Id="rId48" Type="http://schemas.openxmlformats.org/officeDocument/2006/relationships/slide" Target="slides/slide62.xml"/><Relationship Id="rId49" Type="http://schemas.openxmlformats.org/officeDocument/2006/relationships/slide" Target="slides/slide61.xml"/><Relationship Id="rId50" Type="http://schemas.openxmlformats.org/officeDocument/2006/relationships/slide" Target="slides/slide60.xml"/><Relationship Id="rId51" Type="http://schemas.openxmlformats.org/officeDocument/2006/relationships/slide" Target="slides/slide59.xml"/><Relationship Id="rId52" Type="http://schemas.openxmlformats.org/officeDocument/2006/relationships/slide" Target="slides/slide58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119" Type="http://schemas.openxmlformats.org/officeDocument/2006/relationships/slide" Target="slides/slide95.xml"/><Relationship Id="rId120" Type="http://schemas.openxmlformats.org/officeDocument/2006/relationships/slide" Target="slides/slide96.xml"/><Relationship Id="rId121" Type="http://schemas.openxmlformats.org/officeDocument/2006/relationships/slide" Target="slides/slide97.xml"/><Relationship Id="rId122" Type="http://schemas.openxmlformats.org/officeDocument/2006/relationships/slide" Target="slides/slide98.xml"/><Relationship Id="rId123" Type="http://schemas.openxmlformats.org/officeDocument/2006/relationships/slide" Target="slides/slide99.xml"/><Relationship Id="rId124" Type="http://schemas.openxmlformats.org/officeDocument/2006/relationships/slide" Target="slides/slide100.xml"/><Relationship Id="rId125" Type="http://schemas.openxmlformats.org/officeDocument/2006/relationships/slide" Target="slides/slide101.xml"/><Relationship Id="rId126" Type="http://schemas.openxmlformats.org/officeDocument/2006/relationships/slide" Target="slides/slide102.xml"/><Relationship Id="rId127" Type="http://schemas.openxmlformats.org/officeDocument/2006/relationships/slide" Target="slides/slide103.xml"/><Relationship Id="rId128" Type="http://schemas.openxmlformats.org/officeDocument/2006/relationships/slide" Target="slides/slide104.xml"/><Relationship Id="rId129" Type="http://schemas.openxmlformats.org/officeDocument/2006/relationships/slide" Target="slides/slide105.xml"/><Relationship Id="rId130" Type="http://schemas.openxmlformats.org/officeDocument/2006/relationships/slide" Target="slides/slide106.xml"/><Relationship Id="rId131" Type="http://schemas.openxmlformats.org/officeDocument/2006/relationships/slide" Target="slides/slide107.xml"/><Relationship Id="rId132" Type="http://schemas.openxmlformats.org/officeDocument/2006/relationships/slide" Target="slides/slide108.xml"/><Relationship Id="rId133" Type="http://schemas.openxmlformats.org/officeDocument/2006/relationships/slide" Target="slides/slide109.xml"/><Relationship Id="rId134" Type="http://schemas.openxmlformats.org/officeDocument/2006/relationships/slide" Target="slides/slide110.xml"/><Relationship Id="rId135" Type="http://schemas.openxmlformats.org/officeDocument/2006/relationships/slide" Target="slides/slide111.xml"/><Relationship Id="rId136" Type="http://schemas.openxmlformats.org/officeDocument/2006/relationships/slide" Target="slides/slide112.xml"/><Relationship Id="rId137" Type="http://schemas.openxmlformats.org/officeDocument/2006/relationships/slide" Target="slides/slide113.xml"/><Relationship Id="rId138" Type="http://schemas.openxmlformats.org/officeDocument/2006/relationships/slide" Target="slides/slide1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6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В этом тексте есть стилевая норма: «не клади в объект ключ, если значения нет». Причины понятные: чистый JSON, нет мусорных null, меньше байт в ответе. Норма говорит только про ключ — как это записать, она не говорит. Условный спред и if после литерала — две записи одной нормы; агент все тридцать раз выбрал if. И это без единого примера кода в промпте — там только словесное описание полей. Как часто эта норма встречается в самом корпусе, я не мерил: корпус закрыт, я вижу только выход, а выход — тридцать из тридцати. Рядом со стилевыми нормами в том же корпусе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 · 5 мин.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Медленная половина пары на сервере, 1180 запросов в секунду, — это guard-llm: первая генерация из ветки без правил, файл candidate_1, без единой правки. Напарника с 2302 назову, когда дойдём до правил. Контроль формулировки: вторая ветка получила тикет другими словами — «поля могут отсутствовать». Те же пятнадцать из пятнадцати MEGA: поменялась обработка значений, а решение «класть ли ключ» — нет. Оговорка: один вендор, одна модель, пятнадцать на ветку — на «все LLM» не обобщаю. В шапке появился автор B — агент без правил; автор A — пока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две записи, одна судьба. Я ожидал увидеть спред, как в B с первого слайда. Спреда — ноль из тридцати. Object.assign — ноль из тридцати. Все тридцать устроены одинаково: литерал из пяти обязательных полей, а после него три if — например,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слайда: три строки против трёх. Буквы другие. Судьба та же: те же три поля по условию, два в кубе — восемь форм, потому что каждое дописывание ключа переводит объект в новую форму. Форме неважно, спредом добавлен ключ или присваиванием: её определяет, какие ключи и в каком порядке легли в объект. И B с первого слайда со своими 0.79 попадает точно внутрь разброса генераций — между 0.76 и 0.83. Агент пишет тот же класс из восьми форм другими буквами. Та генерация с экрана — такая же: восемь форм, MEGA, литерал плюс три 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прохода чтения — 0.80 миллисекунды, и разброс узкий: от 0.76 до 0.83.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 из конца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Обычные тесты и чеклисты ревью на число форм не смотрят — в диффе его не видно. Поэтому ответ на «почему ревью пропустило» простой: ревью смотрело на значения, а цена сидит в наборе ключей. Как не написать это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возвращаемся назад — к тому, что было до первого вызова: откуда вообще взялся текст функции. В шапке справа с первой минуты пустует строка «автор». Эксперимент первый. Я взял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прошлых ответов модель не видит. Один ответ агента на тикет я дальше называю генерацией. Четыре ветки по пятнадцать — шестьдесят генераций. Мерю тем же shape-analyzer. До прогона я проверил его на A и B: 0.12 и 0.79 — те же числа, что в начале доклада. Прибор различает то, что должен. На экране — как это запускалось: скрипт отдаёт тикет агенту, вынимает код из ответа и прогоняет через прибор; внизу — вердикт прибора по первой генерации. А мы посмотрим сразу на тридцать. Сейчас — половина результата, ветки без правил; вторая половина —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 · 6 мин.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вопросы «как вы это мерили» и «чем это отличается от прода». Сверху — как устроен замер. Одна среда: Docker, образ Node 24 на alpine с запиннутым тегом, как в проде, лимит два процессора; запускал на маке, то есть на arm64. Каждый прогон — отдельный процесс, чтобы записи мест чтения не перетекали между вариантами. Прогрев триста итераций, замер тысяча, пять повторов, беру медианы. И контрольная сумма результата: она совпала у всех вариантов во всех ста пятидесяти прогонах — сравниваю эквивалентный код. Снизу — где легко соврать; на все четыре грабли я наступил сам. Первое: гонять кейсы подряд в одном процессе — именно так совет «try/catch дорогой» получает свои «в три раза»; в отдельных процессах разницы нет.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— первая серия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 тем же образом и тем же скриптом. Направление везде то же, а множители другие: у прибора на x64 ниже, у микробенча мест чтения — выше. И главное: микробенч — не прод. Поэтому после прибора идёт конвейер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Теперь 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Такой ячейки в сетке нет, это оценка по стадиям: если выкинуть из замера стадию чтения, разница между версиями сжимается до шести–десяти процентов, когда ключи дописаны через if, и до тринадцати–восемнадцати, когда через спред. Восемь форм чуть дороже сериализуются, а спред ещё и дороже собирается. Второе: сервис, который ждёт базу десятки миллисекунд. Доля миллисекунды процессора на батч теряется на фоне этого ожидания — пока процессор не загружен под завязку. Это тоже оценка, не замер. Возражение «всё равно упрётся в базу» в этом профиле принимаю. Третье: маленькие батчи при одном проходе. Числа микроскопические — 0.17 против 0.22 миллисекунды на пятьсот записей; заметно только на масштабе, который и показал HTTP-стенд.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тридцати процентов до трёх с лишним раз; если только складывает — проценты, а не разы.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node:http. Нагрузку даёт autocannon: 50 соединений, 20 секунд, батч тысяча, пять проходов чтения. A — 2302 запроса в секунду. B — 1180. Почти вдвое: ×1.95. Медиана задержки — 21 миллисекунда против 41. Теперь хвост: задержка, хуже которой только один запрос из ста, — её называют p99. 42 против 82, плюс 95 процентов. Уезжает не только середина, но и хвост. Это сходится с матрицей: при пяти проходах на конвейере было почти ×2 — и под нагрузкой почти ×2. Оговорка про стенд: autocannon работал в том же контейнере и делил с сервером тот же лимит процессора, поэтому абсолютные числа занижены, а сравнение честное. И заметьте: A отдаёт в каждом ответе больше байт — null-поля в JSON — и всё равно держит почти вдвое больше запросов. На карте мы дошли до шестого шага — сервер. В шапке справа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Итог шага 6 `docker/verify.sh` (autocannon в том же контейнере, --cpus 2); на слайде — строки HTTP из NUMBERS-alpine-node24-arm64.md.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побольше: внутри сборка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 такой: распарсить батч, нормализовать нашей функцией, обработать, сериализовать ответ. Обработка — это R проходов чтения по объектам: статистика, фильтр, обогащение. R — ручка, которую я кручу. Каждый прогон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прогонах: все варианты считают одно и то же.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вдвое. Двадцать — в 3.1–3.3 раза. Размер батча ни при чём: пятьсот записей и пять тысяч дают одни и те же проценты. Ручка одна — число чтений. И парсинг перестаёт прятать разницу: у A при одном проходе он занимает две трети запроса, у B при двадцати — десять процентов. Два дополнения. Первое — усилитель: обогащение сделано спредом, {...u, score}. У нового объекта своя форма, но разнообразие он наследует: восемь форм на входе — восемь на выходе. За них платят и сборка, и чтение, и сортировка. Отдельного числа нет, это механизм. Второе — ответ клиенту: сортировка и JSON.stringify у B в 1.3–1.6 раза медленнее, хотя B пишет меньше байт — в нём нет null-полей. Данных меньше — а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 · 6 мин.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объекта пройден: восемь форм → чтение через словарь → общий путь на любом ярусе.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поставил на одну форму, а пришла другая — у B их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Что дальше. В моём прогоне откат у читателя один. После него записи знают уже несколько форм, функцию компилируют заново — и на этот раз без ставки на одну форму: чтение идёт общим путём, через словарь. А если читатель с первых вызовов видит все восемь форм — как в приборе с первого слайда, — ставки нет с самого начала, и откатов тоже нет: в приборе у читателя B ни одного wrong map, он оптимизирован TurboFan — и всё равно в шесть с лишним раз медленнее. Компилятор честно делает лучшее, что можно сделать с восемью формами: на месте чтения вшивать нечего. С этого момента B работает стабильно — на общем пути, на каждом чтении. Поэтому честная подпись: медленный B — это установившийся общий путь, а не деопты. Деопт — событие: он случается и заканчивается, петли здесь нет. Общий счётчик деоптов по процессу я как метрику не беру: он засорён фоном самого замера. Цена, которую мы мерили, — 0.79 против 0.12 — это цена общего пути;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Ставка ломается — и это та самая строка с первого слайда; теперь мы можем её прочитать. Сначала A. Читатель объектов A доходит до оптимизирующего яруса, в записях одна форма, компилятор её вшивает: одна проверка, одно чтение. Ставка играет на каждом вызове. Теперь B. В этом прогоне читатель B сначала получает только полные записи, где все поля на месте: форма одна, и компилятор вшивает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Движок выбрасывает оптимизированный код и возвращает функцию в интерпретатор — это деоптимизация, деопт. Записи мест чтения дополняются новой формой, и через какое-то время функцию компилируют заново. Строка на экране — с читателя объектов B; у читателя объектов A её нет ни в одном из пяти прогонов. Я фильтрую по имени читателя: в самой normalizeUser такая строка бывает у обеих версий — там меняется форма входной записи, это другая история.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 · 4 мин.</a:t>
            </a:r>
          </a:p>
          <a:p/>
          <a:p>
            <a: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вот здесь». Проверка формы — одно сравнение, чтение — одна инструкция. Это и есть ставка: компилятор ставит на те формы, которые видел. Видел одну — одно сравнение; две–четыре — короткий список; больше — ставить не на что. 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1.5 мин]</a:t>
            </a:r>
          </a:p>
          <a:p/>
          <a:p>
            <a:r>
              <a:t>Что даёт каждая ступень. Я взял один и тот же код и флагом --max-opt запирал весь процесс на одном ярусе. Интерпретатор — 505 миллисекунд, Sparkplug — 775, Maglev — 70, TurboFan — 38: в тринадцать с половиной раз быстрее интерпретатора. Честная оговорка: на этой машине, arm64, Sparkplug вышел медленнее интерпретатора; на x64 в CI он, как и положено, быстрее на четверть — объяснения у меня нет. Отсюда вопрос: почему не отдать всё TurboFan сразу? Две причины. Первая — цена. Скомпилировать функцию в TurboFan в разы дороже, чем в Maglev. А почти весь код исполняется считаные разы: при старте npm из сотен функций до TurboFan дошла одна. Я включил флаг --always-turbofan — «оптимизируй при первой возможности». На Node 24 он только просит, TurboFan-код получили считаные функции, — а старт всё равно вдвое дольше. Вторая причина важнее: TurboFan быстрый, потому что подгоняет код под то, что видел, а на первом вызове он не видел ничего. На Node 20 этот флаг правда компилирует всё на первом вызове — и горячий код выходит медленнее обычного и таким остаётся. Лестница — это не медлительность, это сбор наблюдений. И это один код на разных ярусах, не A против B: лестница у A и B одна.</a:t>
            </a:r>
          </a:p>
          <a:p/>
          <a:p>
            <a:r>
              <a:t>— — —</a:t>
            </a:r>
          </a:p>
          <a:p>
            <a:r>
              <a:t>ДЕМО: Лестница — `docker/tier-bench.js`; цена компиляции и старт npm — `docker/why-not-turbofan.sh` (его числа ещё не внесены в NUMBERS — на сцене без чисел).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 мин]</a:t>
            </a:r>
          </a:p>
          <a:p/>
          <a:p>
            <a:r>
              <a:t>Одну и ту же функцию V8 исполняет четырьмя способами по очереди: чем чаще её вызывают, тем дороже способ и тем быстрее код. Каждый такой способ — ярус, по-английски tier. На оси — сколько раз вызвали функцию, Node 24. Первый вызов — интерпретатор Ignition: функция переведена в байткод, вот три его строки. Примерно с восьмого вызова движок заводит ей записи мест чтения. Дальше Sparkplug: байткод в машинный код за один проход, без оптимизаций. Потом Maglev, первый оптимизирующий, и TurboFan, самый сильный. Sparkplug — почти сразу, Maglev — примерно к тысячному вызову, TurboFan — к тринадцатитысячному; с циклом внутри — раньше. Функция при этом не ждёт: следующий компилятор работает в фоне, а она исполняется на своей ступени, пока новый код не готов. Поэтому функция, которую сервис зовёт на каждый запрос, наверху уже в первые миллисекунды работы.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0.75 мин]</a:t>
            </a:r>
          </a:p>
          <a:p/>
          <a:p>
            <a:r>
              <a:t>Нет, компилятор не спасает. Числа из прибора — 0.12 и 0.79 — сняты в горячем цикле: читатель к этому моменту давно скомпилирован, у обеих версий, я это проверил. Скомпилированный код B платит тот же налог: восемь форм на входе никуда не делись, общий путь через словарь тоже. Но у компилятора есть кое-что своё — и именно там живёт улика из хука. Чтобы её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 · 4 мин.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У B восемь форм, и каждое чтение идёт через общий словарь. Серыми остались компилятор, сервер и автор.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журнал: как меняется память каждого места чтения. Старый --trace-ic из V8 убрали ещё в 2021 году — если нагуглите его в старой статье, Node ответит «bad option». На экране заранее снятый журнал, и в нём оставлено одно место — чтение u.plan в читателе. У B состояние меняется на глазах: сначала 1 — мономорфное, на второй форме P — полиморфное, на пятой форме N — мегаморфное. У A у того же места одна строка: 1, и больше ничего. Обратите внимание, когда это происходит: после первых нескольких вызовов читателя, задолго до того, как код станет горячим. Читатель B становится MEGA, как только увидел пятую форму, — и дальше так и остаётся. На карте это третий шаг — место чтения: у A MONO, у B MEGA.</a:t>
            </a:r>
          </a:p>
          <a:p/>
          <a:p>
            <a:r>
              <a:t>— — —</a:t>
            </a:r>
          </a:p>
          <a:p>
            <a:r>
              <a:t>ДЕМО: Скрин R4, не live (кадр `frames/r4.txt` снят на Node 24.21.0; последовательность состояний та же, что в Docker-прогоне, CHECKS.md): `--log-ic` без `--no-logfile-per-isolate` пишет файл с адресом изолята в имени. Фильтр по строке 30 обязателен: normalizeUser читает raw.plan и у A тоже уходит в N (сырые входы разной формы). Старый `--trace-ic` удалён из V8 9.3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поле, — вот эта точка u.plan в функции-читателе — движок держит маленькую память: с какими формами это место уже работало. Память привязана к месту в коде, не к объекту. По-английски inline cache. Видело место одну форму — состояние мономорфное, MONO: движок знает, где у этой формы лежит plan, — одна проверка и одно чтение. Это быстрый путь. Две, три, четыре формы — полиморфное, POLY: короткий список, сравнили и взяли. Это ещё дёшево: четыре формы дороже одной примерно на тридцать процентов. Приходит пятая — список выбрасывается, и место становится мегаморфным, MEGA: адрес поля теперь ищется в общем словаре движка по паре «форма плюс имя поля». Словарь один на всю программу; сами объекты B обычные — просто восемь разных форм. Это общий путь. Слева читатель объектов A: одна форма, MONO. Справа читатель объектов B: восемь форм, MEGA. Текст читателя тот же, разница только в том, что в него приходит. Отдельный маленький замер, где из объектов восьми форм читается одно поле: MEGA против MONO — ×2.7 на Node 24, ×3.4 на Node 22. В приборе читатель берёт пять полей на объект, и там разница больше — шесть с лишним.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Сами формы — нет. И это первое место, где ожидание не сходится с замером. Я взял прибор побольше — покажу его целиком через несколько узлов — и разложил время запроса по стадиям. Стадия сборки —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0.93 до 1.02 от одноформной: столько же, в пределах шума. Значит, восемь форм сами по себе сборку не удорожают. Если через условный спред, как B с первого слайда, — сборка дороже примерно в 1.6 раза. Но форм там столько же, восемь, — это цена самого спреда. А на стадии чтения, где поля этих объектов читают, оба варианта B дороже одинаково — в пять с лишним раз. Сборка у объекта одна, а чтений много. Отсюда практический вывод. Объект собирают в одном месте, а читают, скажем, в тридцати. В профайлере цена B размазана по этим тридцати местам чтения, а причина — одно место сборки.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 · 5 мин.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шаг, форма объекта: у A одна, у B восемь. С этого шага строки A и B больше не совпадут ни разу. Развилка из трёх строк случается в момент сборки объекта. Отсюда вопрос: может, это и есть цена —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--allow-natives-syntax: он открывает служебные функции движка, те, что начинаются с процента. В рабочем коде их не пишут — они только для таких проверок. Одна из них — %HaveSameMap: даёшь ей два объекта, она отвечает, одной ли они формы. Собираю два объекта через A: один вход с teamId, другой без — true, форма одна. Те же два входа через B — false, формы разные. Дальше скрипт перебирает все восемь сочетаний трёх хвостовых полей и считает, сколько разных форм набралось у B: восемь. У A, сколько входов ни перебирай, форма одна — прибор из начала доклада проверил это на тысяче разных входов.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наших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 · 4 мин.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случаев, когда движок отказывается от уже скомпилированного кода. Сначала читатель получает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мы прочтём целиком примерно через четверть часа. Внизу — карта доклада: двенадцать шагов, под каждым будет строка A и строка B. Сейчас горит первый шаг — две функции и два числа. Маршрут такой: сначала вправо, вслед за вызовами функции, до числа на сервере; потом назад — к тому, кто написал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собирает этой функцией пятьдесят тысяч объектов, а потом в горячем цикле читает их поля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символ в символ. Дифф — три строки внизу. Обе функции корректны: я прогнал их через один набор входов, прочитал поля всех результатов и сравнил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одной. Node 22 — ×3.4, Node 24 — ×2.7. На Node 20 замер у меня двоится — то ×3.6, то ×14, — поэтому одно число не называю. Это другой бенч, проще прибора: с объекта читается одно поле, а не пять, — поэтому и кратность своя, не ×6.6. Но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режим. Форма у объекта остаётся, но больше не говорит, где лежит какое поле: каждое чтение ищет поле по имени, в хеш-таблице. По-английски dictionary mode. Не путайте с общим словарём из третьего узла: там словарь у движка, а здесь — у самого объекта. Чтение дорожает в десять раз на Node 20 и почти в тридцать на Node 22 и 24. Кратность плывёт, но везде двузначная.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 оба варианта гоняются друг за другом в одном процессе, через один общий цикл замера. Выходит ×2.8–3.0: совет подтверждается, статья готова. В отдельных процессах — 14 миллисекунд против 14. Разницы нет. Кратность сделал сам бенч: общий цикл сначала оптимизировался под первую функцию — со ставкой, что вызывают именно её. Пришла вторая — ставка сломалась, и второй замер мерил последствия сломанной ставки, а не try/catch. Совет жив в корпусе и мёртв в движке, и никто в корпусе его не помечает. Сколько ещё таких — не знаю; из того, что я проверил, этот оказался артефактом. Теперь стык двух половин: матрица возвращается к объектам. Норма «условный ключ» нарушает живое правило про формы — ту строку, что только что была крупно. А агент живое от мёртвого не отличает: у него нет матрицы, у него есть частота. Он пишет то, что встречается чаще; проверки на движке в этом выборе нет.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вопросы. На карте это восьмой шаг — корпус: живое и мёртвое лежат рядом.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назад, к автору текста, мы дошли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 · 7 мин.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страница, семь пунктов; по смыслу это четыре правила. И сразу честно: в первом пункте есть пример кода — запрещённая запись с условным спредом и правильная, с null. Первое правило: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Вторую половину, «в одном порядке», я считал педантизмом. Она тоже стоит денег, и у неё своё число. Две реализации, обе кладут все восемь полей, но в разном порядке — как будто два модуля писали два агента без общего стиля, — и объекты идут в один поток.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а вместе — на пятую часть дольше. Второе: после создания поля не добавляются и не удаляются. Удаление — словарный режим, от десяти до почти тридцати раз, вы это только что видели; добавление — те самые три if из главы про агента. Третье: массивы однородные — один тип элементов, без дырок. Четвёртое: аргументы, возвраты и поля держат стабильные типы. Цену первых двух вы видели. Третье тоже живое, но дешёвое — дырявый массив читается примерно на десять процентов медленнее, это в матрице. Четвёртое — та же ставка, только на типах значений; его я отдельно не мерил. Больше в файле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0.80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одна страница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Снова одна идиома тридцать раз из тридцати — но уже другая: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есть всегда, отсутствующее — null. Это файл out/p1-rules/candidate_1.js. Ставлю рядом A из первой минуты: три строки против трёх. Буквы другие — там два вопросительных знака, здесь тернарный оператор. По форме это A: один набор ключей, один порядок, одна форма. Саму функцию A агент не видел. Тернарный оператор с null он взял из примера в первом правиле — и так во всех тридцати, в обеих формулировках тикета. Живая генерация тем временем вернулась: одна форма, MONO. Если бы не успела — на слайде запись.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запроса в секунду, — первая генерация из ветки с правилами, файл candidate_1, как есть. Медленная, 1180, — первая генерация без правил. Один агент, один тикет, разница — файл в контексте. Это прямой замер сервера на этих двух файлах, а не ×6.7 прибора, пересчитанные в запросы. И чтобы числа не путались: на HTTP мерились эти генерации, а не пара с первого слайда; формы у них те же — одна против восьми. Теперь оговорка, без неё нечестно. Правила я вставлял прямо в промпт, перед тикетом, с пометкой «обязательны к применению»: прямой запрет условного ключа и пример с null. Это сильный сигнал. Мягкие формулировки — «пиши с учётом производительности V8» — я не проверял и тридцать из тридцати на них не обещаю. Носитель правил — файл, который агент читает в каждой сессии: CLAUDE.md у Claude Code, rules у Cursor, AGENTS.md у Codex. Через такой файл я эксперимент не повторял — он кладёт правила в тот же контекст, но это уже не замер. Четыре правила туда помещаются — это меньше, чем правила про отступы, которые там уже лежат. В шапке справа закрылся последний знак вопроса: автор A — тот же агент с правилами, тридцать из тридцати. Файл работает сегодня, на Node 24 и V8 13.6. Но в описании доклада сказано, что Turbolev идёт на смену TurboFan,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 · 3 мин.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Пора назвать льва из названия доклада. Вспомните лестницу из четвёртого узла: верхняя ступень — TurboFan. Её и меняют — на сборку из двух готовых частей; это и есть Turbolev. Спереди — Maglev, третья ступень той же лестницы: читает те же записи мест чтения и строит граф функции так же, как сегодня. Сзади — Turboshaft, бэкенд, который из графа делает машинный код; TurboFan пользуется им уже с конца 2023 года. Новое — только стык: граф Maglev идёт в Turboshaft напрямую, мимо старого графа TurboFan. Статус — по исходникам. Флаг --turbolev есть уже в V8 13.6, в Node 24, и описан так: Maglev плюс Turboshaft как четвёртый ярус вместо TurboFan. Замена ступени, а не пятая. По умолчанию выключен — и в 13.6, и в основной ветке V8 на сентябрь.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Теперь числа. Флаг есть в Node 24, я включил его на той же паре и том же приборе. A — 0.14 миллисекунды, B — 0.95: в шесть и восемь десятых раза. Без флага было 0.12 и 0.79 — шесть и шесть. Под флагом оба чуть медленнее, а разница между A и B та же, в пределах шума. Блог V8 объясняет замену другим: компилятор проще и быстрее компилирует. Компиляция идёт в фоновом потоке, пока функция работает ступенью ниже, — чем быстрее компилятор, тем раньше подменится код. Задняя половина свой выигрыш уже дала: с Chrome 120 Turboshaft компилирует примерно вдвое быстрее — это уже в TurboFan, без флага. О скорости самого кода блог не пишет, и я не буду.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всей лестницы.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Ignition и TurboFan — 2017. Sparkplug — 2021. Maglev — 2023. Turboshaft — 2023. Turbolev — за флагом. Каждая ступень за это время сменилась или появилась. А формы и записи мест чтения — с 2008 года, с первого релиза V8: оптимизирующего компилятора тогда не было вовсе. Файл правил описывает то, на что ставил каждый компилятор. Развилка на карте не двигается. Если движок никогда не менял ставку, а агент пишет и A, и B,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 · 3 мин.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На ней две развилки, и обе сходятся в одном месте — в файле с функцией. Первая — на шагах со второго по шестой: форма при сборке объекта. Одна форма — быстрый путь на любом ярусе и в любой версии; восемь — общий путь. Вторая — на шагах с седьмого по девятый: файл правил в контексте агента. Есть файл — A, нет файла — B. Человеку в этой цепочке остаются два места. До агента — положить файл. После агента — на ревью посмотреть на одно: все ли ключи объекта всегда на месте. Одного шага на карте нет — билдера. Между автором и движком стоит tsc или esbuild, и что они делают с формами, когда переписывают спред в свой хелпер, я не мерил.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трёх строках. Первая измерена: ноль некорректных из шестидесяти генераций — с валидацией, дефолтами, типами. Агент пишет рабочий код. Вторая тоже измерена: без файла — тридцать из тридцати по идиоме корпуса, восемь форм; живое правило от мёртвого агент сам не отличает. Третья — вывод: перф-сознательность — знать, какое правило живое, и положить его агенту до генерации — остаётся работой человека. Она сместилась: раньше человек писал функцию, теперь он пишет файл перед агентом и смотрит на набор ключей после. Там, где человек положил файл,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как проверить у себя — меня об этом спрашивали. Прибор лежит в репо: shape-analyzer. Под флагом --allow-natives-syntax он через %HaveSameMap считает, сколько форм выдаёт функция; это пример на normalizeUser — подставьте свою функцию и свои входные данные. Флаг --log-ic пишет журнал мест чтения: единица — MONO, N — MEGA. А все числа доклада пересчитываются одной командой в Docker, docker/run.sh, минут за двадцать пять, каждый кейс в отдельном процессе. Темы для вопросов — мелко внизу слайда.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 · 2 мин.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прибор: 0.12 и 0.79. Только теперь карта под ними заполнена, подсказок нет, и читать её будете вы — я только показываю. Верхняя строка, A. Одна форма при сборке — место чтения MONO — ставка сыграла, быстрый путь вшит — 2302 запроса в секунду — автор: агент с файлом правил. Нижняя строка, B. Восемь форм — место чтения MEGA — ставка на одну форму не играет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 под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в диффе за пять секунд: ?? null против условного спреда.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собран без Maglev, --trace-ic давно удалён, каждый кейс — в отдельном процессе. Хотите повторить — начинайте с shape-analyzer: одна команда из папки v8-experiment на Node 24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почему не сразу TurboFan?: Две причины. Цена: компиляция в TurboFan в разы дороже, чем в Maglev (идёт в фоновом потоке, функция тем временем работает), а почти весь код исполняется считаные разы: при старте npm из сотен функций до TurboFan дошла одна. Флаг --always-turbofan («оптимизируй при первой возможности») на Node 24 — старт вдвое дольше, хотя TurboFan-код получают считаные функции: флаг только просит, а пока функцию не вызвали дважды, движок такую просьбу сбрасывает. На Node 20 этот флаг правда компилирует всё на первом вызове — и горячий код выходит медленнее обычного и таким остаётся: вшивать нечего. И главное: TurboFan быстрый, потому что ставит на увиденное, а на первом вызове он ничего не видел. В V8 14 и новее флага --always-turbofan уже нет.</a:t>
            </a:r>
          </a:p>
          <a:p/>
          <a:p>
            <a:r>
              <a:t>2. почему V8 не греет на старте?: Нечем: компилятор ставит на то, какие формы прошли через каждое место чтения, а их не узнать без настоящих данных. Оптимизированный код между запусками не сохраняется — он привязан к формам этого процесса; кэшируется только байткод. Compile hints — про другое: они просят скомпилировать файл в байткод сразу при загрузке, к ярусам и формам отношения не имеют. Сервис можно прогреть самому до приёма трафика — но репрезентативными запросами: прогрев «красивыми» полными записями даст ровно тот wrong map из узла 5, когда придут неполные.</a:t>
            </a:r>
          </a:p>
          <a:p/>
          <a:p>
            <a:r>
              <a:t>3. как узнать ярус?: Без интринсиков: node --log-function-events --logfile=fe.log --no-logfile-per-isolate app.js — в логе по имени функции видно interpreter → baseline → maglev → turbofan. --trace-opt и --trace-deopt показывают события компиляции и откатов; «took a, b, c ms» в --trace-opt — три фазы, их складывать. С --allow-natives-syntax — %GetOptimizationStatus(f), но значения битов зависят от версии V8. Профайлер DevTools и --cpu-prof ярус не показывают.</a:t>
            </a:r>
          </a:p>
          <a:p/>
          <a:p>
            <a:r>
              <a:t>4. 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13 000-го. Часть этих вызовов — ожидание: компилятор работает в отдельном потоке, и всё это время функция продолжает исполняться на прежнем ярусе. С циклом внутри — в разы раньше. По времени это первые миллисекунды горячей работы.</a:t>
            </a:r>
          </a:p>
          <a:p/>
          <a:p>
            <a:r>
              <a:t>5. 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6. 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7. а на x64?: Гонял тем же образом и скриптом в CI на x64: направление то же, множители ниже — прибор ×4.4 вместо ×6.6, HTTP ×1.7 вместо ×1.95. А замер IC «восемь форм против одной» на x64, наоборот, выше: ×3.7 против ×2.7. Тенденция одна.</a:t>
            </a:r>
          </a:p>
          <a:p/>
          <a:p>
            <a:r>
              <a:t>8. 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9. `delete`: Объект уходит в словарный режим, и обычный объект обратно уже не вернётся: чтение в 28–29 раз дороже на Node 22 и 24. Вместо delete — присвоить null.</a:t>
            </a:r>
          </a:p>
          <a:p/>
          <a:p>
            <a:r>
              <a:t>10. 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БЕЗ ПЛАШКИ:</a:t>
            </a:r>
          </a:p>
          <a:p/>
          <a:p>
            <a:r>
              <a:t>у A тоже wrong map / N в журнале?: Да, внутри самой normalizeUser wrong map и мегаморфное чтение raw.plan бывают у обеих версий: сырые записи на входе разной формы. Это чтение входа, и у A и B оно одно и то же. Разница начинается после сборки — смотрите на читателя собранных объектов: у A он чистый.</a:t>
            </a:r>
          </a:p>
          <a:p/>
          <a:p>
            <a:r>
              <a:t>откуда прибор знает MEGA?: Поле ic в выводе прибора — ярлык по числу форм, которые насчитал %HaveSameMap: 1 — MONO, до 4 — POLY, 5 и больше — MEGA. Само состояние места чтения я проверил отдельно журналом --log-ic — это слайд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4.xml"/></Relationships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2" name="Connector 100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3" name="Oval 1002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4" name="Oval 100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7" name="TextBox 1016"/>
          <p:cNvSpPr txBox="1"/>
          <p:nvPr/>
        </p:nvSpPr>
        <p:spPr>
          <a:xfrm>
            <a:off x="650430" y="1674494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3114674"/>
            <a:ext cx="8988552" cy="1800224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3268979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8" name="TextBox 1017"/>
          <p:cNvSpPr txBox="1"/>
          <p:nvPr/>
        </p:nvSpPr>
        <p:spPr>
          <a:xfrm>
            <a:off x="534506" y="3268979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50430" y="3646170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...(raw.teamId &amp;&amp; { teamId: raw.teamId }),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61902" y="1297305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поле есть всегда · пять строк выше одинаковы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261902" y="3268979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TextBox 1021"/>
          <p:cNvSpPr txBox="1"/>
          <p:nvPr/>
        </p:nvSpPr>
        <p:spPr>
          <a:xfrm>
            <a:off x="605844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08822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676338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79316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6746832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0" name="Connector 100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1" name="Oval 1010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617845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650430" y="16744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514600"/>
            <a:ext cx="5617845" cy="1243012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2668904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6" name="TextBox 1025"/>
          <p:cNvSpPr txBox="1"/>
          <p:nvPr/>
        </p:nvSpPr>
        <p:spPr>
          <a:xfrm>
            <a:off x="534506" y="2668904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650430" y="30460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6134517" y="1828800"/>
            <a:ext cx="2942680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134517" y="3114674"/>
            <a:ext cx="3121025" cy="857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медиана одного прохода чтения</a:t>
            </a:r>
          </a:p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50 000 готовых объектов · код разогрет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94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516672" y="42376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695016" y="42376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873360" y="42376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230049" y="41862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один прогон — крупно медиана пяти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561258" y="4460557"/>
            <a:ext cx="8542691" cy="9858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{"shapes":1,"ic":"MONO","p50_ms":0.11,"correct":true}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{"shapes":8,"ic":"MEGA","p50_ms":0.76,"correct":true}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5" name="Connector 101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6" name="Oval 1015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TextBox 102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8328" y="1143000"/>
            <a:ext cx="8988552" cy="1500187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TextBox 1032"/>
          <p:cNvSpPr txBox="1"/>
          <p:nvPr/>
        </p:nvSpPr>
        <p:spPr>
          <a:xfrm>
            <a:off x="1230049" y="1228724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561258" y="1503044"/>
            <a:ext cx="8542691" cy="1028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1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1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2771775"/>
            <a:ext cx="2675164" cy="5143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427500" y="2823209"/>
            <a:ext cx="2496819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3191836" y="2728912"/>
            <a:ext cx="6135043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у читателя на A строки нет: 0 из 5 прогонов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877076" y="3789045"/>
            <a:ext cx="8405216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338328" y="480417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338328" y="480417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338328" y="540496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TextBox 1040"/>
          <p:cNvSpPr txBox="1"/>
          <p:nvPr/>
        </p:nvSpPr>
        <p:spPr>
          <a:xfrm>
            <a:off x="338328" y="540496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2" name="Oval 1041"/>
          <p:cNvSpPr/>
          <p:nvPr/>
        </p:nvSpPr>
        <p:spPr>
          <a:xfrm>
            <a:off x="949864" y="3520553"/>
            <a:ext cx="558574" cy="53698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35201" y="3602593"/>
            <a:ext cx="387897" cy="37290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103520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89491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03828" y="480417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21662" y="480417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03828" y="540496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21662" y="540496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0" name="Oval 1049"/>
          <p:cNvSpPr/>
          <p:nvPr/>
        </p:nvSpPr>
        <p:spPr>
          <a:xfrm>
            <a:off x="1739351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173935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59906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3" name="Oval 1052"/>
          <p:cNvSpPr/>
          <p:nvPr/>
        </p:nvSpPr>
        <p:spPr>
          <a:xfrm>
            <a:off x="244350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244350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30321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56" name="Diamond 1055"/>
          <p:cNvSpPr/>
          <p:nvPr/>
        </p:nvSpPr>
        <p:spPr>
          <a:xfrm>
            <a:off x="28925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31476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31476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30073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0" name="Oval 1059"/>
          <p:cNvSpPr/>
          <p:nvPr/>
        </p:nvSpPr>
        <p:spPr>
          <a:xfrm>
            <a:off x="38518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TextBox 1060"/>
          <p:cNvSpPr txBox="1"/>
          <p:nvPr/>
        </p:nvSpPr>
        <p:spPr>
          <a:xfrm>
            <a:off x="38518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37115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63" name="Diamond 1062"/>
          <p:cNvSpPr/>
          <p:nvPr/>
        </p:nvSpPr>
        <p:spPr>
          <a:xfrm>
            <a:off x="43008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45559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45559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44156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67" name="Oval 1066"/>
          <p:cNvSpPr/>
          <p:nvPr/>
        </p:nvSpPr>
        <p:spPr>
          <a:xfrm>
            <a:off x="52601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52601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1198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0" name="Oval 1069"/>
          <p:cNvSpPr/>
          <p:nvPr/>
        </p:nvSpPr>
        <p:spPr>
          <a:xfrm>
            <a:off x="596425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596425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82396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73" name="Diamond 1072"/>
          <p:cNvSpPr/>
          <p:nvPr/>
        </p:nvSpPr>
        <p:spPr>
          <a:xfrm>
            <a:off x="6413304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66684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66684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65281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77" name="Oval 1076"/>
          <p:cNvSpPr/>
          <p:nvPr/>
        </p:nvSpPr>
        <p:spPr>
          <a:xfrm>
            <a:off x="73725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3725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72322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80" name="Oval 1079"/>
          <p:cNvSpPr/>
          <p:nvPr/>
        </p:nvSpPr>
        <p:spPr>
          <a:xfrm>
            <a:off x="80767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80767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79364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83" name="Oval 1082"/>
          <p:cNvSpPr/>
          <p:nvPr/>
        </p:nvSpPr>
        <p:spPr>
          <a:xfrm>
            <a:off x="87808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87808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86405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  <p:sp>
        <p:nvSpPr>
          <p:cNvPr id="1019" name="Oval 1018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460537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TextBox 102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TextBox 102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TextBox 102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3" name="Connector 103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Oval 103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3210197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605844" y="1485900"/>
            <a:ext cx="2675164" cy="1028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605844" y="4914900"/>
            <a:ext cx="2675164" cy="771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Consolas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13573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4511584" y="13144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27289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4511584" y="26860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065723" y="4229100"/>
            <a:ext cx="2496819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333239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830060" y="4229100"/>
            <a:ext cx="2496819" cy="17144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2" name="TextBox 1051"/>
          <p:cNvSpPr txBox="1"/>
          <p:nvPr/>
        </p:nvSpPr>
        <p:spPr>
          <a:xfrm>
            <a:off x="7097576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1" name="Rounded Rectangle 103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TextBox 103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Oval 104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TextBox 105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407647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516672" y="1228724"/>
            <a:ext cx="205095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Consolas"/>
              </a:rPr>
              <a:t>?? null</a:t>
            </a:r>
          </a:p>
        </p:txBody>
      </p:sp>
      <p:sp>
        <p:nvSpPr>
          <p:cNvPr id="1055" name="Rounded Rectangle 1054"/>
          <p:cNvSpPr/>
          <p:nvPr/>
        </p:nvSpPr>
        <p:spPr>
          <a:xfrm>
            <a:off x="561258" y="157162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TextBox 1055"/>
          <p:cNvSpPr txBox="1"/>
          <p:nvPr/>
        </p:nvSpPr>
        <p:spPr>
          <a:xfrm>
            <a:off x="650430" y="157162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id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561258" y="204847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650430" y="204847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name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561258" y="2525314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650430" y="2525314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email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561258" y="300216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650430" y="300216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plan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561258" y="347900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650430" y="347900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credits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561258" y="3955851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650430" y="3955851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561258" y="443269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650430" y="443269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561258" y="4909542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650430" y="4909542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338328" y="5386386"/>
            <a:ext cx="2407647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968906" y="1143000"/>
            <a:ext cx="6357973" cy="48005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2" name="TextBox 1071"/>
          <p:cNvSpPr txBox="1"/>
          <p:nvPr/>
        </p:nvSpPr>
        <p:spPr>
          <a:xfrm>
            <a:off x="3147250" y="1228724"/>
            <a:ext cx="6001285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3" name="Connector 1072"/>
          <p:cNvCxnSpPr/>
          <p:nvPr/>
        </p:nvCxnSpPr>
        <p:spPr>
          <a:xfrm flipH="1">
            <a:off x="4669864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6147893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 flipH="1">
            <a:off x="3930850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4669864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H="1">
            <a:off x="6886907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>
            <a:off x="7625921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 flipH="1">
            <a:off x="3561343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3930850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5039371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5408878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517399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6886907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7995427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8364935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7" name="Rounded Rectangle 1086"/>
          <p:cNvSpPr/>
          <p:nvPr/>
        </p:nvSpPr>
        <p:spPr>
          <a:xfrm>
            <a:off x="5389929" y="1425892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5443433" y="1425892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referrer?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3911901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3965404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6867958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6921461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3236422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3289925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4714450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4767954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192479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245982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7670506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7724010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320967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20967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394868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394868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4687699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4687699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5426713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5426713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6165727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6165727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690474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690474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764375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764375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8382768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8382768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3147250" y="1571625"/>
            <a:ext cx="2050959" cy="514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r — referrer · t — trialUntil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i — teamId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2968906" y="5514974"/>
            <a:ext cx="6357973" cy="3857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2" name="Rounded Rectangle 1031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TextBox 10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TextBox 103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8" name="Rounded Rectangle 1037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4" name="Connector 104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Oval 104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338328" y="1143000"/>
            <a:ext cx="5617845" cy="4800599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1230049" y="1228724"/>
            <a:ext cx="454777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561258" y="1503044"/>
            <a:ext cx="5171984" cy="4329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50" b="0">
                <a:solidFill>
                  <a:srgbClr val="AADC00"/>
                </a:solidFill>
                <a:latin typeface="Consolas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A: </a:t>
            </a:r>
            <a:r>
              <a:rPr sz="1450" b="1">
                <a:solidFill>
                  <a:srgbClr val="FF9DB8"/>
                </a:solidFill>
                <a:latin typeface="Consolas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B: </a:t>
            </a:r>
            <a:r>
              <a:rPr sz="1450" b="1">
                <a:solidFill>
                  <a:srgbClr val="FF9DB8"/>
                </a:solidFill>
                <a:latin typeface="Consolas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форм у B: </a:t>
            </a:r>
            <a:r>
              <a:rPr sz="1450" b="1">
                <a:solidFill>
                  <a:srgbClr val="FF9DB8"/>
                </a:solidFill>
                <a:latin typeface="Consolas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428785" y="1143000"/>
            <a:ext cx="2898094" cy="24860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6696301" y="1297305"/>
            <a:ext cx="2363061" cy="21774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%HaveSameMap(a, b)</a:t>
            </a:r>
            <a:r>
              <a:rPr sz="1500" b="0">
                <a:solidFill>
                  <a:srgbClr val="FFFFFF"/>
                </a:solidFill>
                <a:latin typeface="X5 Sans"/>
              </a:rPr>
              <a:t>: одной ли формы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x = {id, name, teamId}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y = {id, name}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28785" y="3843337"/>
            <a:ext cx="2898094" cy="21002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6428785" y="3843337"/>
            <a:ext cx="2898094" cy="21002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04385" y="1890630"/>
            <a:ext cx="1090966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3000102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3000102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656729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656729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57078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5707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8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67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817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105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1817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105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73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8" name="Oval 17"/>
          <p:cNvSpPr/>
          <p:nvPr/>
        </p:nvSpPr>
        <p:spPr>
          <a:xfrm>
            <a:off x="1980363" y="1597186"/>
            <a:ext cx="586888" cy="58688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70027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002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733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562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4765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63053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4765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63053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21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8" name="Oval 27"/>
          <p:cNvSpPr/>
          <p:nvPr/>
        </p:nvSpPr>
        <p:spPr>
          <a:xfrm>
            <a:off x="298297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8297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28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857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2" name="Diamond 31"/>
          <p:cNvSpPr/>
          <p:nvPr/>
        </p:nvSpPr>
        <p:spPr>
          <a:xfrm>
            <a:off x="3541340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9592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89592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323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151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Oval 36"/>
          <p:cNvSpPr/>
          <p:nvPr/>
        </p:nvSpPr>
        <p:spPr>
          <a:xfrm>
            <a:off x="480887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80887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617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446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1" name="Diamond 40"/>
          <p:cNvSpPr/>
          <p:nvPr/>
        </p:nvSpPr>
        <p:spPr>
          <a:xfrm>
            <a:off x="5367237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721821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721821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69128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7415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46" name="Oval 45"/>
          <p:cNvSpPr/>
          <p:nvPr/>
        </p:nvSpPr>
        <p:spPr>
          <a:xfrm>
            <a:off x="6634770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34770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076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364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0" name="Oval 49"/>
          <p:cNvSpPr/>
          <p:nvPr/>
        </p:nvSpPr>
        <p:spPr>
          <a:xfrm>
            <a:off x="7547718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4771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9502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331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4" name="Diamond 53"/>
          <p:cNvSpPr/>
          <p:nvPr/>
        </p:nvSpPr>
        <p:spPr>
          <a:xfrm>
            <a:off x="8106083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60667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46066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797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626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59" name="Oval 58"/>
          <p:cNvSpPr/>
          <p:nvPr/>
        </p:nvSpPr>
        <p:spPr>
          <a:xfrm>
            <a:off x="937361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37361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092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921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3" name="Oval 62"/>
          <p:cNvSpPr/>
          <p:nvPr/>
        </p:nvSpPr>
        <p:spPr>
          <a:xfrm>
            <a:off x="1028656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28656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3387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215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67" name="Oval 66"/>
          <p:cNvSpPr/>
          <p:nvPr/>
        </p:nvSpPr>
        <p:spPr>
          <a:xfrm>
            <a:off x="1119951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19951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681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6510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074920"/>
            <a:ext cx="11521440" cy="8229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475488" y="5157216"/>
            <a:ext cx="112471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</a:t>
            </a:r>
          </a:p>
        </p:txBody>
      </p:sp>
      <p:sp>
        <p:nvSpPr>
          <p:cNvPr id="103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1037" name="Oval 103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491627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9" name="Rounded Rectangle 1038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1" name="Connector 105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Oval 105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graphicFrame>
        <p:nvGraphicFramePr>
          <p:cNvPr id="1065" name="Chart 1064"/>
          <p:cNvGraphicFramePr>
            <a:graphicFrameLocks noGrp="1"/>
          </p:cNvGraphicFramePr>
          <p:nvPr/>
        </p:nvGraphicFramePr>
        <p:xfrm>
          <a:off x="338328" y="1143000"/>
          <a:ext cx="4993639" cy="35147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66" name="TextBox 1065"/>
          <p:cNvSpPr txBox="1"/>
          <p:nvPr/>
        </p:nvSpPr>
        <p:spPr>
          <a:xfrm>
            <a:off x="338328" y="4700587"/>
            <a:ext cx="499363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(A = ×1) · 150 прогонов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554898" y="1143000"/>
            <a:ext cx="3771981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5777828" y="1271587"/>
            <a:ext cx="3326120" cy="1371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3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554898" y="2900362"/>
            <a:ext cx="3771981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8" name="TextBox 1067"/>
          <p:cNvSpPr txBox="1"/>
          <p:nvPr/>
        </p:nvSpPr>
        <p:spPr>
          <a:xfrm>
            <a:off x="5777828" y="3028950"/>
            <a:ext cx="3326120" cy="900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554898" y="4186237"/>
            <a:ext cx="3771981" cy="1757361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9" name="TextBox 1068"/>
          <p:cNvSpPr txBox="1"/>
          <p:nvPr/>
        </p:nvSpPr>
        <p:spPr>
          <a:xfrm>
            <a:off x="5777828" y="4314825"/>
            <a:ext cx="3326120" cy="1500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обоих вариантов B · сборка одна, чтений много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Rounded Rectangle 105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TextBox 105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5" name="Connector 105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Oval 105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1143000"/>
            <a:ext cx="2877287" cy="31718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516672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516672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534506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534506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73" name="Connector 1072"/>
          <p:cNvCxnSpPr/>
          <p:nvPr/>
        </p:nvCxnSpPr>
        <p:spPr>
          <a:xfrm>
            <a:off x="650430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4" name="Rounded Rectangle 1073"/>
          <p:cNvSpPr/>
          <p:nvPr/>
        </p:nvSpPr>
        <p:spPr>
          <a:xfrm>
            <a:off x="534506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588009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4506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534506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1 форма: ×1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534506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93960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3572304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3572304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359013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359013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385765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385765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4125171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4125171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87" name="Connector 1086"/>
          <p:cNvCxnSpPr/>
          <p:nvPr/>
        </p:nvCxnSpPr>
        <p:spPr>
          <a:xfrm>
            <a:off x="3706062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8" name="Rounded Rectangle 1087"/>
          <p:cNvSpPr/>
          <p:nvPr/>
        </p:nvSpPr>
        <p:spPr>
          <a:xfrm>
            <a:off x="3590138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643642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3590138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3590138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4 формы: ×1.3</a:t>
            </a:r>
          </a:p>
        </p:txBody>
      </p:sp>
      <p:sp>
        <p:nvSpPr>
          <p:cNvPr id="104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49592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2" name="TextBox 1091"/>
          <p:cNvSpPr txBox="1"/>
          <p:nvPr/>
        </p:nvSpPr>
        <p:spPr>
          <a:xfrm>
            <a:off x="6627936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6627936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664577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664577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6913287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6913287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718080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718080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744832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744832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771583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771583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98335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98335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825086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825086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851838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851838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6761694" y="1965959"/>
            <a:ext cx="0" cy="22288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Rounded Rectangle 1110"/>
          <p:cNvSpPr/>
          <p:nvPr/>
        </p:nvSpPr>
        <p:spPr>
          <a:xfrm>
            <a:off x="6645770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6699274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Consolas"/>
              </a:rPr>
              <a:t>u.plan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6645770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 движка: форма + имя поля → где лежит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6645770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A1538"/>
                </a:solidFill>
                <a:latin typeface="X5 Sans Medium"/>
              </a:rPr>
              <a:t>8 форм: ×2.7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6645770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4341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605844" y="4443412"/>
            <a:ext cx="4815295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Consolas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331967" y="4443412"/>
            <a:ext cx="381656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MEGA / MONO, одно поле</a:t>
            </a:r>
          </a:p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×2.7 Node 24 · ×3.4 Node 22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3" name="Rounded Rectangle 1052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Rounded Rectangle 105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2" name="Connector 106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3" name="Oval 106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76" name="Rounded Rectangle 1075"/>
          <p:cNvSpPr/>
          <p:nvPr/>
        </p:nvSpPr>
        <p:spPr>
          <a:xfrm>
            <a:off x="338328" y="1143000"/>
            <a:ext cx="6152877" cy="3428999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1230049" y="1228724"/>
            <a:ext cx="5082812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 · одно место: u.plan в читателе, строка 30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1258" y="1503044"/>
            <a:ext cx="5707017" cy="295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--logfile=b.log shape-analyzer.js ref-b.js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b.log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0x3093ac1963b1,plan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,1,P,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0x3093ac195f81,plan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0x3093ac196279,plan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0x3093ac196011,plan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0x3093ac196b49,plan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0x3093ac196c91,plan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0x3093ac1964b9,plan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0x3093ac196159,plan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--logfile=a.log shape-analyzer.js ref-a.js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a.log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0x3c9e6d815ff9,plan</a:t>
            </a:r>
          </a:p>
        </p:txBody>
      </p:sp>
      <p:sp>
        <p:nvSpPr>
          <p:cNvPr id="105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919232" y="1143000"/>
            <a:ext cx="2407647" cy="34289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7186748" y="1297305"/>
            <a:ext cx="1872615" cy="3120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после первых вызовов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4743450"/>
            <a:ext cx="8988552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45334" y="4805171"/>
            <a:ext cx="8774538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84488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  <p:sp>
        <p:nvSpPr>
          <p:cNvPr id="1058" name="Oval 105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522716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Rounded Rectangle 10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1" name="Connector 10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2" name="Oval 10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06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2853508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338328" y="1143000"/>
            <a:ext cx="2853508" cy="480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619862" y="1143000"/>
            <a:ext cx="5707017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16040" y="1297305"/>
            <a:ext cx="50382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816040" y="1297305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931964" y="1674494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619862" y="2814637"/>
            <a:ext cx="5707017" cy="150018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4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816040" y="2968942"/>
            <a:ext cx="503822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8" name="TextBox 1087"/>
          <p:cNvSpPr txBox="1"/>
          <p:nvPr/>
        </p:nvSpPr>
        <p:spPr>
          <a:xfrm>
            <a:off x="3816040" y="2968942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931964" y="3346132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619862" y="4486275"/>
            <a:ext cx="5707017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3753620" y="4563427"/>
            <a:ext cx="5439500" cy="5743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3619862" y="5343525"/>
            <a:ext cx="570701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уже оптимизирован — проверено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 — способ исполнить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0" name="Connector 107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1" name="Oval 108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38328" y="3929062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TextBox 1094"/>
          <p:cNvSpPr txBox="1"/>
          <p:nvPr/>
        </p:nvSpPr>
        <p:spPr>
          <a:xfrm>
            <a:off x="6562543" y="4271962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427500" y="3297814"/>
            <a:ext cx="2149048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498837" y="3332104"/>
            <a:ext cx="2006373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098" name="Connector 1097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9" name="TextBox 1098"/>
          <p:cNvSpPr txBox="1"/>
          <p:nvPr/>
        </p:nvSpPr>
        <p:spPr>
          <a:xfrm>
            <a:off x="409665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2630052" y="2982190"/>
            <a:ext cx="2149048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2701389" y="3016480"/>
            <a:ext cx="2006373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2630052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2612217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4832604" y="2491219"/>
            <a:ext cx="2149048" cy="1437841"/>
          </a:xfrm>
          <a:prstGeom prst="roundRect">
            <a:avLst>
              <a:gd name="adj" fmla="val 476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4903941" y="2525509"/>
            <a:ext cx="2006373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4832604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4814769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035155" y="2000249"/>
            <a:ext cx="2149048" cy="1928812"/>
          </a:xfrm>
          <a:prstGeom prst="roundRect">
            <a:avLst>
              <a:gd name="adj" fmla="val 3555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106493" y="2034539"/>
            <a:ext cx="2006373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7035155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7017321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427500" y="4271962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338328" y="4614862"/>
            <a:ext cx="8988552" cy="1328737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516672" y="475202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695016" y="475202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873360" y="475202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1230049" y="4700586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561258" y="4974907"/>
            <a:ext cx="8542691" cy="857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110 S&gt; 0x34e3243c40 @    0 : 85 00 00 29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CreateObjectLiteral</a:t>
            </a:r>
            <a:r>
              <a:rPr sz="1200" b="0">
                <a:solidFill>
                  <a:srgbClr val="E6F2E9"/>
                </a:solidFill>
                <a:latin typeface="Consolas"/>
              </a:rPr>
              <a:t> [0], [0], #41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131 E&gt; 0x34e3243c45 @    5 : 33 03 01 01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GetNamedProperty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a0, [1], [1]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       0x34e3243c49 @    9 : 3a f9 01 03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DefineNamedOwnProperty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r0, [1], [3]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0" name="Rounded Rectangle 107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3" name="Connector 108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Oval 108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graphicFrame>
        <p:nvGraphicFramePr>
          <p:cNvPr id="1097" name="Chart 1096"/>
          <p:cNvGraphicFramePr>
            <a:graphicFrameLocks noGrp="1"/>
          </p:cNvGraphicFramePr>
          <p:nvPr/>
        </p:nvGraphicFramePr>
        <p:xfrm>
          <a:off x="338328" y="1143000"/>
          <a:ext cx="5528672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89931" y="1143000"/>
            <a:ext cx="3236948" cy="11572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6196937" y="1204721"/>
            <a:ext cx="3022934" cy="1033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×13.5</a:t>
            </a:r>
            <a:r>
              <a:rPr sz="1500" b="0">
                <a:solidFill>
                  <a:srgbClr val="1E5B28"/>
                </a:solidFill>
                <a:latin typeface="X5 Sans"/>
              </a:rPr>
              <a:t> · один и тот же код</a:t>
            </a:r>
          </a:p>
          <a:p>
            <a:pPr algn="ctr">
              <a:spcAft>
                <a:spcPts val="3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--max-opt=0 / 1 / 2 / 3</a:t>
            </a:r>
          </a:p>
        </p:txBody>
      </p:sp>
      <p:sp>
        <p:nvSpPr>
          <p:cNvPr id="107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089931" y="2428874"/>
            <a:ext cx="3236948" cy="60007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6179103" y="2480309"/>
            <a:ext cx="3058603" cy="4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07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3114674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0" name="TextBox 1099"/>
          <p:cNvSpPr txBox="1"/>
          <p:nvPr/>
        </p:nvSpPr>
        <p:spPr>
          <a:xfrm>
            <a:off x="6179103" y="3166110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в TurboFan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в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разы</a:t>
            </a:r>
            <a:r>
              <a:rPr sz="1400" b="0">
                <a:solidFill>
                  <a:srgbClr val="1E5B28"/>
                </a:solidFill>
                <a:latin typeface="X5 Sans"/>
              </a:rPr>
              <a:t> дороже, чем в Maglev</a:t>
            </a:r>
          </a:p>
        </p:txBody>
      </p:sp>
      <p:sp>
        <p:nvSpPr>
          <p:cNvPr id="10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4143375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1" name="TextBox 1100"/>
          <p:cNvSpPr txBox="1"/>
          <p:nvPr/>
        </p:nvSpPr>
        <p:spPr>
          <a:xfrm>
            <a:off x="6179103" y="4194809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старт </a:t>
            </a:r>
            <a:r>
              <a:rPr sz="1232" b="0">
                <a:solidFill>
                  <a:srgbClr val="1E5B28"/>
                </a:solidFill>
                <a:latin typeface="Consolas"/>
              </a:rPr>
              <a:t>npm</a:t>
            </a:r>
            <a:r>
              <a:rPr sz="1400" b="0">
                <a:solidFill>
                  <a:srgbClr val="1E5B28"/>
                </a:solidFill>
                <a:latin typeface="X5 Sans"/>
              </a:rPr>
              <a:t>: из сотен функций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до TurboFan дошла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одна</a:t>
            </a:r>
          </a:p>
        </p:txBody>
      </p:sp>
      <p:sp>
        <p:nvSpPr>
          <p:cNvPr id="107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72075"/>
            <a:ext cx="8988552" cy="7715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427500" y="5223509"/>
            <a:ext cx="8810207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--always-turbofan</a:t>
            </a:r>
            <a:r>
              <a:rPr sz="1400" b="0">
                <a:solidFill>
                  <a:srgbClr val="1E5B28"/>
                </a:solidFill>
                <a:latin typeface="X5 Sans"/>
              </a:rPr>
              <a:t> (Node 24): старт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вдвое дольше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а на первом вызове компилятору не на что опереться: наблюдений ещё нет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Ставка: что вшивают верхние ярусы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05" name="Connector 1104"/>
          <p:cNvCxnSpPr/>
          <p:nvPr/>
        </p:nvCxnSpPr>
        <p:spPr>
          <a:xfrm>
            <a:off x="338328" y="3328986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TextBox 1105"/>
          <p:cNvSpPr txBox="1"/>
          <p:nvPr/>
        </p:nvSpPr>
        <p:spPr>
          <a:xfrm>
            <a:off x="6562543" y="3671887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427500" y="2894127"/>
            <a:ext cx="2149048" cy="434859"/>
          </a:xfrm>
          <a:prstGeom prst="roundRect">
            <a:avLst>
              <a:gd name="adj" fmla="val 1577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498837" y="2928417"/>
            <a:ext cx="2006373" cy="366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427500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TextBox 1109"/>
          <p:cNvSpPr txBox="1"/>
          <p:nvPr/>
        </p:nvSpPr>
        <p:spPr>
          <a:xfrm>
            <a:off x="409665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2630052" y="2676697"/>
            <a:ext cx="2149048" cy="652289"/>
          </a:xfrm>
          <a:prstGeom prst="roundRect">
            <a:avLst>
              <a:gd name="adj" fmla="val 10513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2701389" y="2710987"/>
            <a:ext cx="2006373" cy="583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3" name="Connector 1112"/>
          <p:cNvCxnSpPr/>
          <p:nvPr/>
        </p:nvCxnSpPr>
        <p:spPr>
          <a:xfrm>
            <a:off x="2630052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TextBox 1113"/>
          <p:cNvSpPr txBox="1"/>
          <p:nvPr/>
        </p:nvSpPr>
        <p:spPr>
          <a:xfrm>
            <a:off x="2612217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4832604" y="2338473"/>
            <a:ext cx="2149048" cy="990512"/>
          </a:xfrm>
          <a:prstGeom prst="roundRect">
            <a:avLst>
              <a:gd name="adj" fmla="val 692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4903941" y="2372763"/>
            <a:ext cx="2006373" cy="921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4832604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TextBox 1117"/>
          <p:cNvSpPr txBox="1"/>
          <p:nvPr/>
        </p:nvSpPr>
        <p:spPr>
          <a:xfrm>
            <a:off x="4814769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035155" y="2000249"/>
            <a:ext cx="2149048" cy="1328736"/>
          </a:xfrm>
          <a:prstGeom prst="roundRect">
            <a:avLst>
              <a:gd name="adj" fmla="val 516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106493" y="2034539"/>
            <a:ext cx="2006373" cy="12601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7035155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7017321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123" name="Connector 1122"/>
          <p:cNvCxnSpPr/>
          <p:nvPr/>
        </p:nvCxnSpPr>
        <p:spPr>
          <a:xfrm>
            <a:off x="427500" y="1545907"/>
            <a:ext cx="4351600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791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427500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4832604" y="1545907"/>
            <a:ext cx="435160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48326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91842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TextBox 1129"/>
          <p:cNvSpPr txBox="1"/>
          <p:nvPr/>
        </p:nvSpPr>
        <p:spPr>
          <a:xfrm>
            <a:off x="4832604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вшивают в код ставку на увиденные формы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427500" y="3671887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08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605844" y="4254817"/>
            <a:ext cx="8453519" cy="11487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ставка</a:t>
            </a:r>
            <a:r>
              <a:rPr sz="1600" b="0">
                <a:solidFill>
                  <a:srgbClr val="FFFFFF"/>
                </a:solidFill>
                <a:latin typeface="X5 Sans"/>
              </a:rPr>
              <a:t> — что вшито в код читателя: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форма u — та, что в записях?  нет → ?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да → plan читается по готовому месту: одна инструкция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 2–4 → несколько сравнений · 5+ → ставки нет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</a:t>
            </a:r>
          </a:p>
        </p:txBody>
      </p:sp>
      <p:sp>
        <p:nvSpPr>
          <p:cNvPr id="108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1084" name="Oval 108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553806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4" name="Rounded Rectangle 109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52161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605844" y="1743075"/>
            <a:ext cx="1583696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659347" y="1743075"/>
            <a:ext cx="1476690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15" name="Connector 1114"/>
          <p:cNvCxnSpPr/>
          <p:nvPr/>
        </p:nvCxnSpPr>
        <p:spPr>
          <a:xfrm>
            <a:off x="2189541" y="1957387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6" name="Rounded Rectangle 1115"/>
          <p:cNvSpPr/>
          <p:nvPr/>
        </p:nvSpPr>
        <p:spPr>
          <a:xfrm>
            <a:off x="2457057" y="1743075"/>
            <a:ext cx="186191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2510561" y="1743075"/>
            <a:ext cx="1754907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4318971" y="1957387"/>
            <a:ext cx="4740390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05844" y="2257425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836068"/>
            <a:ext cx="8988552" cy="152161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0" name="TextBox 1119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сначала одна форма → потом другая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605844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659347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2745975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5" name="Oval 1124"/>
          <p:cNvSpPr/>
          <p:nvPr/>
        </p:nvSpPr>
        <p:spPr>
          <a:xfrm>
            <a:off x="2772727" y="3590448"/>
            <a:ext cx="124841" cy="120015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Rounded Rectangle 1125"/>
          <p:cNvSpPr/>
          <p:nvPr/>
        </p:nvSpPr>
        <p:spPr>
          <a:xfrm>
            <a:off x="2924320" y="3436143"/>
            <a:ext cx="1398219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TextBox 1126"/>
          <p:cNvSpPr txBox="1"/>
          <p:nvPr/>
        </p:nvSpPr>
        <p:spPr>
          <a:xfrm>
            <a:off x="2977823" y="3436143"/>
            <a:ext cx="1291212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деопт: откат</a:t>
            </a:r>
          </a:p>
        </p:txBody>
      </p:sp>
      <p:cxnSp>
        <p:nvCxnSpPr>
          <p:cNvPr id="1128" name="Connector 1127"/>
          <p:cNvCxnSpPr/>
          <p:nvPr/>
        </p:nvCxnSpPr>
        <p:spPr>
          <a:xfrm>
            <a:off x="4322539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9" name="Rounded Rectangle 1128"/>
          <p:cNvSpPr/>
          <p:nvPr/>
        </p:nvSpPr>
        <p:spPr>
          <a:xfrm>
            <a:off x="4500883" y="3436143"/>
            <a:ext cx="176917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554386" y="3436143"/>
            <a:ext cx="1662168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дополнены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6270058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ounded Rectangle 1131"/>
          <p:cNvSpPr/>
          <p:nvPr/>
        </p:nvSpPr>
        <p:spPr>
          <a:xfrm>
            <a:off x="6448402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6501905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новый код без ставки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8588533" y="3650456"/>
            <a:ext cx="470828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TextBox 1134"/>
          <p:cNvSpPr txBox="1"/>
          <p:nvPr/>
        </p:nvSpPr>
        <p:spPr>
          <a:xfrm>
            <a:off x="2772727" y="3144678"/>
            <a:ext cx="30318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1538"/>
                </a:solidFill>
                <a:latin typeface="X5 Sans"/>
              </a:rPr>
              <a:t>↑ </a:t>
            </a:r>
            <a:r>
              <a:rPr sz="1056" b="0">
                <a:solidFill>
                  <a:srgbClr val="8A1538"/>
                </a:solidFill>
                <a:latin typeface="Consolas"/>
              </a:rPr>
              <a:t>reason: wrong map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605844" y="3907631"/>
            <a:ext cx="845351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один откат (5 из 5) · дальше — общий путь MEGA · в приборе ставки не было: 0 откатов, и всё равно ×6.6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338328" y="4443412"/>
            <a:ext cx="8988552" cy="1243012"/>
          </a:xfrm>
          <a:prstGeom prst="roundRect">
            <a:avLst>
              <a:gd name="adj" fmla="val 11034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516672" y="45805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695016" y="45805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873360" y="45805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TextBox 1140"/>
          <p:cNvSpPr txBox="1"/>
          <p:nvPr/>
        </p:nvSpPr>
        <p:spPr>
          <a:xfrm>
            <a:off x="1230049" y="45291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561258" y="4803457"/>
            <a:ext cx="8542691" cy="7715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0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0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1" name="Connector 110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2" name="Oval 110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605844" y="1314450"/>
            <a:ext cx="845351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95016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873360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527717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3706062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60420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6538764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95016" y="4743450"/>
            <a:ext cx="827517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Consolas"/>
              </a:rPr>
              <a:t>%GetOptimizationStatus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TextBox 110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4280262" cy="20573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3" name="TextBox 1122"/>
          <p:cNvSpPr txBox="1"/>
          <p:nvPr/>
        </p:nvSpPr>
        <p:spPr>
          <a:xfrm>
            <a:off x="605844" y="1297305"/>
            <a:ext cx="3745230" cy="17487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Consolas"/>
              </a:rPr>
              <a:t>reason: wrong map</a:t>
            </a:r>
          </a:p>
        </p:txBody>
      </p:sp>
      <p:sp>
        <p:nvSpPr>
          <p:cNvPr id="110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05844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567631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2835147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823686" y="1143000"/>
            <a:ext cx="4280262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4823686" y="1400175"/>
            <a:ext cx="4280262" cy="1714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5153623" y="3371849"/>
            <a:ext cx="3620388" cy="2228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1457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</a:t>
            </a:r>
          </a:p>
        </p:txBody>
      </p:sp>
      <p:sp>
        <p:nvSpPr>
          <p:cNvPr id="110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1107" name="Oval 1106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584895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rPr sz="3000"/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TextBox 11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9" name="Connector 111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0" name="Oval 111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338328" y="1057275"/>
            <a:ext cx="898855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200k NDJSON · parse → normalize → consume (R чтений) → serialize · 150 прогонов</a:t>
            </a:r>
          </a:p>
        </p:txBody>
      </p:sp>
      <p:graphicFrame>
        <p:nvGraphicFramePr>
          <p:cNvPr id="1134" name="Chart 1133"/>
          <p:cNvGraphicFramePr>
            <a:graphicFrameLocks noGrp="1"/>
          </p:cNvGraphicFramePr>
          <p:nvPr/>
        </p:nvGraphicFramePr>
        <p:xfrm>
          <a:off x="338328" y="1485900"/>
          <a:ext cx="5617845" cy="36861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4859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6268275" y="15373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234315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TextBox 1135"/>
          <p:cNvSpPr txBox="1"/>
          <p:nvPr/>
        </p:nvSpPr>
        <p:spPr>
          <a:xfrm>
            <a:off x="6268275" y="2394584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32004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6268275" y="32518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179103" y="4100512"/>
            <a:ext cx="3147776" cy="10715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TextBox 1137"/>
          <p:cNvSpPr txBox="1"/>
          <p:nvPr/>
        </p:nvSpPr>
        <p:spPr>
          <a:xfrm>
            <a:off x="6268275" y="4151947"/>
            <a:ext cx="2969432" cy="968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sort + stringify: ×1.34–1.56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1943426" y="5300662"/>
            <a:ext cx="7383452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пара той же формы, 1 против 8, — чей это код, в следующей главе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6" name="Connector 112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Oval 112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TextBox 113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graphicFrame>
        <p:nvGraphicFramePr>
          <p:cNvPr id="1140" name="Chart 1139"/>
          <p:cNvGraphicFramePr>
            <a:graphicFrameLocks noGrp="1"/>
          </p:cNvGraphicFramePr>
          <p:nvPr/>
        </p:nvGraphicFramePr>
        <p:xfrm>
          <a:off x="338328" y="1143000"/>
          <a:ext cx="4101918" cy="3771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1143000"/>
            <a:ext cx="4663703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4663176" y="1143000"/>
            <a:ext cx="4663703" cy="1800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663176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752348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106492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7195664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4014787"/>
            <a:ext cx="4663703" cy="19288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41521" y="4151947"/>
            <a:ext cx="3125483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4841521" y="4151947"/>
            <a:ext cx="3125483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итог R7 · autocannon, R = 5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4930693" y="4614862"/>
            <a:ext cx="4217842" cy="1200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вариант     rps   p50    p99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mono-llm   2302  21 мс  42 мс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guard-llm  1180  41 мс  82 мс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mixed-mono 2005  24 мс  48 мс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338328" y="5043487"/>
            <a:ext cx="4101918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3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TextBox 112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3" name="Rounded Rectangle 113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6" name="Connector 113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7" name="Oval 113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TextBox 114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0" name="TextBox 1149"/>
          <p:cNvSpPr txBox="1"/>
          <p:nvPr/>
        </p:nvSpPr>
        <p:spPr>
          <a:xfrm>
            <a:off x="588009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приём без чтений, R≈0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if после литерала: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+6–10%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спред: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+13–18%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 по стадиям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1" name="TextBox 1150"/>
          <p:cNvSpPr txBox="1"/>
          <p:nvPr/>
        </p:nvSpPr>
        <p:spPr>
          <a:xfrm>
            <a:off x="3658504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ждёт базу десятки мс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доли мс процессора теряются — пока CPU не загружен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2" name="TextBox 1151"/>
          <p:cNvSpPr txBox="1"/>
          <p:nvPr/>
        </p:nvSpPr>
        <p:spPr>
          <a:xfrm>
            <a:off x="6728998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 = 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0.17 vs 0.22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2906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605844" y="4083367"/>
            <a:ext cx="8453519" cy="848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+30% до ×3 с лишним · только складываете — проценты, а не разы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338328" y="5214937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058400" cy="0"/>
          </a:xfrm>
        </p:spPr>
        <p:txBody>
          <a:bodyPr/>
          <a:lstStyle/>
          <a:p>
            <a:r>
              <a:t>Как мерили — и где легко соврать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резерв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  <a:r>
              <a:rPr sz="1450" b="0">
                <a:solidFill>
                  <a:srgbClr val="1E5B28"/>
                </a:solidFill>
                <a:latin typeface="X5 Sans"/>
              </a:rPr>
              <a:t> · Docker</a:t>
            </a:r>
          </a:p>
          <a:p>
            <a:pPr algn="l">
              <a:spcAft>
                <a:spcPts val="400"/>
              </a:spcAft>
            </a:pPr>
            <a:r>
              <a:rPr sz="1276" b="0">
                <a:solidFill>
                  <a:srgbClr val="1E5B28"/>
                </a:solidFill>
                <a:latin typeface="Consolas"/>
              </a:rPr>
              <a:t>node:24.21.0-alpine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тег запиннен · </a:t>
            </a:r>
            <a:r>
              <a:rPr sz="1276" b="0">
                <a:solidFill>
                  <a:srgbClr val="1E5B28"/>
                </a:solidFill>
                <a:latin typeface="Consolas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прогон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совпали у всех вариантов во всех 150 прогонах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232" b="0">
                <a:solidFill>
                  <a:srgbClr val="1E5B28"/>
                </a:solidFill>
                <a:latin typeface="Consolas"/>
              </a:rPr>
              <a:t>wrong map</a:t>
            </a:r>
            <a:r>
              <a:rPr sz="140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направление то же, множители другие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486400"/>
            <a:ext cx="11320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1144" name="Oval 114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615985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TextBox 115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5" name="Connector 115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6" name="Oval 115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Oval 115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8" name="Oval 115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9" name="Oval 115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0" name="Oval 115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TextBox 116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169" name="Rounded Rectangle 1168"/>
          <p:cNvSpPr/>
          <p:nvPr/>
        </p:nvSpPr>
        <p:spPr>
          <a:xfrm>
            <a:off x="338328" y="1143000"/>
            <a:ext cx="5305742" cy="4800599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TextBox 1172"/>
          <p:cNvSpPr txBox="1"/>
          <p:nvPr/>
        </p:nvSpPr>
        <p:spPr>
          <a:xfrm>
            <a:off x="1230049" y="1228724"/>
            <a:ext cx="423567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74" name="TextBox 1173"/>
          <p:cNvSpPr txBox="1"/>
          <p:nvPr/>
        </p:nvSpPr>
        <p:spPr>
          <a:xfrm>
            <a:off x="561258" y="1503044"/>
            <a:ext cx="4859881" cy="4329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./run-experiment.sh -n 15 -m opus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    -p prompts/P1.txt -o out/p1-no-rules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Consolas"/>
              </a:rPr>
              <a:t># внутри: claude -p "$PROMPT" → код из ответа → прибор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Consolas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Consolas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    out/p1-no-rules/candidate_1.js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{</a:t>
            </a:r>
            <a:r>
              <a:rPr sz="1200" b="1">
                <a:solidFill>
                  <a:srgbClr val="FF9DB8"/>
                </a:solidFill>
                <a:latin typeface="Consolas"/>
              </a:rPr>
              <a:t>"shapes":8</a:t>
            </a:r>
            <a:r>
              <a:rPr sz="1200" b="0">
                <a:solidFill>
                  <a:srgbClr val="E6F2E9"/>
                </a:solidFill>
                <a:latin typeface="Consolas"/>
              </a:rPr>
              <a:t>,</a:t>
            </a:r>
            <a:r>
              <a:rPr sz="1200" b="1">
                <a:solidFill>
                  <a:srgbClr val="FF9DB8"/>
                </a:solidFill>
                <a:latin typeface="Consolas"/>
              </a:rPr>
              <a:t>"ic":"MEGA"</a:t>
            </a:r>
            <a:r>
              <a:rPr sz="1200" b="0">
                <a:solidFill>
                  <a:srgbClr val="E6F2E9"/>
                </a:solidFill>
                <a:latin typeface="Consolas"/>
              </a:rPr>
              <a:t>,"p50_ms":0.76,"correct":true}</a:t>
            </a:r>
          </a:p>
        </p:txBody>
      </p:sp>
      <p:sp>
        <p:nvSpPr>
          <p:cNvPr id="11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27510" y="1143000"/>
            <a:ext cx="3299369" cy="111442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5" name="TextBox 1174"/>
          <p:cNvSpPr txBox="1"/>
          <p:nvPr/>
        </p:nvSpPr>
        <p:spPr>
          <a:xfrm>
            <a:off x="6223689" y="1256156"/>
            <a:ext cx="2907011" cy="8881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27510" y="2360295"/>
            <a:ext cx="3299369" cy="111442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6" name="TextBox 1175"/>
          <p:cNvSpPr txBox="1"/>
          <p:nvPr/>
        </p:nvSpPr>
        <p:spPr>
          <a:xfrm>
            <a:off x="6223689" y="2473451"/>
            <a:ext cx="2907011" cy="8881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Consolas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27510" y="3577589"/>
            <a:ext cx="3299369" cy="111442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7" name="TextBox 1176"/>
          <p:cNvSpPr txBox="1"/>
          <p:nvPr/>
        </p:nvSpPr>
        <p:spPr>
          <a:xfrm>
            <a:off x="6223689" y="3690746"/>
            <a:ext cx="2907011" cy="8881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27510" y="4794884"/>
            <a:ext cx="3299369" cy="111442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8" name="TextBox 1177"/>
          <p:cNvSpPr txBox="1"/>
          <p:nvPr/>
        </p:nvSpPr>
        <p:spPr>
          <a:xfrm>
            <a:off x="6223689" y="4908041"/>
            <a:ext cx="2907011" cy="8881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MEGA, 0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TextBox 115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1" name="Rounded Rectangle 1160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TextBox 116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4" name="Connector 116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5" name="Oval 116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TextBox 117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8988552" cy="48005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8" name="TextBox 1177"/>
          <p:cNvSpPr txBox="1"/>
          <p:nvPr/>
        </p:nvSpPr>
        <p:spPr>
          <a:xfrm>
            <a:off x="605844" y="1271587"/>
            <a:ext cx="8453519" cy="1457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5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95016" y="2771775"/>
            <a:ext cx="2609770" cy="1200149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79" name="TextBox 1178"/>
          <p:cNvSpPr txBox="1"/>
          <p:nvPr/>
        </p:nvSpPr>
        <p:spPr>
          <a:xfrm>
            <a:off x="828774" y="2848927"/>
            <a:ext cx="2342254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5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527717" y="2771775"/>
            <a:ext cx="2609770" cy="1200149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0" name="TextBox 1179"/>
          <p:cNvSpPr txBox="1"/>
          <p:nvPr/>
        </p:nvSpPr>
        <p:spPr>
          <a:xfrm>
            <a:off x="3661475" y="2848927"/>
            <a:ext cx="2342254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0.80 мс</a:t>
            </a:r>
          </a:p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разброс 0.76–0.83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60420" y="2771775"/>
            <a:ext cx="2609770" cy="1200149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1" name="TextBox 1180"/>
          <p:cNvSpPr txBox="1"/>
          <p:nvPr/>
        </p:nvSpPr>
        <p:spPr>
          <a:xfrm>
            <a:off x="6494178" y="2848927"/>
            <a:ext cx="2342254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695016" y="4572000"/>
            <a:ext cx="8275174" cy="10286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0" name="Rounded Rectangle 116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TextBox 117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3" name="Connector 117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4" name="Oval 117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TextBox 118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4405103" cy="30860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16672" y="1280160"/>
            <a:ext cx="2202551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516672" y="1280160"/>
            <a:ext cx="2202551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605844" y="1743075"/>
            <a:ext cx="3959243" cy="2357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Consolas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Consolas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Consolas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};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921776" y="1143000"/>
            <a:ext cx="4405103" cy="30860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100120" y="1280160"/>
            <a:ext cx="3638223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9" name="TextBox 1188"/>
          <p:cNvSpPr txBox="1"/>
          <p:nvPr/>
        </p:nvSpPr>
        <p:spPr>
          <a:xfrm>
            <a:off x="5100120" y="1280160"/>
            <a:ext cx="3638223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агент · candidate_1 (так все 30)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5189292" y="1743075"/>
            <a:ext cx="3959243" cy="2357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const result =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  id: src.id, name: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  email: …, plan: …, credits: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Consolas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Consolas"/>
              </a:rPr>
              <a:t>if (src.trialUntil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  result.trialUntil = src.trialUntil;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Consolas"/>
              </a:rPr>
              <a:t>if (src.teamId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  result.teamId = src.teamId;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Consolas"/>
              </a:rPr>
              <a:t>return result;</a:t>
            </a:r>
          </a:p>
        </p:txBody>
      </p:sp>
      <p:sp>
        <p:nvSpPr>
          <p:cNvPr id="117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328" y="4400550"/>
            <a:ext cx="2847563" cy="68580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1" name="TextBox 1190"/>
          <p:cNvSpPr txBox="1"/>
          <p:nvPr/>
        </p:nvSpPr>
        <p:spPr>
          <a:xfrm>
            <a:off x="427500" y="4451984"/>
            <a:ext cx="2669219" cy="5829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408822" y="4400550"/>
            <a:ext cx="2847563" cy="68580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2" name="TextBox 1191"/>
          <p:cNvSpPr txBox="1"/>
          <p:nvPr/>
        </p:nvSpPr>
        <p:spPr>
          <a:xfrm>
            <a:off x="3497994" y="4451984"/>
            <a:ext cx="2669219" cy="5829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79316" y="4400550"/>
            <a:ext cx="2847563" cy="68580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3" name="TextBox 1192"/>
          <p:cNvSpPr txBox="1"/>
          <p:nvPr/>
        </p:nvSpPr>
        <p:spPr>
          <a:xfrm>
            <a:off x="6568488" y="4451984"/>
            <a:ext cx="2669219" cy="5829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214937"/>
            <a:ext cx="8988552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TextBox 1193"/>
          <p:cNvSpPr txBox="1"/>
          <p:nvPr/>
        </p:nvSpPr>
        <p:spPr>
          <a:xfrm>
            <a:off x="427500" y="5266371"/>
            <a:ext cx="8810207" cy="625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TextBox 117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5" name="Connector 118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6" name="Oval 118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TextBox 119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8988552" cy="13716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605844" y="1297305"/>
            <a:ext cx="8453519" cy="10629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Consolas"/>
              </a:rPr>
              <a:t>out/p1-no-rules/candidate_1.js</a:t>
            </a:r>
          </a:p>
        </p:txBody>
      </p:sp>
      <p:sp>
        <p:nvSpPr>
          <p:cNvPr id="118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2728912"/>
            <a:ext cx="2847563" cy="128587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0" name="TextBox 1199"/>
          <p:cNvSpPr txBox="1"/>
          <p:nvPr/>
        </p:nvSpPr>
        <p:spPr>
          <a:xfrm>
            <a:off x="516672" y="2831782"/>
            <a:ext cx="2490875" cy="1080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две формулировки тикета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2728912"/>
            <a:ext cx="2847563" cy="128587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1" name="TextBox 1200"/>
          <p:cNvSpPr txBox="1"/>
          <p:nvPr/>
        </p:nvSpPr>
        <p:spPr>
          <a:xfrm>
            <a:off x="3587166" y="2831782"/>
            <a:ext cx="2490875" cy="1080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одна модель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  <a:r>
              <a:rPr sz="1600" b="0">
                <a:solidFill>
                  <a:srgbClr val="1E5B28"/>
                </a:solidFill>
                <a:latin typeface="X5 Sans"/>
              </a:rPr>
              <a:t> на ветку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2728912"/>
            <a:ext cx="2847563" cy="128587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2" name="TextBox 1201"/>
          <p:cNvSpPr txBox="1"/>
          <p:nvPr/>
        </p:nvSpPr>
        <p:spPr>
          <a:xfrm>
            <a:off x="6657660" y="2831782"/>
            <a:ext cx="2490875" cy="1080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229100"/>
            <a:ext cx="8988552" cy="17144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605844" y="4383404"/>
            <a:ext cx="8453519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в шапке: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</a:t>
            </a:r>
          </a:p>
        </p:txBody>
      </p:sp>
      <p:sp>
        <p:nvSpPr>
          <p:cNvPr id="118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1188" name="Oval 118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647075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TextBox 119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99" name="TextBox 119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?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0" name="Connector 119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1" name="Oval 120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TextBox 121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26146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605844" y="1245869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05844" y="1700212"/>
            <a:ext cx="2669219" cy="18430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712851" y="1761933"/>
            <a:ext cx="2455206" cy="17196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497994" y="1700212"/>
            <a:ext cx="2669219" cy="18430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3605000" y="1761933"/>
            <a:ext cx="2455206" cy="17196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390143" y="1700212"/>
            <a:ext cx="2669219" cy="18430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17" name="TextBox 1216"/>
          <p:cNvSpPr txBox="1"/>
          <p:nvPr/>
        </p:nvSpPr>
        <p:spPr>
          <a:xfrm>
            <a:off x="6497149" y="1761933"/>
            <a:ext cx="2455206" cy="17196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Node 20</a:t>
            </a:r>
          </a:p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замер двоится:</a:t>
            </a:r>
          </a:p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×3.6 / ×14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929062"/>
            <a:ext cx="8988552" cy="201453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TextBox 1217"/>
          <p:cNvSpPr txBox="1"/>
          <p:nvPr/>
        </p:nvSpPr>
        <p:spPr>
          <a:xfrm>
            <a:off x="605844" y="3989070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Consolas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5844" y="4486275"/>
            <a:ext cx="2669218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695016" y="4537709"/>
            <a:ext cx="2490874" cy="754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97993" y="4486275"/>
            <a:ext cx="2669218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3587165" y="4537709"/>
            <a:ext cx="2490874" cy="754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90143" y="4486275"/>
            <a:ext cx="2669218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6479315" y="4537709"/>
            <a:ext cx="2490874" cy="754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605844" y="5429249"/>
            <a:ext cx="845351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?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4" name="Connector 121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5" name="Oval 121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TextBox 122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228" name="Rounded Rectangle 1227"/>
          <p:cNvSpPr/>
          <p:nvPr/>
        </p:nvSpPr>
        <p:spPr>
          <a:xfrm>
            <a:off x="338328" y="1143000"/>
            <a:ext cx="4904467" cy="3000374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TextBox 1231"/>
          <p:cNvSpPr txBox="1"/>
          <p:nvPr/>
        </p:nvSpPr>
        <p:spPr>
          <a:xfrm>
            <a:off x="1230049" y="1228724"/>
            <a:ext cx="3834402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· один прогон — числа доклада справа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561258" y="1503044"/>
            <a:ext cx="4458607" cy="25288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0">
                <a:solidFill>
                  <a:srgbClr val="AADC00"/>
                </a:solidFill>
                <a:latin typeface="Consolas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E6F2E9"/>
                </a:solidFill>
                <a:latin typeface="Consolas"/>
              </a:rPr>
              <a:t>{"bench":"trycatch","case":"naive-plain",</a:t>
            </a:r>
            <a:r>
              <a:rPr sz="1150" b="1">
                <a:solidFill>
                  <a:srgbClr val="FF9DB8"/>
                </a:solidFill>
                <a:latin typeface="Consolas"/>
              </a:rPr>
              <a:t>"ms":21</a:t>
            </a:r>
            <a:r>
              <a:rPr sz="1150" b="0">
                <a:solidFill>
                  <a:srgbClr val="E6F2E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E6F2E9"/>
                </a:solidFill>
                <a:latin typeface="Consolas"/>
              </a:rPr>
              <a:t>{"bench":"trycatch","case":"naive-try",</a:t>
            </a:r>
            <a:r>
              <a:rPr sz="1150" b="1">
                <a:solidFill>
                  <a:srgbClr val="FF9DB8"/>
                </a:solidFill>
                <a:latin typeface="Consolas"/>
              </a:rPr>
              <a:t>"ms":65</a:t>
            </a:r>
            <a:r>
              <a:rPr sz="1150" b="0">
                <a:solidFill>
                  <a:srgbClr val="E6F2E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AADC00"/>
                </a:solidFill>
                <a:latin typeface="Consolas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E6F2E9"/>
                </a:solidFill>
                <a:latin typeface="Consolas"/>
              </a:rPr>
              <a:t>{"bench":"trycatch","case":"honest-plain","ms":13}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AADC00"/>
                </a:solidFill>
                <a:latin typeface="Consolas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E6F2E9"/>
                </a:solidFill>
                <a:latin typeface="Consolas"/>
              </a:rPr>
              <a:t>{"bench":"trycatch","case":"honest-try","ms":13}</a:t>
            </a:r>
          </a:p>
        </p:txBody>
      </p:sp>
      <p:sp>
        <p:nvSpPr>
          <p:cNvPr id="12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65726" y="1143000"/>
            <a:ext cx="3861153" cy="300037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34" name="TextBox 1233"/>
          <p:cNvSpPr txBox="1"/>
          <p:nvPr/>
        </p:nvSpPr>
        <p:spPr>
          <a:xfrm>
            <a:off x="5733242" y="1357312"/>
            <a:ext cx="3326120" cy="600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5733242" y="2128837"/>
            <a:ext cx="3326120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общий цикл замера: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цикл ставил на первую функцию — вторая сломала ставку</a:t>
            </a:r>
          </a:p>
        </p:txBody>
      </p:sp>
      <p:sp>
        <p:nvSpPr>
          <p:cNvPr id="121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57687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605844" y="4511992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59308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1136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9308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1136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8393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76564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94852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6564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494852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67420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401911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60049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7833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живое правило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60049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7833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норма корпуса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5090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</a:t>
            </a:r>
          </a:p>
        </p:txBody>
      </p:sp>
      <p:sp>
        <p:nvSpPr>
          <p:cNvPr id="121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1214" name="Oval 121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678164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TextBox 121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3" name="TextBox 122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?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4" name="Connector 122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5" name="Oval 122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TextBox 123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2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4280262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537335"/>
            <a:ext cx="392357" cy="37719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534506" y="1537335"/>
            <a:ext cx="392357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1096291" y="1245869"/>
            <a:ext cx="3343955" cy="951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Consolas"/>
              </a:rPr>
              <a:t>null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23686" y="1143000"/>
            <a:ext cx="4280262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19865" y="1537335"/>
            <a:ext cx="392357" cy="37719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5019865" y="1537335"/>
            <a:ext cx="392357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581650" y="1245869"/>
            <a:ext cx="3343955" cy="951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 (</a:t>
            </a:r>
            <a:r>
              <a:rPr sz="1496" b="0">
                <a:solidFill>
                  <a:srgbClr val="1E5B28"/>
                </a:solidFill>
                <a:latin typeface="Consolas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×10–×29)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2428874"/>
            <a:ext cx="4280262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2823209"/>
            <a:ext cx="392357" cy="37719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534506" y="2823209"/>
            <a:ext cx="392357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096291" y="2531745"/>
            <a:ext cx="3343955" cy="951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23686" y="2428874"/>
            <a:ext cx="4280262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19865" y="2823209"/>
            <a:ext cx="392357" cy="37719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5019865" y="2823209"/>
            <a:ext cx="392357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5581650" y="2531745"/>
            <a:ext cx="3343955" cy="9515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757611"/>
            <a:ext cx="8988552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605844" y="3929062"/>
            <a:ext cx="8542691" cy="942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6B7280"/>
                </a:solidFill>
                <a:latin typeface="Consolas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6B7280"/>
                </a:solidFill>
                <a:latin typeface="Consolas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1E5B28"/>
                </a:solidFill>
                <a:latin typeface="Consolas"/>
              </a:rPr>
              <a:t>правильно:  { ...base, extra: cond ? value : null }</a:t>
            </a:r>
          </a:p>
        </p:txBody>
      </p:sp>
      <p:sp>
        <p:nvSpPr>
          <p:cNvPr id="122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29212"/>
            <a:ext cx="8988552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445334" y="5190933"/>
            <a:ext cx="8774538" cy="690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порядок тоже деньги: 2 формы · чтение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×1.39–1.52</a:t>
            </a:r>
            <a:r>
              <a:rPr sz="1600" b="0">
                <a:solidFill>
                  <a:srgbClr val="1E5B28"/>
                </a:solidFill>
                <a:latin typeface="X5 Sans"/>
              </a:rPr>
              <a:t> · 2005 rps (−13%)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TextBox 123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?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0" name="Connector 123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1" name="Oval 124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TextBox 125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4993639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16672" y="1280160"/>
            <a:ext cx="1587264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516672" y="1280160"/>
            <a:ext cx="1587264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drive-all.sh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605844" y="1743075"/>
            <a:ext cx="4547779" cy="900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onsolas"/>
              </a:rPr>
              <a:t># генерации с правилами (P2 — так же)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onsolas"/>
              </a:rPr>
              <a:t>./run-experiment.sh -n 15 -p prompts/P1.txt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onsolas"/>
              </a:rPr>
              <a:t>    -o out/p1-rules -r v8-rules.md -m opus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onsolas"/>
              </a:rPr>
              <a:t># правила — в промпт, перед тикетом</a:t>
            </a:r>
          </a:p>
        </p:txBody>
      </p:sp>
      <p:sp>
        <p:nvSpPr>
          <p:cNvPr id="1256" name="Rounded Rectangle 1255"/>
          <p:cNvSpPr/>
          <p:nvPr/>
        </p:nvSpPr>
        <p:spPr>
          <a:xfrm>
            <a:off x="338328" y="2943224"/>
            <a:ext cx="4993639" cy="3000374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516672" y="3080384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695016" y="3080384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873360" y="3080384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TextBox 1259"/>
          <p:cNvSpPr txBox="1"/>
          <p:nvPr/>
        </p:nvSpPr>
        <p:spPr>
          <a:xfrm>
            <a:off x="1230049" y="3028950"/>
            <a:ext cx="3923573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561258" y="3303269"/>
            <a:ext cx="4547779" cy="25288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out/p1-rules/candidate_1.js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</a:t>
            </a:r>
            <a:r>
              <a:rPr sz="1100" b="1">
                <a:solidFill>
                  <a:srgbClr val="FF9DB8"/>
                </a:solidFill>
                <a:latin typeface="Consolas"/>
              </a:rPr>
              <a:t>"shapes":1</a:t>
            </a:r>
            <a:r>
              <a:rPr sz="1100" b="0">
                <a:solidFill>
                  <a:srgbClr val="E6F2E9"/>
                </a:solidFill>
                <a:latin typeface="Consolas"/>
              </a:rPr>
              <a:t>,</a:t>
            </a:r>
            <a:r>
              <a:rPr sz="1100" b="1">
                <a:solidFill>
                  <a:srgbClr val="FF9DB8"/>
                </a:solidFill>
                <a:latin typeface="Consolas"/>
              </a:rPr>
              <a:t>"ic":"MONO"</a:t>
            </a:r>
            <a:r>
              <a:rPr sz="1100" b="0">
                <a:solidFill>
                  <a:srgbClr val="E6F2E9"/>
                </a:solidFill>
                <a:latin typeface="Consolas"/>
              </a:rPr>
              <a:t>,"p50_ms":0.12,"correct":true}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554898" y="1143000"/>
            <a:ext cx="3771981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5554898" y="1228724"/>
            <a:ext cx="3771981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5733242" y="2557462"/>
            <a:ext cx="3415293" cy="2057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0.80 — диапазоны не пересекаются</a:t>
            </a:r>
          </a:p>
        </p:txBody>
      </p:sp>
      <p:sp>
        <p:nvSpPr>
          <p:cNvPr id="123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42" y="4743450"/>
            <a:ext cx="3415293" cy="942975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5867000" y="4820602"/>
            <a:ext cx="3147776" cy="7886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?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0" name="Connector 124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1" name="Oval 125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TextBox 126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4280262" cy="30860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16672" y="1280160"/>
            <a:ext cx="2202551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516672" y="1280160"/>
            <a:ext cx="2202551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605844" y="1743075"/>
            <a:ext cx="3834402" cy="2357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Consolas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Consolas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Consolas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};</a:t>
            </a:r>
          </a:p>
        </p:txBody>
      </p:sp>
      <p:sp>
        <p:nvSpPr>
          <p:cNvPr id="12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23686" y="1143000"/>
            <a:ext cx="4280262" cy="30860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02031" y="1280160"/>
            <a:ext cx="2920387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5002031" y="1280160"/>
            <a:ext cx="2920387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5091203" y="1743075"/>
            <a:ext cx="3834402" cy="2357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Consolas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Consolas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Consolas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Consolas"/>
              </a:rPr>
              <a:t>};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4400550"/>
            <a:ext cx="2847563" cy="68580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427500" y="4451984"/>
            <a:ext cx="2669219" cy="5829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5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408822" y="4400550"/>
            <a:ext cx="2847563" cy="68580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3497994" y="4451984"/>
            <a:ext cx="2669219" cy="5829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5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79316" y="4400550"/>
            <a:ext cx="2847563" cy="68580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6568488" y="4451984"/>
            <a:ext cx="2669219" cy="5829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214937"/>
            <a:ext cx="8988552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TextBox 1270"/>
          <p:cNvSpPr txBox="1"/>
          <p:nvPr/>
        </p:nvSpPr>
        <p:spPr>
          <a:xfrm>
            <a:off x="427500" y="5266371"/>
            <a:ext cx="8810207" cy="625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тернарный оператор с null взят из примера в первом правиле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без файла</a:t>
            </a:r>
          </a:p>
        </p:txBody>
      </p:sp>
      <p:sp>
        <p:nvSpPr>
          <p:cNvPr id="12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4" name="Connector 1263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5" name="Oval 1264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Oval 1266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Oval 1267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TextBox 1276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3716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2657329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534506" y="1297305"/>
            <a:ext cx="2657329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650430" y="1674494"/>
            <a:ext cx="8364347" cy="7286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Consolas"/>
              </a:rPr>
              <a:t>out/p1-rules/candidate_1.js</a:t>
            </a:r>
          </a:p>
        </p:txBody>
      </p:sp>
      <p:sp>
        <p:nvSpPr>
          <p:cNvPr id="126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643187"/>
            <a:ext cx="8988552" cy="13716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2797492"/>
            <a:ext cx="2657329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0" name="TextBox 1279"/>
          <p:cNvSpPr txBox="1"/>
          <p:nvPr/>
        </p:nvSpPr>
        <p:spPr>
          <a:xfrm>
            <a:off x="534506" y="2797492"/>
            <a:ext cx="2657329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650430" y="3174682"/>
            <a:ext cx="8364347" cy="7286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Consolas"/>
              </a:rPr>
              <a:t>out/p1-no-rules/candidate_1.js</a:t>
            </a:r>
          </a:p>
        </p:txBody>
      </p:sp>
      <p:sp>
        <p:nvSpPr>
          <p:cNvPr id="126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4229100"/>
            <a:ext cx="8988552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472086" y="4306252"/>
            <a:ext cx="8721035" cy="5743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на HTTP — эти генерации, не пара с первого слайда · формы те же: 1 против 8</a:t>
            </a:r>
          </a:p>
        </p:txBody>
      </p:sp>
      <p:sp>
        <p:nvSpPr>
          <p:cNvPr id="126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5086350"/>
            <a:ext cx="4382810" cy="8572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3" name="TextBox 1282"/>
          <p:cNvSpPr txBox="1"/>
          <p:nvPr/>
        </p:nvSpPr>
        <p:spPr>
          <a:xfrm>
            <a:off x="445334" y="5148071"/>
            <a:ext cx="4168797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оговорка: правила шли в промпт, с запретом и примером · через CLAUDE.md не мерил</a:t>
            </a:r>
          </a:p>
        </p:txBody>
      </p:sp>
      <p:sp>
        <p:nvSpPr>
          <p:cNvPr id="126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944069" y="5086350"/>
            <a:ext cx="4382810" cy="8572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4" name="TextBox 1283"/>
          <p:cNvSpPr txBox="1"/>
          <p:nvPr/>
        </p:nvSpPr>
        <p:spPr>
          <a:xfrm>
            <a:off x="5051075" y="5148071"/>
            <a:ext cx="4168797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232" b="0">
                <a:solidFill>
                  <a:srgbClr val="1E5B28"/>
                </a:solidFill>
                <a:latin typeface="Consolas"/>
              </a:rPr>
              <a:t>CLAUDE.md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Consolas"/>
              </a:rPr>
              <a:t>.cursor/rules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Consolas"/>
              </a:rPr>
              <a:t>AGENTS.md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</a:t>
            </a:r>
          </a:p>
        </p:txBody>
      </p:sp>
      <p:sp>
        <p:nvSpPr>
          <p:cNvPr id="126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1269" name="Oval 1268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709254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состав и статус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TextBox 127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TextBox 127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без файла</a:t>
            </a:r>
          </a:p>
        </p:txBody>
      </p:sp>
      <p:sp>
        <p:nvSpPr>
          <p:cNvPr id="12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9" name="Connector 127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0" name="Oval 127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2" name="Oval 128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Oval 128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TextBox 129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cxnSp>
        <p:nvCxnSpPr>
          <p:cNvPr id="1293" name="Connector 1292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4" name="Rounded Rectangle 1293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TextBox 1294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96" name="Connector 1295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7" name="TextBox 1296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98" name="Rounded Rectangle 1297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TextBox 1298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300" name="Connector 1299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1" name="TextBox 1300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302" name="Rounded Rectangle 1301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TextBox 1302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304" name="Connector 1303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5" name="TextBox 1304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306" name="Rounded Rectangle 1305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308" name="Connector 1307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9" name="TextBox 1308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310" name="Connector 1309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1" name="Connector 1310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2" name="Connector 1311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3" name="TextBox 1312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314" name="Connector 1313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5" name="Connector 1314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7" name="TextBox 1316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5911586" y="1194435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новый фронтенд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5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 rot="5400000">
            <a:off x="7485475" y="2171700"/>
            <a:ext cx="178344" cy="30003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5146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5911586" y="2566034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у TurboFan — уже с Chrome 120</a:t>
            </a:r>
          </a:p>
        </p:txBody>
      </p:sp>
      <p:sp>
        <p:nvSpPr>
          <p:cNvPr id="127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629025"/>
            <a:ext cx="3504464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0" name="TextBox 1319"/>
          <p:cNvSpPr txBox="1"/>
          <p:nvPr/>
        </p:nvSpPr>
        <p:spPr>
          <a:xfrm>
            <a:off x="5911586" y="3680459"/>
            <a:ext cx="3326119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«≈ Maglev + Turboshaft … instead of Turbofan»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замена ступени, не пятая</a:t>
            </a:r>
          </a:p>
        </p:txBody>
      </p:sp>
      <p:sp>
        <p:nvSpPr>
          <p:cNvPr id="127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43450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472086" y="4820602"/>
            <a:ext cx="8721035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Consolas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TextBox 127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7" name="TextBox 128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без файла</a:t>
            </a:r>
          </a:p>
        </p:txBody>
      </p:sp>
      <p:sp>
        <p:nvSpPr>
          <p:cNvPr id="12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0" name="Connector 128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1" name="Oval 129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TextBox 130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304" name="Rounded Rectangle 1303"/>
          <p:cNvSpPr/>
          <p:nvPr/>
        </p:nvSpPr>
        <p:spPr>
          <a:xfrm>
            <a:off x="338328" y="1143000"/>
            <a:ext cx="5261156" cy="1971674"/>
          </a:xfrm>
          <a:prstGeom prst="roundRect">
            <a:avLst>
              <a:gd name="adj" fmla="val 6956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1230049" y="1228724"/>
            <a:ext cx="419109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один прогон — медианы справа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561258" y="1503044"/>
            <a:ext cx="4815295" cy="1500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ref-a.js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{"shapes":1,"ic":"MONO",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"p50_ms":0.13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ref-b.js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{"shapes":8,"ic":"MEGA",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"p50_ms":0.88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338328" y="3243262"/>
            <a:ext cx="5261156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медианы 5 прогонов</a:t>
            </a:r>
          </a:p>
        </p:txBody>
      </p:sp>
      <p:graphicFrame>
        <p:nvGraphicFramePr>
          <p:cNvPr id="1311" name="Chart 1310"/>
          <p:cNvGraphicFramePr>
            <a:graphicFrameLocks noGrp="1"/>
          </p:cNvGraphicFramePr>
          <p:nvPr/>
        </p:nvGraphicFramePr>
        <p:xfrm>
          <a:off x="338328" y="3543299"/>
          <a:ext cx="5261156" cy="24002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1143000"/>
            <a:ext cx="3504464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5956173" y="1220152"/>
            <a:ext cx="3236948" cy="13458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под флагом оба чуть медленнее</a:t>
            </a:r>
          </a:p>
        </p:txBody>
      </p:sp>
      <p:sp>
        <p:nvSpPr>
          <p:cNvPr id="128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771775"/>
            <a:ext cx="3504464" cy="942975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5929421" y="2833496"/>
            <a:ext cx="3290451" cy="819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822414" y="3843337"/>
            <a:ext cx="3504464" cy="1114425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5929421" y="3905058"/>
            <a:ext cx="3290451" cy="990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заявлено: компилятор проще и быстрее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Turboshaft ×2 — с Chrome 120, уже в TurboFan</a:t>
            </a:r>
          </a:p>
        </p:txBody>
      </p:sp>
      <p:sp>
        <p:nvSpPr>
          <p:cNvPr id="128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5086350"/>
            <a:ext cx="3504464" cy="557212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5" name="TextBox 1314"/>
          <p:cNvSpPr txBox="1"/>
          <p:nvPr/>
        </p:nvSpPr>
        <p:spPr>
          <a:xfrm>
            <a:off x="5911586" y="5137784"/>
            <a:ext cx="3326119" cy="4543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 скорости кода источники молчат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TextBox 129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TextBox 129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без файла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0" name="Connector 129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1" name="Oval 130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TextBox 131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1423780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409665" y="1184147"/>
            <a:ext cx="1281105" cy="15464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851281" y="1143000"/>
            <a:ext cx="1423780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1922618" y="1184147"/>
            <a:ext cx="1281105" cy="15464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Ignition + TurboFan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64236" y="1143000"/>
            <a:ext cx="1423780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3435573" y="1184147"/>
            <a:ext cx="1281105" cy="15464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77190" y="1143000"/>
            <a:ext cx="1423780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4948527" y="1184147"/>
            <a:ext cx="1281105" cy="15464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90144" y="1143000"/>
            <a:ext cx="1423780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6461481" y="1184147"/>
            <a:ext cx="1281105" cy="15464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30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903097" y="1143000"/>
            <a:ext cx="1423780" cy="162877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7974434" y="1184147"/>
            <a:ext cx="1281105" cy="15464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30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114674"/>
            <a:ext cx="8988552" cy="28289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338328" y="3200400"/>
            <a:ext cx="3031852" cy="26574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3459353" y="3200400"/>
            <a:ext cx="5510838" cy="26574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</a:t>
            </a:r>
          </a:p>
        </p:txBody>
      </p:sp>
      <p:sp>
        <p:nvSpPr>
          <p:cNvPr id="130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TextBox 130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1305" name="Oval 1304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740343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63970" y="1497690"/>
            <a:ext cx="10850077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2723949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2723949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449694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449694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9273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9273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258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1402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9690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1402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9690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258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10071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0071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0241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9385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17673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9385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17673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0241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5" name="Oval 24"/>
          <p:cNvSpPr/>
          <p:nvPr/>
        </p:nvSpPr>
        <p:spPr>
          <a:xfrm>
            <a:off x="300869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00869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224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07368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825656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7368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25656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8224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3" name="Diamond 32"/>
          <p:cNvSpPr/>
          <p:nvPr/>
        </p:nvSpPr>
        <p:spPr>
          <a:xfrm>
            <a:off x="3575304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91668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1668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620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1535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73363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1535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73363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620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2" name="Oval 41"/>
          <p:cNvSpPr/>
          <p:nvPr/>
        </p:nvSpPr>
        <p:spPr>
          <a:xfrm>
            <a:off x="482466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2466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419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2333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64162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2333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162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419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0" name="Diamond 49"/>
          <p:cNvSpPr/>
          <p:nvPr/>
        </p:nvSpPr>
        <p:spPr>
          <a:xfrm>
            <a:off x="5391270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73264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73264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17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131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54960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3131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54960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17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59" name="Oval 58"/>
          <p:cNvSpPr/>
          <p:nvPr/>
        </p:nvSpPr>
        <p:spPr>
          <a:xfrm>
            <a:off x="6640629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640629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015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3930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5758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агент + файл · 30/30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3930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45758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015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67" name="Oval 66"/>
          <p:cNvSpPr/>
          <p:nvPr/>
        </p:nvSpPr>
        <p:spPr>
          <a:xfrm>
            <a:off x="754861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54861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814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4728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36557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живое правило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4728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6557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норма корпуса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3814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75" name="Diamond 74"/>
          <p:cNvSpPr/>
          <p:nvPr/>
        </p:nvSpPr>
        <p:spPr>
          <a:xfrm>
            <a:off x="8115219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45659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45659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4612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5526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27355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5526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27355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612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84" name="Oval 83"/>
          <p:cNvSpPr/>
          <p:nvPr/>
        </p:nvSpPr>
        <p:spPr>
          <a:xfrm>
            <a:off x="9364578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364578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54106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163250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181538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63250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181538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54106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92" name="Oval 91"/>
          <p:cNvSpPr/>
          <p:nvPr/>
        </p:nvSpPr>
        <p:spPr>
          <a:xfrm>
            <a:off x="10173460" y="1173358"/>
            <a:ext cx="648665" cy="648665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27256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27256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62089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071233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089521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071233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089521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62089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01" name="Oval 100"/>
          <p:cNvSpPr/>
          <p:nvPr/>
        </p:nvSpPr>
        <p:spPr>
          <a:xfrm>
            <a:off x="1118054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18054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0072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979216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10997504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979216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0997504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970072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0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5" name="TextBox 1304"/>
          <p:cNvSpPr txBox="1"/>
          <p:nvPr/>
        </p:nvSpPr>
        <p:spPr>
          <a:xfrm>
            <a:off x="47548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2–6: развилку задаёт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0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4476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6" name="TextBox 1305"/>
          <p:cNvSpPr txBox="1"/>
          <p:nvPr/>
        </p:nvSpPr>
        <p:spPr>
          <a:xfrm>
            <a:off x="628192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7–9: развилку задаёт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600" b="0">
                <a:solidFill>
                  <a:srgbClr val="1E5B28"/>
                </a:solidFill>
                <a:latin typeface="X5 Sans"/>
              </a:rPr>
              <a:t> у агента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1828800" y="57332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человек: файл — до агента · ревью — после · билдер (tsc / esbuild) — не мерил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TextBox 130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8" name="TextBox 130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без файла</a:t>
            </a:r>
          </a:p>
        </p:txBody>
      </p:sp>
      <p:sp>
        <p:nvSpPr>
          <p:cNvPr id="13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17" name="Connector 131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8" name="Oval 131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9" name="Oval 131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0" name="Oval 131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Oval 132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Oval 132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TextBox 132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31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1" name="TextBox 1330"/>
          <p:cNvSpPr txBox="1"/>
          <p:nvPr/>
        </p:nvSpPr>
        <p:spPr>
          <a:xfrm>
            <a:off x="516672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из 60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некорректных генераций</a:t>
            </a:r>
          </a:p>
        </p:txBody>
      </p:sp>
      <p:sp>
        <p:nvSpPr>
          <p:cNvPr id="131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2" name="TextBox 1331"/>
          <p:cNvSpPr txBox="1"/>
          <p:nvPr/>
        </p:nvSpPr>
        <p:spPr>
          <a:xfrm>
            <a:off x="3587166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без файла: идиома корпуса · 8 форм</a:t>
            </a:r>
          </a:p>
        </p:txBody>
      </p:sp>
      <p:sp>
        <p:nvSpPr>
          <p:cNvPr id="131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228724"/>
            <a:ext cx="2847563" cy="2828924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3" name="TextBox 1332"/>
          <p:cNvSpPr txBox="1"/>
          <p:nvPr/>
        </p:nvSpPr>
        <p:spPr>
          <a:xfrm>
            <a:off x="6657660" y="1331595"/>
            <a:ext cx="2490875" cy="2623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с файлом: литерал с null · 1 форма</a:t>
            </a:r>
          </a:p>
        </p:txBody>
      </p:sp>
      <p:sp>
        <p:nvSpPr>
          <p:cNvPr id="13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3287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605844" y="4469129"/>
            <a:ext cx="8453519" cy="10201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 Medium"/>
              </a:rPr>
              <a:t>перф-сознательность — человек</a:t>
            </a:r>
          </a:p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файл — до агента · ревью — после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3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300">
                <a:solidFill>
                  <a:srgbClr val="8A1538"/>
                </a:solidFill>
                <a:latin typeface="X5 Sans Medium"/>
              </a:rPr>
              <a:t>без файла</a:t>
            </a:r>
          </a:p>
        </p:txBody>
      </p:sp>
      <p:sp>
        <p:nvSpPr>
          <p:cNvPr id="13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7" name="Connector 132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8" name="Oval 132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TextBox 133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3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TextBox 1340"/>
          <p:cNvSpPr txBox="1"/>
          <p:nvPr/>
        </p:nvSpPr>
        <p:spPr>
          <a:xfrm>
            <a:off x="605844" y="1143000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--allow-natives-syntax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lab/shape-analyzer.js lab/ref-b.js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6045345" y="1143000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из папки v8-experiment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471737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605844" y="2471737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--log-ic --no-logfile-per-isolate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--logfile=ic.log app.js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6045345" y="2471737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журнал мест чтения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1 = MONO · N = MEGA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800475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605844" y="3800475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./docker/run.sh 24 'bash docker/verify.sh my-run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&amp;&amp; node docker/report.js docker/out/my-run'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6045345" y="3800475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все числа доклада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 сводка · ~25 мин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2014764" y="5300662"/>
            <a:ext cx="731211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на вопросы: почему не сразу TurboFan · почему V8 не греет на старте · как узнать ярус · delete · а на x64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2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</a:t>
            </a:r>
          </a:p>
        </p:txBody>
      </p:sp>
      <p:sp>
        <p:nvSpPr>
          <p:cNvPr id="132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  <p:sp>
        <p:nvSpPr>
          <p:cNvPr id="1328" name="Oval 132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771433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097280"/>
            <a:ext cx="11521440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9496" y="1261872"/>
            <a:ext cx="1568196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539496" y="1261872"/>
            <a:ext cx="15681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658368" y="1664207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011680"/>
            <a:ext cx="11521440" cy="8229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9496" y="2176272"/>
            <a:ext cx="2304288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1" name="TextBox 1330"/>
          <p:cNvSpPr txBox="1"/>
          <p:nvPr/>
        </p:nvSpPr>
        <p:spPr>
          <a:xfrm>
            <a:off x="539496" y="2176272"/>
            <a:ext cx="2304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32" name="TextBox 1331"/>
          <p:cNvSpPr txBox="1"/>
          <p:nvPr/>
        </p:nvSpPr>
        <p:spPr>
          <a:xfrm>
            <a:off x="658368" y="2578608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33" name="Connector 1332"/>
          <p:cNvCxnSpPr/>
          <p:nvPr/>
        </p:nvCxnSpPr>
        <p:spPr>
          <a:xfrm>
            <a:off x="938403" y="3401568"/>
            <a:ext cx="10875644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4" name="Rounded Rectangle 1333"/>
          <p:cNvSpPr/>
          <p:nvPr/>
        </p:nvSpPr>
        <p:spPr>
          <a:xfrm>
            <a:off x="338328" y="4577715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338328" y="4577715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338328" y="5273802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338328" y="5273802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38" name="Oval 1337"/>
          <p:cNvSpPr/>
          <p:nvPr/>
        </p:nvSpPr>
        <p:spPr>
          <a:xfrm>
            <a:off x="117743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117743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956691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1" name="Rounded Rectangle 1340"/>
          <p:cNvSpPr/>
          <p:nvPr/>
        </p:nvSpPr>
        <p:spPr>
          <a:xfrm>
            <a:off x="965835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984123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3" name="Rounded Rectangle 1342"/>
          <p:cNvSpPr/>
          <p:nvPr/>
        </p:nvSpPr>
        <p:spPr>
          <a:xfrm>
            <a:off x="965835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TextBox 1343"/>
          <p:cNvSpPr txBox="1"/>
          <p:nvPr/>
        </p:nvSpPr>
        <p:spPr>
          <a:xfrm>
            <a:off x="984123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5" name="Oval 1344"/>
          <p:cNvSpPr/>
          <p:nvPr/>
        </p:nvSpPr>
        <p:spPr>
          <a:xfrm>
            <a:off x="208754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TextBox 1345"/>
          <p:cNvSpPr txBox="1"/>
          <p:nvPr/>
        </p:nvSpPr>
        <p:spPr>
          <a:xfrm>
            <a:off x="208754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186680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48" name="Rounded Rectangle 1347"/>
          <p:cNvSpPr/>
          <p:nvPr/>
        </p:nvSpPr>
        <p:spPr>
          <a:xfrm>
            <a:off x="187594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TextBox 1348"/>
          <p:cNvSpPr txBox="1"/>
          <p:nvPr/>
        </p:nvSpPr>
        <p:spPr>
          <a:xfrm>
            <a:off x="189423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0" name="Rounded Rectangle 1349"/>
          <p:cNvSpPr/>
          <p:nvPr/>
        </p:nvSpPr>
        <p:spPr>
          <a:xfrm>
            <a:off x="187594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TextBox 1350"/>
          <p:cNvSpPr txBox="1"/>
          <p:nvPr/>
        </p:nvSpPr>
        <p:spPr>
          <a:xfrm>
            <a:off x="189423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2" name="Oval 1351"/>
          <p:cNvSpPr/>
          <p:nvPr/>
        </p:nvSpPr>
        <p:spPr>
          <a:xfrm>
            <a:off x="299766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TextBox 1352"/>
          <p:cNvSpPr txBox="1"/>
          <p:nvPr/>
        </p:nvSpPr>
        <p:spPr>
          <a:xfrm>
            <a:off x="299766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54" name="TextBox 1353"/>
          <p:cNvSpPr txBox="1"/>
          <p:nvPr/>
        </p:nvSpPr>
        <p:spPr>
          <a:xfrm>
            <a:off x="277691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55" name="Rounded Rectangle 1354"/>
          <p:cNvSpPr/>
          <p:nvPr/>
        </p:nvSpPr>
        <p:spPr>
          <a:xfrm>
            <a:off x="278606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TextBox 1355"/>
          <p:cNvSpPr txBox="1"/>
          <p:nvPr/>
        </p:nvSpPr>
        <p:spPr>
          <a:xfrm>
            <a:off x="280435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57" name="Rounded Rectangle 1356"/>
          <p:cNvSpPr/>
          <p:nvPr/>
        </p:nvSpPr>
        <p:spPr>
          <a:xfrm>
            <a:off x="278606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TextBox 1357"/>
          <p:cNvSpPr txBox="1"/>
          <p:nvPr/>
        </p:nvSpPr>
        <p:spPr>
          <a:xfrm>
            <a:off x="280435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59" name="Diamond 1358"/>
          <p:cNvSpPr/>
          <p:nvPr/>
        </p:nvSpPr>
        <p:spPr>
          <a:xfrm>
            <a:off x="3560730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390777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390777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368703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63" name="Rounded Rectangle 1362"/>
          <p:cNvSpPr/>
          <p:nvPr/>
        </p:nvSpPr>
        <p:spPr>
          <a:xfrm>
            <a:off x="369617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4" name="TextBox 1363"/>
          <p:cNvSpPr txBox="1"/>
          <p:nvPr/>
        </p:nvSpPr>
        <p:spPr>
          <a:xfrm>
            <a:off x="371446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65" name="Rounded Rectangle 1364"/>
          <p:cNvSpPr/>
          <p:nvPr/>
        </p:nvSpPr>
        <p:spPr>
          <a:xfrm>
            <a:off x="369617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TextBox 1365"/>
          <p:cNvSpPr txBox="1"/>
          <p:nvPr/>
        </p:nvSpPr>
        <p:spPr>
          <a:xfrm>
            <a:off x="371446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67" name="Oval 1366"/>
          <p:cNvSpPr/>
          <p:nvPr/>
        </p:nvSpPr>
        <p:spPr>
          <a:xfrm>
            <a:off x="4817887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8" name="TextBox 1367"/>
          <p:cNvSpPr txBox="1"/>
          <p:nvPr/>
        </p:nvSpPr>
        <p:spPr>
          <a:xfrm>
            <a:off x="4817887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4597145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4606290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1" name="TextBox 1370"/>
          <p:cNvSpPr txBox="1"/>
          <p:nvPr/>
        </p:nvSpPr>
        <p:spPr>
          <a:xfrm>
            <a:off x="4624577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4606290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4624577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1374" name="Diamond 1373"/>
          <p:cNvSpPr/>
          <p:nvPr/>
        </p:nvSpPr>
        <p:spPr>
          <a:xfrm>
            <a:off x="5380958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5" name="Oval 1374"/>
          <p:cNvSpPr/>
          <p:nvPr/>
        </p:nvSpPr>
        <p:spPr>
          <a:xfrm>
            <a:off x="5728001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5728001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5507259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78" name="Rounded Rectangle 1377"/>
          <p:cNvSpPr/>
          <p:nvPr/>
        </p:nvSpPr>
        <p:spPr>
          <a:xfrm>
            <a:off x="5516403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9" name="TextBox 1378"/>
          <p:cNvSpPr txBox="1"/>
          <p:nvPr/>
        </p:nvSpPr>
        <p:spPr>
          <a:xfrm>
            <a:off x="5534691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80" name="Rounded Rectangle 1379"/>
          <p:cNvSpPr/>
          <p:nvPr/>
        </p:nvSpPr>
        <p:spPr>
          <a:xfrm>
            <a:off x="5516403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1" name="TextBox 1380"/>
          <p:cNvSpPr txBox="1"/>
          <p:nvPr/>
        </p:nvSpPr>
        <p:spPr>
          <a:xfrm>
            <a:off x="5534691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82" name="Oval 1381"/>
          <p:cNvSpPr/>
          <p:nvPr/>
        </p:nvSpPr>
        <p:spPr>
          <a:xfrm>
            <a:off x="6638115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3" name="TextBox 1382"/>
          <p:cNvSpPr txBox="1"/>
          <p:nvPr/>
        </p:nvSpPr>
        <p:spPr>
          <a:xfrm>
            <a:off x="6638115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6417373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385" name="Rounded Rectangle 1384"/>
          <p:cNvSpPr/>
          <p:nvPr/>
        </p:nvSpPr>
        <p:spPr>
          <a:xfrm>
            <a:off x="6426517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6" name="TextBox 1385"/>
          <p:cNvSpPr txBox="1"/>
          <p:nvPr/>
        </p:nvSpPr>
        <p:spPr>
          <a:xfrm>
            <a:off x="6444805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агент + файл · 30/30</a:t>
            </a:r>
          </a:p>
        </p:txBody>
      </p:sp>
      <p:sp>
        <p:nvSpPr>
          <p:cNvPr id="1387" name="Rounded Rectangle 1386"/>
          <p:cNvSpPr/>
          <p:nvPr/>
        </p:nvSpPr>
        <p:spPr>
          <a:xfrm>
            <a:off x="6426517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8" name="TextBox 1387"/>
          <p:cNvSpPr txBox="1"/>
          <p:nvPr/>
        </p:nvSpPr>
        <p:spPr>
          <a:xfrm>
            <a:off x="6444805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389" name="Oval 1388"/>
          <p:cNvSpPr/>
          <p:nvPr/>
        </p:nvSpPr>
        <p:spPr>
          <a:xfrm>
            <a:off x="7548229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7548229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7327487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392" name="Rounded Rectangle 1391"/>
          <p:cNvSpPr/>
          <p:nvPr/>
        </p:nvSpPr>
        <p:spPr>
          <a:xfrm>
            <a:off x="7336631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3" name="TextBox 1392"/>
          <p:cNvSpPr txBox="1"/>
          <p:nvPr/>
        </p:nvSpPr>
        <p:spPr>
          <a:xfrm>
            <a:off x="7354919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живое правило</a:t>
            </a:r>
          </a:p>
        </p:txBody>
      </p:sp>
      <p:sp>
        <p:nvSpPr>
          <p:cNvPr id="1394" name="Rounded Rectangle 1393"/>
          <p:cNvSpPr/>
          <p:nvPr/>
        </p:nvSpPr>
        <p:spPr>
          <a:xfrm>
            <a:off x="7336631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5" name="TextBox 1394"/>
          <p:cNvSpPr txBox="1"/>
          <p:nvPr/>
        </p:nvSpPr>
        <p:spPr>
          <a:xfrm>
            <a:off x="7354919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норма корпуса</a:t>
            </a:r>
          </a:p>
        </p:txBody>
      </p:sp>
      <p:sp>
        <p:nvSpPr>
          <p:cNvPr id="1396" name="Diamond 1395"/>
          <p:cNvSpPr/>
          <p:nvPr/>
        </p:nvSpPr>
        <p:spPr>
          <a:xfrm>
            <a:off x="8111299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7" name="Oval 1396"/>
          <p:cNvSpPr/>
          <p:nvPr/>
        </p:nvSpPr>
        <p:spPr>
          <a:xfrm>
            <a:off x="845834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845834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8237600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8246744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8265032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02" name="Rounded Rectangle 1401"/>
          <p:cNvSpPr/>
          <p:nvPr/>
        </p:nvSpPr>
        <p:spPr>
          <a:xfrm>
            <a:off x="8246744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3" name="TextBox 1402"/>
          <p:cNvSpPr txBox="1"/>
          <p:nvPr/>
        </p:nvSpPr>
        <p:spPr>
          <a:xfrm>
            <a:off x="8265032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04" name="Oval 1403"/>
          <p:cNvSpPr/>
          <p:nvPr/>
        </p:nvSpPr>
        <p:spPr>
          <a:xfrm>
            <a:off x="936845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5" name="TextBox 1404"/>
          <p:cNvSpPr txBox="1"/>
          <p:nvPr/>
        </p:nvSpPr>
        <p:spPr>
          <a:xfrm>
            <a:off x="936845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914771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915685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917514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915685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917514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11" name="Oval 1410"/>
          <p:cNvSpPr/>
          <p:nvPr/>
        </p:nvSpPr>
        <p:spPr>
          <a:xfrm>
            <a:off x="1027857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2" name="TextBox 1411"/>
          <p:cNvSpPr txBox="1"/>
          <p:nvPr/>
        </p:nvSpPr>
        <p:spPr>
          <a:xfrm>
            <a:off x="1027857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1005782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14" name="Rounded Rectangle 1413"/>
          <p:cNvSpPr/>
          <p:nvPr/>
        </p:nvSpPr>
        <p:spPr>
          <a:xfrm>
            <a:off x="1006697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TextBox 1414"/>
          <p:cNvSpPr txBox="1"/>
          <p:nvPr/>
        </p:nvSpPr>
        <p:spPr>
          <a:xfrm>
            <a:off x="1008526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1006697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1008526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18" name="Oval 1417"/>
          <p:cNvSpPr/>
          <p:nvPr/>
        </p:nvSpPr>
        <p:spPr>
          <a:xfrm>
            <a:off x="11093632" y="3090489"/>
            <a:ext cx="622157" cy="62215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9" name="Oval 1418"/>
          <p:cNvSpPr/>
          <p:nvPr/>
        </p:nvSpPr>
        <p:spPr>
          <a:xfrm>
            <a:off x="1118868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1118868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1096794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22" name="Rounded Rectangle 1421"/>
          <p:cNvSpPr/>
          <p:nvPr/>
        </p:nvSpPr>
        <p:spPr>
          <a:xfrm>
            <a:off x="1097708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1099537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24" name="Rounded Rectangle 1423"/>
          <p:cNvSpPr/>
          <p:nvPr/>
        </p:nvSpPr>
        <p:spPr>
          <a:xfrm>
            <a:off x="1097708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1099537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828800" y="60350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(autocannon) · одна пара форм: 1 против 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3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2328519" y="1097280"/>
            <a:ext cx="75346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2328519" y="1097280"/>
            <a:ext cx="75346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v8-experiment/PITFALLS.md</a:t>
            </a:r>
          </a:p>
        </p:txBody>
      </p:sp>
      <p:sp>
        <p:nvSpPr>
          <p:cNvPr id="133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34" name="Rounded Rectangle 1333"/>
          <p:cNvSpPr/>
          <p:nvPr/>
        </p:nvSpPr>
        <p:spPr>
          <a:xfrm>
            <a:off x="9692640" y="178308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35" name="Picture 13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9202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3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29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566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33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2715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2852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V8 не греет на старте?</a:t>
            </a:r>
          </a:p>
        </p:txBody>
      </p:sp>
      <p:sp>
        <p:nvSpPr>
          <p:cNvPr id="13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6" name="TextBox 1335"/>
          <p:cNvSpPr txBox="1"/>
          <p:nvPr/>
        </p:nvSpPr>
        <p:spPr>
          <a:xfrm>
            <a:off x="5138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как узнать ярус?</a:t>
            </a:r>
          </a:p>
        </p:txBody>
      </p:sp>
      <p:sp>
        <p:nvSpPr>
          <p:cNvPr id="13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7" name="TextBox 1336"/>
          <p:cNvSpPr txBox="1"/>
          <p:nvPr/>
        </p:nvSpPr>
        <p:spPr>
          <a:xfrm>
            <a:off x="7424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33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8" name="TextBox 1337"/>
          <p:cNvSpPr txBox="1"/>
          <p:nvPr/>
        </p:nvSpPr>
        <p:spPr>
          <a:xfrm>
            <a:off x="9710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3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9" name="TextBox 1338"/>
          <p:cNvSpPr txBox="1"/>
          <p:nvPr/>
        </p:nvSpPr>
        <p:spPr>
          <a:xfrm>
            <a:off x="566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3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2715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0" name="TextBox 1339"/>
          <p:cNvSpPr txBox="1"/>
          <p:nvPr/>
        </p:nvSpPr>
        <p:spPr>
          <a:xfrm>
            <a:off x="2852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7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4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1" name="TextBox 1340"/>
          <p:cNvSpPr txBox="1"/>
          <p:nvPr/>
        </p:nvSpPr>
        <p:spPr>
          <a:xfrm>
            <a:off x="5138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2" name="TextBox 1341"/>
          <p:cNvSpPr txBox="1"/>
          <p:nvPr/>
        </p:nvSpPr>
        <p:spPr>
          <a:xfrm>
            <a:off x="7424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496" b="0">
                <a:solidFill>
                  <a:srgbClr val="1E5B28"/>
                </a:solidFill>
                <a:latin typeface="Consolas"/>
              </a:rPr>
              <a:t>delete</a:t>
            </a:r>
          </a:p>
        </p:txBody>
      </p:sp>
      <p:sp>
        <p:nvSpPr>
          <p:cNvPr id="134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3" name="TextBox 1342"/>
          <p:cNvSpPr txBox="1"/>
          <p:nvPr/>
        </p:nvSpPr>
        <p:spPr>
          <a:xfrm>
            <a:off x="9710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10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10561320" y="228600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5" name="Picture 134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