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344" r:id="rId62"/>
    <p:sldId id="345" r:id="rId63"/>
    <p:sldId id="346" r:id="rId64"/>
    <p:sldId id="347" r:id="rId65"/>
    <p:sldId id="348" r:id="rId66"/>
    <p:sldId id="349" r:id="rId67"/>
    <p:sldId id="350" r:id="rId68"/>
    <p:sldId id="351" r:id="rId69"/>
    <p:sldId id="352" r:id="rId70"/>
    <p:sldId id="353" r:id="rId71"/>
    <p:sldId id="354" r:id="rId72"/>
    <p:sldId id="355" r:id="rId73"/>
    <p:sldId id="356" r:id="rId74"/>
    <p:sldId id="357" r:id="rId75"/>
    <p:sldId id="358" r:id="rId76"/>
    <p:sldId id="359" r:id="rId77"/>
    <p:sldId id="360" r:id="rId78"/>
    <p:sldId id="361" r:id="rId79"/>
    <p:sldId id="362" r:id="rId80"/>
    <p:sldId id="363" r:id="rId81"/>
    <p:sldId id="364" r:id="rId82"/>
    <p:sldId id="365" r:id="rId83"/>
    <p:sldId id="366" r:id="rId84"/>
    <p:sldId id="367" r:id="rId85"/>
    <p:sldId id="368" r:id="rId86"/>
    <p:sldId id="369" r:id="rId87"/>
    <p:sldId id="370" r:id="rId88"/>
    <p:sldId id="371" r:id="rId89"/>
    <p:sldId id="372" r:id="rId90"/>
    <p:sldId id="373" r:id="rId91"/>
    <p:sldId id="374" r:id="rId92"/>
    <p:sldId id="375" r:id="rId93"/>
    <p:sldId id="376" r:id="rId94"/>
    <p:sldId id="377" r:id="rId95"/>
    <p:sldId id="378" r:id="rId96"/>
    <p:sldId id="379" r:id="rId97"/>
    <p:sldId id="380" r:id="rId98"/>
    <p:sldId id="381" r:id="rId99"/>
    <p:sldId id="382" r:id="rId100"/>
    <p:sldId id="383" r:id="rId101"/>
    <p:sldId id="384" r:id="rId102"/>
    <p:sldId id="385" r:id="rId103"/>
    <p:sldId id="386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7" r:id="rId115"/>
    <p:sldId id="398" r:id="rId116"/>
    <p:sldId id="399" r:id="rId117"/>
    <p:sldId id="400" r:id="rId11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38.xml"/><Relationship Id="rId63" Type="http://schemas.openxmlformats.org/officeDocument/2006/relationships/slide" Target="slides/slide39.xml"/><Relationship Id="rId64" Type="http://schemas.openxmlformats.org/officeDocument/2006/relationships/slide" Target="slides/slide40.xml"/><Relationship Id="rId65" Type="http://schemas.openxmlformats.org/officeDocument/2006/relationships/slide" Target="slides/slide41.xml"/><Relationship Id="rId66" Type="http://schemas.openxmlformats.org/officeDocument/2006/relationships/slide" Target="slides/slide42.xml"/><Relationship Id="rId67" Type="http://schemas.openxmlformats.org/officeDocument/2006/relationships/slide" Target="slides/slide43.xml"/><Relationship Id="rId68" Type="http://schemas.openxmlformats.org/officeDocument/2006/relationships/slide" Target="slides/slide44.xml"/><Relationship Id="rId69" Type="http://schemas.openxmlformats.org/officeDocument/2006/relationships/slide" Target="slides/slide45.xml"/><Relationship Id="rId70" Type="http://schemas.openxmlformats.org/officeDocument/2006/relationships/slide" Target="slides/slide46.xml"/><Relationship Id="rId71" Type="http://schemas.openxmlformats.org/officeDocument/2006/relationships/slide" Target="slides/slide47.xml"/><Relationship Id="rId72" Type="http://schemas.openxmlformats.org/officeDocument/2006/relationships/slide" Target="slides/slide48.xml"/><Relationship Id="rId73" Type="http://schemas.openxmlformats.org/officeDocument/2006/relationships/slide" Target="slides/slide49.xml"/><Relationship Id="rId74" Type="http://schemas.openxmlformats.org/officeDocument/2006/relationships/slide" Target="slides/slide50.xml"/><Relationship Id="rId75" Type="http://schemas.openxmlformats.org/officeDocument/2006/relationships/slide" Target="slides/slide51.xml"/><Relationship Id="rId76" Type="http://schemas.openxmlformats.org/officeDocument/2006/relationships/slide" Target="slides/slide52.xml"/><Relationship Id="rId77" Type="http://schemas.openxmlformats.org/officeDocument/2006/relationships/slide" Target="slides/slide53.xml"/><Relationship Id="rId78" Type="http://schemas.openxmlformats.org/officeDocument/2006/relationships/slide" Target="slides/slide54.xml"/><Relationship Id="rId79" Type="http://schemas.openxmlformats.org/officeDocument/2006/relationships/slide" Target="slides/slide55.xml"/><Relationship Id="rId80" Type="http://schemas.openxmlformats.org/officeDocument/2006/relationships/slide" Target="slides/slide56.xml"/><Relationship Id="rId81" Type="http://schemas.openxmlformats.org/officeDocument/2006/relationships/slide" Target="slides/slide57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4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Слева версия A: хвостовые поля записаны как raw.referrer ?? null — если значения нет, в объекте лежит null, но само поле есть. Справа версия B: те же три поля через условный спред — есть значение, ключ появится; нет значения — ключа не будет. Пять верхних строк совпадают буквально, символ в символ. Дифф между ними — три строки внизу. Обе функции корректны: я прогнал их через один и тот же набор входов и посчитал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делает две вещи: сначала собирает этой функцией пятьдесят тысяч объектов и считает, сколько разных форм получилось; потом в горячем цикле читает поля этих объектов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моментов, когда движок отказывается от уже скомпилированного кода. Сначала даю читателю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к концу доклада прочтём целиком. Внизу — пустая карта. Две полосы: левая — откуда взялся текст функции; правая — что происходит с объектом и тем, кто его читает, по мере вызовов. Светятся две клетки — файл A и файл B; клетка «автор» серая. Обещаю две вещи: правая полоса дойдёт до числа на сервере, левая — до того, кто пишет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реальных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 — он открывает служебные функции движка, те, что начинаются с процента; в проде их нет, это только для таких проверок. Одна из них — %HaveSameMap: принимает два объекта и отвечает, одной ли они формы. Собираю два объекта через A на разных входах — с referrer и без — true, форма одна. Собираю два через B на тех же входах — false, формы разные. Перебираю все сочетания присутствия трёх полей: у A так и остаётся одна форма, у B их набирается восемь. Если живой запуск подведёт — у меня есть скрин того же вывода, и мы идём дальше без второй попытки.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первая клетка правой полосы — сборка, форма при сборке: A — одна, B — восемь. От файлов расходятся две дорожки: зелёная у A и красный пучок из восьми у B. Вот она, развилка из трёх строк — и случается она в момент сборки объекта. Отсюда следующий вопрос: восемь описаний вместо одного — это и есть цена?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Нет. И это первое место, где ожидание не сходится с замером. Я взял прибор побольше — покажу его целиком через несколько узлов — и разделил время запроса по стадиям. Стадия сборки,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0.92 до 1.02 от одноформной: столько же, в пределах шума. Сами по себе восемь форм сборку не удорожают. Если через условный спред, как B с первого слайда, — сборка дороже примерно в 1.6 раза: это цена самого спреда, не форм. А стадия чтения — та, где поля этих объектов читают, — у обеих записей дороже одинаково: от 4.1 до 5.8 раза. И чтений в сервисе много, а сборка одна. Значит, главное расхождение — в жизни читателя; поэтому правая полоса карты и подписана «объект и его читатель». Это отвечает и на частый вопрос: «объекты создаются в одном месте, а читаются в тридцати — где искать?» В тридцати.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 — вот эта точка u.plan в функции-читателе, — движок держит маленькую память: с какими формами это место уже работало. Она привязана к строке кода, у самого объекта её нет. По-английски inline cache. Видело место одну форму — состояние мономорфное, MONO: движок знает, где у этой формы лежит plan, одна проверка и одно чтение из памяти — быстрый путь. Две, три, четыре формы — полиморфное, POLY: короткий список, сравнили и взяли. Приходит пятая форма — список отбрасывается, и место чтения уходит в общий словарь, где по имени поля и форме ищется адрес: мегаморфное, MEGA, общий путь. Слева читатель объектов из A видел одну форму — MONO. Справа читатель объектов из B видит восемь, больше четырёх — MEGA. Тот же текст читателя, то же место u.plan; разница только в том, что в него приходит. У B каждое чтение поля идёт через словарь — каждое. В чистом виде, когда меряется только чтение, — третий эксперимент: MEGA против MONO от 3.2 до 4.1 раза. В ощущении: на чтение объектов уходила секунда процессора — теперь около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 состояний мест чтения; старый --trace-ic удалён из V8 в 9.4 — если вы нагуглили его в статье десятилетней давности, Node ответит «bad option». На экране четыре строки из журнала для B — скрин, не живой запуск: LoadIC по полю, и состояние меняется: сначала 1, мономорфное, потом P, полиморфное, потом N, мегаморфное. У A журнал останавливается на первой строке. Одна оговорка: эту память движок заводит с первых вызовов читателя, ещё до того, как код станет горячим. В журнале это видно по полю plan: первая форма — 1, вторая — P, на пятой новой форме — N. То есть до MEGA читатель B доходит сразу, как только увидел пятую форму, — задолго до любого компилятора. На карте появляется клетка «место чтения»: A — MONO, B — MEGA. А на клетке сборки подпись: ×0.93–1.02, сборка стоит столько же.</a:t>
            </a:r>
          </a:p>
          <a:p/>
          <a:p>
            <a:r>
              <a:t>— — —</a:t>
            </a:r>
          </a:p>
          <a:p>
            <a:r>
              <a:t>ДЕМО: Скрин R4, не live: `--log-ic` без `--no-logfile-per-isolate` пишет файл с адресом изолята в имени. Старый `--trace-ic` удалён из V8 9.4.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Впереди — компилятор и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1 мин]</a:t>
            </a:r>
          </a:p>
          <a:p/>
          <a:p>
            <a:r>
              <a:t>Нет, компилятор не спасает. Числа с первого слайда — 0.12 и 0.79 — сняты в горячем цикле: функцию к этому моменту вызвали много раз, она давно скомпилирована. Скомпилированный код B платит тот же налог: восемь форм на входе читателя никуда не делись, словарь никуда не делся. Компилятор работает с теми записями мест чтения, которые накопились, — а у B они испорчены с первых вызовов. Но у компилятора есть кое-что своё — и именно там живёт улика из хука. Чтобы это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 Льва встретим позже — когда спросим, надолго ли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1.5 мин]</a:t>
            </a:r>
          </a:p>
          <a:p/>
          <a:p>
            <a:r>
              <a:t>Одну и ту же функцию V8 за её жизнь исполняет четырьмя способами по очереди — чем чаще её вызывают, тем дороже способ и тем быстрее код. Каждый такой способ — ярус, по-английски tier. На экране ось: сколько раз вызвали функцию, Node 24, V8 13.6. Первый вызов — интерпретатор Ignition: функция переведена в байткод, вот три его строки, машинного кода нет. С восьмого вызова движок заводит функции записи мест чтения — это номинал из флагов V8. Дальше — Sparkplug: простой компилятор, байткод в машинный код за один проход, без оптимизаций. Потом Maglev, первый оптимизирующий: номинал — четыреста вызовов. И TurboFan: номинал — три тысячи. Это номиналы; на деле движок считает не вызовы, а бюджет, который расходуется исполненным байткодом, и ждёт, пока записи устоятся. Я замерил на своём маленьком читателе: Sparkplug — примерно на семисотом вызове, Maglev — около тысячи, TurboFan — около тринадцати с половиной тысяч. У функции с циклом внутри вызовов до подъёма будет меньше. Запоминать эти числа не нужно; нужен порядок: сотни, тысяча, больше десяти тысяч.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0.75 мин]</a:t>
            </a:r>
          </a:p>
          <a:p/>
          <a:p>
            <a:r>
              <a:t>Что даёт каждая ступень. Я взял одну функцию и запирал её на ярусе флагом --max-opt: ноль — только интерпретатор, один — до Sparkplug, два — до Maglev, три — весь путь. Время прогона: интерпретатор — 505 миллисекунд, Sparkplug — 775, Maglev — 70, TurboFan — 38. То, что вершина делает за тридцать восемь миллисекунд, интерпретатор делает почти полсекунды — в тринадцать раз. Одна честная оговорка: на этой машине — arm64 — Sparkplug на этой функции вышел медленнее интерпретатора; на x64 в CI он, как и положено, быстрее на четверть. Объяснения у меня нет, показываю как намерил. На обеих архитектурах скачок дают оптимизирующие ярусы: от Sparkplug к Maglev — в пять–десять раз. Компиляция дорогая, поэтому движок и ждёт: она окупается только на горячем коде. Подчеркну: это одна функция на разных ярусах, не A против B. Лестница у A и B одна.</a:t>
            </a:r>
          </a:p>
          <a:p/>
          <a:p>
            <a:r>
              <a:t>— — —</a:t>
            </a:r>
          </a:p>
          <a:p>
            <a:r>
              <a:t>ДЕМО: Числа из `docker/tier-bench.js`.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сами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по такому смещению». Проверка формы — одно сравнение, чтение — одна инструкция. Это и есть ставка: компилятор ставит на то, что в это место приходит одна форма. 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5.</a:t>
            </a:r>
          </a:p>
          <a:p/>
          <a:p>
            <a:r>
              <a:t>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Происходит то, что мы видели на первом слайде, — только теперь мы можем это прочитать. Смотрим на A. Читатель объектов A доходит до Maglev, в записях одна форма, компилятор её вшивает: одна проверка, одно чтение. Ставка играет каждый вызов; TurboFan потом делает то же ещё плотнее. Смотрим на B. Читатель объектов B тоже доходит до оптимизирующего яруса. Пока шли записи, где все поля на месте, он видел одну форму — и компилятор вшил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Дальше движок выбрасывает оптимизированный код и возвращает функцию в интерпретатор — это деоптимизация, деопт. Записи мест чтения обновляются, через какое-то время функцию компилируют заново, уже с учётом новой формы. Вот эта строка на экране — с прогона читателя на объектах B; у читателя на A её нет. Оговорка: в самой normalizeUser такая строка есть у обеих версий — там меняется форма входной записи, это другая история; смотрим только на читателя.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В моём прогоне откат у читателя один: после него записи знают уже несколько форм, функцию компилируют заново — и на этот раз без ставки на одну форму: чтение идёт через общий путь, словарь. А если читатель с первого вызова видит все восемь форм — как в приборе из первой минуты, — ставки нет вовсе, и отката тоже нет: в приборе у читателя B ни одного wrong map, он один раз скомпилирован TurboFan — и всё равно в шесть с лишним раз медленнее. Компилятор честно делает лучшее, что можно сделать с восемью формами: оптимизировать здесь нечего. С этого момента B работает стабильно — на общем пути, на каждом чтении. Одна честная подпись. Медленный B — это установившийся общий путь, а не деопты. Деопт — событие: оно случается и заканчивается; петли здесь нет. Общий счётчик деоптов по всему процессу я как метрику забраковал: он засорён фоном самого харнесса — у варианта с одной формой разбегался сильнее, чем у варианта с восемью; поэтому смотрю только на читателя, по имени функции. Цена, которую мы мерили, — 0.79 против 0.12 — это цена общего пути: читатель у обеих версий оптимизирован TurboFan, это проверено. Смотрите на карту: у B точка wrong map, а дальше ровная красная линия ниже зелёной. И в шапке заполнилась третья позиция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ждал одну форму, а из B пришло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четырёх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Движок пройден от файла до ставки.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побольше. Внутри — и сборка,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Запрос: распарсить батч — нормализовать нашей функцией — обработать — сериализовать ответ. Обработка — это R проходов чтения по объектам: статистика, фильтр, обогащение; R я кручу. Каждая ячейка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девяноста прогонах.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 два раза. Двадцать — от 3.1 до 3.3 раза: батч из пяти тысяч записей, который у A занимал восемь миллисекунд, у B занимает двадцать три. Размер батча ни при чём: 500 и 5000 дают одни и те же проценты. Ручка одна — число чтений. Доля парсинга падает с двух третей запроса у A при одном проходе до одиннадцати процентов у B при двадцати: чем больше логики после JSON.parse, тем меньше он маскирует эффект. Два дополнения. Усилитель: в обработке есть обогащение спредом — {...u, score}; производный объект наследует форму источника, восемь форм на входе дают восемь форм у потомков, и за них платят сборка, чтение и сортировка. Отдельного числа нет, это механизм. И сериализация: JSON.stringify на объектах B в 1.27–1.42 раза медленнее, хотя B пишет меньше байт — в нём нет null-полей. Меньше данных —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node:http, autocannon: 50 соединений, 20 секунд, батч тысяча, пять проходов чтения. Вот запись прогона. A — 2302 запросов в секунду. B — 1180. Почти в два раза — 1.95: та же машина отвечает на 1180 запросов вместо 2302. Медиана задержки — 21 миллисекунда против 41. И 99-й перцентиль — задержка, хуже которой только один запрос из ста, p99: 42 против 82, плюс 95 процентов; уезжает не только середина, но и хвост. Это согласуется с матрицей: при пяти проходах на изолированном конвейере было почти ×2 — и под нагрузкой те же почти ×2. Оговорка про стенд: autocannon стоял на той же машине, абсолютные числа занижены, относительное сравнение честное. И заметьте: A отдаёт больше байт в каждом ответе — null-поля в JSON — и всё равно держит больше запросов. На карте правая полоса дошла до сервера: 2302 против 1180. В шапке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Запись R7: `lab/real/bench-http.sh` (в контейнере — шаг 6 `docker/verify.sh`). Не live: autocannon на той же машине, 20 секунд на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В сетке такого нет, но тренд ясен: при одном проходе парсинг, сборка и сериализация занимают у A около 95 процентов запроса; убрать чтение — и разница между версиями сжимается до шести–десяти процентов, если условные ключи добавлены через if, и до тринадцати–восемнадцати, если через спред: восемь форм чуть дороже сериализуются, а спред дороже собирается. Второе: сервис, который ждёт базу десятки миллисекунд. Доля миллисекунды процессора на батч там не видна ни в медиане, ни в хвосте. Возражение «всё равно упрётся в базу» принимаю — в этом профиле оно верно. Третье: маленькие батчи при одном проходе. Числа микроскопические — 0.17 против 0.22 миллисекунды на пятьсот записей; важно только на масштабе, который HTTP-стенд и показал.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трети до трёх с лишним раз; если только складывает — единицы процентов. Правая полоса карты заполнена: от сборки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 «а как вы это мерили» и «чем это отличается от прода». Сверху — как устроен замер: одна среда, Docker с запиннутым образом Node 24 на alpine, как в проде; каждая ячейка матрицы — отдельный процесс, чтобы записи мест чтения не перетекали между вариантами; прогрев триста итераций, замер тысяча, пять повторов, беру медианы; и контрольная сумма результата — она совпала у A и B во всех ста пятидесяти ячейках, то есть сравниваю я эквивалентный код. Снизу — где легко соврать, и на все четыре грабли я наступил сам. Первое: гонять кейсы подряд в одном процессе — именно так совет «try/catch дорогой» получает свои «в три раза».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прогона — первая серия у меня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CI, тем же образом и тем же скриптом: направление то же, множители чуть ниже. И главное: микробенч — не прод. Поэтому после прибора идёт пайплайн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переходим на левую полосу карты — «откуда текст». Её всё это время тянула одна серая клетка: «автор — ?», она висит с первой минуты. Эксперимент первый. Я взял тот же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предыдущие ответы модель не видит. Один ответ агента на тикет я дальше называю генерацией. Четыре ветки по пятнадцать — шестьдесят генераций. Прибор тот же shape-analyzer, и до прогона я проверил его на A и B из первой минуты: 0.12 и 0.79 — те же числа, что вы видели в первую минуту. Прибор различает то, что должен. Сейчас запускаю одну генерацию живьём, через тот же прибор; пока агент думает, посмотрим на тридцать предыдущих. Сегодня — только половина результата, ветки без правил; вторую половину покажу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горячего цикла — 0.79 миллисекунды, разброс от 0.76 до 0.83 — почти нулевой.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ревью, который прозвучал в конце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Ни один тест и ни один ревью-чеклист не смотрят на число форм — в диффе этого не видно. Поэтому ответ на «почему ревью пропустило» простой: ревью смотрело на значения, а цена сидит в наборе ключей. Как это не написать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и здесь две записи, одна судьба. Я ожидал увидеть спред, как в B с первого слайда. Спреда — ноль из тридцати. Object.assign — ноль из тридцати. Все тридцать пишут одно и то же: литерал из пяти обязательных полей, а после него три строки —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слайда, три строки против трёх. Буквы другие. Судьба та же: набор ключей тот же самый, три поля по условию, два в кубе — восемь форм, потому что каждое дописывание ключа переводит объект в новую форму. Движку всё равно, спредом добавлен ключ или присваиванием, — он считает ключи. И B с первого слайда со своими 0.79 попадает точно внутрь диапазона генераций — между 0.76 и 0.83. Другой код той же формы. Агент пишет тот же класс из восьми форм другими буквами. Живая генерация вернулась — смотрим на вывод прибора: восемь форм, MEGA, литерал плюс три if. Если бы не успела — запись у меня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Тот же класс из восьми форм стоял и в сервисе — раскрытие про прошлую главу, обещал. Медленная половина пары, 1180, — guard-llm: первая генерация из ветки без правил, файл out/p1-no-rules/candidate_1.js, как есть, без правок. Напарника назову, когда дойдём до правил. Контроль формулировки одной строкой: ветка P2 — «поля могут отсутствовать, перед обработкой в сервисе» — дала те же пятнадцать из пятнадцати MEGA; изменилась обработка значений, решение «класть ли ключ» — нет. Оговорка: один вендор, одна модель, пятнадцать на ветку — на «все LLM» не обобщаю. На карте: автор B — «агент без правил, 30 из 30». Автор A — по-прежнему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«Не клади в объект ключ, если значения нет» — стилевая норма этого текста: чистый JSON, нет мусорных null, меньше байт в ответе. Норма — про ключ, буквы в ней не прописаны: спред и if — две записи одной нормы, агент выбрал одну из них. Тридцать из тридцати без единого примера кода в промпте — только словесное описание полей. Это норма. Как часто она встречается в самом корпусе — нет замера: корпус закрыт, я вижу только выход, и выход стопроцентный. В том же корпусе, рядом со стилевыми нормами,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 — ×3.4 на Node 22, ×2.7 на Node 24. На Node 20 замер у меня двоится — ×3.6 в одном прогоне из пяти и ×14 в остальных, — поэтому число не называю; d8 в этой среде не мерил. Каждое чтение поля стоит как три. Кратность разная,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режим: у объекта больше нет формы, поля ищутся по имени в хеш-таблице; по-английски dictionary mode. Чтение дорожает в десять раз на Node 20 и почти в тридцать на Node 22 и 24 — одно чтение стоит как десять–тридцать. Кратность плывёт между версиями, но остаётся кратной везде.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бенче, где кейсы гоняются друг за другом в одном процессе, — ×2.8–3.0, совет подтверждается, статья готова. В изолированных процессах — 14 миллисекунд против 14. Разницы нет. Кратность была артефактом самого бенча: записи мест чтения первого кейса заражали второй. Совет жив в корпусе и мёртв в движке — и никто в корпусе его не помечает. Сколько ещё таких — не знаю; среди тех, что я проверил, этот оказался артефактом. Теперь стык двух половин — здесь матрица возвращается к объектам. Норма «условный ключ» нарушает живое правило про формы — то самое, около ×3 на всех версиях, строку, что только что была крупно. А агент живое от мёртвого не отличает: у него нет матрицы, у него есть частота. Он выбирает то, что встречается чаще; проверка на V8 13.6 в этот выбор не входит.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вопросы; Node 22 с 22.9 без Maglev — в PITFALLS. На карте — клетка «корпус»: живое и мёртвое рядом, стрелка к автору B.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Правая половина закрыта числом на сервере, левая дошла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страница. В нём семь пунктов; по смыслу это четыре правила — то, что пережило матрицу. И сразу честно: в первом пункте есть пример кода — запрещённая запись с условным спредом и правильная, с null. Первое: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Вторая половина, «в одном порядке», — я думал, это педантизм. Она тоже деньги, и у неё своё число. Две реализации, обе кладут все восемь полей, но в разном порядке — как если бы два модуля писали два агента без общего стиля, — и объекты идут в один поток;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сумма — на пятую часть дольше. Второе: после создания поля не добавляются и не удаляются. Удаление — словарный режим, ×10–30, вы это только что видели; добавление — те самые три if из главы про агента. Третье: массивы однородные, один тип элементов. Четвёртое: аргументы и возвраты функций держат стабильные типы. В файле эти четыре правила расписаны на семь пунктов: про массивы отдельно сказано «без дырок», про типы — отдельно про числа и про горячие функции. Больше там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0.79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полстраницы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Опять одна идиома, тридцать раз, и это уже другая идиома: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всегда есть, отсутствующее — null. Файл out/p1-rules/candidate_1.js. Ставлю рядом A из первой минуты, три строки против трёх. Буквы другие — там два вопросительных знака, здесь тернарный оператор. По форме это A: один набор ключей, один порядок, одно описание. Саму функцию A агент не видел. Но в первом правиле есть пример — extra: cond ? value : null, — и агент взял ровно эту запись: тернарный оператор с null. Правило с примером не оставляет другого варианта. Живая генерация вернулась: одна форма, MONO, литерал с null. Если бы не успела — запись. Тридцать раз, в двух формулировках тикета, литерал с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запросов в секунду, — первая генерация из ветки с правилами, файл candidate_1, как есть. Медленная — candidate_1 без правил. Один агент, один тикет, разница — файл в контексте. С правилами сервер держал 2302, без — 1180: та же машина отвечает на 1180 запросов вместо 2302. Это измерено на тех самых генерациях; ×6.7 сюда никто не умножал. Подпись на слайде, чтобы числа не путались: это генерации, пара с первого слайда на HTTP не мерилась; одна пара форм — один против восьми — и два прибора. Оговорка, без неё нечестно. Правила инлайнились явно — с прямым запретом условного ключа и предписанием null; это сильный сигнал. Мягкие формулировки — «пиши с учётом производительности V8» — я не проверял и тридцать из тридцати на них не обещаю. Носитель. У каждого агента есть файл, который читается в каждой сессии: CLAUDE.md для Claude Code, rules для Cursor, инструкции Codex. Вот он на экране — четыре правила помещаются, это меньше, чем правила про отступы, которые там уже лежат. На карте: перед клеткой «автор» — «файл правил», от него зелёная линия к тексту A. Автор A — тот же агент, с файлом, 30 из 30. Знак вопроса закрыт. Файл работает сегодня, на Node 24 и V8 13.6. Но в описании доклада сказано, что Turbolev идёт на смену TurboFan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Чтобы это показать, надо наконец назвать льва из названия доклада. Вспомните лестницу из четвёртого узла: верхняя ступень — TurboFan. Именно её и меняют — на сборку из двух готовых частей соседних ступеней; это и есть Turbolev. Спереди — Maglev, третья ступень той же лестницы: читает те же записи мест чтения и строит тот же граф функции, что и сегодня. Сзади — бэкенд, который из графа делает машинный код, — Turboshaft. Соединены напрямую, мимо промежуточного представления TurboFan. Статус — по исходникам, потому что в описании доклада я написал «идёт на смену», и это надо уточнить. Флаг --turbolev есть уже в V8 13.6, который стоит в Node 24, и описан там одной строкой: «четвёртый ярус вместо TurboFan» — то есть это замена верхней ступени, а не пятая ступень. По умолчанию он выключен — и в 13.6, и в основной ветке V8 на сентябрь этого года.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Статус ясен; теперь числа. Флаг есть в Node 24, поэтому я просто включил его на той же паре и том же приборе. A — 0.14 миллисекунды, B — 0.95: в шесть и восемь десятых раза. Без флага было 0.12 и 0.79 — шесть и шесть. Та же разница, в пределах шума. Сам по себе Turbolev здесь не быстрее и не медленнее TurboFan. Выигрыш заявлен в другом: когда бэкенд верхнего яруса перевели на Turboshaft — это Chrome 120, — в блоге V8 написали, что компиляция стала примерно вдвое быстрее: функция раньше доходит до верхней ступени. О качестве кода там не пишут, и я не буду. Для нас важно одно: разница между A и B под новым компилятором та же.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всех компиляторов.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TurboFan — 2017. Sparkplug — 2021. Maglev — 2023. Turboshaft — 2022, в Chrome с 2023. Turbolev — за флагом. Сменилась каждая ступень. А формы и записи мест чтения — с 2008 года, первого релиза V8, строка из пятого узла. Файл правил описывает то, на что ставил каждый компилятор. Развилка на карте не двигается. 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целиком. Обе полосы заполнены и встречаются в одной клетке — в файле с функцией. Справа развилку задаёт форма при сборке объекта: одна форма — быстрый путь на любом ярусе и в любой версии, восемь — общий путь через словарь. Слева развилку задаёт файл правил в контексте агента: есть файл — A, нет файла — B. Человек на этой карте стоит в двух местах. Перед агентом — он кладёт файл. После агента — он читает ревью и знает, на что смотреть: на набор ключей в объекте — все ли всегда на месте. Одна клетка осталась серой — билдер. Между автором и движком стоит tsc или esbuild, и что они делают с формами, когда переписывают спред в общий хелпер, — нет замера, это четвёртый эксперимент, он не прогнан. Угадывать не буду; когда прогоню — клетка закрасится.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двух строках, и обе измерены. Агент поднимает средний уровень кода: ноль некорректных из шестидесяти генераций, с валидацией, дефолтами, типами — лучше среднего PR. И агент тиражирует идиоматику корпуса: тридцать из тридцати, без разбора, живое правило перед ним или мёртвое. Перф-сознательность — знать, какое правило живое, и положить его агенту до генерации — остаётся работой человека. Она сместилась на карте: раньше человек писал функцию, теперь он пишет файл перед агентом и проверяет форму после. Обе точки на карте зелёные: там, где человек сделал свою половину,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одна фраза — как проверить у себя, меня об этом спрашивали. Прибор лежит в репо, shape-analyzer: под флагом --allow-natives-syntax %HaveSameMap покажет число форм у вашей функции, --log-ic — состояние мест чтения, MONO или MEGA; матрицу прогоните на своём Node — один запуск, изоляция по процессам уже внутри. Заготовки на вопросы — мелко на слайде: про компиляцию при загрузке, про дырявые массивы, про delete и про то, как я всё это мерил. К ставке на форму они не относятся — спрашивайте.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прибор, 0.12 и 0.79. Только теперь карта под ними заполнена, подсказок нет, и читать её будете вы — я только показываю пальцем. Слева, A. Одна форма при сборке — место чтения MONO — ставка сыграла, быстрый путь вшит — 2302 запросов в секунду — автор: агент с файлом правил. Справа, B. Восемь форм — место чтения MEGA — wrong map, ставка не сыграла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сервис, pipeline плюс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на диффе за пять секунд, по трём строкам внизу.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без Maglev, удалённый --trace-ic, изоляция по процессам обязательна. Хотите повторить — начинайте с shape-analyzer, он запускается одной командой на Node 24 —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compile hints: Подсказка движку скомпилировать функции жадно при загрузке файла. Это про старт страницы, а не про ярусы и не про формы — к ставке на форму отношения не имеет.</a:t>
            </a:r>
          </a:p>
          <a:p/>
          <a:p>
            <a:r>
              <a:t>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а на x64?: Гонял тем же образом и скриптом в CI на x64: направление то же, множители чуть ниже — прибор ×4.4, HTTP ×1.7. Тенденция одна.</a:t>
            </a:r>
          </a:p>
          <a:p/>
          <a:p>
            <a:r>
              <a:t>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`delete`: Объект уходит в словарный режим необратимо: ×10 на Node 20, ×28–29 на Node 22 и 24. Вместо delete — присвоить null.</a:t>
            </a:r>
          </a:p>
          <a:p/>
          <a:p>
            <a:r>
              <a:t>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билдер: Что делают tsc и esbuild с формами, когда переписывают спред в хелпер, — не мерил. Это четвёртый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TextBox 101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429768" y="175564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291840"/>
            <a:ext cx="9217152" cy="19202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345643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9" name="TextBox 1018"/>
          <p:cNvSpPr txBox="1"/>
          <p:nvPr/>
        </p:nvSpPr>
        <p:spPr>
          <a:xfrm>
            <a:off x="310896" y="345643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9768" y="385876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...(raw.teamId &amp;&amp; { teamId: raw.teamId }),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230368" y="1371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пять верхних строк одинаковы · поле есть всегда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230368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те же три поля · 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84048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58312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3532632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06896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681216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1" name="Connector 10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Oval 1011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TextBox 10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5760720" cy="13258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" y="175564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651760"/>
            <a:ext cx="5760720" cy="13258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81635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7" name="TextBox 1026"/>
          <p:cNvSpPr txBox="1"/>
          <p:nvPr/>
        </p:nvSpPr>
        <p:spPr>
          <a:xfrm>
            <a:off x="310896" y="281635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18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053328" y="1920240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6808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43068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43068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43068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4251959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node:24.21.0-alpine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4544568"/>
            <a:ext cx="87599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,"p50_ms":0.76,"correct":true}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6" name="Connector 101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Oval 1016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1188720"/>
            <a:ext cx="9217152" cy="1600200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128016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1572768"/>
            <a:ext cx="8759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2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2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9DB8"/>
                </a:solidFill>
                <a:latin typeface="Menlo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2926080"/>
            <a:ext cx="2743200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01168" y="298094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035808" y="2926080"/>
            <a:ext cx="62910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 · у читателя на A строки нет: 0 из 5 прогонов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51688" y="4205630"/>
            <a:ext cx="87294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109728" y="5089550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109728" y="5089550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109728" y="5575706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109728" y="5575706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3" name="Oval 1042"/>
          <p:cNvSpPr/>
          <p:nvPr/>
        </p:nvSpPr>
        <p:spPr>
          <a:xfrm>
            <a:off x="688208" y="3976518"/>
            <a:ext cx="458224" cy="4582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58215" y="4046524"/>
            <a:ext cx="318211" cy="31821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75821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5168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6997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579120" y="5089550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597408" y="5089550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579120" y="5575706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597408" y="5575706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569976" y="6079540"/>
            <a:ext cx="694690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53" name="Oval 1052"/>
          <p:cNvSpPr/>
          <p:nvPr/>
        </p:nvSpPr>
        <p:spPr>
          <a:xfrm>
            <a:off x="148948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148948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128295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вызов 1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130124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7" name="Oval 1056"/>
          <p:cNvSpPr/>
          <p:nvPr/>
        </p:nvSpPr>
        <p:spPr>
          <a:xfrm>
            <a:off x="222074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222074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201422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03250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1" name="Diamond 1060"/>
          <p:cNvSpPr/>
          <p:nvPr/>
        </p:nvSpPr>
        <p:spPr>
          <a:xfrm>
            <a:off x="266593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295201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295201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74548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76377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6" name="Oval 1065"/>
          <p:cNvSpPr/>
          <p:nvPr/>
        </p:nvSpPr>
        <p:spPr>
          <a:xfrm>
            <a:off x="368327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368327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47675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49504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0" name="Diamond 1069"/>
          <p:cNvSpPr/>
          <p:nvPr/>
        </p:nvSpPr>
        <p:spPr>
          <a:xfrm>
            <a:off x="4128465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441454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41454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20801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22630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75" name="Oval 1074"/>
          <p:cNvSpPr/>
          <p:nvPr/>
        </p:nvSpPr>
        <p:spPr>
          <a:xfrm>
            <a:off x="514581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514581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493928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495757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9" name="Oval 1078"/>
          <p:cNvSpPr/>
          <p:nvPr/>
        </p:nvSpPr>
        <p:spPr>
          <a:xfrm>
            <a:off x="587707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587707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7055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68883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83" name="Diamond 1082"/>
          <p:cNvSpPr/>
          <p:nvPr/>
        </p:nvSpPr>
        <p:spPr>
          <a:xfrm>
            <a:off x="632226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660834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660834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0181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642010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88" name="Oval 1087"/>
          <p:cNvSpPr/>
          <p:nvPr/>
        </p:nvSpPr>
        <p:spPr>
          <a:xfrm>
            <a:off x="733960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733960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713308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715137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92" name="Oval 1091"/>
          <p:cNvSpPr/>
          <p:nvPr/>
        </p:nvSpPr>
        <p:spPr>
          <a:xfrm>
            <a:off x="807087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807087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786434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88263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6" name="Oval 1095"/>
          <p:cNvSpPr/>
          <p:nvPr/>
        </p:nvSpPr>
        <p:spPr>
          <a:xfrm>
            <a:off x="880214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80214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59561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61390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 · 4 мин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TextBox 102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Oval 10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329184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84048" y="1554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384048" y="5212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Menlo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141732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4389120" y="137160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288036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389120" y="28346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931920" y="4480560"/>
            <a:ext cx="2560320" cy="18288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420624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766560" y="4480560"/>
            <a:ext cx="2560320" cy="18288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8" name="TextBox 1057"/>
          <p:cNvSpPr txBox="1"/>
          <p:nvPr/>
        </p:nvSpPr>
        <p:spPr>
          <a:xfrm>
            <a:off x="704088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TextBox 10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Oval 10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24688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292608" y="1280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Menlo"/>
              </a:rPr>
              <a:t>?? null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338328" y="1645920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429768" y="1645920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id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338328" y="215455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429768" y="215455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name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338328" y="266318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429768" y="266318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email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338328" y="317182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429768" y="317182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plan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338328" y="368045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429768" y="368045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credits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338328" y="418909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29768" y="418909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338328" y="469772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429768" y="469772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338328" y="520636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429768" y="520636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09728" y="5714999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807208" y="1188720"/>
            <a:ext cx="651967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8" name="TextBox 1077"/>
          <p:cNvSpPr txBox="1"/>
          <p:nvPr/>
        </p:nvSpPr>
        <p:spPr>
          <a:xfrm>
            <a:off x="2990088" y="1280160"/>
            <a:ext cx="6153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9" name="Connector 1078"/>
          <p:cNvCxnSpPr/>
          <p:nvPr/>
        </p:nvCxnSpPr>
        <p:spPr>
          <a:xfrm flipH="1">
            <a:off x="4551426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6067044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3793617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4551426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824853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7582662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4712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793617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>
            <a:off x="4930330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5309235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H="1">
            <a:off x="6445948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824853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7961566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8340471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Rounded Rectangle 1092"/>
          <p:cNvSpPr/>
          <p:nvPr/>
        </p:nvSpPr>
        <p:spPr>
          <a:xfrm>
            <a:off x="5289804" y="149047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5344668" y="149047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referrer?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3774186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829050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805422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860286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081528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136392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597146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652010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112764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6167628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7628381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7683246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3063240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3118104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821049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87591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578858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63372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5336667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539153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6094476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614934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685228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90714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61009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66495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8367902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8422767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07208" y="5760720"/>
            <a:ext cx="6519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0" name="Connector 10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109728" y="1188720"/>
            <a:ext cx="576072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1024128" y="128016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38328" y="1572768"/>
            <a:ext cx="530352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AADC00"/>
                </a:solidFill>
                <a:latin typeface="Menlo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A: </a:t>
            </a:r>
            <a:r>
              <a:rPr sz="1700" b="1">
                <a:solidFill>
                  <a:srgbClr val="FF9DB8"/>
                </a:solidFill>
                <a:latin typeface="Menlo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B: </a:t>
            </a:r>
            <a:r>
              <a:rPr sz="1700" b="1">
                <a:solidFill>
                  <a:srgbClr val="FF9DB8"/>
                </a:solidFill>
                <a:latin typeface="Menlo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форм у B: </a:t>
            </a:r>
            <a:r>
              <a:rPr sz="1700" b="1">
                <a:solidFill>
                  <a:srgbClr val="FF9DB8"/>
                </a:solidFill>
                <a:latin typeface="Menlo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355080" y="1188720"/>
            <a:ext cx="2971800" cy="26517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6629400" y="1353312"/>
            <a:ext cx="2423160" cy="2322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96" b="0">
                <a:solidFill>
                  <a:srgbClr val="FFFFFF"/>
                </a:solidFill>
                <a:latin typeface="Menlo"/>
              </a:rPr>
              <a:t>%HaveSameMap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55080" y="4069080"/>
            <a:ext cx="2971800" cy="22402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6355080" y="4069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развилка в клетке «файл»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sp>
        <p:nvSpPr>
          <p:cNvPr id="10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4" name="Connector 10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Oval 10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cxnSp>
        <p:nvCxnSpPr>
          <p:cNvPr id="1068" name="Connector 1067"/>
          <p:cNvCxnSpPr/>
          <p:nvPr/>
        </p:nvCxnSpPr>
        <p:spPr>
          <a:xfrm>
            <a:off x="704088" y="2017166"/>
            <a:ext cx="85770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/>
          <p:cNvSpPr/>
          <p:nvPr/>
        </p:nvSpPr>
        <p:spPr>
          <a:xfrm>
            <a:off x="109728" y="3205886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109728" y="3205886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09728" y="3859682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109728" y="3859682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73" name="Oval 1072"/>
          <p:cNvSpPr/>
          <p:nvPr/>
        </p:nvSpPr>
        <p:spPr>
          <a:xfrm>
            <a:off x="849401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84940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70408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72237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731520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49808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731520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749808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722376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82" name="Oval 1081"/>
          <p:cNvSpPr/>
          <p:nvPr/>
        </p:nvSpPr>
        <p:spPr>
          <a:xfrm>
            <a:off x="1473820" y="1709050"/>
            <a:ext cx="616232" cy="616232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567967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156796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42265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44094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1450086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468374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1450086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1468374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440942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092" name="Oval 1091"/>
          <p:cNvSpPr/>
          <p:nvPr/>
        </p:nvSpPr>
        <p:spPr>
          <a:xfrm>
            <a:off x="228653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228653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2141219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159507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75280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300509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00509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2859785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2878073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101" name="Oval 1100"/>
          <p:cNvSpPr/>
          <p:nvPr/>
        </p:nvSpPr>
        <p:spPr>
          <a:xfrm>
            <a:off x="372366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72366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578352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596640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105" name="Diamond 1104"/>
          <p:cNvSpPr/>
          <p:nvPr/>
        </p:nvSpPr>
        <p:spPr>
          <a:xfrm>
            <a:off x="4189933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444223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444223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429691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431520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110" name="Oval 1109"/>
          <p:cNvSpPr/>
          <p:nvPr/>
        </p:nvSpPr>
        <p:spPr>
          <a:xfrm>
            <a:off x="516079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516079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015483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33771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114" name="Oval 1113"/>
          <p:cNvSpPr/>
          <p:nvPr/>
        </p:nvSpPr>
        <p:spPr>
          <a:xfrm>
            <a:off x="587936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587936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34050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752338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118" name="Diamond 1117"/>
          <p:cNvSpPr/>
          <p:nvPr/>
        </p:nvSpPr>
        <p:spPr>
          <a:xfrm>
            <a:off x="634563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659792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659792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6452616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6470904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123" name="Oval 1122"/>
          <p:cNvSpPr/>
          <p:nvPr/>
        </p:nvSpPr>
        <p:spPr>
          <a:xfrm>
            <a:off x="731649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731649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171181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7189469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127" name="Oval 1126"/>
          <p:cNvSpPr/>
          <p:nvPr/>
        </p:nvSpPr>
        <p:spPr>
          <a:xfrm>
            <a:off x="803506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803506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7889747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908035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131" name="Oval 1130"/>
          <p:cNvSpPr/>
          <p:nvPr/>
        </p:nvSpPr>
        <p:spPr>
          <a:xfrm>
            <a:off x="875362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75362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60831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62660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120640"/>
            <a:ext cx="921715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46888" y="5202936"/>
            <a:ext cx="89428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развилка — в клетке «файл»: от одной строки кода расходятся зелёная дорожка и красная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 · 5 мин</a:t>
            </a:r>
          </a:p>
        </p:txBody>
      </p:sp>
      <p:sp>
        <p:nvSpPr>
          <p:cNvPr id="103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Oval 105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graphicFrame>
        <p:nvGraphicFramePr>
          <p:cNvPr id="1073" name="Chart 1072"/>
          <p:cNvGraphicFramePr>
            <a:graphicFrameLocks noGrp="1"/>
          </p:cNvGraphicFramePr>
          <p:nvPr/>
        </p:nvGraphicFramePr>
        <p:xfrm>
          <a:off x="109728" y="1188720"/>
          <a:ext cx="51206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TextBox 1073"/>
          <p:cNvSpPr txBox="1"/>
          <p:nvPr/>
        </p:nvSpPr>
        <p:spPr>
          <a:xfrm>
            <a:off x="109728" y="4983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B относительно A (A = ×1) · стадии пайплайна, 150 ячеек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458968" y="1188720"/>
            <a:ext cx="3867912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687568" y="1325880"/>
            <a:ext cx="3410712" cy="1463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58968" y="3063240"/>
            <a:ext cx="3867912" cy="12344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6" name="TextBox 1075"/>
          <p:cNvSpPr txBox="1"/>
          <p:nvPr/>
        </p:nvSpPr>
        <p:spPr>
          <a:xfrm>
            <a:off x="5687568" y="3200400"/>
            <a:ext cx="34107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3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458968" y="4434840"/>
            <a:ext cx="3867912" cy="187451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7" name="TextBox 1076"/>
          <p:cNvSpPr txBox="1"/>
          <p:nvPr/>
        </p:nvSpPr>
        <p:spPr>
          <a:xfrm>
            <a:off x="5687568" y="4572000"/>
            <a:ext cx="341071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обеих записей · чтений много, сборка одна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Oval 10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1188720"/>
            <a:ext cx="2950464" cy="35661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TextBox 1076"/>
          <p:cNvSpPr txBox="1"/>
          <p:nvPr/>
        </p:nvSpPr>
        <p:spPr>
          <a:xfrm>
            <a:off x="292608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292608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310896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310896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1" name="Connector 1080"/>
          <p:cNvCxnSpPr/>
          <p:nvPr/>
        </p:nvCxnSpPr>
        <p:spPr>
          <a:xfrm>
            <a:off x="429768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Rounded Rectangle 1081"/>
          <p:cNvSpPr/>
          <p:nvPr/>
        </p:nvSpPr>
        <p:spPr>
          <a:xfrm>
            <a:off x="310896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65759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310896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10896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43072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425952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425952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344424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44424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371856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371856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99288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399288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563112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Rounded Rectangle 1094"/>
          <p:cNvSpPr/>
          <p:nvPr/>
        </p:nvSpPr>
        <p:spPr>
          <a:xfrm>
            <a:off x="3444240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499104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444240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4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76416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8" name="TextBox 1097"/>
          <p:cNvSpPr txBox="1"/>
          <p:nvPr/>
        </p:nvSpPr>
        <p:spPr>
          <a:xfrm>
            <a:off x="6559296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6559296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65775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65775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685190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85190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1262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1262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740054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740054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67486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67486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79491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79491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822350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822350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84978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84978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6" name="Connector 1115"/>
          <p:cNvCxnSpPr/>
          <p:nvPr/>
        </p:nvCxnSpPr>
        <p:spPr>
          <a:xfrm>
            <a:off x="6696456" y="2066543"/>
            <a:ext cx="0" cy="23774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7" name="Rounded Rectangle 1116"/>
          <p:cNvSpPr/>
          <p:nvPr/>
        </p:nvSpPr>
        <p:spPr>
          <a:xfrm>
            <a:off x="6577584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632448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Menlo"/>
              </a:rPr>
              <a:t>u.plan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577584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словарь: поиск по имени поля и форме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6577584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937760"/>
            <a:ext cx="92171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384048" y="493776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Menlo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230368" y="4937760"/>
            <a:ext cx="39136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>
                <a:solidFill>
                  <a:srgbClr val="E0FBCC"/>
                </a:solidFill>
                <a:latin typeface="X5 Sans Medium"/>
              </a:rPr>
              <a:t>MEGA vs MONO ×2.7–3.4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0" name="Connector 10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Oval 10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109728" y="1188720"/>
            <a:ext cx="6309360" cy="3657600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024128" y="1280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38328" y="1572768"/>
            <a:ext cx="585216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--log-ic --logfile=ic.log shape-analyzer.js ref-b.js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grep ^LoadIC ic.log | grep 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тип, строка, колонка, было, стало, форма, поле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0x001d2aad5841,plan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,1,P,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0x001d2aad5379,plan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0x001d2aad5709,plan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0x001d2aad54a1,plan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0x001d2aad5fd9,plan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,N,N,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0x001d2aad6121,plan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ref-a.js — одна строка: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0x001d8eed53f1,plan</a:t>
            </a:r>
          </a:p>
        </p:txBody>
      </p:sp>
      <p:sp>
        <p:nvSpPr>
          <p:cNvPr id="105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858000" y="1188720"/>
            <a:ext cx="2468880" cy="3657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7132320" y="1353312"/>
            <a:ext cx="1920240" cy="3328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в первые же вызовы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карта: «место чтения» —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на «сборке» подпись: ×0.93–1.02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9638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 · 4 мин</a:t>
            </a:r>
          </a:p>
        </p:txBody>
      </p:sp>
      <p:sp>
        <p:nvSpPr>
          <p:cNvPr id="10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9" name="Connector 10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6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292608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109728" y="1188720"/>
            <a:ext cx="292608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74720" y="1188720"/>
            <a:ext cx="5852160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675887" y="1353312"/>
            <a:ext cx="50749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675887" y="135331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794759" y="175564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474720" y="2971800"/>
            <a:ext cx="5852160" cy="16002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675887" y="3136392"/>
            <a:ext cx="507492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6" name="TextBox 1095"/>
          <p:cNvSpPr txBox="1"/>
          <p:nvPr/>
        </p:nvSpPr>
        <p:spPr>
          <a:xfrm>
            <a:off x="3675887" y="313639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794759" y="353872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74720" y="4754880"/>
            <a:ext cx="5852160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3611879" y="4837176"/>
            <a:ext cx="5577840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3474720" y="56692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оптимизирован TurboFan — проверено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Ярус: четыре способа исполнить одну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Oval 108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109728" y="4343400"/>
            <a:ext cx="92171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6949440" y="47091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01168" y="3610217"/>
            <a:ext cx="2203704" cy="733182"/>
          </a:xfrm>
          <a:prstGeom prst="roundRect">
            <a:avLst>
              <a:gd name="adj" fmla="val 9977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274320" y="3646793"/>
            <a:ext cx="2057400" cy="6600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201168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182880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2459736" y="3243626"/>
            <a:ext cx="2203704" cy="1099773"/>
          </a:xfrm>
          <a:prstGeom prst="roundRect">
            <a:avLst>
              <a:gd name="adj" fmla="val 665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2532888" y="3280202"/>
            <a:ext cx="2057400" cy="1026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2459736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2441448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~700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718304" y="2673373"/>
            <a:ext cx="2203704" cy="1670026"/>
          </a:xfrm>
          <a:prstGeom prst="roundRect">
            <a:avLst>
              <a:gd name="adj" fmla="val 438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791456" y="2709949"/>
            <a:ext cx="2057400" cy="1596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718304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700016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~1000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6976872" y="2103120"/>
            <a:ext cx="2203704" cy="2240280"/>
          </a:xfrm>
          <a:prstGeom prst="roundRect">
            <a:avLst>
              <a:gd name="adj" fmla="val 331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050024" y="2139696"/>
            <a:ext cx="2057400" cy="2167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6976872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958584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~13 000</a:t>
            </a:r>
          </a:p>
        </p:txBody>
      </p:sp>
      <p:cxnSp>
        <p:nvCxnSpPr>
          <p:cNvPr id="1120" name="Connector 1119"/>
          <p:cNvCxnSpPr/>
          <p:nvPr/>
        </p:nvCxnSpPr>
        <p:spPr>
          <a:xfrm>
            <a:off x="201168" y="1618488"/>
            <a:ext cx="446227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4663440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201168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4718304" y="1618488"/>
            <a:ext cx="446227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1830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9180576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4718304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201168" y="4709160"/>
            <a:ext cx="6473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8-й вызов — движок заводит записи мест чтения · номиналы флагов: Maglev 400, TurboFan 3000 · считается бюджет байткода, не вызовы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109728" y="5166360"/>
            <a:ext cx="9217152" cy="1143000"/>
          </a:xfrm>
          <a:prstGeom prst="roundRect">
            <a:avLst>
              <a:gd name="adj" fmla="val 128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292608" y="53126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475488" y="53126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658368" y="53126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024128" y="525780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338328" y="5550408"/>
            <a:ext cx="8759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CreateObjectLiteral [0], [0], #41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GetNamedProperty a0, [1], [1]      DefineNamedOwnProperty r0, [1], [3]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graphicFrame>
        <p:nvGraphicFramePr>
          <p:cNvPr id="1105" name="Chart 1104"/>
          <p:cNvGraphicFramePr>
            <a:graphicFrameLocks noGrp="1"/>
          </p:cNvGraphicFramePr>
          <p:nvPr/>
        </p:nvGraphicFramePr>
        <p:xfrm>
          <a:off x="109728" y="118872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07608" y="1188720"/>
            <a:ext cx="3319272" cy="20116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6281928" y="1353312"/>
            <a:ext cx="2770632" cy="168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×13</a:t>
            </a:r>
          </a:p>
          <a:p>
            <a:pPr algn="ctr"/>
            <a:r>
              <a:rPr sz="2200" b="0">
                <a:solidFill>
                  <a:srgbClr val="1E5B28"/>
                </a:solidFill>
                <a:latin typeface="X5 Sans"/>
              </a:rPr>
              <a:t>от интерпретатора до вершины</a:t>
            </a:r>
          </a:p>
        </p:txBody>
      </p:sp>
      <p:sp>
        <p:nvSpPr>
          <p:cNvPr id="107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07608" y="3383280"/>
            <a:ext cx="331927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6144768" y="3465576"/>
            <a:ext cx="304495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--max-opt=0 / 1 / 2 / 3</a:t>
            </a:r>
          </a:p>
        </p:txBody>
      </p:sp>
      <p:sp>
        <p:nvSpPr>
          <p:cNvPr id="107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4434840"/>
            <a:ext cx="3319272" cy="9601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144768" y="4517136"/>
            <a:ext cx="304495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одна функция, не A против B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скачок дают оптимизирующие ярусы · на arm64 Sparkplug на этой функции вышел медленнее интерпретатора — показано как намерено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колонки: читают записи / вшивают ставку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8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51206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1" name="TextBox 1110"/>
          <p:cNvSpPr txBox="1"/>
          <p:nvPr/>
        </p:nvSpPr>
        <p:spPr>
          <a:xfrm>
            <a:off x="384048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1E5B28"/>
                </a:solidFill>
                <a:latin typeface="X5 Sans Medium"/>
              </a:rPr>
              <a:t>Ignition · Sparkplug</a:t>
            </a:r>
          </a:p>
          <a:p>
            <a:pPr algn="l"/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читают записи мест чтения,</a:t>
            </a:r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ничего не предполагают</a:t>
            </a:r>
          </a:p>
        </p:txBody>
      </p:sp>
      <p:sp>
        <p:nvSpPr>
          <p:cNvPr id="108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983480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X5 Sans Medium"/>
              </a:rPr>
              <a:t>Maglev · TurboFan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вшивают в машинный код ставку «сюда приходит одна форма»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проверка — одно сравнение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 · 4 мин</a:t>
            </a:r>
          </a:p>
        </p:txBody>
      </p:sp>
      <p:sp>
        <p:nvSpPr>
          <p:cNvPr id="108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B доходит до Maglev с восемью формами. Что происходит со ставкой?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Oval 11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69163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384048" y="1828800"/>
            <a:ext cx="15471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38912" y="1828800"/>
            <a:ext cx="14374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1931212" y="2057400"/>
            <a:ext cx="27432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Rounded Rectangle 1122"/>
          <p:cNvSpPr/>
          <p:nvPr/>
        </p:nvSpPr>
        <p:spPr>
          <a:xfrm>
            <a:off x="2205532" y="1828800"/>
            <a:ext cx="1815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2260396" y="1828800"/>
            <a:ext cx="1706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021531" y="2057400"/>
            <a:ext cx="5031028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384048" y="2377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063240"/>
            <a:ext cx="9217152" cy="169163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7" name="TextBox 1126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сначала одна форма → потом восемь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84048" y="3703320"/>
            <a:ext cx="2084831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38912" y="3703320"/>
            <a:ext cx="19751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468879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Oval 1131"/>
          <p:cNvSpPr/>
          <p:nvPr/>
        </p:nvSpPr>
        <p:spPr>
          <a:xfrm>
            <a:off x="2542032" y="3867911"/>
            <a:ext cx="128016" cy="128016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Rounded Rectangle 1132"/>
          <p:cNvSpPr/>
          <p:nvPr/>
        </p:nvSpPr>
        <p:spPr>
          <a:xfrm>
            <a:off x="2743199" y="3703320"/>
            <a:ext cx="7406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2798063" y="3703320"/>
            <a:ext cx="6309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откат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3483863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Rounded Rectangle 1135"/>
          <p:cNvSpPr/>
          <p:nvPr/>
        </p:nvSpPr>
        <p:spPr>
          <a:xfrm>
            <a:off x="3758183" y="3703320"/>
            <a:ext cx="1726387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TextBox 1136"/>
          <p:cNvSpPr txBox="1"/>
          <p:nvPr/>
        </p:nvSpPr>
        <p:spPr>
          <a:xfrm>
            <a:off x="3813047" y="3703320"/>
            <a:ext cx="1616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обновлены</a:t>
            </a:r>
          </a:p>
        </p:txBody>
      </p:sp>
      <p:cxnSp>
        <p:nvCxnSpPr>
          <p:cNvPr id="1138" name="Connector 1137"/>
          <p:cNvCxnSpPr/>
          <p:nvPr/>
        </p:nvCxnSpPr>
        <p:spPr>
          <a:xfrm>
            <a:off x="5484571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ounded Rectangle 1138"/>
          <p:cNvSpPr/>
          <p:nvPr/>
        </p:nvSpPr>
        <p:spPr>
          <a:xfrm>
            <a:off x="5758891" y="3703320"/>
            <a:ext cx="25328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5813755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перекомпиляция без ставки</a:t>
            </a:r>
          </a:p>
        </p:txBody>
      </p:sp>
      <p:cxnSp>
        <p:nvCxnSpPr>
          <p:cNvPr id="1141" name="Connector 1140"/>
          <p:cNvCxnSpPr/>
          <p:nvPr/>
        </p:nvCxnSpPr>
        <p:spPr>
          <a:xfrm>
            <a:off x="8291779" y="3931920"/>
            <a:ext cx="760780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2761488" y="3392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1538"/>
                </a:solidFill>
                <a:latin typeface="X5 Sans"/>
              </a:rPr>
              <a:t>↑ </a:t>
            </a:r>
            <a:r>
              <a:rPr sz="968" b="0">
                <a:solidFill>
                  <a:srgbClr val="8A1538"/>
                </a:solidFill>
                <a:latin typeface="Menlo"/>
              </a:rPr>
              <a:t>reason: wrong map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384048" y="4251960"/>
            <a:ext cx="8668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X5 Sans"/>
              </a:rPr>
              <a:t>один откат (5 из 5 прогонов) · дальше — общий путь MEGA, стационарно · в приборе ставки не было вовсе: 0 откатов, TurboFan, и всё равно ×6.6</a:t>
            </a:r>
          </a:p>
        </p:txBody>
      </p:sp>
      <p:sp>
        <p:nvSpPr>
          <p:cNvPr id="1144" name="Rounded Rectangle 1143"/>
          <p:cNvSpPr/>
          <p:nvPr/>
        </p:nvSpPr>
        <p:spPr>
          <a:xfrm>
            <a:off x="109728" y="4892040"/>
            <a:ext cx="6839712" cy="1417320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292608" y="503834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75488" y="503834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658368" y="503834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1024128" y="4983479"/>
            <a:ext cx="5742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R2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5276088"/>
            <a:ext cx="63825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1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1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7132319" y="4892040"/>
            <a:ext cx="2194560" cy="14173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7406640" y="5056631"/>
            <a:ext cx="1645919" cy="10881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термин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 Medium"/>
              </a:rPr>
              <a:t>деопт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384048" y="1371600"/>
            <a:ext cx="866851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5488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58368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0231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3563112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284976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6467856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475488" y="5029200"/>
            <a:ext cx="84856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Menlo"/>
              </a:rPr>
              <a:t>%GetOptimizationStatus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21945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1" name="TextBox 1130"/>
          <p:cNvSpPr txBox="1"/>
          <p:nvPr/>
        </p:nvSpPr>
        <p:spPr>
          <a:xfrm>
            <a:off x="384048" y="1353312"/>
            <a:ext cx="3840480" cy="1865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Menlo"/>
              </a:rPr>
              <a:t>reason: wrong map</a:t>
            </a:r>
          </a:p>
        </p:txBody>
      </p:sp>
      <p:sp>
        <p:nvSpPr>
          <p:cNvPr id="11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384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395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2670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709160" y="14630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5047488" y="3566160"/>
            <a:ext cx="3712463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6099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 · 6 мин</a:t>
            </a:r>
          </a:p>
        </p:txBody>
      </p:sp>
      <p:sp>
        <p:nvSpPr>
          <p:cNvPr id="110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8" name="Oval 112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109728" y="1024128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200k NDJSON · parse → normalize → consume (R проходов чтения) → serialize · процесс на ячейку · прогрев 300 / замер 1000 / 5 повторов · чексумма совпала во всех 150 ячейках</a:t>
            </a:r>
          </a:p>
        </p:txBody>
      </p:sp>
      <p:graphicFrame>
        <p:nvGraphicFramePr>
          <p:cNvPr id="1142" name="Chart 1141"/>
          <p:cNvGraphicFramePr>
            <a:graphicFrameLocks noGrp="1"/>
          </p:cNvGraphicFramePr>
          <p:nvPr/>
        </p:nvGraphicFramePr>
        <p:xfrm>
          <a:off x="109728" y="1554480"/>
          <a:ext cx="57607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15544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6190488" y="16093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24688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6190488" y="25237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33832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6190488" y="34381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99048" y="4343400"/>
            <a:ext cx="3227832" cy="11430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6208776" y="4409236"/>
            <a:ext cx="3008376" cy="1011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9728" y="562356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ручка одна — число чтений · serialize ×1.34–1.56 при меньших байтах · пара той же формы 1 vs 8, чей код — в следующей главе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Oval 113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TextBox 114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graphicFrame>
        <p:nvGraphicFramePr>
          <p:cNvPr id="1148" name="Chart 1147"/>
          <p:cNvGraphicFramePr>
            <a:graphicFrameLocks noGrp="1"/>
          </p:cNvGraphicFramePr>
          <p:nvPr/>
        </p:nvGraphicFramePr>
        <p:xfrm>
          <a:off x="109728" y="1188720"/>
          <a:ext cx="4206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544568" y="1188720"/>
            <a:ext cx="478231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4544568" y="1188720"/>
            <a:ext cx="478231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544568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4636007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050023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7141463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4544568" y="4251960"/>
            <a:ext cx="4782312" cy="2057400"/>
          </a:xfrm>
          <a:prstGeom prst="roundRect">
            <a:avLst>
              <a:gd name="adj" fmla="val 71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4727448" y="43982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4910328" y="43982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5093208" y="43982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TextBox 1155"/>
          <p:cNvSpPr txBox="1"/>
          <p:nvPr/>
        </p:nvSpPr>
        <p:spPr>
          <a:xfrm>
            <a:off x="5458968" y="4343400"/>
            <a:ext cx="3685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R7 · R = 5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4773168" y="4636008"/>
            <a:ext cx="432511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autocannon -c 50 -d 20 "/process?batch=1000"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mono-llm   </a:t>
            </a:r>
            <a:r>
              <a:rPr sz="1050" b="1">
                <a:solidFill>
                  <a:srgbClr val="FF9DB8"/>
                </a:solidFill>
                <a:latin typeface="Menlo"/>
              </a:rPr>
              <a:t>2302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21 ms   p99 42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guard-llm  </a:t>
            </a:r>
            <a:r>
              <a:rPr sz="1050" b="1">
                <a:solidFill>
                  <a:srgbClr val="FF9DB8"/>
                </a:solidFill>
                <a:latin typeface="Menlo"/>
              </a:rPr>
              <a:t>1180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41 ms   p99 82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mixed-mono 2005 rps   p50 24 ms   p99 48 ms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09728" y="5349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2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365760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ingest без чтений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R≈0: +6–10% (if-guard)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+13–18% (спред)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3514344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I/O-bound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ждёт базу десятки мс — не видно ни в p50, ни в p99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8" name="TextBox 1157"/>
          <p:cNvSpPr txBox="1"/>
          <p:nvPr/>
        </p:nvSpPr>
        <p:spPr>
          <a:xfrm>
            <a:off x="6662928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R=1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0.17 vs 0.22 мс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160520"/>
            <a:ext cx="9217152" cy="12344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384048" y="4325112"/>
            <a:ext cx="8668512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трети до трёх с лишним раз; только складываете — единицы процентов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[резерв] Как мерили — и где легко соврать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Docker, </a:t>
            </a:r>
            <a:r>
              <a:rPr sz="1276" b="0">
                <a:solidFill>
                  <a:srgbClr val="1E5B28"/>
                </a:solidFill>
                <a:latin typeface="Menlo"/>
              </a:rPr>
              <a:t>node:24.21.0-alpine</a:t>
            </a:r>
            <a:r>
              <a:rPr sz="1450" b="0">
                <a:solidFill>
                  <a:srgbClr val="1E5B28"/>
                </a:solidFill>
                <a:latin typeface="X5 Sans"/>
              </a:rPr>
              <a:t>, тег запиннен, </a:t>
            </a:r>
            <a:r>
              <a:rPr sz="1276" b="0">
                <a:solidFill>
                  <a:srgbClr val="1E5B28"/>
                </a:solidFill>
                <a:latin typeface="Menlo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ячейку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результат A и B совпал во всех 150 ячейках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188" b="0">
                <a:solidFill>
                  <a:srgbClr val="1E5B28"/>
                </a:solidFill>
                <a:latin typeface="Menlo"/>
              </a:rPr>
              <a:t>wrong map</a:t>
            </a:r>
            <a:r>
              <a:rPr sz="135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то же направление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760720"/>
            <a:ext cx="11320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 · 6 мин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6" name="Rounded Rectangle 115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61" name="Connector 116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2" name="Oval 116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TextBox 117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75" name="Rounded Rectangle 1174"/>
          <p:cNvSpPr/>
          <p:nvPr/>
        </p:nvSpPr>
        <p:spPr>
          <a:xfrm>
            <a:off x="109728" y="1188720"/>
            <a:ext cx="521208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1024128" y="1280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338328" y="1572768"/>
            <a:ext cx="475488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claude -p --model opus "$(cat P1.txt)" &gt; raw.txt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  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{</a:t>
            </a:r>
            <a:r>
              <a:rPr sz="12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  <a:r>
              <a:rPr sz="12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"p50_ms":0.76,"correct":true}</a:t>
            </a:r>
          </a:p>
        </p:txBody>
      </p:sp>
      <p:sp>
        <p:nvSpPr>
          <p:cNvPr id="11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1188720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1" name="TextBox 1180"/>
          <p:cNvSpPr txBox="1"/>
          <p:nvPr/>
        </p:nvSpPr>
        <p:spPr>
          <a:xfrm>
            <a:off x="5961888" y="1309420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2487168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2" name="TextBox 1181"/>
          <p:cNvSpPr txBox="1"/>
          <p:nvPr/>
        </p:nvSpPr>
        <p:spPr>
          <a:xfrm>
            <a:off x="5961888" y="2607868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3785615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3" name="TextBox 1182"/>
          <p:cNvSpPr txBox="1"/>
          <p:nvPr/>
        </p:nvSpPr>
        <p:spPr>
          <a:xfrm>
            <a:off x="5961888" y="3906316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5084064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5961888" y="5204764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 — и ни одной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5" name="Rounded Rectangle 11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TextBox 11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68" name="TextBox 11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0" name="Connector 11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1" name="Oval 11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TextBox 11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384048" y="1325880"/>
            <a:ext cx="866851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5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75488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5" name="TextBox 1184"/>
          <p:cNvSpPr txBox="1"/>
          <p:nvPr/>
        </p:nvSpPr>
        <p:spPr>
          <a:xfrm>
            <a:off x="612648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5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0231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3517391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0.79 мс</a:t>
            </a:r>
            <a:r>
              <a:rPr sz="1700" b="0">
                <a:solidFill>
                  <a:srgbClr val="1E5B28"/>
                </a:solidFill>
                <a:latin typeface="X5 Sans"/>
              </a:rPr>
              <a:t> (0.76–0.83)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284976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6422136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75488" y="4846320"/>
            <a:ext cx="848563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4" name="Rounded Rectangle 11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TextBox 11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9" name="Connector 11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0" name="Oval 11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3" name="TextBox 1192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892040" y="1335024"/>
            <a:ext cx="173736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4892040" y="13350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агент, 30 из 30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const result = { id, name, email, … 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(src.trialUntil != null) result.trialUntil = …;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(src.teamId != null) result.teamId = …;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result;</a:t>
            </a:r>
          </a:p>
        </p:txBody>
      </p:sp>
      <p:sp>
        <p:nvSpPr>
          <p:cNvPr id="117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7" name="TextBox 1196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8" name="TextBox 1197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5" name="TextBox 1204"/>
          <p:cNvSpPr txBox="1"/>
          <p:nvPr/>
        </p:nvSpPr>
        <p:spPr>
          <a:xfrm>
            <a:off x="384048" y="135331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18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6" name="TextBox 1205"/>
          <p:cNvSpPr txBox="1"/>
          <p:nvPr/>
        </p:nvSpPr>
        <p:spPr>
          <a:xfrm>
            <a:off x="292608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P1 / P2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7" name="TextBox 1206"/>
          <p:cNvSpPr txBox="1"/>
          <p:nvPr/>
        </p:nvSpPr>
        <p:spPr>
          <a:xfrm>
            <a:off x="3441192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один вендор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8" name="TextBox 1207"/>
          <p:cNvSpPr txBox="1"/>
          <p:nvPr/>
        </p:nvSpPr>
        <p:spPr>
          <a:xfrm>
            <a:off x="6589776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480560"/>
            <a:ext cx="9217152" cy="18288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384048" y="4645152"/>
            <a:ext cx="8668512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на карте: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 · 5 мин</a:t>
            </a:r>
          </a:p>
        </p:txBody>
      </p:sp>
      <p:sp>
        <p:nvSpPr>
          <p:cNvPr id="118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92" name="TextBox 119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06" name="Connector 12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7" name="Oval 12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27889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384048" y="129844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404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49377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1868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32841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53328" y="1783080"/>
            <a:ext cx="2697480" cy="196596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616305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—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замер двоится: ×3.6 / ×14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84048" y="422452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Menlo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84048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TextBox 1224"/>
          <p:cNvSpPr txBox="1"/>
          <p:nvPr/>
        </p:nvSpPr>
        <p:spPr>
          <a:xfrm>
            <a:off x="475488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49751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3441191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15455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6406895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84048" y="5806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20" name="Connector 121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1" name="Oval 122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TextBox 123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109728" y="1188720"/>
            <a:ext cx="5029200" cy="3200400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1024128" y="12801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· эксп. 3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338328" y="1572768"/>
            <a:ext cx="457200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"ms":21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"ms":65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</p:txBody>
      </p:sp>
      <p:sp>
        <p:nvSpPr>
          <p:cNvPr id="12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367528" y="1188720"/>
            <a:ext cx="3959352" cy="3200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0" name="TextBox 1239"/>
          <p:cNvSpPr txBox="1"/>
          <p:nvPr/>
        </p:nvSpPr>
        <p:spPr>
          <a:xfrm>
            <a:off x="5641848" y="1417320"/>
            <a:ext cx="3410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41848" y="2240280"/>
            <a:ext cx="34107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один процесс: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кратность была артефактом бенча</a:t>
            </a:r>
          </a:p>
        </p:txBody>
      </p:sp>
      <p:sp>
        <p:nvSpPr>
          <p:cNvPr id="121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617720"/>
            <a:ext cx="9217152" cy="11887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384048" y="4782312"/>
            <a:ext cx="866851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09728" y="589788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Node 22 — без Maglev по умолчанию: PITFALLS.md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18479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36767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18479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36767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9335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8336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516624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98336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16624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89192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39566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7819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96480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7819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96480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6904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 · 7 мин</a:t>
            </a:r>
          </a:p>
        </p:txBody>
      </p:sp>
      <p:sp>
        <p:nvSpPr>
          <p:cNvPr id="121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30" name="Connector 122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1" name="Oval 123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TextBox 124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4" name="TextBox 1243"/>
          <p:cNvSpPr txBox="1"/>
          <p:nvPr/>
        </p:nvSpPr>
        <p:spPr>
          <a:xfrm>
            <a:off x="475488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Menlo"/>
              </a:rPr>
              <a:t>null</a:t>
            </a:r>
          </a:p>
        </p:txBody>
      </p:sp>
      <p:sp>
        <p:nvSpPr>
          <p:cNvPr id="1220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5" name="TextBox 1244"/>
          <p:cNvSpPr txBox="1"/>
          <p:nvPr/>
        </p:nvSpPr>
        <p:spPr>
          <a:xfrm>
            <a:off x="3767328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6" name="TextBox 1245"/>
          <p:cNvSpPr txBox="1"/>
          <p:nvPr/>
        </p:nvSpPr>
        <p:spPr>
          <a:xfrm>
            <a:off x="5074920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</a:t>
            </a:r>
          </a:p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(</a:t>
            </a:r>
            <a:r>
              <a:rPr sz="1496" b="0">
                <a:solidFill>
                  <a:srgbClr val="1E5B28"/>
                </a:solidFill>
                <a:latin typeface="Menlo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×10–×30)</a:t>
            </a:r>
          </a:p>
        </p:txBody>
      </p:sp>
      <p:sp>
        <p:nvSpPr>
          <p:cNvPr id="1222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8366760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8" name="TextBox 1247"/>
          <p:cNvSpPr txBox="1"/>
          <p:nvPr/>
        </p:nvSpPr>
        <p:spPr>
          <a:xfrm>
            <a:off x="475488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4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9" name="TextBox 1248"/>
          <p:cNvSpPr txBox="1"/>
          <p:nvPr/>
        </p:nvSpPr>
        <p:spPr>
          <a:xfrm>
            <a:off x="3767328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0" name="TextBox 1249"/>
          <p:cNvSpPr txBox="1"/>
          <p:nvPr/>
        </p:nvSpPr>
        <p:spPr>
          <a:xfrm>
            <a:off x="5074920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6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8366760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5120640"/>
            <a:ext cx="5120640" cy="11887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384048" y="5303520"/>
            <a:ext cx="4663440" cy="868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5B28"/>
                </a:solidFill>
                <a:latin typeface="Menlo"/>
              </a:rPr>
              <a:t>правильно:  { ...base, extra: cond ? value : null }</a:t>
            </a:r>
          </a:p>
        </p:txBody>
      </p:sp>
      <p:sp>
        <p:nvSpPr>
          <p:cNvPr id="122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458968" y="5120640"/>
            <a:ext cx="3867912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5568696" y="5186476"/>
            <a:ext cx="3648456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порядок тоже деньги: 2 формы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чтение ×1.39–1.52 · 2005 rps (−13%)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46" name="Connector 12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Oval 12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TextBox 12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60" name="Rounded Rectangle 1259"/>
          <p:cNvSpPr/>
          <p:nvPr/>
        </p:nvSpPr>
        <p:spPr>
          <a:xfrm>
            <a:off x="109728" y="1188720"/>
            <a:ext cx="4480560" cy="5120640"/>
          </a:xfrm>
          <a:prstGeom prst="roundRect">
            <a:avLst>
              <a:gd name="adj" fmla="val 3265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1024128" y="12801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338328" y="1572768"/>
            <a:ext cx="402336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claude -p --model opus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"$(cat prompts/P1.txt v8-rules.md)" &gt; raw.txt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FB09A"/>
                </a:solidFill>
                <a:latin typeface="Menlo"/>
              </a:rPr>
              <a:t># тот же тикет + файл правил инлайном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--allow-natives-syntax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shape-analyzer.js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{</a:t>
            </a:r>
            <a:r>
              <a:rPr sz="11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  <a:r>
              <a:rPr sz="11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"p50_ms":0.12,"correct":true}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00600" y="1188720"/>
            <a:ext cx="42976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800600" y="128016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5047488" y="2697480"/>
            <a:ext cx="38039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0.79 — диапазоны не пересекаются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47488" y="5029200"/>
            <a:ext cx="3803904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184648" y="5111496"/>
            <a:ext cx="35295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54" name="Connector 12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5" name="Oval 12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TextBox 12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92040" y="1335024"/>
            <a:ext cx="265176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892040" y="133502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тернарник с null взят из примера в первом правиле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E5B28"/>
                </a:solidFill>
                <a:latin typeface="X5 Sans Medium"/>
              </a:rPr>
              <a:t>агент + файл правил</a:t>
            </a:r>
            <a:r>
              <a:rPr sz="900">
                <a:solidFill>
                  <a:srgbClr val="B6BCC6"/>
                </a:solidFill>
                <a:latin typeface="X5 Sans Medium"/>
              </a:rPr>
              <a:t>  /  </a:t>
            </a:r>
            <a:r>
              <a:rPr sz="9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68" name="Connector 126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9" name="Oval 126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2523744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310896" y="13533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429768" y="17556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out/p1-rules/candidate_1.js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7889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953512"/>
            <a:ext cx="2523744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4" name="TextBox 1283"/>
          <p:cNvSpPr txBox="1"/>
          <p:nvPr/>
        </p:nvSpPr>
        <p:spPr>
          <a:xfrm>
            <a:off x="310896" y="29535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429768" y="33558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2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448056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246888" y="4562856"/>
            <a:ext cx="8942832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«генерации, не пара с первого слайда; одна пара форм, два прибора»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292608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оговорка: правила инлайнились явно, с запретом и примером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32604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015484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144" b="0">
                <a:solidFill>
                  <a:srgbClr val="1E5B28"/>
                </a:solidFill>
                <a:latin typeface="Menlo"/>
              </a:rPr>
              <a:t>CLAUDE.md</a:t>
            </a:r>
            <a:r>
              <a:rPr sz="1300" b="0">
                <a:solidFill>
                  <a:srgbClr val="1E5B28"/>
                </a:solidFill>
                <a:latin typeface="X5 Sans"/>
              </a:rPr>
              <a:t> · cursor rules · codex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 · 3 мин</a:t>
            </a:r>
          </a:p>
        </p:txBody>
      </p:sp>
      <p:sp>
        <p:nvSpPr>
          <p:cNvPr id="126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из чего собран и в каком статусе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83" name="Connector 128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4" name="Oval 128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TextBox 129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cxnSp>
        <p:nvCxnSpPr>
          <p:cNvPr id="1297" name="Connector 1296"/>
          <p:cNvCxnSpPr/>
          <p:nvPr/>
        </p:nvCxnSpPr>
        <p:spPr>
          <a:xfrm>
            <a:off x="109728" y="4160520"/>
            <a:ext cx="5394960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8" name="TextBox 1297"/>
          <p:cNvSpPr txBox="1"/>
          <p:nvPr/>
        </p:nvSpPr>
        <p:spPr>
          <a:xfrm>
            <a:off x="3127248" y="4526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201168" y="3487189"/>
            <a:ext cx="1248156" cy="673330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274320" y="3523765"/>
            <a:ext cx="1101852" cy="600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301" name="Connector 1300"/>
          <p:cNvCxnSpPr/>
          <p:nvPr/>
        </p:nvCxnSpPr>
        <p:spPr>
          <a:xfrm>
            <a:off x="20116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2" name="TextBox 1301"/>
          <p:cNvSpPr txBox="1"/>
          <p:nvPr/>
        </p:nvSpPr>
        <p:spPr>
          <a:xfrm>
            <a:off x="18288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303" name="Rounded Rectangle 1302"/>
          <p:cNvSpPr/>
          <p:nvPr/>
        </p:nvSpPr>
        <p:spPr>
          <a:xfrm>
            <a:off x="1504188" y="3150523"/>
            <a:ext cx="1248156" cy="1009996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577340" y="3187099"/>
            <a:ext cx="1101852" cy="936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305" name="Connector 1304"/>
          <p:cNvCxnSpPr/>
          <p:nvPr/>
        </p:nvCxnSpPr>
        <p:spPr>
          <a:xfrm>
            <a:off x="150418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6" name="TextBox 1305"/>
          <p:cNvSpPr txBox="1"/>
          <p:nvPr/>
        </p:nvSpPr>
        <p:spPr>
          <a:xfrm>
            <a:off x="148590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~700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807208" y="2626821"/>
            <a:ext cx="1248156" cy="1533698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2880360" y="2663397"/>
            <a:ext cx="1101852" cy="1460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309" name="Connector 1308"/>
          <p:cNvCxnSpPr/>
          <p:nvPr/>
        </p:nvCxnSpPr>
        <p:spPr>
          <a:xfrm>
            <a:off x="280720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0" name="TextBox 1309"/>
          <p:cNvSpPr txBox="1"/>
          <p:nvPr/>
        </p:nvSpPr>
        <p:spPr>
          <a:xfrm>
            <a:off x="278892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~1000</a:t>
            </a:r>
          </a:p>
        </p:txBody>
      </p:sp>
      <p:sp>
        <p:nvSpPr>
          <p:cNvPr id="1311" name="Rounded Rectangle 1310"/>
          <p:cNvSpPr/>
          <p:nvPr/>
        </p:nvSpPr>
        <p:spPr>
          <a:xfrm>
            <a:off x="4110228" y="2103120"/>
            <a:ext cx="1248156" cy="2057400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4183380" y="2139696"/>
            <a:ext cx="1101852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313" name="Connector 1312"/>
          <p:cNvCxnSpPr/>
          <p:nvPr/>
        </p:nvCxnSpPr>
        <p:spPr>
          <a:xfrm>
            <a:off x="411022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4" name="TextBox 1313"/>
          <p:cNvSpPr txBox="1"/>
          <p:nvPr/>
        </p:nvSpPr>
        <p:spPr>
          <a:xfrm>
            <a:off x="409194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~13 000</a:t>
            </a:r>
          </a:p>
        </p:txBody>
      </p:sp>
      <p:cxnSp>
        <p:nvCxnSpPr>
          <p:cNvPr id="1315" name="Connector 1314"/>
          <p:cNvCxnSpPr/>
          <p:nvPr/>
        </p:nvCxnSpPr>
        <p:spPr>
          <a:xfrm>
            <a:off x="201168" y="1618488"/>
            <a:ext cx="2551176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2752344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8" name="TextBox 1317"/>
          <p:cNvSpPr txBox="1"/>
          <p:nvPr/>
        </p:nvSpPr>
        <p:spPr>
          <a:xfrm>
            <a:off x="20116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2807208" y="1618488"/>
            <a:ext cx="255117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2807208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535838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2" name="TextBox 1321"/>
          <p:cNvSpPr txBox="1"/>
          <p:nvPr/>
        </p:nvSpPr>
        <p:spPr>
          <a:xfrm>
            <a:off x="280720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201168" y="45262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8-й вызов — движок заводит записи мест чтения · номиналы флагов: Maglev 400, TurboFan 3000 · считается бюджет байткода, не вызовы</a:t>
            </a:r>
          </a:p>
        </p:txBody>
      </p:sp>
      <p:sp>
        <p:nvSpPr>
          <p:cNvPr id="127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118872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5824728" y="124358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3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7438644" y="2286000"/>
            <a:ext cx="182880" cy="32004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65176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5824728" y="270662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напрямую, мимо IR TurboFan</a:t>
            </a:r>
          </a:p>
        </p:txBody>
      </p:sp>
      <p:sp>
        <p:nvSpPr>
          <p:cNvPr id="12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3840480"/>
            <a:ext cx="3593591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6" name="TextBox 1325"/>
          <p:cNvSpPr txBox="1"/>
          <p:nvPr/>
        </p:nvSpPr>
        <p:spPr>
          <a:xfrm>
            <a:off x="5843016" y="39063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«4th tier compiler instead of Turbofan» — замена ступени, не пятая</a:t>
            </a:r>
          </a:p>
        </p:txBody>
      </p:sp>
      <p:sp>
        <p:nvSpPr>
          <p:cNvPr id="12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Menlo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94" name="Connector 129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5" name="Oval 129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109728" y="1188720"/>
            <a:ext cx="5394960" cy="2651760"/>
          </a:xfrm>
          <a:prstGeom prst="roundRect">
            <a:avLst>
              <a:gd name="adj" fmla="val 551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1024128" y="128016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Node 24.21.0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338328" y="1572768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{"shapes":1,"ic":"MONO",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"p50_ms":0.13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ref-b.js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{"shapes":8,"ic":"MEGA",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"p50_ms":0.88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</p:txBody>
      </p:sp>
      <p:graphicFrame>
        <p:nvGraphicFramePr>
          <p:cNvPr id="1314" name="Chart 1313"/>
          <p:cNvGraphicFramePr>
            <a:graphicFrameLocks noGrp="1"/>
          </p:cNvGraphicFramePr>
          <p:nvPr/>
        </p:nvGraphicFramePr>
        <p:xfrm>
          <a:off x="109728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733288" y="1188720"/>
            <a:ext cx="3593591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5870448" y="1271016"/>
            <a:ext cx="3319272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</p:txBody>
      </p:sp>
      <p:sp>
        <p:nvSpPr>
          <p:cNvPr id="128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926080"/>
            <a:ext cx="3593591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5843016" y="29919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733288" y="4069080"/>
            <a:ext cx="3593591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843016" y="4134916"/>
            <a:ext cx="3374135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заявленный выигрыш — скорость компиляции: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Turboshaft-бэкенд ≈ вдвое быстрее (Chrome 120)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5394960"/>
            <a:ext cx="3593591" cy="914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8" name="TextBox 1317"/>
          <p:cNvSpPr txBox="1"/>
          <p:nvPr/>
        </p:nvSpPr>
        <p:spPr>
          <a:xfrm>
            <a:off x="5843016" y="5460796"/>
            <a:ext cx="3374135" cy="7827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о качестве кода источники молчат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04" name="Connector 13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5" name="Oval 13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18288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623060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1696212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TurboFan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136392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3209544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49724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4722876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63056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6236208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2022→23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29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676388" y="1280160"/>
            <a:ext cx="1417320" cy="17373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774954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3291840"/>
            <a:ext cx="9217152" cy="30175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109728" y="3383280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3310128" y="3383280"/>
            <a:ext cx="565099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 · 3 мин</a:t>
            </a:r>
          </a:p>
        </p:txBody>
      </p:sp>
      <p:sp>
        <p:nvSpPr>
          <p:cNvPr id="130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целиком: две развилки, один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sp>
        <p:nvSpPr>
          <p:cNvPr id="13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08" name="TextBox 130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0" name="Oval 131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Oval 132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Oval 132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cxnSp>
        <p:nvCxnSpPr>
          <p:cNvPr id="1333" name="Connector 1332"/>
          <p:cNvCxnSpPr/>
          <p:nvPr/>
        </p:nvCxnSpPr>
        <p:spPr>
          <a:xfrm>
            <a:off x="566928" y="1801368"/>
            <a:ext cx="871423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4" name="Rounded Rectangle 1333"/>
          <p:cNvSpPr/>
          <p:nvPr/>
        </p:nvSpPr>
        <p:spPr>
          <a:xfrm>
            <a:off x="109728" y="271576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109728" y="271576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109728" y="321868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109728" y="321868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38" name="Oval 1337"/>
          <p:cNvSpPr/>
          <p:nvPr/>
        </p:nvSpPr>
        <p:spPr>
          <a:xfrm>
            <a:off x="76733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6733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566927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58521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2" name="Rounded Rectangle 1341"/>
          <p:cNvSpPr/>
          <p:nvPr/>
        </p:nvSpPr>
        <p:spPr>
          <a:xfrm>
            <a:off x="594359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TextBox 1342"/>
          <p:cNvSpPr txBox="1"/>
          <p:nvPr/>
        </p:nvSpPr>
        <p:spPr>
          <a:xfrm>
            <a:off x="612647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594359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TextBox 1344"/>
          <p:cNvSpPr txBox="1"/>
          <p:nvPr/>
        </p:nvSpPr>
        <p:spPr>
          <a:xfrm>
            <a:off x="612647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58521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47" name="Oval 1346"/>
          <p:cNvSpPr/>
          <p:nvPr/>
        </p:nvSpPr>
        <p:spPr>
          <a:xfrm>
            <a:off x="149733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149733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129692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131521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132435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134264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3" name="Rounded Rectangle 1352"/>
          <p:cNvSpPr/>
          <p:nvPr/>
        </p:nvSpPr>
        <p:spPr>
          <a:xfrm>
            <a:off x="132435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134264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31521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56" name="Oval 1355"/>
          <p:cNvSpPr/>
          <p:nvPr/>
        </p:nvSpPr>
        <p:spPr>
          <a:xfrm>
            <a:off x="2227325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2227325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202692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2045208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60" name="Rounded Rectangle 1359"/>
          <p:cNvSpPr/>
          <p:nvPr/>
        </p:nvSpPr>
        <p:spPr>
          <a:xfrm>
            <a:off x="205435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207264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62" name="Rounded Rectangle 1361"/>
          <p:cNvSpPr/>
          <p:nvPr/>
        </p:nvSpPr>
        <p:spPr>
          <a:xfrm>
            <a:off x="205435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207264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045208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365" name="Diamond 1364"/>
          <p:cNvSpPr/>
          <p:nvPr/>
        </p:nvSpPr>
        <p:spPr>
          <a:xfrm>
            <a:off x="267462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Oval 1365"/>
          <p:cNvSpPr/>
          <p:nvPr/>
        </p:nvSpPr>
        <p:spPr>
          <a:xfrm>
            <a:off x="295732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7" name="TextBox 1366"/>
          <p:cNvSpPr txBox="1"/>
          <p:nvPr/>
        </p:nvSpPr>
        <p:spPr>
          <a:xfrm>
            <a:off x="295732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2756915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2775203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2784347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1" name="TextBox 1370"/>
          <p:cNvSpPr txBox="1"/>
          <p:nvPr/>
        </p:nvSpPr>
        <p:spPr>
          <a:xfrm>
            <a:off x="2802635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2784347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2802635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2775203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375" name="Oval 1374"/>
          <p:cNvSpPr/>
          <p:nvPr/>
        </p:nvSpPr>
        <p:spPr>
          <a:xfrm>
            <a:off x="3687318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3687318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3486912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3505200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3514344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3532632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3514344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3532632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3505200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384" name="Diamond 1383"/>
          <p:cNvSpPr/>
          <p:nvPr/>
        </p:nvSpPr>
        <p:spPr>
          <a:xfrm>
            <a:off x="4134612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Oval 1384"/>
          <p:cNvSpPr/>
          <p:nvPr/>
        </p:nvSpPr>
        <p:spPr>
          <a:xfrm>
            <a:off x="441731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6" name="TextBox 1385"/>
          <p:cNvSpPr txBox="1"/>
          <p:nvPr/>
        </p:nvSpPr>
        <p:spPr>
          <a:xfrm>
            <a:off x="441731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421690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23519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424434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426262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91" name="Rounded Rectangle 1390"/>
          <p:cNvSpPr/>
          <p:nvPr/>
        </p:nvSpPr>
        <p:spPr>
          <a:xfrm>
            <a:off x="424434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426262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423519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394" name="Oval 1393"/>
          <p:cNvSpPr/>
          <p:nvPr/>
        </p:nvSpPr>
        <p:spPr>
          <a:xfrm>
            <a:off x="514731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5" name="TextBox 1394"/>
          <p:cNvSpPr txBox="1"/>
          <p:nvPr/>
        </p:nvSpPr>
        <p:spPr>
          <a:xfrm>
            <a:off x="514731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494690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496519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398" name="Rounded Rectangle 1397"/>
          <p:cNvSpPr/>
          <p:nvPr/>
        </p:nvSpPr>
        <p:spPr>
          <a:xfrm>
            <a:off x="497433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9" name="TextBox 1398"/>
          <p:cNvSpPr txBox="1"/>
          <p:nvPr/>
        </p:nvSpPr>
        <p:spPr>
          <a:xfrm>
            <a:off x="499262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497433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499262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496519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03" name="Oval 1402"/>
          <p:cNvSpPr/>
          <p:nvPr/>
        </p:nvSpPr>
        <p:spPr>
          <a:xfrm>
            <a:off x="5877306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4" name="TextBox 1403"/>
          <p:cNvSpPr txBox="1"/>
          <p:nvPr/>
        </p:nvSpPr>
        <p:spPr>
          <a:xfrm>
            <a:off x="5877306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567690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5695187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570433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572262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570433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572262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5695187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12" name="Diamond 1411"/>
          <p:cNvSpPr/>
          <p:nvPr/>
        </p:nvSpPr>
        <p:spPr>
          <a:xfrm>
            <a:off x="632460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3" name="Oval 1412"/>
          <p:cNvSpPr/>
          <p:nvPr/>
        </p:nvSpPr>
        <p:spPr>
          <a:xfrm>
            <a:off x="660730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4" name="TextBox 1413"/>
          <p:cNvSpPr txBox="1"/>
          <p:nvPr/>
        </p:nvSpPr>
        <p:spPr>
          <a:xfrm>
            <a:off x="660730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406896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16" name="TextBox 1415"/>
          <p:cNvSpPr txBox="1"/>
          <p:nvPr/>
        </p:nvSpPr>
        <p:spPr>
          <a:xfrm>
            <a:off x="6425184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17" name="Rounded Rectangle 1416"/>
          <p:cNvSpPr/>
          <p:nvPr/>
        </p:nvSpPr>
        <p:spPr>
          <a:xfrm>
            <a:off x="6434328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8" name="TextBox 1417"/>
          <p:cNvSpPr txBox="1"/>
          <p:nvPr/>
        </p:nvSpPr>
        <p:spPr>
          <a:xfrm>
            <a:off x="6452616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19" name="Rounded Rectangle 1418"/>
          <p:cNvSpPr/>
          <p:nvPr/>
        </p:nvSpPr>
        <p:spPr>
          <a:xfrm>
            <a:off x="6434328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6452616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6425184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22" name="Oval 1421"/>
          <p:cNvSpPr/>
          <p:nvPr/>
        </p:nvSpPr>
        <p:spPr>
          <a:xfrm>
            <a:off x="7337297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7337297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136891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25" name="TextBox 1424"/>
          <p:cNvSpPr txBox="1"/>
          <p:nvPr/>
        </p:nvSpPr>
        <p:spPr>
          <a:xfrm>
            <a:off x="7155179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7164323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7182611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7164323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7182611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7155179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31" name="Oval 1430"/>
          <p:cNvSpPr/>
          <p:nvPr/>
        </p:nvSpPr>
        <p:spPr>
          <a:xfrm>
            <a:off x="7994873" y="1564355"/>
            <a:ext cx="474024" cy="4740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2" name="Oval 1431"/>
          <p:cNvSpPr/>
          <p:nvPr/>
        </p:nvSpPr>
        <p:spPr>
          <a:xfrm>
            <a:off x="806729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3" name="TextBox 1432"/>
          <p:cNvSpPr txBox="1"/>
          <p:nvPr/>
        </p:nvSpPr>
        <p:spPr>
          <a:xfrm>
            <a:off x="806729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34" name="TextBox 1433"/>
          <p:cNvSpPr txBox="1"/>
          <p:nvPr/>
        </p:nvSpPr>
        <p:spPr>
          <a:xfrm>
            <a:off x="786688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7885176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36" name="Rounded Rectangle 1435"/>
          <p:cNvSpPr/>
          <p:nvPr/>
        </p:nvSpPr>
        <p:spPr>
          <a:xfrm>
            <a:off x="789432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7" name="TextBox 1436"/>
          <p:cNvSpPr txBox="1"/>
          <p:nvPr/>
        </p:nvSpPr>
        <p:spPr>
          <a:xfrm>
            <a:off x="791260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38" name="Rounded Rectangle 1437"/>
          <p:cNvSpPr/>
          <p:nvPr/>
        </p:nvSpPr>
        <p:spPr>
          <a:xfrm>
            <a:off x="789432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791260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7885176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41" name="Oval 1440"/>
          <p:cNvSpPr/>
          <p:nvPr/>
        </p:nvSpPr>
        <p:spPr>
          <a:xfrm>
            <a:off x="879729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2" name="TextBox 1441"/>
          <p:cNvSpPr txBox="1"/>
          <p:nvPr/>
        </p:nvSpPr>
        <p:spPr>
          <a:xfrm>
            <a:off x="879729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43" name="TextBox 1442"/>
          <p:cNvSpPr txBox="1"/>
          <p:nvPr/>
        </p:nvSpPr>
        <p:spPr>
          <a:xfrm>
            <a:off x="859688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44" name="TextBox 1443"/>
          <p:cNvSpPr txBox="1"/>
          <p:nvPr/>
        </p:nvSpPr>
        <p:spPr>
          <a:xfrm>
            <a:off x="861517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45" name="Rounded Rectangle 1444"/>
          <p:cNvSpPr/>
          <p:nvPr/>
        </p:nvSpPr>
        <p:spPr>
          <a:xfrm>
            <a:off x="862431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6" name="TextBox 1445"/>
          <p:cNvSpPr txBox="1"/>
          <p:nvPr/>
        </p:nvSpPr>
        <p:spPr>
          <a:xfrm>
            <a:off x="864260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47" name="Rounded Rectangle 1446"/>
          <p:cNvSpPr/>
          <p:nvPr/>
        </p:nvSpPr>
        <p:spPr>
          <a:xfrm>
            <a:off x="862431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TextBox 1447"/>
          <p:cNvSpPr txBox="1"/>
          <p:nvPr/>
        </p:nvSpPr>
        <p:spPr>
          <a:xfrm>
            <a:off x="864260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49" name="TextBox 1448"/>
          <p:cNvSpPr txBox="1"/>
          <p:nvPr/>
        </p:nvSpPr>
        <p:spPr>
          <a:xfrm>
            <a:off x="861517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0" name="TextBox 1449"/>
          <p:cNvSpPr txBox="1"/>
          <p:nvPr/>
        </p:nvSpPr>
        <p:spPr>
          <a:xfrm>
            <a:off x="338328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справа развилку задаёт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1" name="TextBox 1450"/>
          <p:cNvSpPr txBox="1"/>
          <p:nvPr/>
        </p:nvSpPr>
        <p:spPr>
          <a:xfrm>
            <a:off x="4937760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слева —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400" b="0">
                <a:solidFill>
                  <a:srgbClr val="1E5B28"/>
                </a:solidFill>
                <a:latin typeface="X5 Sans"/>
              </a:rPr>
              <a:t> в контексте агента</a:t>
            </a:r>
          </a:p>
        </p:txBody>
      </p:sp>
      <p:sp>
        <p:nvSpPr>
          <p:cNvPr id="131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25780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2" name="TextBox 1451"/>
          <p:cNvSpPr txBox="1"/>
          <p:nvPr/>
        </p:nvSpPr>
        <p:spPr>
          <a:xfrm>
            <a:off x="338328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человек: файл — до агента · ревью — после</a:t>
            </a:r>
          </a:p>
        </p:txBody>
      </p:sp>
      <p:sp>
        <p:nvSpPr>
          <p:cNvPr id="13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09160" y="5257800"/>
            <a:ext cx="4389120" cy="10058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4937760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билдер (tsc / esbuild) — нет замера, эксп.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TextBox 132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29" name="Connector 132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Oval 132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3" name="TextBox 1342"/>
          <p:cNvSpPr txBox="1"/>
          <p:nvPr/>
        </p:nvSpPr>
        <p:spPr>
          <a:xfrm>
            <a:off x="292608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некорректных из 60</a:t>
            </a:r>
          </a:p>
        </p:txBody>
      </p:sp>
      <p:sp>
        <p:nvSpPr>
          <p:cNvPr id="13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4" name="TextBox 1343"/>
          <p:cNvSpPr txBox="1"/>
          <p:nvPr/>
        </p:nvSpPr>
        <p:spPr>
          <a:xfrm>
            <a:off x="3441192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идиоматика корпуса</a:t>
            </a:r>
          </a:p>
        </p:txBody>
      </p:sp>
      <p:sp>
        <p:nvSpPr>
          <p:cNvPr id="132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5" name="TextBox 1344"/>
          <p:cNvSpPr txBox="1"/>
          <p:nvPr/>
        </p:nvSpPr>
        <p:spPr>
          <a:xfrm>
            <a:off x="6589776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перф-сознательность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— человек</a:t>
            </a:r>
          </a:p>
        </p:txBody>
      </p:sp>
      <p:sp>
        <p:nvSpPr>
          <p:cNvPr id="132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572000"/>
            <a:ext cx="9217152" cy="14630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384048" y="473659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человек: файл — до агента · ревью — после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39" name="Connector 13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Oval 13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Oval 13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Oval 13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Oval 13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Oval 13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Oval 13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Oval 13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Oval 134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Oval 13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TextBox 1352"/>
          <p:cNvSpPr txBox="1"/>
          <p:nvPr/>
        </p:nvSpPr>
        <p:spPr>
          <a:xfrm>
            <a:off x="429768" y="11887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--allow-natives-syntax lab/shape-analyzer.js &lt;файл&gt;</a:t>
            </a:r>
          </a:p>
        </p:txBody>
      </p:sp>
      <p:sp>
        <p:nvSpPr>
          <p:cNvPr id="1354" name="TextBox 1353"/>
          <p:cNvSpPr txBox="1"/>
          <p:nvPr/>
        </p:nvSpPr>
        <p:spPr>
          <a:xfrm>
            <a:off x="6053328" y="11887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260604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429768" y="26060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--log-ic --no-logfile-per-isolate --logfile=ic.log …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6053328" y="26060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--log-ic → MONO / MEGA</a:t>
            </a:r>
          </a:p>
        </p:txBody>
      </p:sp>
      <p:sp>
        <p:nvSpPr>
          <p:cNvPr id="13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02336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429768" y="40233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docker/run.sh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</a:t>
            </a:r>
            <a:r>
              <a:rPr sz="1232" b="0">
                <a:solidFill>
                  <a:srgbClr val="1E5B28"/>
                </a:solidFill>
                <a:latin typeface="Menlo"/>
              </a:rPr>
              <a:t>bash docker/verify.sh out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6053328" y="40233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всё целиком — на своей машине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109728" y="557784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на вопросы: compile hints · Sparkplug не спекулирует · дырявые массивы · delete · как мерили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3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 · 2 мин</a:t>
            </a:r>
          </a:p>
        </p:txBody>
      </p:sp>
      <p:sp>
        <p:nvSpPr>
          <p:cNvPr id="133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35" name="TextBox 13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50" name="Connector 13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1" name="Oval 13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Oval 135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Oval 13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Oval 13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Oval 13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Oval 13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Oval 13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Oval 13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Oval 13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Oval 13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11548871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снова слайд 1</a:t>
            </a:r>
          </a:p>
        </p:txBody>
      </p:sp>
      <p:sp>
        <p:nvSpPr>
          <p:cNvPr id="13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9601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429768" y="175564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4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240280"/>
            <a:ext cx="9217152" cy="96012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40487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66" name="TextBox 1365"/>
          <p:cNvSpPr txBox="1"/>
          <p:nvPr/>
        </p:nvSpPr>
        <p:spPr>
          <a:xfrm>
            <a:off x="310896" y="240487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429768" y="280720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68" name="Connector 1367"/>
          <p:cNvCxnSpPr/>
          <p:nvPr/>
        </p:nvCxnSpPr>
        <p:spPr>
          <a:xfrm>
            <a:off x="536448" y="3866692"/>
            <a:ext cx="874471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9" name="Rounded Rectangle 1368"/>
          <p:cNvSpPr/>
          <p:nvPr/>
        </p:nvSpPr>
        <p:spPr>
          <a:xfrm>
            <a:off x="109728" y="4720132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109728" y="4720132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28" y="5189524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728" y="5189524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73" name="Oval 1372"/>
          <p:cNvSpPr/>
          <p:nvPr/>
        </p:nvSpPr>
        <p:spPr>
          <a:xfrm>
            <a:off x="74909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74909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53644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55473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77" name="Rounded Rectangle 1376"/>
          <p:cNvSpPr/>
          <p:nvPr/>
        </p:nvSpPr>
        <p:spPr>
          <a:xfrm>
            <a:off x="56388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8" name="TextBox 1377"/>
          <p:cNvSpPr txBox="1"/>
          <p:nvPr/>
        </p:nvSpPr>
        <p:spPr>
          <a:xfrm>
            <a:off x="58216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56388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58216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81" name="TextBox 1380"/>
          <p:cNvSpPr txBox="1"/>
          <p:nvPr/>
        </p:nvSpPr>
        <p:spPr>
          <a:xfrm>
            <a:off x="55473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82" name="Oval 1381"/>
          <p:cNvSpPr/>
          <p:nvPr/>
        </p:nvSpPr>
        <p:spPr>
          <a:xfrm>
            <a:off x="148163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3" name="TextBox 1382"/>
          <p:cNvSpPr txBox="1"/>
          <p:nvPr/>
        </p:nvSpPr>
        <p:spPr>
          <a:xfrm>
            <a:off x="148163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126898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128727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86" name="Rounded Rectangle 1385"/>
          <p:cNvSpPr/>
          <p:nvPr/>
        </p:nvSpPr>
        <p:spPr>
          <a:xfrm>
            <a:off x="129641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7" name="TextBox 1386"/>
          <p:cNvSpPr txBox="1"/>
          <p:nvPr/>
        </p:nvSpPr>
        <p:spPr>
          <a:xfrm>
            <a:off x="131470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129641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9" name="TextBox 1388"/>
          <p:cNvSpPr txBox="1"/>
          <p:nvPr/>
        </p:nvSpPr>
        <p:spPr>
          <a:xfrm>
            <a:off x="131470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128727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91" name="Oval 1390"/>
          <p:cNvSpPr/>
          <p:nvPr/>
        </p:nvSpPr>
        <p:spPr>
          <a:xfrm>
            <a:off x="221416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221416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2001519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2019807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95" name="Rounded Rectangle 1394"/>
          <p:cNvSpPr/>
          <p:nvPr/>
        </p:nvSpPr>
        <p:spPr>
          <a:xfrm>
            <a:off x="2028951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6" name="TextBox 1395"/>
          <p:cNvSpPr txBox="1"/>
          <p:nvPr/>
        </p:nvSpPr>
        <p:spPr>
          <a:xfrm>
            <a:off x="2047239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97" name="Rounded Rectangle 1396"/>
          <p:cNvSpPr/>
          <p:nvPr/>
        </p:nvSpPr>
        <p:spPr>
          <a:xfrm>
            <a:off x="2028951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2047239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2019807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400" name="Diamond 1399"/>
          <p:cNvSpPr/>
          <p:nvPr/>
        </p:nvSpPr>
        <p:spPr>
          <a:xfrm>
            <a:off x="265724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Oval 1400"/>
          <p:cNvSpPr/>
          <p:nvPr/>
        </p:nvSpPr>
        <p:spPr>
          <a:xfrm>
            <a:off x="294670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2" name="TextBox 1401"/>
          <p:cNvSpPr txBox="1"/>
          <p:nvPr/>
        </p:nvSpPr>
        <p:spPr>
          <a:xfrm>
            <a:off x="294670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273405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275234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405" name="Rounded Rectangle 1404"/>
          <p:cNvSpPr/>
          <p:nvPr/>
        </p:nvSpPr>
        <p:spPr>
          <a:xfrm>
            <a:off x="2761487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6" name="TextBox 1405"/>
          <p:cNvSpPr txBox="1"/>
          <p:nvPr/>
        </p:nvSpPr>
        <p:spPr>
          <a:xfrm>
            <a:off x="2779775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2761487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2779775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275234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410" name="Oval 1409"/>
          <p:cNvSpPr/>
          <p:nvPr/>
        </p:nvSpPr>
        <p:spPr>
          <a:xfrm>
            <a:off x="367924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1" name="TextBox 1410"/>
          <p:cNvSpPr txBox="1"/>
          <p:nvPr/>
        </p:nvSpPr>
        <p:spPr>
          <a:xfrm>
            <a:off x="367924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3466592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3484880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414" name="Rounded Rectangle 1413"/>
          <p:cNvSpPr/>
          <p:nvPr/>
        </p:nvSpPr>
        <p:spPr>
          <a:xfrm>
            <a:off x="349402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TextBox 1414"/>
          <p:cNvSpPr txBox="1"/>
          <p:nvPr/>
        </p:nvSpPr>
        <p:spPr>
          <a:xfrm>
            <a:off x="351231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349402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351231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3484880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419" name="Diamond 1418"/>
          <p:cNvSpPr/>
          <p:nvPr/>
        </p:nvSpPr>
        <p:spPr>
          <a:xfrm>
            <a:off x="4122318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Oval 1419"/>
          <p:cNvSpPr/>
          <p:nvPr/>
        </p:nvSpPr>
        <p:spPr>
          <a:xfrm>
            <a:off x="441177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1" name="TextBox 1420"/>
          <p:cNvSpPr txBox="1"/>
          <p:nvPr/>
        </p:nvSpPr>
        <p:spPr>
          <a:xfrm>
            <a:off x="441177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422" name="TextBox 1421"/>
          <p:cNvSpPr txBox="1"/>
          <p:nvPr/>
        </p:nvSpPr>
        <p:spPr>
          <a:xfrm>
            <a:off x="419912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421741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424" name="Rounded Rectangle 1423"/>
          <p:cNvSpPr/>
          <p:nvPr/>
        </p:nvSpPr>
        <p:spPr>
          <a:xfrm>
            <a:off x="422656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424484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422656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424484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428" name="TextBox 1427"/>
          <p:cNvSpPr txBox="1"/>
          <p:nvPr/>
        </p:nvSpPr>
        <p:spPr>
          <a:xfrm>
            <a:off x="421741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429" name="Oval 1428"/>
          <p:cNvSpPr/>
          <p:nvPr/>
        </p:nvSpPr>
        <p:spPr>
          <a:xfrm>
            <a:off x="514431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0" name="TextBox 1429"/>
          <p:cNvSpPr txBox="1"/>
          <p:nvPr/>
        </p:nvSpPr>
        <p:spPr>
          <a:xfrm>
            <a:off x="514431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431" name="TextBox 1430"/>
          <p:cNvSpPr txBox="1"/>
          <p:nvPr/>
        </p:nvSpPr>
        <p:spPr>
          <a:xfrm>
            <a:off x="493166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494995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33" name="Rounded Rectangle 1432"/>
          <p:cNvSpPr/>
          <p:nvPr/>
        </p:nvSpPr>
        <p:spPr>
          <a:xfrm>
            <a:off x="495909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4" name="TextBox 1433"/>
          <p:cNvSpPr txBox="1"/>
          <p:nvPr/>
        </p:nvSpPr>
        <p:spPr>
          <a:xfrm>
            <a:off x="497738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35" name="Rounded Rectangle 1434"/>
          <p:cNvSpPr/>
          <p:nvPr/>
        </p:nvSpPr>
        <p:spPr>
          <a:xfrm>
            <a:off x="495909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6" name="TextBox 1435"/>
          <p:cNvSpPr txBox="1"/>
          <p:nvPr/>
        </p:nvSpPr>
        <p:spPr>
          <a:xfrm>
            <a:off x="497738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37" name="TextBox 1436"/>
          <p:cNvSpPr txBox="1"/>
          <p:nvPr/>
        </p:nvSpPr>
        <p:spPr>
          <a:xfrm>
            <a:off x="494995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38" name="Oval 1437"/>
          <p:cNvSpPr/>
          <p:nvPr/>
        </p:nvSpPr>
        <p:spPr>
          <a:xfrm>
            <a:off x="587684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587684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5664200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41" name="TextBox 1440"/>
          <p:cNvSpPr txBox="1"/>
          <p:nvPr/>
        </p:nvSpPr>
        <p:spPr>
          <a:xfrm>
            <a:off x="5682488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42" name="Rounded Rectangle 1441"/>
          <p:cNvSpPr/>
          <p:nvPr/>
        </p:nvSpPr>
        <p:spPr>
          <a:xfrm>
            <a:off x="5691632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3" name="TextBox 1442"/>
          <p:cNvSpPr txBox="1"/>
          <p:nvPr/>
        </p:nvSpPr>
        <p:spPr>
          <a:xfrm>
            <a:off x="5709920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44" name="Rounded Rectangle 1443"/>
          <p:cNvSpPr/>
          <p:nvPr/>
        </p:nvSpPr>
        <p:spPr>
          <a:xfrm>
            <a:off x="5691632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5" name="TextBox 1444"/>
          <p:cNvSpPr txBox="1"/>
          <p:nvPr/>
        </p:nvSpPr>
        <p:spPr>
          <a:xfrm>
            <a:off x="5709920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46" name="TextBox 1445"/>
          <p:cNvSpPr txBox="1"/>
          <p:nvPr/>
        </p:nvSpPr>
        <p:spPr>
          <a:xfrm>
            <a:off x="5682488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47" name="Diamond 1446"/>
          <p:cNvSpPr/>
          <p:nvPr/>
        </p:nvSpPr>
        <p:spPr>
          <a:xfrm>
            <a:off x="631992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Oval 1447"/>
          <p:cNvSpPr/>
          <p:nvPr/>
        </p:nvSpPr>
        <p:spPr>
          <a:xfrm>
            <a:off x="660938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9" name="TextBox 1448"/>
          <p:cNvSpPr txBox="1"/>
          <p:nvPr/>
        </p:nvSpPr>
        <p:spPr>
          <a:xfrm>
            <a:off x="660938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50" name="TextBox 1449"/>
          <p:cNvSpPr txBox="1"/>
          <p:nvPr/>
        </p:nvSpPr>
        <p:spPr>
          <a:xfrm>
            <a:off x="639673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641502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52" name="Rounded Rectangle 1451"/>
          <p:cNvSpPr/>
          <p:nvPr/>
        </p:nvSpPr>
        <p:spPr>
          <a:xfrm>
            <a:off x="6424168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3" name="TextBox 1452"/>
          <p:cNvSpPr txBox="1"/>
          <p:nvPr/>
        </p:nvSpPr>
        <p:spPr>
          <a:xfrm>
            <a:off x="6442456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54" name="Rounded Rectangle 1453"/>
          <p:cNvSpPr/>
          <p:nvPr/>
        </p:nvSpPr>
        <p:spPr>
          <a:xfrm>
            <a:off x="6424168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5" name="TextBox 1454"/>
          <p:cNvSpPr txBox="1"/>
          <p:nvPr/>
        </p:nvSpPr>
        <p:spPr>
          <a:xfrm>
            <a:off x="6442456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56" name="TextBox 1455"/>
          <p:cNvSpPr txBox="1"/>
          <p:nvPr/>
        </p:nvSpPr>
        <p:spPr>
          <a:xfrm>
            <a:off x="641502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57" name="Oval 1456"/>
          <p:cNvSpPr/>
          <p:nvPr/>
        </p:nvSpPr>
        <p:spPr>
          <a:xfrm>
            <a:off x="734192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8" name="TextBox 1457"/>
          <p:cNvSpPr txBox="1"/>
          <p:nvPr/>
        </p:nvSpPr>
        <p:spPr>
          <a:xfrm>
            <a:off x="734192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59" name="TextBox 1458"/>
          <p:cNvSpPr txBox="1"/>
          <p:nvPr/>
        </p:nvSpPr>
        <p:spPr>
          <a:xfrm>
            <a:off x="7129271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7147559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61" name="Rounded Rectangle 1460"/>
          <p:cNvSpPr/>
          <p:nvPr/>
        </p:nvSpPr>
        <p:spPr>
          <a:xfrm>
            <a:off x="715670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2" name="TextBox 1461"/>
          <p:cNvSpPr txBox="1"/>
          <p:nvPr/>
        </p:nvSpPr>
        <p:spPr>
          <a:xfrm>
            <a:off x="717499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3" name="Rounded Rectangle 1462"/>
          <p:cNvSpPr/>
          <p:nvPr/>
        </p:nvSpPr>
        <p:spPr>
          <a:xfrm>
            <a:off x="715670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4" name="TextBox 1463"/>
          <p:cNvSpPr txBox="1"/>
          <p:nvPr/>
        </p:nvSpPr>
        <p:spPr>
          <a:xfrm>
            <a:off x="717499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5" name="TextBox 1464"/>
          <p:cNvSpPr txBox="1"/>
          <p:nvPr/>
        </p:nvSpPr>
        <p:spPr>
          <a:xfrm>
            <a:off x="7147559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66" name="Oval 1465"/>
          <p:cNvSpPr/>
          <p:nvPr/>
        </p:nvSpPr>
        <p:spPr>
          <a:xfrm>
            <a:off x="807445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7" name="TextBox 1466"/>
          <p:cNvSpPr txBox="1"/>
          <p:nvPr/>
        </p:nvSpPr>
        <p:spPr>
          <a:xfrm>
            <a:off x="807445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68" name="TextBox 1467"/>
          <p:cNvSpPr txBox="1"/>
          <p:nvPr/>
        </p:nvSpPr>
        <p:spPr>
          <a:xfrm>
            <a:off x="7861807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7880095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70" name="Rounded Rectangle 1469"/>
          <p:cNvSpPr/>
          <p:nvPr/>
        </p:nvSpPr>
        <p:spPr>
          <a:xfrm>
            <a:off x="7889239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1" name="TextBox 1470"/>
          <p:cNvSpPr txBox="1"/>
          <p:nvPr/>
        </p:nvSpPr>
        <p:spPr>
          <a:xfrm>
            <a:off x="790752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72" name="Rounded Rectangle 1471"/>
          <p:cNvSpPr/>
          <p:nvPr/>
        </p:nvSpPr>
        <p:spPr>
          <a:xfrm>
            <a:off x="7889239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3" name="TextBox 1472"/>
          <p:cNvSpPr txBox="1"/>
          <p:nvPr/>
        </p:nvSpPr>
        <p:spPr>
          <a:xfrm>
            <a:off x="790752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7880095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75" name="Oval 1474"/>
          <p:cNvSpPr/>
          <p:nvPr/>
        </p:nvSpPr>
        <p:spPr>
          <a:xfrm>
            <a:off x="8739400" y="3645481"/>
            <a:ext cx="442423" cy="442423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6" name="Oval 1475"/>
          <p:cNvSpPr/>
          <p:nvPr/>
        </p:nvSpPr>
        <p:spPr>
          <a:xfrm>
            <a:off x="880699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7" name="TextBox 1476"/>
          <p:cNvSpPr txBox="1"/>
          <p:nvPr/>
        </p:nvSpPr>
        <p:spPr>
          <a:xfrm>
            <a:off x="880699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8594343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612631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80" name="Rounded Rectangle 1479"/>
          <p:cNvSpPr/>
          <p:nvPr/>
        </p:nvSpPr>
        <p:spPr>
          <a:xfrm>
            <a:off x="8621775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1" name="TextBox 1480"/>
          <p:cNvSpPr txBox="1"/>
          <p:nvPr/>
        </p:nvSpPr>
        <p:spPr>
          <a:xfrm>
            <a:off x="864006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82" name="Rounded Rectangle 1481"/>
          <p:cNvSpPr/>
          <p:nvPr/>
        </p:nvSpPr>
        <p:spPr>
          <a:xfrm>
            <a:off x="8621775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3" name="TextBox 1482"/>
          <p:cNvSpPr txBox="1"/>
          <p:nvPr/>
        </p:nvSpPr>
        <p:spPr>
          <a:xfrm>
            <a:off x="864006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8612631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109728" y="594360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(pipeline + autocannon) · одна пара форм 1 vs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4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320643" y="1097280"/>
            <a:ext cx="5550407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3320643" y="1097280"/>
            <a:ext cx="55504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PITFALLS.md</a:t>
            </a:r>
          </a:p>
        </p:txBody>
      </p:sp>
      <p:sp>
        <p:nvSpPr>
          <p:cNvPr id="134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46" name="Rounded Rectangle 1345"/>
          <p:cNvSpPr/>
          <p:nvPr/>
        </p:nvSpPr>
        <p:spPr>
          <a:xfrm>
            <a:off x="9464040" y="68580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7" name="Picture 134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6" name="TextBox 1345"/>
          <p:cNvSpPr txBox="1"/>
          <p:nvPr/>
        </p:nvSpPr>
        <p:spPr>
          <a:xfrm>
            <a:off x="612647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compile hints</a:t>
            </a:r>
          </a:p>
        </p:txBody>
      </p:sp>
      <p:sp>
        <p:nvSpPr>
          <p:cNvPr id="13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7" name="TextBox 1346"/>
          <p:cNvSpPr txBox="1"/>
          <p:nvPr/>
        </p:nvSpPr>
        <p:spPr>
          <a:xfrm>
            <a:off x="3474720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8" name="TextBox 1347"/>
          <p:cNvSpPr txBox="1"/>
          <p:nvPr/>
        </p:nvSpPr>
        <p:spPr>
          <a:xfrm>
            <a:off x="6336792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9" name="TextBox 1348"/>
          <p:cNvSpPr txBox="1"/>
          <p:nvPr/>
        </p:nvSpPr>
        <p:spPr>
          <a:xfrm>
            <a:off x="9198864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0" name="TextBox 1349"/>
          <p:cNvSpPr txBox="1"/>
          <p:nvPr/>
        </p:nvSpPr>
        <p:spPr>
          <a:xfrm>
            <a:off x="612647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1" name="TextBox 1350"/>
          <p:cNvSpPr txBox="1"/>
          <p:nvPr/>
        </p:nvSpPr>
        <p:spPr>
          <a:xfrm>
            <a:off x="3474720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84" b="0">
                <a:solidFill>
                  <a:srgbClr val="1E5B28"/>
                </a:solidFill>
                <a:latin typeface="Menlo"/>
              </a:rPr>
              <a:t>delete</a:t>
            </a:r>
          </a:p>
        </p:txBody>
      </p:sp>
      <p:sp>
        <p:nvSpPr>
          <p:cNvPr id="13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2" name="TextBox 1351"/>
          <p:cNvSpPr txBox="1"/>
          <p:nvPr/>
        </p:nvSpPr>
        <p:spPr>
          <a:xfrm>
            <a:off x="6336792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3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3" name="TextBox 1352"/>
          <p:cNvSpPr txBox="1"/>
          <p:nvPr/>
        </p:nvSpPr>
        <p:spPr>
          <a:xfrm>
            <a:off x="9198864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билдер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