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2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dia/image1.svg" ContentType="image/svg+xml"/>
  <Override PartName="/ppt/media/image10.svg" ContentType="image/svg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69" r:id="rId1"/>
    <p:sldMasterId id="2147483673" r:id="rId2"/>
    <p:sldMasterId id="2147483679" r:id="rId3"/>
    <p:sldMasterId id="2147483668" r:id="rId4"/>
    <p:sldMasterId id="2147483661" r:id="rId5"/>
    <p:sldMasterId id="2147483764" r:id="rId6"/>
    <p:sldMasterId id="2147483650" r:id="rId7"/>
    <p:sldMasterId id="2147483691" r:id="rId8"/>
    <p:sldMasterId id="2147483706" r:id="rId9"/>
    <p:sldMasterId id="2147483730" r:id="rId10"/>
    <p:sldMasterId id="2147483725" r:id="rId11"/>
    <p:sldMasterId id="2147483739" r:id="rId12"/>
    <p:sldMasterId id="2147483749" r:id="rId13"/>
    <p:sldMasterId id="2147483759" r:id="rId14"/>
    <p:sldMasterId id="2147483754" r:id="rId15"/>
  </p:sldMasterIdLst>
  <p:notesMasterIdLst>
    <p:notesMasterId r:id="rId53"/>
  </p:notesMasterIdLst>
  <p:sldIdLst>
    <p:sldId id="1085" r:id="rId52"/>
    <p:sldId id="1086" r:id="rId51"/>
    <p:sldId id="1087" r:id="rId50"/>
    <p:sldId id="1088" r:id="rId49"/>
    <p:sldId id="1089" r:id="rId48"/>
    <p:sldId id="1090" r:id="rId47"/>
    <p:sldId id="1091" r:id="rId46"/>
    <p:sldId id="1092" r:id="rId45"/>
    <p:sldId id="1093" r:id="rId44"/>
    <p:sldId id="1094" r:id="rId43"/>
    <p:sldId id="1095" r:id="rId42"/>
    <p:sldId id="1096" r:id="rId41"/>
    <p:sldId id="1097" r:id="rId40"/>
    <p:sldId id="1098" r:id="rId39"/>
    <p:sldId id="1099" r:id="rId38"/>
    <p:sldId id="1100" r:id="rId37"/>
    <p:sldId id="1101" r:id="rId36"/>
    <p:sldId id="1102" r:id="rId35"/>
    <p:sldId id="1103" r:id="rId34"/>
    <p:sldId id="1104" r:id="rId33"/>
    <p:sldId id="1105" r:id="rId32"/>
    <p:sldId id="1106" r:id="rId31"/>
    <p:sldId id="1107" r:id="rId30"/>
    <p:sldId id="1108" r:id="rId29"/>
    <p:sldId id="1109" r:id="rId28"/>
    <p:sldId id="1110" r:id="rId27"/>
    <p:sldId id="1111" r:id="rId26"/>
    <p:sldId id="1112" r:id="rId25"/>
    <p:sldId id="1113" r:id="rId24"/>
    <p:sldId id="1114" r:id="rId23"/>
    <p:sldId id="1115" r:id="rId22"/>
    <p:sldId id="1116" r:id="rId21"/>
    <p:sldId id="1117" r:id="rId20"/>
    <p:sldId id="1118" r:id="rId19"/>
    <p:sldId id="1119" r:id="rId18"/>
    <p:sldId id="1120" r:id="rId17"/>
    <p:sldId id="1121" r:id="rId16"/>
    <p:sldId id="1122" r:id="rId119"/>
    <p:sldId id="1123" r:id="rId120"/>
    <p:sldId id="1124" r:id="rId121"/>
    <p:sldId id="1125" r:id="rId122"/>
    <p:sldId id="1126" r:id="rId123"/>
    <p:sldId id="1127" r:id="rId124"/>
    <p:sldId id="1128" r:id="rId125"/>
    <p:sldId id="1129" r:id="rId126"/>
    <p:sldId id="1130" r:id="rId127"/>
    <p:sldId id="1131" r:id="rId128"/>
    <p:sldId id="1132" r:id="rId129"/>
    <p:sldId id="1133" r:id="rId130"/>
    <p:sldId id="1134" r:id="rId131"/>
    <p:sldId id="1135" r:id="rId132"/>
    <p:sldId id="1136" r:id="rId133"/>
    <p:sldId id="1137" r:id="rId134"/>
    <p:sldId id="1138" r:id="rId135"/>
    <p:sldId id="1139" r:id="rId136"/>
    <p:sldId id="1140" r:id="rId137"/>
    <p:sldId id="1141" r:id="rId138"/>
    <p:sldId id="1142" r:id="rId139"/>
  </p:sldIdLst>
  <p:sldSz cx="12192000" cy="6858000"/>
  <p:notesSz cx="6858000" cy="9144000"/>
  <p:embeddedFontLst>
    <p:embeddedFont>
      <p:font typeface="X5 Sans" panose="020B0403020203020204" pitchFamily="34" charset="0"/>
      <p:regular r:id="rId54"/>
      <p:bold r:id="rId55"/>
    </p:embeddedFont>
    <p:embeddedFont>
      <p:font typeface="X5 Sans Light" panose="020B0303020203020204" pitchFamily="34" charset="0"/>
      <p:regular r:id="rId56"/>
    </p:embeddedFont>
    <p:embeddedFont>
      <p:font typeface="X5 Sans Medium" panose="020B0403020203020204" pitchFamily="34" charset="0"/>
      <p:regular r:id="rId5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4169"/>
    <a:srgbClr val="FFFFFF"/>
    <a:srgbClr val="FFDAE5"/>
    <a:srgbClr val="FF81A6"/>
    <a:srgbClr val="F64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50" autoAdjust="0"/>
    <p:restoredTop sz="94704"/>
  </p:normalViewPr>
  <p:slideViewPr>
    <p:cSldViewPr snapToGrid="0" showGuides="1">
      <p:cViewPr>
        <p:scale>
          <a:sx n="73" d="100"/>
          <a:sy n="73" d="100"/>
        </p:scale>
        <p:origin x="384" y="10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" Target="slides/slide94.xml"/><Relationship Id="rId17" Type="http://schemas.openxmlformats.org/officeDocument/2006/relationships/slide" Target="slides/slide93.xml"/><Relationship Id="rId18" Type="http://schemas.openxmlformats.org/officeDocument/2006/relationships/slide" Target="slides/slide92.xml"/><Relationship Id="rId19" Type="http://schemas.openxmlformats.org/officeDocument/2006/relationships/slide" Target="slides/slide91.xml"/><Relationship Id="rId20" Type="http://schemas.openxmlformats.org/officeDocument/2006/relationships/slide" Target="slides/slide90.xml"/><Relationship Id="rId21" Type="http://schemas.openxmlformats.org/officeDocument/2006/relationships/slide" Target="slides/slide89.xml"/><Relationship Id="rId22" Type="http://schemas.openxmlformats.org/officeDocument/2006/relationships/slide" Target="slides/slide88.xml"/><Relationship Id="rId23" Type="http://schemas.openxmlformats.org/officeDocument/2006/relationships/slide" Target="slides/slide87.xml"/><Relationship Id="rId24" Type="http://schemas.openxmlformats.org/officeDocument/2006/relationships/slide" Target="slides/slide86.xml"/><Relationship Id="rId25" Type="http://schemas.openxmlformats.org/officeDocument/2006/relationships/slide" Target="slides/slide85.xml"/><Relationship Id="rId26" Type="http://schemas.openxmlformats.org/officeDocument/2006/relationships/slide" Target="slides/slide84.xml"/><Relationship Id="rId27" Type="http://schemas.openxmlformats.org/officeDocument/2006/relationships/slide" Target="slides/slide83.xml"/><Relationship Id="rId28" Type="http://schemas.openxmlformats.org/officeDocument/2006/relationships/slide" Target="slides/slide82.xml"/><Relationship Id="rId29" Type="http://schemas.openxmlformats.org/officeDocument/2006/relationships/slide" Target="slides/slide81.xml"/><Relationship Id="rId30" Type="http://schemas.openxmlformats.org/officeDocument/2006/relationships/slide" Target="slides/slide80.xml"/><Relationship Id="rId31" Type="http://schemas.openxmlformats.org/officeDocument/2006/relationships/slide" Target="slides/slide79.xml"/><Relationship Id="rId32" Type="http://schemas.openxmlformats.org/officeDocument/2006/relationships/slide" Target="slides/slide78.xml"/><Relationship Id="rId33" Type="http://schemas.openxmlformats.org/officeDocument/2006/relationships/slide" Target="slides/slide77.xml"/><Relationship Id="rId34" Type="http://schemas.openxmlformats.org/officeDocument/2006/relationships/slide" Target="slides/slide76.xml"/><Relationship Id="rId35" Type="http://schemas.openxmlformats.org/officeDocument/2006/relationships/slide" Target="slides/slide75.xml"/><Relationship Id="rId36" Type="http://schemas.openxmlformats.org/officeDocument/2006/relationships/slide" Target="slides/slide74.xml"/><Relationship Id="rId37" Type="http://schemas.openxmlformats.org/officeDocument/2006/relationships/slide" Target="slides/slide73.xml"/><Relationship Id="rId38" Type="http://schemas.openxmlformats.org/officeDocument/2006/relationships/slide" Target="slides/slide72.xml"/><Relationship Id="rId39" Type="http://schemas.openxmlformats.org/officeDocument/2006/relationships/slide" Target="slides/slide71.xml"/><Relationship Id="rId40" Type="http://schemas.openxmlformats.org/officeDocument/2006/relationships/slide" Target="slides/slide70.xml"/><Relationship Id="rId41" Type="http://schemas.openxmlformats.org/officeDocument/2006/relationships/slide" Target="slides/slide69.xml"/><Relationship Id="rId42" Type="http://schemas.openxmlformats.org/officeDocument/2006/relationships/slide" Target="slides/slide68.xml"/><Relationship Id="rId43" Type="http://schemas.openxmlformats.org/officeDocument/2006/relationships/slide" Target="slides/slide67.xml"/><Relationship Id="rId44" Type="http://schemas.openxmlformats.org/officeDocument/2006/relationships/slide" Target="slides/slide66.xml"/><Relationship Id="rId45" Type="http://schemas.openxmlformats.org/officeDocument/2006/relationships/slide" Target="slides/slide65.xml"/><Relationship Id="rId46" Type="http://schemas.openxmlformats.org/officeDocument/2006/relationships/slide" Target="slides/slide64.xml"/><Relationship Id="rId47" Type="http://schemas.openxmlformats.org/officeDocument/2006/relationships/slide" Target="slides/slide63.xml"/><Relationship Id="rId48" Type="http://schemas.openxmlformats.org/officeDocument/2006/relationships/slide" Target="slides/slide62.xml"/><Relationship Id="rId49" Type="http://schemas.openxmlformats.org/officeDocument/2006/relationships/slide" Target="slides/slide61.xml"/><Relationship Id="rId50" Type="http://schemas.openxmlformats.org/officeDocument/2006/relationships/slide" Target="slides/slide60.xml"/><Relationship Id="rId51" Type="http://schemas.openxmlformats.org/officeDocument/2006/relationships/slide" Target="slides/slide59.xml"/><Relationship Id="rId52" Type="http://schemas.openxmlformats.org/officeDocument/2006/relationships/slide" Target="slides/slide58.xml"/><Relationship Id="rId53" Type="http://schemas.openxmlformats.org/officeDocument/2006/relationships/notesMaster" Target="notesMasters/notesMaster1.xml"/><Relationship Id="rId54" Type="http://schemas.openxmlformats.org/officeDocument/2006/relationships/font" Target="fonts/font1.fntdata"/><Relationship Id="rId55" Type="http://schemas.openxmlformats.org/officeDocument/2006/relationships/font" Target="fonts/font2.fntdata"/><Relationship Id="rId56" Type="http://schemas.openxmlformats.org/officeDocument/2006/relationships/font" Target="fonts/font3.fntdata"/><Relationship Id="rId57" Type="http://schemas.openxmlformats.org/officeDocument/2006/relationships/font" Target="fonts/font4.fntdata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119" Type="http://schemas.openxmlformats.org/officeDocument/2006/relationships/slide" Target="slides/slide95.xml"/><Relationship Id="rId120" Type="http://schemas.openxmlformats.org/officeDocument/2006/relationships/slide" Target="slides/slide96.xml"/><Relationship Id="rId121" Type="http://schemas.openxmlformats.org/officeDocument/2006/relationships/slide" Target="slides/slide97.xml"/><Relationship Id="rId122" Type="http://schemas.openxmlformats.org/officeDocument/2006/relationships/slide" Target="slides/slide98.xml"/><Relationship Id="rId123" Type="http://schemas.openxmlformats.org/officeDocument/2006/relationships/slide" Target="slides/slide99.xml"/><Relationship Id="rId124" Type="http://schemas.openxmlformats.org/officeDocument/2006/relationships/slide" Target="slides/slide100.xml"/><Relationship Id="rId125" Type="http://schemas.openxmlformats.org/officeDocument/2006/relationships/slide" Target="slides/slide101.xml"/><Relationship Id="rId126" Type="http://schemas.openxmlformats.org/officeDocument/2006/relationships/slide" Target="slides/slide102.xml"/><Relationship Id="rId127" Type="http://schemas.openxmlformats.org/officeDocument/2006/relationships/slide" Target="slides/slide103.xml"/><Relationship Id="rId128" Type="http://schemas.openxmlformats.org/officeDocument/2006/relationships/slide" Target="slides/slide104.xml"/><Relationship Id="rId129" Type="http://schemas.openxmlformats.org/officeDocument/2006/relationships/slide" Target="slides/slide105.xml"/><Relationship Id="rId130" Type="http://schemas.openxmlformats.org/officeDocument/2006/relationships/slide" Target="slides/slide106.xml"/><Relationship Id="rId131" Type="http://schemas.openxmlformats.org/officeDocument/2006/relationships/slide" Target="slides/slide107.xml"/><Relationship Id="rId132" Type="http://schemas.openxmlformats.org/officeDocument/2006/relationships/slide" Target="slides/slide108.xml"/><Relationship Id="rId133" Type="http://schemas.openxmlformats.org/officeDocument/2006/relationships/slide" Target="slides/slide109.xml"/><Relationship Id="rId134" Type="http://schemas.openxmlformats.org/officeDocument/2006/relationships/slide" Target="slides/slide110.xml"/><Relationship Id="rId135" Type="http://schemas.openxmlformats.org/officeDocument/2006/relationships/slide" Target="slides/slide111.xml"/><Relationship Id="rId136" Type="http://schemas.openxmlformats.org/officeDocument/2006/relationships/slide" Target="slides/slide112.xml"/><Relationship Id="rId137" Type="http://schemas.openxmlformats.org/officeDocument/2006/relationships/slide" Target="slides/slide113.xml"/><Relationship Id="rId138" Type="http://schemas.openxmlformats.org/officeDocument/2006/relationships/slide" Target="slides/slide114.xml"/><Relationship Id="rId139" Type="http://schemas.openxmlformats.org/officeDocument/2006/relationships/slide" Target="slides/slide1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E5B28"/>
              </a:solidFill>
            </c:spPr>
          </c:dPt>
          <c:dPt>
            <c:idx val="1"/>
            <c:spPr>
              <a:solidFill>
                <a:srgbClr val="7DBE3C"/>
              </a:solidFill>
            </c:spPr>
          </c:dPt>
          <c:cat>
            <c:strRef>
              <c:f>Sheet1!$A$2:$A$3</c:f>
              <c:strCache>
                <c:ptCount val="2"/>
                <c:pt idx="0">
                  <c:v>TurboFan</c:v>
                </c:pt>
                <c:pt idx="1">
                  <c:v>Turbolev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6.6</c:v>
                </c:pt>
                <c:pt idx="1">
                  <c:v>6.8</c:v>
                </c:pt>
              </c:numCache>
            </c:numRef>
          </c:val>
        </c:ser>
        <c:dLbls>
          <c:numFmt formatCode="&quot;×&quot;0.0" sourceLinked="0"/>
          <c:txPr>
            <a:bodyPr/>
            <a:lstStyle/>
            <a:p>
              <a:pPr>
                <a:defRPr sz="1700">
                  <a:solidFill>
                    <a:srgbClr val="1E5B28"/>
                  </a:solidFill>
                  <a:latin typeface="X5 Sans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E5B28"/>
          </a:solidFill>
          <a:latin typeface="X5 San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E5B28"/>
              </a:solidFill>
            </c:spPr>
          </c:dPt>
          <c:dPt>
            <c:idx val="1"/>
            <c:spPr>
              <a:solidFill>
                <a:srgbClr val="E9A23B"/>
              </a:solidFill>
            </c:spPr>
          </c:dPt>
          <c:dPt>
            <c:idx val="2"/>
            <c:spPr>
              <a:solidFill>
                <a:srgbClr val="D6336C"/>
              </a:solidFill>
            </c:spPr>
          </c:dPt>
          <c:cat>
            <c:strRef>
              <c:f>Sheet1!$A$2:$A$4</c:f>
              <c:strCache>
                <c:ptCount val="3"/>
                <c:pt idx="0">
                  <c:v>сборка · if</c:v>
                </c:pt>
                <c:pt idx="1">
                  <c:v>сборка · спред</c:v>
                </c:pt>
                <c:pt idx="2">
                  <c:v>чтение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1.61</c:v>
                </c:pt>
                <c:pt idx="2">
                  <c:v>5.25</c:v>
                </c:pt>
              </c:numCache>
            </c:numRef>
          </c:val>
        </c:ser>
        <c:dLbls>
          <c:numFmt formatCode="&quot;×&quot;0.00" sourceLinked="0"/>
          <c:txPr>
            <a:bodyPr/>
            <a:lstStyle/>
            <a:p>
              <a:pPr>
                <a:defRPr sz="1700">
                  <a:solidFill>
                    <a:srgbClr val="1E5B28"/>
                  </a:solidFill>
                  <a:latin typeface="X5 Sans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4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E5B28"/>
          </a:solidFill>
          <a:latin typeface="X5 San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9AA3AE"/>
              </a:solidFill>
            </c:spPr>
          </c:dPt>
          <c:dPt>
            <c:idx val="1"/>
            <c:spPr>
              <a:solidFill>
                <a:srgbClr val="9AA3AE"/>
              </a:solidFill>
            </c:spPr>
          </c:dPt>
          <c:dPt>
            <c:idx val="2"/>
            <c:spPr>
              <a:solidFill>
                <a:srgbClr val="7DBE3C"/>
              </a:solidFill>
            </c:spPr>
          </c:dPt>
          <c:dPt>
            <c:idx val="3"/>
            <c:spPr>
              <a:solidFill>
                <a:srgbClr val="1E5B28"/>
              </a:solidFill>
            </c:spPr>
          </c:dPt>
          <c:cat>
            <c:strRef>
              <c:f>Sheet1!$A$2:$A$5</c:f>
              <c:strCache>
                <c:ptCount val="4"/>
                <c:pt idx="0">
                  <c:v>Ignition</c:v>
                </c:pt>
                <c:pt idx="1">
                  <c:v>Sparkplug</c:v>
                </c:pt>
                <c:pt idx="2">
                  <c:v>Maglev</c:v>
                </c:pt>
                <c:pt idx="3">
                  <c:v>TurboFan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505</c:v>
                </c:pt>
                <c:pt idx="1">
                  <c:v>775</c:v>
                </c:pt>
                <c:pt idx="2">
                  <c:v>70</c:v>
                </c:pt>
                <c:pt idx="3">
                  <c:v>38</c:v>
                </c:pt>
              </c:numCache>
            </c:numRef>
          </c:val>
        </c:ser>
        <c:dLbls>
          <c:numFmt formatCode="0&quot; мс&quot;" sourceLinked="0"/>
          <c:txPr>
            <a:bodyPr/>
            <a:lstStyle/>
            <a:p>
              <a:pPr>
                <a:defRPr sz="1700">
                  <a:solidFill>
                    <a:srgbClr val="1E5B28"/>
                  </a:solidFill>
                  <a:latin typeface="X5 Sans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E5B28"/>
          </a:solidFill>
          <a:latin typeface="X5 San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· 1 форма</c:v>
                </c:pt>
              </c:strCache>
            </c:strRef>
          </c:tx>
          <c:spPr>
            <a:ln w="38100">
              <a:solidFill>
                <a:srgbClr val="3FA34D"/>
              </a:solidFill>
            </a:ln>
          </c:spPr>
          <c:marker>
            <c:size val="9"/>
            <c:spPr>
              <a:solidFill>
                <a:srgbClr val="3FA34D"/>
              </a:solidFill>
              <a:ln>
                <a:solidFill>
                  <a:srgbClr val="3FA34D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R = 1</c:v>
                </c:pt>
                <c:pt idx="1">
                  <c:v>R = 5</c:v>
                </c:pt>
                <c:pt idx="2">
                  <c:v>R = 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· 8 форм</c:v>
                </c:pt>
              </c:strCache>
            </c:strRef>
          </c:tx>
          <c:spPr>
            <a:ln w="38100">
              <a:solidFill>
                <a:srgbClr val="D6336C"/>
              </a:solidFill>
            </a:ln>
          </c:spPr>
          <c:marker>
            <c:size val="9"/>
            <c:spPr>
              <a:solidFill>
                <a:srgbClr val="D6336C"/>
              </a:solidFill>
              <a:ln>
                <a:solidFill>
                  <a:srgbClr val="D6336C"/>
                </a:solidFill>
              </a:ln>
            </c:spPr>
          </c:marker>
          <c:dLbls>
            <c:numFmt formatCode="&quot;×&quot;0.00" sourceLinked="0"/>
            <c:txPr>
              <a:bodyPr/>
              <a:lstStyle/>
              <a:p>
                <a:pPr>
                  <a:defRPr sz="1600">
                    <a:solidFill>
                      <a:srgbClr val="8A1538"/>
                    </a:solidFill>
                    <a:latin typeface="X5 Sans Medium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 = 1</c:v>
                </c:pt>
                <c:pt idx="1">
                  <c:v>R = 5</c:v>
                </c:pt>
                <c:pt idx="2">
                  <c:v>R = 20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</c:v>
                </c:pt>
                <c:pt idx="1">
                  <c:v>1.96</c:v>
                </c:pt>
                <c:pt idx="2">
                  <c:v>3.19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8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&quot;×&quot;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t"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1E5B28"/>
          </a:solidFill>
          <a:latin typeface="X5 Sans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3FA34D"/>
              </a:solidFill>
            </c:spPr>
          </c:dPt>
          <c:dPt>
            <c:idx val="1"/>
            <c:spPr>
              <a:solidFill>
                <a:srgbClr val="D6336C"/>
              </a:solidFill>
            </c:spPr>
          </c:dPt>
          <c:cat>
            <c:strRef>
              <c:f>Sheet1!$A$2:$A$3</c:f>
              <c:strCache>
                <c:ptCount val="2"/>
                <c:pt idx="0">
                  <c:v>A · 1 форма</c:v>
                </c:pt>
                <c:pt idx="1">
                  <c:v>B · 8 форм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2302</c:v>
                </c:pt>
                <c:pt idx="1">
                  <c:v>1180</c:v>
                </c:pt>
              </c:numCache>
            </c:numRef>
          </c:val>
        </c:ser>
        <c:dLbls>
          <c:numFmt formatCode="0&quot; rps&quot;" sourceLinked="0"/>
          <c:txPr>
            <a:bodyPr/>
            <a:lstStyle/>
            <a:p>
              <a:pPr>
                <a:defRPr sz="1700">
                  <a:solidFill>
                    <a:srgbClr val="1E5B28"/>
                  </a:solidFill>
                  <a:latin typeface="X5 Sans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E5B28"/>
          </a:solidFill>
          <a:latin typeface="X5 Sans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E5B28"/>
              </a:solidFill>
            </c:spPr>
          </c:dPt>
          <c:dPt>
            <c:idx val="1"/>
            <c:spPr>
              <a:solidFill>
                <a:srgbClr val="1E5B28"/>
              </a:solidFill>
            </c:spPr>
          </c:dPt>
          <c:dPt>
            <c:idx val="2"/>
            <c:spPr>
              <a:solidFill>
                <a:srgbClr val="7DBE3C"/>
              </a:solidFill>
            </c:spPr>
          </c:dPt>
          <c:cat>
            <c:strRef>
              <c:f>Sheet1!$A$2:$A$4</c:f>
              <c:strCache>
                <c:ptCount val="3"/>
                <c:pt idx="0">
                  <c:v>TurboFan · Node 22</c:v>
                </c:pt>
                <c:pt idx="1">
                  <c:v>Maglev + TurboFan · Node 24</c:v>
                </c:pt>
                <c:pt idx="2">
                  <c:v>Turbolev · Node 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6.9</c:v>
                </c:pt>
                <c:pt idx="1">
                  <c:v>6.6</c:v>
                </c:pt>
                <c:pt idx="2">
                  <c:v>6.8</c:v>
                </c:pt>
              </c:numCache>
            </c:numRef>
          </c:val>
        </c:ser>
        <c:dLbls>
          <c:numFmt formatCode="&quot;×&quot;0.0" sourceLinked="0"/>
          <c:txPr>
            <a:bodyPr/>
            <a:lstStyle/>
            <a:p>
              <a:pPr>
                <a:defRPr sz="1600">
                  <a:solidFill>
                    <a:srgbClr val="1E5B28"/>
                  </a:solidFill>
                  <a:latin typeface="X5 Sans Medium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E5B28"/>
          </a:solidFill>
          <a:latin typeface="X5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70657-2D3B-3640-9B52-6FDCF467AD05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767DC-5415-7445-8F5F-CC9F58626B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02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[8.1 · 1.5 мин]</a:t>
            </a:r>
          </a:p>
          <a:p/>
          <a:p>
            <a:r>
              <a:t>Сначала — что стало с записями. В 2014-м они жили внутри машинного кода, в заглушках. Но у байткода машинного кода нет — значит, записям нужен свой дом. Им стал отдельный массив при функции, вектор записей, по-английски feedback vector: у каждого места чтения свой слот, и в байткоде рядом с местом чтения стоит номер его слота. Переезд начали ещё при Crankshaft: чтение полей переехало в вектор в 2015-м, запись — в 2016-м. И главное: формат записи не изменился. Одна форма, от двух до четырёх, дальше мега — та же лесенка, что в 2008-м. Интерпретатор Ignition исполняет байткод и заполняет вектор; первые вызовы функция живёт здесь. А с 2019 года вектор даже заводят не сразу, а после нескольких вызовов, — это та цифра «примерно с восьмого вызова» из четвёртого узла.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8 · 4 мин.</a:t>
            </a:r>
          </a:p>
          <a:p/>
          <a:p>
            <a:r>
              <a:t>Обе ступени сменили разом. Что стало со ставкой на форму — и с записями, по которым она делается?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[7.3 · 1.5 мин]</a:t>
            </a:r>
          </a:p>
          <a:p/>
          <a:p>
            <a:r>
              <a:t>Зачем это было ломать? Причин две, обе — из блога V8. Первая — память. full-codegen выдаёт машинный код на каждую вызванную функцию, даже на ту, что вызвали один раз, а машинный код толстый. Байткод того же кода занимает от четверти до половины объёма — поэтому новый интерпретатор, Ignition, первым делом включили в 2016 году на Android-телефонах с маленькой памятью. Вторая — Crankshaft оптимизировал не всё. Функцию с try/catch он, например, не оптимизировал вовсе, и совет «выносите try/catch в отдельную функцию» — оттуда. У нового оптимизатора, TurboFan, такого ограничения не было. В июне 2017-го, в Chrome 59, связка Ignition плюс TurboFan стала единственной, в Node — с версии 8.3, и в том же году оба старых компилятора удалили из кода. Сменились обе ступени разом. Что стало со ставкой?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[7.2 · 1.5 мин]</a:t>
            </a:r>
          </a:p>
          <a:p/>
          <a:p>
            <a:r>
              <a:t>Перенесёмся в 2014 год — так V8 работал с 2010-го по 2017-й. Ступеней две. Первая — full-codegen: при первом вызове функция из дерева разбора сразу превращается в машинный код, никакого байткода. Места чтения в этом коде — маленькие заглушки, вписанные прямо в машинный код. Они и есть записи: одна форма, до четырёх, дальше — мега. Та же граница, что сегодня. Вторая ступень — Crankshaft, первый оптимизирующий компилятор V8, 2010 год. Когда функция нагрелась, Crankshaft заново разбирает её исходник, читает заглушки мест чтения и вшивает ставку на увиденные формы — ту самую ставку из четвёртого узла. Не сыграла — деопт, и функция возвращается в код full-codegen. Значит, читатель объектов B и в 2014-м видел бы восемь форм, его место чтения было бы мегаморфным, и ставить Crankshaft было бы не на что. Числа тех лет я не мерил — механизм тот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[7.1 · 1 мин]</a:t>
            </a:r>
          </a:p>
          <a:p/>
          <a:p>
            <a:r>
              <a:t>Ставка на форму — не изобретение сегодняшнего компилятора. Идея старше V8. Запоминать при месте кода, какие объекты туда приходили, придумали для Smalltalk в 1984 году — это и есть inline cache. Скрытые классы — «карты» — появились в языке Self в 1989-м, а в 1991-м там же место чтения научилось помнить несколько форм сразу — это наш POLY. V8 вышел вместе с Chrome в сентябре 2008-го, и формы с местами чтения были в нём с первого релиза. Даже имя то же: в исходниках V8 форма называется Map. А оптимизирующего компилятора в 2008-м не было вовсе — один компилятор переводил дерево разбора прямо в машинный код. Ставить было некому, но записи уже велись.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7 · 4 мин.</a:t>
            </a:r>
          </a:p>
          <a:p/>
          <a:p>
            <a:r>
              <a:t>Движок только смотрит и ставит на то, что видел. Это свойство сегодняшнего компилятора — или V8 ставил на форму всегда?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— на вопросы «как вы это мерили» и «чем это отличается от прода». Сверху — как устроен замер. Одна среда: Docker, образ Node 24 на alpine с запиннутым тегом, как в проде, лимит два процессора; запускал на маке, то есть на arm64. Каждый прогон — отдельный процесс, чтобы записи мест чтения не перетекали между вариантами. Прогрев триста итераций, замер тысяча, пять повторов, беру медианы. И контрольная сумма результата: она совпала у всех вариантов во всех ста пятидесяти прогонах — сравниваю эквивалентный код. Снизу — где легко соврать; на все четыре грабли я наступил сам. Первое: гонять кейсы подряд в одном процессе — именно так совет «try/catch дорогой» получает свои «в три раза»; в отдельных процессах разницы нет. Второе: читать трейс деоптимизаций без фильтра — строка wrong map есть и у A, только не в читателе, а в самой normalizeUser и в обёртке модуля. Третье: помеха на старте — первая серия показала три с половиной миллисекунды вместо ноль восьми; я её забраковал и перемерил с контрольным замером эталона до и после. Четвёртое: чужая архитектура — эмуляция x64 на маке искажает JIT, поэтому настоящий x64 я гонял в CI тем же образом и тем же скриптом. Направление везде то же, а множители другие: у прибора на x64 ниже, у микробенча мест чтения — выше. И главное: микробенч — не прод. Поэтому после прибора идёт конвейер с парсингом и сериализацией, а после него — HTTP под нагрузкой.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[6.3 · 2 мин]</a:t>
            </a:r>
          </a:p>
          <a:p/>
          <a:p>
            <a:r>
              <a:t>Теперь границы — честно, для тех, кто уже собрался переписывать всё. Первое: приём данных без чтений — распарсили, нормализовали, положили в базу или очередь. Проходов чтения около нуля. Такой ячейки в сетке нет, это оценка по стадиям: если выкинуть из замера стадию чтения, разница между версиями сжимается до шести–десяти процентов, когда ключи дописаны через if, и до тринадцати–восемнадцати, когда через спред. Восемь форм чуть дороже сериализуются, а спред ещё и дороже собирается. Второе: сервис, который ждёт базу десятки миллисекунд. Доля миллисекунды процессора на батч теряется на фоне этого ожидания — пока процессор не загружен под завязку. Это тоже оценка, не замер. Возражение «всё равно упрётся в базу» в этом профиле принимаю. Третье: маленькие батчи при одном проходе. Числа микроскопические — 0.17 против 0.22 миллисекунды на пятьсот записей; заметно только на масштабе, который и показал HTTP-стенд. И оговорка про прибор: моя обработка плотная, четыре потребителя читают почти все поля на каждом проходе. Реальный код с одним-двумя чтениями поля ближе к R=1, чем к R=20, — калибруйте R на свой профиль. Итог: если код читает то, что нормализовал, — от тридцати процентов до трёх с лишним раз; если только складывает — проценты, а не разы. Путь «по вызовам» пройден: от сборки объекта до сервера. Заметьте: движок с первого вызова не сделал ни одного выбора — смотрел, запоминал, ставил на то, что видел, одинаково честно для A и B. Единственный выбор — как собрать объект — сделан в тексте до первого вызова. Так ведёт себя сегодняшний V8. А ставка на форму — свойство сегодняшнего компилятора или V8 ставил так всегда?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[6.2 · 1.5 мин]</a:t>
            </a:r>
          </a:p>
          <a:p/>
          <a:p>
            <a:r>
              <a:t>И теперь сеть — чтобы не осталось «в вакууме». Тот же конвейер за node:http. Нагрузку даёт autocannon: 50 соединений, 20 секунд, батч тысяча, пять проходов чтения. A — 2302 запроса в секунду. B — 1180. Почти вдвое: ×1.95. Медиана задержки — 21 миллисекунда против 41. Теперь хвост: задержка, хуже которой только один запрос из ста, — её называют p99. 42 против 82, плюс 95 процентов. Уезжает не только середина, но и хвост. Это сходится с матрицей: при пяти проходах на конвейере было почти ×2 — и под нагрузкой почти ×2. Оговорка про стенд: autocannon работал в том же контейнере и делил с сервером тот же лимит процессора, поэтому абсолютные числа занижены, а сравнение честное. И заметьте: A отдаёт в каждом ответе больше байт — null-поля в JSON — и всё равно держит почти вдвое больше запросов. На карте мы дошли до шестого шага — сервер. В шапке справа заполнено всё, кроме последней строки — эпох.</a:t>
            </a:r>
          </a:p>
          <a:p/>
          <a:p>
            <a:r>
              <a:t>— — —</a:t>
            </a:r>
          </a:p>
          <a:p>
            <a:r>
              <a:t>ДЕМО: Итог шага 6 `docker/verify.sh` (autocannon в том же контейнере, --cpus 2); на слайде — строки HTTP из NUMBERS-alpine-node24-arm64.md. Не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[6.1 · 2.5 мин]</a:t>
            </a:r>
          </a:p>
          <a:p/>
          <a:p>
            <a:r>
              <a:t>Поэтому — прибор побольше: внутри сборка и чтение, а вокруг них всё, что есть в обычном сервисе. Файл на двести тысяч записей, по JSON-строке на пользователя, всё сгенерировано от индекса — воспроизводимо. Запрос такой: распарсить батч, нормализовать нашей функцией, обработать, сериализовать ответ. Обработка — это R проходов чтения по объектам: статистика, фильтр, обогащение. R — ручка, которую я кручу. Каждый прогон — отдельный процесс Node, чтобы записи мест чтения не перетекали между вариантами; прогрев триста запросов, замер тысяча, пять повторов, медиана. Контрольная сумма сошлась во всех ста пятидесяти прогонах: все варианты считают одно и то же. Пара функций та же по форме — одна против восьми, — но код другой; откуда он — скажу в конце. В третьем узле было предсказание: если платит каждое чтение, цена растёт с числом чтений. Вот кривая. Один проход — B дороже на 29–31 процент на весь запрос, включая парсинг. Пять проходов — почти вдвое. Двадцать — в 3.1–3.3 раза. Размер батча ни при чём: пятьсот записей и пять тысяч дают одни и те же проценты. Ручка одна — число чтений. И парсинг перестаёт прятать разницу: у A при одном проходе он занимает две трети запроса, у B при двадцати — десять процентов. Два дополнения. Первое — усилитель: обогащение сделано спредом, {...u, score}. У нового объекта своя форма, но разнообразие он наследует: восемь форм на входе — восемь на выходе. За них платят и сборка, и чтение, и сортировка. Отдельного числа нет, это механизм. Второе — ответ клиенту: сортировка и JSON.stringify у B в 1.3–1.6 раза медленнее, хотя B пишет меньше байт — в нём нет null-полей. Данных меньше — а медленнее.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6 · 6 мин.</a:t>
            </a:r>
          </a:p>
          <a:p/>
          <a:p>
            <a:r>
              <a:t>Судьбы установились в цикле. А в сервисе, где JSON.parse, база и сеть — сколько от этих шести с лишним раз доживает?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ПЕРЕДЫШКА, 5 секунд. Путь объекта пройден: восемь форм → чтение через словарь → общий путь на любом ярусе. Дальше — сервер, а потом назад по времени: три эпохи V8.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[5.3 · 1 мин]</a:t>
            </a:r>
          </a:p>
          <a:p/>
          <a:p>
            <a:r>
              <a:t>Улика из хука прочитана целиком. Map — это форма, из второго узла: описание объекта, которое движок заводит сам. Wrong — это ставка оптимизирующего яруса, из четвёртого узла. Строка на B говорит: компилятор читателя поставил на одну форму, а пришла другая — у B их восемь. И одна строка про возраст. Формы и записи мест чтения — с первого релиза V8, 2008 год: они описаны как основа дизайна в первом проектном документе. Все ступени лестницы — интерпретатор, Sparkplug, Maglev, TurboFan — появились позже; записи старше каждой из них. Запомните этот год, он вернётся, когда дойдём до льва. Судьбы установились — в цикле, в вакууме: одна функция, вызванная подряд много раз. А в сервисе, где есть JSON.parse, база и сеть, — сколько от этих шести с лишним раз доживает?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[5.2 · 1.5 мин]</a:t>
            </a:r>
          </a:p>
          <a:p/>
          <a:p>
            <a:r>
              <a:t>Что дальше. В моём прогоне откат у читателя один. После него записи знают уже несколько форм, функцию компилируют заново — и на этот раз без ставки на одну форму: чтение идёт общим путём, через словарь. А если читатель с первых вызовов видит все восемь форм — как в приборе с первого слайда, — ставки нет с самого начала, и откатов тоже нет: в приборе у читателя B ни одного wrong map, он оптимизирован TurboFan — и всё равно в шесть с лишним раз медленнее. Компилятор честно делает лучшее, что можно сделать с восемью формами: на месте чтения вшивать нечего. С этого момента B работает стабильно — на общем пути, на каждом чтении. Поэтому честная подпись: медленный B — это установившийся общий путь, а не деопты. Деопт — событие: он случается и заканчивается, петли здесь нет. Общий счётчик деоптов по процессу я как метрику не беру: он засорён фоном самого замера. Цена, которую мы мерили, — 0.79 против 0.12 — это цена общего пути; читатель у обеих версий оптимизирован TurboFan, это проверено. В шапке справа заполнилась третья строка — путь: быстрый у A, общий у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[5.1 · 1.5 мин]</a:t>
            </a:r>
          </a:p>
          <a:p/>
          <a:p>
            <a:r>
              <a:t>Ставка ломается — и это та самая строка с первого слайда; теперь мы можем её прочитать. Сначала A. Читатель объектов A доходит до оптимизирующего яруса, в записях одна форма, компилятор её вшивает: одна проверка, одно чтение. Ставка играет на каждом вызове. Теперь B. В этом прогоне читатель B сначала получает только полные записи, где все поля на месте: форма одна, и компилятор вшивает ставку на неё, как у A. Потом приходит запись без хвостового поля: у A форма та же, у B — другая. Проверка не проходит. Это и есть строка из хука: reason: wrong map — «не та форма»: код ждал одну, пришла другая. Движок выбрасывает оптимизированный код и возвращает функцию в интерпретатор — это деоптимизация, деопт. Записи мест чтения дополняются новой формой, и через какое-то время функцию компилируют заново. Строка на экране — с читателя объектов B; у читателя объектов A её нет ни в одном из пяти прогонов. Я фильтрую по имени читателя: в самой normalizeUser такая строка бывает у обеих версий — там меняется форма входной записи, это другая история.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5 · 4 мин.</a:t>
            </a:r>
          </a:p>
          <a:p/>
          <a:p>
            <a:r>
              <a:t>Что будет со ставкой, когда к читателю B придёт форма, которой компилятор не видел?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[4.4 · 0.75 мин]</a:t>
            </a:r>
          </a:p>
          <a:p/>
          <a:p>
            <a:r>
              <a:t>Вот что своё у верхних ярусов. Ignition и Sparkplug ничего о формах не предполагают: смотрят в записи места чтения и идут тем путём, который там записан, — быстрым или через словарь. Maglev и TurboFan читают те же записи и вшивают увиденное в машинный код: «сюда приходит эта форма, поле plan лежит вот здесь». Проверка формы — одно сравнение, чтение — одна инструкция. Это и есть ставка: компилятор ставит на те формы, которые видел. Видел одну — одно сравнение; две–четыре — короткий список; больше — ставить не на что. Что будет со ставкой, когда к читателю B придёт форма, которой компилятор не видел?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[4.3 · 1.5 мин]</a:t>
            </a:r>
          </a:p>
          <a:p/>
          <a:p>
            <a:r>
              <a:t>Что даёт каждая ступень. Я взял один и тот же код и флагом --max-opt запирал весь процесс на одном ярусе. Интерпретатор — 505 миллисекунд, Sparkplug — 775, Maglev — 70, TurboFan — 38: в тринадцать с половиной раз быстрее интерпретатора. Честная оговорка: на этой машине, arm64, Sparkplug вышел медленнее интерпретатора; на x64 в CI он, как и положено, быстрее на четверть — объяснения у меня нет. Отсюда вопрос: почему не отдать всё TurboFan сразу? Две причины. Первая — цена. Скомпилировать функцию в TurboFan в разы дороже, чем в Maglev. А почти весь код исполняется считаные разы: при старте npm из сотен функций до TurboFan дошла одна. Я включил флаг --always-turbofan — «оптимизируй при первой возможности». На Node 24 он только просит, TurboFan-код получили считаные функции, — а старт всё равно вдвое дольше. Вторая причина важнее: TurboFan быстрый, потому что подгоняет код под то, что видел, а на первом вызове он не видел ничего. На Node 20 этот флаг правда компилирует всё на первом вызове — и горячий код выходит медленнее обычного и таким остаётся. Лестница — это не медлительность, это сбор наблюдений. И это один код на разных ярусах, не A против B: лестница у A и B одна.</a:t>
            </a:r>
          </a:p>
          <a:p/>
          <a:p>
            <a:r>
              <a:t>— — —</a:t>
            </a:r>
          </a:p>
          <a:p>
            <a:r>
              <a:t>ДЕМО: Лестница — `docker/tier-bench.js`; цена компиляции и старт npm — `docker/why-not-turbofan.sh` (его числа ещё не внесены в NUMBERS — на сцене без чисел). Не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[4.2 · 1 мин]</a:t>
            </a:r>
          </a:p>
          <a:p/>
          <a:p>
            <a:r>
              <a:t>Одну и ту же функцию V8 исполняет четырьмя способами по очереди: чем чаще её вызывают, тем дороже способ и тем быстрее код. Каждый такой способ — ярус, по-английски tier. На оси — сколько раз вызвали функцию, Node 24. Первый вызов — интерпретатор Ignition: функция переведена в байткод, вот три его строки. Примерно с восьмого вызова движок заводит ей записи мест чтения. Дальше Sparkplug: байткод в машинный код за один проход, без оптимизаций. Потом Maglev, первый оптимизирующий, и TurboFan, самый сильный. Sparkplug — почти сразу, Maglev — примерно к тысячному вызову, TurboFan — к тринадцатитысячному; с циклом внутри — раньше. Функция при этом не ждёт: следующий компилятор работает в фоне, а она исполняется на своей ступени, пока новый код не готов. Поэтому функция, которую сервис зовёт на каждый запрос, наверху уже в первые миллисекунды работы.</a:t>
            </a:r>
          </a:p>
          <a:p/>
          <a:p>
            <a:r>
              <a:t>— — —</a:t>
            </a:r>
          </a:p>
          <a:p>
            <a:r>
              <a:t>ДЕМО: Скрин R5: `node --print-bytecode --print-bytecode-filter=normalizeUser`. Не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[4.1 · 0.75 мин]</a:t>
            </a:r>
          </a:p>
          <a:p/>
          <a:p>
            <a:r>
              <a:t>Нет, компилятор не спасает. Числа из прибора — 0.12 и 0.79 — сняты в горячем цикле: читатель к этому моменту давно скомпилирован, у обеих версий, я это проверил. Скомпилированный код B платит тот же налог: восемь форм на входе никуда не делись, общий путь через словарь тоже. Но у компилятора есть кое-что своё — и именно там живёт улика из хука. Чтобы её увидеть, посмотрим, как движок поднимает функцию по вызовам: от первого к десятитысячному. Верхняя ступень этого подъёма — та, которую описание доклада называет уходящей.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4 · 4 мин.</a:t>
            </a:r>
          </a:p>
          <a:p/>
          <a:p>
            <a:r>
              <a:t>Спасёт ли компилятор B от налога?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ПЕРЕДЫШКА, 5 секунд. Два шага движка позади: форма и место чтения. У B восемь форм, и каждое чтение идёт через общий словарь. Серыми остались компилятор, сервер и три эпохи V8.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[3.4 · 1 мин]</a:t>
            </a:r>
          </a:p>
          <a:p/>
          <a:p>
            <a:r>
              <a:t>Итог узла. Цена объяснена: восемь форм, место чтения уходит на общий путь, шесть с лишним раз. Улика из хука — wrong map — ещё не прочитана: у нас есть только половина, map — это форма; что такое wrong, впереди. И два вопроса на следующие блоки. Первый: всё, что я показал, — память мест чтения, она работает с первых вызовов. Но горячий код V8 компилирует, и компилятор умный. Спасёт ли компилятор B — или скомпилированный код платит тот же налог? Второй: если платит каждое чтение, то в сервисе цена должна расти с числом чтений — один раз прочитали, заплатили один раз; двадцать раз — двадцать. Проверим на настоящем запросе, где перед normalizeUser стоит JSON.parse, а после — база и сеть. Сначала — компилятор.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[3.3 · 1 мин]</a:t>
            </a:r>
          </a:p>
          <a:p/>
          <a:p>
            <a:r>
              <a:t>Это можно увидеть глазами. Флаг --log-ic пишет журнал: как меняется память каждого места чтения. Старый --trace-ic из V8 убрали ещё в 2021 году — если нагуглите его в старой статье, Node ответит «bad option». На экране заранее снятый журнал, и в нём оставлено одно место — чтение u.plan в читателе. У B состояние меняется на глазах: сначала 1 — мономорфное, на второй форме P — полиморфное, на пятой форме N — мегаморфное. У A у того же места одна строка: 1, и больше ничего. Обратите внимание, когда это происходит: после первых нескольких вызовов читателя, задолго до того, как код станет горячим. Читатель B становится MEGA, как только увидел пятую форму, — и дальше так и остаётся. На карте это третий шаг — место чтения: у A MONO, у B MEGA.</a:t>
            </a:r>
          </a:p>
          <a:p/>
          <a:p>
            <a:r>
              <a:t>— — —</a:t>
            </a:r>
          </a:p>
          <a:p>
            <a:r>
              <a:t>ДЕМО: Скрин R4, не live (кадр `frames/r4.txt` снят на Node 24.21.0; последовательность состояний та же, что в Docker-прогоне, CHECKS.md): `--log-ic` без `--no-logfile-per-isolate` пишет файл с адресом изолята в имени. Фильтр по строке 30 обязателен: normalizeUser читает raw.plan и у A тоже уходит в N (сырые входы разной формы). Старый `--trace-ic` удалён из V8 9.3 (2021).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[3.2 · 1.5 мин]</a:t>
            </a:r>
          </a:p>
          <a:p/>
          <a:p>
            <a:r>
              <a:t>Почему — второй термин. В каждом месте кода, где читается поле, — вот эта точка u.plan в функции-читателе — движок держит маленькую память: с какими формами это место уже работало. Память привязана к месту в коде, не к объекту. По-английски inline cache. Видело место одну форму — состояние мономорфное, MONO: движок знает, где у этой формы лежит plan, — одна проверка и одно чтение. Это быстрый путь. Две, три, четыре формы — полиморфное, POLY: короткий список, сравнили и взяли. Это ещё дёшево: четыре формы дороже одной примерно на тридцать процентов. Приходит пятая — список выбрасывается, и место становится мегаморфным, MEGA: адрес поля теперь ищется в общем словаре движка по паре «форма плюс имя поля». Словарь один на всю программу; сами объекты B обычные — просто восемь разных форм. Это общий путь. Слева читатель объектов A: одна форма, MONO. Справа читатель объектов B: восемь форм, MEGA. Текст читателя тот же, разница только в том, что в него приходит. Отдельный маленький замер, где из объектов восьми форм читается одно поле: MEGA против MONO — ×2.7 на Node 24, ×3.4 на Node 22. В приборе читатель берёт пять полей на объект, и там разница больше — шесть с лишним.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[3.1 · 1.5 мин]</a:t>
            </a:r>
          </a:p>
          <a:p/>
          <a:p>
            <a:r>
              <a:t>Сами формы — нет. И это первое место, где ожидание не сходится с замером. Я взял прибор побольше — покажу его целиком через несколько узлов — и разложил время запроса по стадиям. Стадия сборки — то, что делает сама normalizeUser. Здесь честно два числа. Если восемь форм получаются через if после литерала — так пишет агент, о нём в конце, — сборка стоит от 0.93 до 1.02 от одноформной: столько же, в пределах шума. Значит, восемь форм сами по себе сборку не удорожают. Если через условный спред, как B с первого слайда, — сборка дороже примерно в 1.6 раза. Но форм там столько же, восемь, — это цена самого спреда. А на стадии чтения, где поля этих объектов читают, оба варианта B дороже одинаково — в пять с лишним раз. Сборка у объекта одна, а чтений много. Отсюда практический вывод. Объект собирают в одном месте, а читают, скажем, в тридцати. В профайлере цена B размазана по этим тридцати местам чтения, а причина — одно место сборки. Итак, платит чтение. Почему?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3 · 5 мин.</a:t>
            </a:r>
          </a:p>
          <a:p/>
          <a:p>
            <a:r>
              <a:t>Восемь описаний вместо одного — это и есть цена? Собирать восемью способами дороже?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[2.4 · 0.5 мин]</a:t>
            </a:r>
          </a:p>
          <a:p/>
          <a:p>
            <a:r>
              <a:t>Один против восьми — проверено. На карте загорается второй шаг, форма объекта: у A одна, у B восемь. С этого шага строки A и B больше не совпадут ни разу. Развилка из трёх строк случается в момент сборки объекта. Отсюда вопрос: может, это и есть цена — собирать объект восемью способами дороже, чем одним?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[2.3 · 1 мин]</a:t>
            </a:r>
          </a:p>
          <a:p/>
          <a:p>
            <a:r>
              <a:t>Проверим живьём. Запускаю Node с флагом --allow-natives-syntax: он открывает служебные функции движка, те, что начинаются с процента. В рабочем коде их не пишут — они только для таких проверок. Одна из них — %HaveSameMap: даёшь ей два объекта, она отвечает, одной ли они формы. Собираю два объекта через A: один вход с teamId, другой без — true, форма одна. Те же два входа через B — false, формы разные. Дальше скрипт перебирает все восемь сочетаний трёх хвостовых полей и считает, сколько разных форм набралось у B: восемь. У A, сколько входов ни перебирай, форма одна — прибор из начала доклада проверил это на тысяче разных входов.</a:t>
            </a:r>
          </a:p>
          <a:p/>
          <a:p>
            <a:r>
              <a:t>— — —</a:t>
            </a:r>
          </a:p>
          <a:p>
            <a:r>
              <a:t>ДЕМО: LIVE №1 (критический путь): запускается готовый `lab/demo-samemap.js` одной командой, код на сцене не набирать. Упало — не повторять: вывод уже на слайде. На ноутбуке запускать из контейнера (`docker/run.sh`) или из копии lab вне репо — корневой package.json с `type: module` ломает require.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[2.2 · 1 мин]</a:t>
            </a:r>
          </a:p>
          <a:p/>
          <a:p>
            <a:r>
              <a:t>Смотрим на B. Пять полей всегда, три — по условию. Каждое добавленное поле — шаг по цепочке описаний. У A эта цепочка одна и та же для всех объектов, поэтому все приходят к одной форме. У B после пяти обязательных полей — развилка: referrer либо есть, либо нет. Потом вторая: trialUntil. Потом третья: teamId. Два в кубе — восемь листьев. Объект без хвоста, объект только с referrer, объект с referrer и teamId, и так далее. Восемь разных наборов ключей — восемь форм. Ровно восемь: в наших входах встречаются все сочетания. Данных бесконечно много, а описаний, которые движок вынужден завести и различать, — восемь. Ни один из этих объектов не неправильный — контрольная сумма это подтвердила. Просто движок видит восемь описаний вместо одного.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[2.1 · 1.5 мин]</a:t>
            </a:r>
          </a:p>
          <a:p/>
          <a:p>
            <a:r>
              <a:t>Расходятся они в том, чего в коде не видно: в описании объекта, которое движок заводит сам. Первый термин доклада — форма. Когда V8 создаёт объект, он не хранит имена полей внутри самого объекта. Он заводит отдельное внутреннее описание: какие поля, в каком порядке добавлены, где какое лежит. По-английски это hidden class, а в трейсе, который мы видели минуту назад, это слово map — map и форма одно и то же. Вы форму нигде не объявляете, движок выводит её сам из того, как объект собирали. Главное свойство: объекты, собранные одинаково — те же поля в том же порядке, — делят одно описание на всех. Движок хранит его один раз и ссылается; ему не нужно каждый раз заново выяснять, где лежит поле email: он один раз посмотрел на форму и знает. Смотрим на A. Восемь полей, всегда одни и те же, всегда в одном порядке. Значение может быть null, но ключ на месте. Сколько форм создаёт A? Одну. Миллион объектов — одно описание.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2 · 4 мин.</a:t>
            </a:r>
          </a:p>
          <a:p/>
          <a:p>
            <a:r>
              <a:t>Где расходятся, если делают одно и то же и результат одинаковый?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[1.5 · 1 мин]</a:t>
            </a:r>
          </a:p>
          <a:p/>
          <a:p>
            <a:r>
              <a:t>И ещё одна строка. Беру читателя — функцию, которая читает поля этих объектов, — и включаю --trace-deopt: это журнал случаев, когда движок отказывается от уже скомпилированного кода. Сначала читатель получает записи, где все поля на месте, потом — записи, где хвостовых полей нет. С объектами B в журнале читателя появляется строка: reason: wrong map. С объектами A у читателя такой строки нет — пять прогонов из пяти. Пока это улика, не причина: два английских слова, которые мы прочтём целиком примерно через четверть часа. Внизу — карта доклада: двенадцать шагов, под каждым будет строка A и строка B. Сейчас горит первый шаг — две функции и два числа. Маршрут такой: сначала вправо, вслед за вызовами функции, до числа на сервере; потом назад по времени — через три эпохи V8. Там и появится лев из описания. Первый вопрос: где они расходятся, если делают одно и то же и результат одинаковый?</a:t>
            </a:r>
          </a:p>
          <a:p/>
          <a:p>
            <a:r>
              <a:t>— — —</a:t>
            </a:r>
          </a:p>
          <a:p>
            <a:r>
              <a:t>ДЕМО: Запись R2: `node --allow-natives-syntax --trace-deopt lab/demo-wrongmap.js lab/ref-b.js | grep "JSFunction score"` и то же для ref-a. Фильтр по имени читателя обязателен: в самой normalizeUser `wrong map` есть у обеих версий (меняется форма входной записи).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[1.4 · 1 мин]</a:t>
            </a:r>
          </a:p>
          <a:p/>
          <a:p>
            <a:r>
              <a:t>Теперь прибор. Маленький скрипт из репозитория, lab/shape-analyzer.js, Node 24.21.0, внутри — V8 13.6. Он собирает этой функцией пятьдесят тысяч объектов, а потом в горячем цикле читает их поля и берёт медиану времени одного прохода по всем пятидесяти тысячам — когда код давно разогрет. На экране запись прогона, не живой запуск. A — 0.12 миллисекунды. B — 0.79. Больше чем в шесть раз. Обратите внимание, что именно померено: проход чтения по уже собранным объектам. Сборку этот прибор не меряет — её померим отдельно, и по ходу доклада узнаем, кто из двоих платит: сборка или чтение.</a:t>
            </a:r>
          </a:p>
          <a:p/>
          <a:p>
            <a:r>
              <a:t>— — —</a:t>
            </a:r>
          </a:p>
          <a:p>
            <a:r>
              <a:t>ДЕМО: Запись R1: `node --allow-natives-syntax lab/shape-analyzer.js lab/ref-a.js`, затем то же с `ref-b.js`. Не живой запуск — числа на сцене не мерим.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[1.3 · 1.5 мин]</a:t>
            </a:r>
          </a:p>
          <a:p/>
          <a:p>
            <a:r>
              <a:t>Две версии одной функции normalizeUser. Она берёт сырую запись пользователя — то, что пришло из запроса или из базы, — и возвращает объект с восемью полями. Пять обязательных: id, name, email, plan, credits. Три хвостовых, которых во входе может не быть: referrer, trialUntil, teamId. Сверху версия A: хвостовые поля записаны как raw.referrer ?? null — если значения нет, в объекте лежит null, но само поле есть. Снизу версия B: те же три поля через условный спред — есть значение, ключ появится; нет значения — ключа не будет. Пять верхних строк совпадают символ в символ. Дифф — три строки внизу. Обе функции корректны: я прогнал их через один набор входов, прочитал поля всех результатов и сравнил контрольные суммы — совпадают. Тесты зелёные у обеих. Ревьюер, глядя на этот дифф, апрувит оба варианта, и, честно говоря, B ему нравится больше: в ответе нет мусорных null. Я бы тоже пропустил оба.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[1.2 · 0.5 мин]</a:t>
            </a:r>
          </a:p>
          <a:p/>
          <a:p>
            <a:r>
              <a:t>План на сегодня — четыре вопроса. Где расходятся две функции, которые делают одно и то же. Почему компилятор их не выравнивает и во что это обходится сервису. Что за восемнадцать лет поменялось внутри V8, а что нет, — там и появится лев из названия. И как увидеть всё это в своём коде. В конце вернёмся к этим же четырём пунктам — уже с ответами. Начнём с двух функций.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[1.1 · 0.5 мин]</a:t>
            </a:r>
          </a:p>
          <a:p/>
          <a:p>
            <a:r>
              <a:t>Добрый день. Доклад называется «V8 для самых маленьких: что за лев этот турболев?». Если вы читали описание в программе — часть того текста написал агент, и я об этом в самом описании честно пошутил. Что из этого вышло, скажу в конце.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[8.2 · 1.5 мин]</a:t>
            </a:r>
          </a:p>
          <a:p/>
          <a:p>
            <a:r>
              <a:t>Теперь верхняя ступень. TurboFan читает байткод и тот же вектор записей и строит граф функции. Граф особенный — Sea of Nodes, «море узлов». Обычный компилятор держит код блоками в заданном порядке; здесь у операций порядка почти нет, их связывают только данные и зависимости, и компилятор волен двигать их, выкидывать повторы и сливать проверки. Идея 1995 года, её автор — Cliff Click, на ней работает серверный компилятор Java HotSpot. В V8 TurboFan появился в коде летом 2014-го, в 2015-м включился для asm.js, в 2017-м — для всего JavaScript. Граф другой — ставка та же: проверка формы в начале, поле — одной инструкцией, а на восьми формах — общий путь. Строка из хука, wrong map, — это его деопт. И компилировать такой граф дорого — поэтому TurboFan работает в фоновом потоке, а функция тем временем живёт ступенью ниже.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[8.3 · 1 мин]</a:t>
            </a:r>
          </a:p>
          <a:p/>
          <a:p>
            <a:r>
              <a:t>Оставалась пропасть: интерпретатор медленный, а TurboFan дорогой и приходит поздно. В 2021-м её прикрыл Sparkplug. Он берёт байткод и за один проход переводит его в машинный код — без графа и без ставки, записывая в тот же вектор. Так выглядит V8 2022 года: Ignition, Sparkplug, TurboFan. Лестница из четвёртого узла — про эти же ступени: интерпретатор 505 миллисекунд, TurboFan — 38. Но со ставкой по-прежнему работает одна ступень, и она дорогая.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ПЕРЕДЫШКА, 5 секунд. Путь по вызовам закрыт числом на сервере, а назад по времени пройдены две эпохи: записи переехали из кода в вектор, ставка осталась. Осталось: Maglev, Turbolev и карта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9 · 4 мин.</a:t>
            </a:r>
          </a:p>
          <a:p/>
          <a:p>
            <a:r>
              <a:t>Между ступенями без ставки и дорогим TurboFan — пропасть. Чем её закрыли — и уходит ли TurboFan?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[9.1 · 1 мин]</a:t>
            </a:r>
          </a:p>
          <a:p/>
          <a:p>
            <a:r>
              <a:t>Её закрыли вторым оптимизирующим компилятором. Maglev, 2023 год, Chrome 117. Он тоже строит граф — попроще — из того же байткода и тех же записей, тоже ставит на увиденные формы и тоже умеет деопт. Но компилирует в разы быстрее TurboFan, поэтому приходит примерно к тысячному вызову, а не к тринадцатитысячному — это числа из четвёртого узла. В Node 24 он есть; в Node 22 его выключили с версии 22.9 — это одна из граблей в PITFALLS. Теперь со ставкой работают две ступени из четырёх — и обе ставят на одно: на форму, которую видело место чтения.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[9.2 · 1 мин]</a:t>
            </a:r>
          </a:p>
          <a:p/>
          <a:p>
            <a:r>
              <a:t>А сам TurboFan тем временем разбирают изнутри. С Chrome 120, в конце 2023 года, его заднюю половину — ту, что из графа делает машинный код, — заменили на Turboshaft. Он работает на обычном графе из блоков, как у большинства компиляторов, и, по словам команды V8, компилирует примерно вдвое быстрее. В 2025-м в блоге V8 вышел пост с говорящим названием: «Земля! Покидаем море узлов». Море узлов, по опыту команды, оказалось дорогим и в поддержке, и во времени компиляции. Передняя половина TurboFan для JavaScript пока строит Sea of Nodes — и её тоже собираются заменить.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[9.3 · 1 мин]</a:t>
            </a:r>
          </a:p>
          <a:p/>
          <a:p>
            <a:r>
              <a:t>Её заменят — и это лев из названия доклада. Turbolev — сборка из двух готовых частей: спереди граф Maglev, сзади Turboshaft. Граф Maglev идёт в Turboshaft напрямую, мимо старого графа TurboFan. Это замена верхней ступени, а не пятая: так и написано в описании флага — Maglev плюс Turboshaft как четвёртый ярус вместо TurboFan. Флаг --turbolev есть с V8 13.6, в Node 24. По умолчанию выключен — и в Node, и в основной ветке V8; в сентябре его включили там на неделю и откатили. Срок не объявлен. Мой прогноз — Chrome в 2027 году, Node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[9.4 · 1 мин]</a:t>
            </a:r>
          </a:p>
          <a:p/>
          <a:p>
            <a:r>
              <a:t>Под флагом он работает уже сейчас, так что можно померить. Та же пара, тот же прибор, Node 24 с флагом. A — 0.14 миллисекунды, B — 0.95: в шесть и восемь десятых раза. Без флага было 0.12 и 0.79 — шесть и шесть. Под флагом оба чуть медленнее, а разница между A и B та же, в пределах шума. Блог V8 объясняет замену другим: компилятор проще и быстрее компилирует. Компиляция идёт в фоновом потоке, пока функция работает ступенью ниже, — чем быстрее компилятор, тем раньше подменится код. О скорости самого кода блог не пишет, и я не буду.</a:t>
            </a:r>
          </a:p>
          <a:p/>
          <a:p>
            <a:r>
              <a:t>— — —</a:t>
            </a:r>
          </a:p>
          <a:p>
            <a:r>
              <a:t>ДЕМО: Запись R10: `node --allow-natives-syntax --turbolev lab/shape-analyzer.js`. Медианы на слайде — по пяти прогонам (0.14 / 0.95), в кадре записи — один запуск.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10 · 5 мин.</a:t>
            </a:r>
          </a:p>
          <a:p/>
          <a:p>
            <a:r>
              <a:t>Семь компиляторов за три эпохи. Что из этого пережило все три — и платит ли B в каждой?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[10.1 · 1.5 мин]</a:t>
            </a:r>
          </a:p>
          <a:p/>
          <a:p>
            <a:r>
              <a:t>Ответ — числами, которые у нас уже есть. Прибор из первого узла, три разных верхних яруса. Node 22: Maglev в нём выключен, наверху один TurboFan, — B дороже в шесть и девять десятых раза. Node 24: Maglev плюс TurboFan — шесть и шесть. Node 24 под флагом --turbolev — шесть и восемь. Три разных компилятора, три разных графа — и одно и то же число в пределах шума. Crankshaft 2014 года я не мерил: Node тех лет этот код даже не запустит, условного спреда в нём ещё нет. Но механизм мы разобрали: те же записи, та же граница в четыре формы, та же ставка. Налог B — не свойство компилятора. Это свойство формы, и платят его на любом ярусе.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[10.2 · 1 мин]</a:t>
            </a:r>
          </a:p>
          <a:p/>
          <a:p>
            <a:r>
              <a:t>Вот все три эпохи на одном слайде. Слева — ступени без ставки: full-codegen, потом Ignition и Sparkplug. Справа — со ставкой: Crankshaft, TurboFan, Maglev и, вероятно, Turbolev. Каждая ступень за эти годы сменилась или появилась, записи переехали из машинного кода в вектор, граф сменился трижды. А формы и записи мест чтения — с 2008 года, с первого релиза V8, и каждый верхний ярус ставит на них. Развилка, которую мы нашли в трёх строках кода, старше всех этих компиляторов.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[10.3 · 1 мин]</a:t>
            </a:r>
          </a:p>
          <a:p/>
          <a:p>
            <a:r>
              <a:t>Одна свежая оговорка. Граница «пять форм и больше — ставки нет» держалась восемнадцать лет, и вот её впервые сдвигают. Homomorphic IC: если у пяти и более форм поле лежит на одном и том же месте, место чтения держит одну проверку вместо общего пути. У B первые пять полей одинаковы во всех восьми формах — значит, plan и credits читаются быстрее. В основной ветке V8 это включили пятнадцатого сентября; по графику это Chrome 156, за четыре дня до этого доклада. В Node пока нет. Предварительный замер на d8, x64: разрыв B к A падает с пяти и трёх десятых раза до четырёх и одной. Хвостовые поля — referrer, trialUntil, teamId — остаются мегаморфными. Налог меньше, но форма по-прежнему решает.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[10.4 · 1.5 мин]</a:t>
            </a:r>
          </a:p>
          <a:p/>
          <a:p>
            <a:r>
              <a:t>И последнее — про то, кто пишет B. Коротко, потому что это не новость. Я дал тот же тикет агенту в свежей сессии, тридцать раз. Все тридцать генераций — рабочий код, и все тридцать — восемь форм, как B: ключ добавляют, только если есть значение, — так пишут в текстах, на которых он учился. Тот же агент с файлом из четырёх правил — тридцать из тридцати по A, одна форма. Первое правило — один набор полей в одном порядке, нет значения — null. Кстати, сервис из шестого узла, 2302 против 1180 запросов в секунду, — это как раз его генерации с файлом и без. Файл — по QR в конце. Агенту нужно то же знание о V8, что и человеку: какую форму собирает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11 · 3 мин.</a:t>
            </a:r>
          </a:p>
          <a:p/>
          <a:p>
            <a:r>
              <a:t>Ставка на форму не менялась восемнадцать лет. Как увидеть её в своём коде — самому?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[11.1 · 1.25 мин]</a:t>
            </a:r>
          </a:p>
          <a:p/>
          <a:p>
            <a:r>
              <a:t>Поэтому — карта целиком, все двенадцать шагов. Шаги со второго по шестой — путь объекта по вызовам: форма при сборке, место чтения, ярусы, ставка, сервер. Одна форма — быстрый путь, восемь — общий. Шаги с седьмого по десятый — тот же путь в трёх эпохах V8: 2014, 2017, 2027. Ступени меняются, а строки A и B — нет: у A ставка, у B мега, в каждой эпохе. Развилка одна, и она в файле с функцией, до первого вызова. Одного шага на карте нет — билдера. Между автором и движком стоит tsc или esbuild, и что они делают с формами, когда переписывают спред в свой хелпер, я не мерил. Угадывать не буду; когда прогоню — на карте появится тринадцатый шаг.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[11.2 · 1 мин]</a:t>
            </a:r>
          </a:p>
          <a:p/>
          <a:p>
            <a:r>
              <a:t>Вернёмся к плану из начала — те же четыре вопроса. Где расходятся две одинаковые функции? В форме объекта: у A одна, у B восемь, и выбор сделан в тексте, до первого вызова. Почему компилятор не спасает? Оптимизатор ставит на формы, которые видел, а на восемь форм ставить нечего — общий путь: в шесть с лишним раз на функции и почти вдвое на сервисе. Что за восемнадцать лет поменялось в V8? Ярусы — все, а ставка — нет: на трёх нынешних компиляторах налог одинаковый, а формы и записи мест чтения живут с 2008 года. И как увидеть это у себя — три команды,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[11.3 · 0.75 мин]</a:t>
            </a:r>
          </a:p>
          <a:p/>
          <a:p>
            <a:r>
              <a:t>И как проверить у себя — меня об этом спрашивали. Прибор лежит в репо: shape-analyzer. Под флагом --allow-natives-syntax он через %HaveSameMap считает, сколько форм выдаёт функция; это пример на normalizeUser — подставьте свою функцию и свои входные данные. Флаг --log-ic пишет журнал мест чтения: единица — MONO, N — MEGA. А все числа доклада пересчитываются одной командой в Docker, docker/run.sh, минут за двадцать пять, каждый кейс в отдельном процессе. Темы для вопросов — мелко внизу слайда. Остался последний вопрос, и он ваш: сможете ли вы теперь прочитать судьбу функции сами?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Разделитель узла 12 · 2 мин.</a:t>
            </a:r>
          </a:p>
          <a:p/>
          <a:p>
            <a:r>
              <a:t>Смогу ли я теперь прочитать судьбу функции сам?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[12.1 · 1.25 мин]</a:t>
            </a:r>
          </a:p>
          <a:p/>
          <a:p>
            <a:r>
              <a:t>Проверим на первом слайде. Те же две функции, тот же прибор: 0.12 и 0.79. Только теперь карта под ними заполнена, подсказок нет, и читать её будете вы — я только показываю. Верхняя строка, A. Одна форма при сборке — место чтения MONO — ставка сыграла, быстрый путь вшит — 2302 запроса в секунду — и так в каждой эпохе V8. Нижняя строка, B. Восемь форм — место чтения MEGA — ставка на одну форму не играет — общий путь — 1180 запросов в секунду — и так с 2008 года. Проход чтения у B в шесть с лишним раз дороже, чем у A. Подпись приборов, один раз, чтобы числа не путались: 0.12 и 0.79 — одна функция, shape-analyzer на Node 24; 2302 и 1180 — сервис под autocannon, на генерациях агента. Разный код, разные приборы — одна пара форм, одна против восьми. Две функции, одинаковый результат, одна развилка — и теперь вы видите её в диффе за пять секунд: ?? null против условного спреда.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[12.2 · 0.75 мин]</a:t>
            </a:r>
          </a:p>
          <a:p/>
          <a:p>
            <a:r>
              <a:t>Всё, что я показал, лежит в репозитории issues-memory-research, ветка v8-talk-verify: прибор, матрица, шестьдесят генераций как есть, пайплайн, HTTP-бенч, четыре правила одним файлом, Docker-образ, в котором всё это перегоняется одной командой, и PITFALLS.md — грабли, на которые я уже наступил за вас: Node 22 собран без Maglev, --trace-ic давно удалён, каждый кейс — в отдельном процессе. Хотите повторить — начинайте с shape-analyzer: одна команда из папки v8-experiment на Node 24 или в контейнере, docker/run.sh. QR на экране. Спасибо.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почему не сразу TurboFan?: Две причины. Цена: компиляция в TurboFan в разы дороже, чем в Maglev (идёт в фоновом потоке, функция тем временем работает), а почти весь код исполняется считаные разы: при старте npm из сотен функций до TurboFan дошла одна. Флаг --always-turbofan («оптимизируй при первой возможности») на Node 24 — старт вдвое дольше, хотя TurboFan-код получают считаные функции: флаг только просит, а пока функцию не вызвали дважды, движок такую просьбу сбрасывает. На Node 20 этот флаг правда компилирует всё на первом вызове — и горячий код выходит медленнее обычного и таким остаётся: вшивать нечего. И главное: TurboFan быстрый, потому что ставит на увиденное, а на первом вызове он ничего не видел. В V8 14 и новее флага --always-turbofan уже нет.</a:t>
            </a:r>
          </a:p>
          <a:p/>
          <a:p>
            <a:r>
              <a:t>2. почему V8 не греет на старте?: Нечем: компилятор ставит на то, какие формы прошли через каждое место чтения, а их не узнать без настоящих данных. Оптимизированный код между запусками не сохраняется — он привязан к формам этого процесса; кэшируется только байткод. Compile hints — про другое: они просят скомпилировать файл в байткод сразу при загрузке, к ярусам и формам отношения не имеют. Сервис можно прогреть самому до приёма трафика — но репрезентативными запросами: прогрев «красивыми» полными записями даст ровно тот wrong map из узла 5, когда придут неполные.</a:t>
            </a:r>
          </a:p>
          <a:p/>
          <a:p>
            <a:r>
              <a:t>3. как узнать ярус?: Без интринсиков: node --log-function-events --logfile=fe.log --no-logfile-per-isolate app.js — в логе по имени функции видно interpreter → baseline → maglev → turbofan. --trace-opt и --trace-deopt показывают события компиляции и откатов; «took a, b, c ms» в --trace-opt — три фазы, их складывать. С --allow-natives-syntax — %GetOptimizationStatus(f), но значения битов зависят от версии V8. Профайлер DevTools и --cpu-prof ярус не показывают.</a:t>
            </a:r>
          </a:p>
          <a:p/>
          <a:p>
            <a:r>
              <a:t>4. когда приходит TurboFan: Считаются вызовы и витки циклов внутри функции; размер ни при чём — бюджет пропорционален длине байткода, и длина сокращается. Замер на Node 24: функция без циклов, хоть 5 строк, хоть 50, — Maglev около 1000-го вызова, TurboFan около 13 000-го. Часть этих вызовов — ожидание: компилятор работает в отдельном потоке, и всё это время функция продолжает исполняться на прежнем ярусе. С циклом внутри — в разы раньше. По времени это первые миллисекунды горячей работы.</a:t>
            </a:r>
          </a:p>
          <a:p/>
          <a:p>
            <a:r>
              <a:t>5. Sparkplug не спекулирует: Ставку «сюда приходит одна форма» вшивают только оптимизирующие ярусы — Maglev и TurboFan. Sparkplug и интерпретатор читают записи мест чтения, но ничего не предполагают.</a:t>
            </a:r>
          </a:p>
          <a:p/>
          <a:p>
            <a:r>
              <a:t>6. сколько деоптов?: У читателя — один в сценарии «привык к одной форме, пришла другая» и ноль в приборе. Общий счётчик по процессу я как метрику забраковал: его засоряет сам харнесс.</a:t>
            </a:r>
          </a:p>
          <a:p/>
          <a:p>
            <a:r>
              <a:t>7. а на x64?: Гонял тем же образом и скриптом в CI на x64: направление то же, множители ниже — прибор ×4.4 вместо ×6.6, HTTP ×1.7 вместо ×1.95. А замер IC «восемь форм против одной» на x64, наоборот, выше: ×3.7 против ×2.7. Тенденция одна.</a:t>
            </a:r>
          </a:p>
          <a:p/>
          <a:p>
            <a:r>
              <a:t>8. дырявые массивы: HOLEY против плотного — ×1.1 на чтении; это живое правило, но маленькое. В файле правил оно есть отдельным пунктом.</a:t>
            </a:r>
          </a:p>
          <a:p/>
          <a:p>
            <a:r>
              <a:t>9. `delete`: Объект уходит в словарный режим, и обычный объект обратно уже не вернётся: чтение в 28–29 раз дороже на Node 22 и 24. Вместо delete — присвоить null.</a:t>
            </a:r>
          </a:p>
          <a:p/>
          <a:p>
            <a:r>
              <a:t>10. порядок полей: Две реализации с одним набором полей в разном порядке — это две формы: чтение ×1.4–1.5, сервис −13%.</a:t>
            </a:r>
          </a:p>
          <a:p/>
          <a:p>
            <a:r>
              <a:t>БЕЗ ПЛАШКИ:</a:t>
            </a:r>
          </a:p>
          <a:p/>
          <a:p>
            <a:r>
              <a:t>у A тоже wrong map / N в журнале?: Да, внутри самой normalizeUser wrong map и мегаморфное чтение raw.plan бывают у обеих версий: сырые записи на входе разной формы. Это чтение входа, и у A и B оно одно и то же. Разница начинается после сборки — смотрите на читателя собранных объектов: у A он чистый.</a:t>
            </a:r>
          </a:p>
          <a:p/>
          <a:p>
            <a:r>
              <a:t>откуда прибор знает MEGA?: Поле ic в выводе прибора — ярлык по числу форм, которые насчитал %HaveSameMap: 1 — MONO, до 4 — POLY, 5 и больше — MEGA. Само состояние места чтения я проверил отдельно журналом --log-ic — это слайд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1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1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7427278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2218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C1228B-F77A-082B-B3FC-F40829375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2D46D9D-1F06-4E5A-30C1-F568448266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5"/>
            <a:ext cx="5689599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7357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tx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tx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20414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tx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tx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4638" y="2206171"/>
            <a:ext cx="3098800" cy="3098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33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tx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tx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368300"/>
            <a:ext cx="5689600" cy="52927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62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FA481E-A8AE-650E-B316-A87C6D1AAF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9315" y="368299"/>
            <a:ext cx="8473371" cy="1692729"/>
          </a:xfrm>
        </p:spPr>
        <p:txBody>
          <a:bodyPr anchor="ctr">
            <a:noAutofit/>
          </a:bodyPr>
          <a:lstStyle>
            <a:lvl1pPr algn="ctr">
              <a:lnSpc>
                <a:spcPct val="85000"/>
              </a:lnSpc>
              <a:defRPr sz="6000">
                <a:solidFill>
                  <a:schemeClr val="tx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9314" y="2206171"/>
            <a:ext cx="8473371" cy="769258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ru-RU" sz="2400" b="0" dirty="0">
                <a:solidFill>
                  <a:schemeClr val="tx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410233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202008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4638" y="2206171"/>
            <a:ext cx="3098800" cy="3098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72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368300"/>
            <a:ext cx="5689600" cy="52927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855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FA481E-A8AE-650E-B316-A87C6D1AAF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9315" y="368299"/>
            <a:ext cx="8473371" cy="1692729"/>
          </a:xfrm>
        </p:spPr>
        <p:txBody>
          <a:bodyPr anchor="ctr">
            <a:noAutofit/>
          </a:bodyPr>
          <a:lstStyle>
            <a:lvl1pPr algn="ctr"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9314" y="2206171"/>
            <a:ext cx="8473371" cy="769258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01018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tx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tx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4852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+ Im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8612E-6505-4F3A-1C6D-230779A09D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tx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tx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4638" y="2206171"/>
            <a:ext cx="3098800" cy="3098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181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tx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tx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A36777B-68F8-31D6-7E8B-F5F24EEED4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9" y="368299"/>
            <a:ext cx="5689598" cy="529272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949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FA481E-A8AE-650E-B316-A87C6D1AAF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9315" y="368299"/>
            <a:ext cx="8473371" cy="1692729"/>
          </a:xfrm>
        </p:spPr>
        <p:txBody>
          <a:bodyPr anchor="ctr">
            <a:noAutofit/>
          </a:bodyPr>
          <a:lstStyle>
            <a:lvl1pPr algn="ctr">
              <a:lnSpc>
                <a:spcPct val="85000"/>
              </a:lnSpc>
              <a:defRPr sz="6000">
                <a:solidFill>
                  <a:schemeClr val="tx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9314" y="2206171"/>
            <a:ext cx="8473371" cy="769258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ru-RU" sz="2400" b="0" dirty="0">
                <a:solidFill>
                  <a:schemeClr val="tx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863275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73B3F0-0F63-C0EE-8408-E5C1AC2FF5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301400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73B3F0-0F63-C0EE-8408-E5C1AC2FF5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30CA52-65D8-2F8A-F2FB-B880209524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4638" y="2206171"/>
            <a:ext cx="3098800" cy="3098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188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E0AB55B-1062-EBEC-B941-F4A8B0499A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9" y="368299"/>
            <a:ext cx="5689598" cy="529272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082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B11967-790B-3F12-EB41-D1D2E2436E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9315" y="368299"/>
            <a:ext cx="8473371" cy="1692729"/>
          </a:xfrm>
        </p:spPr>
        <p:txBody>
          <a:bodyPr anchor="ctr">
            <a:noAutofit/>
          </a:bodyPr>
          <a:lstStyle>
            <a:lvl1pPr algn="ctr">
              <a:lnSpc>
                <a:spcPct val="85000"/>
              </a:lnSpc>
              <a:defRPr sz="60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9314" y="2206171"/>
            <a:ext cx="8473371" cy="769258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ru-RU" sz="24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97111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F17F7A-122D-D531-863B-E5D4FB14B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51671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2D3C32-492A-9E97-BA7F-DC2F10A6A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4638" y="2206171"/>
            <a:ext cx="3098800" cy="30988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94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200000" cy="1692729"/>
          </a:xfrm>
        </p:spPr>
        <p:txBody>
          <a:bodyPr anchor="ctr">
            <a:noAutofit/>
          </a:bodyPr>
          <a:lstStyle>
            <a:lvl1pPr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2206171"/>
            <a:ext cx="5689600" cy="769258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5DDA6DB-D01E-2CEE-1963-F3DB3C66A7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368300"/>
            <a:ext cx="5689600" cy="529272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192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bbon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DA94A2-F44C-8B13-3FC5-172C4EBF06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6EE734-F787-93F0-3EA8-5996B472B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59315" y="368299"/>
            <a:ext cx="8473371" cy="1692729"/>
          </a:xfrm>
        </p:spPr>
        <p:txBody>
          <a:bodyPr anchor="ctr">
            <a:noAutofit/>
          </a:bodyPr>
          <a:lstStyle>
            <a:lvl1pPr algn="ctr">
              <a:lnSpc>
                <a:spcPct val="85000"/>
              </a:lnSpc>
              <a:defRPr sz="60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85729C-F3B2-1146-B619-CC459D8939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9314" y="2206171"/>
            <a:ext cx="8473371" cy="769258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ru-RU" sz="24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67169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64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96F5596-25AD-99F0-4E6C-68DAF4BBC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6E6EF3-7792-4B89-9761-3D2A8B81B6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5"/>
            <a:ext cx="5689599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48018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96F5596-25AD-99F0-4E6C-68DAF4BBC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6E6EF3-7792-4B89-9761-3D2A8B81B6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5"/>
            <a:ext cx="5689599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Подзаголовок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06CDB7C-C410-E0F0-2F25-D94D0417A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6965" y="1161505"/>
            <a:ext cx="5689598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54944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96F5596-25AD-99F0-4E6C-68DAF4BBC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5689599" cy="950838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6E6EF3-7792-4B89-9761-3D2A8B81B6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6536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D1FFB20-EE4F-FFBB-D8B5-765BC82B2E2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368300"/>
            <a:ext cx="5689600" cy="6121400"/>
          </a:xfrm>
          <a:prstGeom prst="roundRect">
            <a:avLst>
              <a:gd name="adj" fmla="val 5819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7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78017-B1C0-99C1-3C9A-11E7FAB838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F863BF-E1B5-3DB6-AA0F-7843F4DB63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50120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70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5" pos="5019" userDrawn="1">
          <p15:clr>
            <a:srgbClr val="FBAE40"/>
          </p15:clr>
        </p15:guide>
        <p15:guide id="6" pos="511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6E56D8-CF76-A217-CCB2-728784BB6F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0EC55D2-0BAE-F823-CD92-627AD81068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03048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D0B8C69-32B5-A150-B477-4CE62E8C4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1E8949-72F2-2D89-07F9-CEC81826D8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40553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1595" userDrawn="1">
          <p15:clr>
            <a:srgbClr val="FBAE40"/>
          </p15:clr>
        </p15:guide>
        <p15:guide id="3" pos="3160" userDrawn="1">
          <p15:clr>
            <a:srgbClr val="FBAE40"/>
          </p15:clr>
        </p15:guide>
        <p15:guide id="4" pos="1685" userDrawn="1">
          <p15:clr>
            <a:srgbClr val="FBAE40"/>
          </p15:clr>
        </p15:guide>
        <p15:guide id="5" pos="5995" userDrawn="1">
          <p15:clr>
            <a:srgbClr val="FBAE40"/>
          </p15:clr>
        </p15:guide>
        <p15:guide id="6" pos="6085" userDrawn="1">
          <p15:clr>
            <a:srgbClr val="FBAE40"/>
          </p15:clr>
        </p15:guide>
        <p15:guide id="7" pos="4611" userDrawn="1">
          <p15:clr>
            <a:srgbClr val="FBAE40"/>
          </p15:clr>
        </p15:guide>
        <p15:guide id="8" pos="452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A5B6B-1CBA-E224-D66C-E055441235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7440" y="1544320"/>
            <a:ext cx="5689599" cy="4116705"/>
          </a:xfrm>
          <a:prstGeom prst="roundRect">
            <a:avLst>
              <a:gd name="adj" fmla="val 6921"/>
            </a:avLst>
          </a:prstGeom>
          <a:solidFill>
            <a:schemeClr val="accent5"/>
          </a:solidFill>
        </p:spPr>
        <p:txBody>
          <a:bodyPr vert="horz" lIns="144000" tIns="144000" rIns="144000" bIns="144000" rtlCol="0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225EE6A-17C4-8D09-6671-158C568F4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4" y="1544320"/>
            <a:ext cx="5689599" cy="4116705"/>
          </a:xfrm>
          <a:prstGeom prst="roundRect">
            <a:avLst>
              <a:gd name="adj" fmla="val 6921"/>
            </a:avLst>
          </a:prstGeom>
          <a:solidFill>
            <a:schemeClr val="accent5"/>
          </a:solidFill>
        </p:spPr>
        <p:txBody>
          <a:bodyPr vert="horz" lIns="144000" tIns="144000" rIns="144000" bIns="144000" rtlCol="0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7196B6C-9BEE-4492-498F-B0376D1FB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4" y="368301"/>
            <a:ext cx="5689599" cy="1027683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808038" indent="0">
              <a:defRPr lang="ru-RU" sz="16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Небольшой заголовок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0ECE7B6-CC65-947A-8D32-99161657CB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5783" y="574961"/>
            <a:ext cx="614362" cy="614362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3130498-C209-C622-70CC-155E45E52A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7439" y="368301"/>
            <a:ext cx="5689599" cy="1027683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808038" indent="0">
              <a:defRPr lang="ru-RU" sz="16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Небольшой заголовок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C31CB17-32DA-C4AF-8BDF-CA4019E9DAA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78258" y="574961"/>
            <a:ext cx="614362" cy="614362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598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List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7196B6C-9BEE-4492-498F-B0376D1FBE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1074420"/>
            <a:ext cx="5689600" cy="792000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536575" indent="0">
              <a:defRPr lang="ru-RU" sz="12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Текст / Пункт списка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0ECE7B6-CC65-947A-8D32-99161657CB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1775" y="1217675"/>
            <a:ext cx="505490" cy="50549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FA51A-6FF6-6DAF-80C4-EF7A3C6DA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8"/>
            <a:ext cx="5689599" cy="479940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Короткий заголовок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9454491-5CC8-248B-F211-FC1AF2746F9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7438" y="368300"/>
            <a:ext cx="5689600" cy="6121400"/>
          </a:xfrm>
          <a:prstGeom prst="roundRect">
            <a:avLst>
              <a:gd name="adj" fmla="val 5819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D47AAC8-C234-BC34-3E80-CA8904572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2023071"/>
            <a:ext cx="5689600" cy="792000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536575" indent="0">
              <a:defRPr lang="ru-RU" sz="12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Текст / Пункт списка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89CC7949-791D-9DB2-3E5F-27595CCD23A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1775" y="2166326"/>
            <a:ext cx="505490" cy="50549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3F0A60B-B730-38F9-35B6-5E10164093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963" y="2971722"/>
            <a:ext cx="5689600" cy="792000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536575" indent="0">
              <a:defRPr lang="ru-RU" sz="12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Текст / Пункт списка</a:t>
            </a:r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E8D31950-94A7-868B-3875-65D64CF54AF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775" y="3114977"/>
            <a:ext cx="505490" cy="50549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1DF351C-E223-098F-AF3E-63923FEA32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4963" y="3920373"/>
            <a:ext cx="5689600" cy="792000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536575" indent="0">
              <a:defRPr lang="ru-RU" sz="12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Текст / Пункт списка</a:t>
            </a:r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B337ABB3-BFCC-7382-D342-F123E7DF1D4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71775" y="4063628"/>
            <a:ext cx="505490" cy="50549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72B5BC5-F73C-DD77-C5AE-CD1CEA375D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963" y="4869025"/>
            <a:ext cx="5689600" cy="792000"/>
          </a:xfrm>
          <a:prstGeom prst="roundRect">
            <a:avLst>
              <a:gd name="adj" fmla="val 26273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536575" indent="0">
              <a:defRPr lang="ru-RU" sz="1200" dirty="0"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pPr lvl="0"/>
            <a:r>
              <a:rPr lang="ru-RU" dirty="0"/>
              <a:t>Текст / Пункт списка</a:t>
            </a:r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D1C7D6B9-D938-30CD-482B-C8609A9A33F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1775" y="5012280"/>
            <a:ext cx="505490" cy="50549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85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78017-B1C0-99C1-3C9A-11E7FAB838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F863BF-E1B5-3DB6-AA0F-7843F4DB63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74F4AD-5E21-E05E-44C9-D5783DD7FA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chemeClr val="accent5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2F4350-53FF-699D-9691-3A8AAF0C64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2751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chemeClr val="accent5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65084D-E6C5-2F10-5B2A-F61927D5CC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2126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chemeClr val="accent5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</p:spTree>
    <p:extLst>
      <p:ext uri="{BB962C8B-B14F-4D97-AF65-F5344CB8AC3E}">
        <p14:creationId xmlns:p14="http://schemas.microsoft.com/office/powerpoint/2010/main" val="1843008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70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5" pos="5019" userDrawn="1">
          <p15:clr>
            <a:srgbClr val="FBAE40"/>
          </p15:clr>
        </p15:guide>
        <p15:guide id="6" pos="511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78017-B1C0-99C1-3C9A-11E7FAB838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F863BF-E1B5-3DB6-AA0F-7843F4DB63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74F4AD-5E21-E05E-44C9-D5783DD7FA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chemeClr val="accent4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2F4350-53FF-699D-9691-3A8AAF0C64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2751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chemeClr val="accent4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65084D-E6C5-2F10-5B2A-F61927D5CC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2126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chemeClr val="accent4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</p:spTree>
    <p:extLst>
      <p:ext uri="{BB962C8B-B14F-4D97-AF65-F5344CB8AC3E}">
        <p14:creationId xmlns:p14="http://schemas.microsoft.com/office/powerpoint/2010/main" val="3004505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70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5" pos="5019" userDrawn="1">
          <p15:clr>
            <a:srgbClr val="FBAE40"/>
          </p15:clr>
        </p15:guide>
        <p15:guide id="6" pos="511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B7D81197-E6E3-8328-6CAE-54156FA03D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737DDCA-4AD5-79A1-EAE0-377EE2616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BDC95866-F236-DD7F-BC41-37C1253E0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63FB4063-AB67-FE74-5E3D-7070AD799F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168CD33-4595-58E0-DF3F-0BBA2CD2F5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3EBF78C-476B-2870-6187-96090B57E4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716DDEA-EB29-E094-4628-4D5B21474B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CBECC71-F36A-F872-072C-8E82513FC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9E97D40F-03F4-8127-45B9-88783A9FFD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288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7A3B3330-4CB5-BF13-64EC-A3D5182792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8525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E392A34B-0CDB-06B5-05AC-55733EBA8D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4762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8CBD49A3-8523-F62A-19D5-BC004ED4C2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999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111A657B-16F9-AA69-CCC5-F8F64460C4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85FCDDBE-4B76-7422-8BF6-673A28D1E3D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EE425DC2-E6B8-FA40-9E17-4CAB275FAB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A229B85A-2DC8-C171-A8E4-D45E9A1355E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904934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5899355-D276-E4AC-8680-B3B5C110EE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43EB825F-0DDC-30E9-9687-5C61DC99A9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08CA4F1-C43C-FCE1-17D2-041A685998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E11A3A8-CEFF-804A-630B-4202F6A20A8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25C0699D-D281-7C50-33C5-25C5A4F03E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E8B4B3F9-8187-D82A-A770-C26F706944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FA3E916-6FA9-6004-437E-187186D48C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A04309F2-AE20-88D5-21D1-28228F6BC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60ADB81-9475-3ED7-96C1-C022934CF2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288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DF5E567E-BBBB-1DA5-5119-58FA5A4CF6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8525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4CDBC47-ED4E-1802-CA78-EFBA60AE72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4762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0070287C-5A2B-7451-A3ED-2C13045ADE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999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E72CCFAE-BC1A-79C5-A80D-C4A404338F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8BC1C1D-7370-D2E5-DF3E-FA9064366B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121875EE-4328-6E64-A56E-0CF7F32F7B8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E0027A0C-CDE2-21C5-99A7-86CB10E0991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356779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35883B1-D903-134B-B4BD-30F22FDE61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F6253B8-ACD7-445C-6C84-BD96C091A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9818655-1797-60FF-0F07-36FA45405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C96D51-446D-DE14-0032-49906289A4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16D3688D-D88F-222F-28FC-F21CE2C1A9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2288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B7FDEE93-16D2-FAD9-58CD-BE3656863E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38525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46F9F311-5758-DE40-0F62-7EBA79BCDB6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54762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57865A49-F548-CBC6-E9F4-DDDA6499904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70999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EA112CB0-5EC3-3EF7-F95B-02E49493FF2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2288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23E94E26-853C-1642-474A-DE9BB52EC5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38525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7115AF71-0AA8-A9E8-03E3-3079A20FEBC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54762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2169CAF7-F3AC-C87A-2219-83F24BBAF0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270999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944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35883B1-D903-134B-B4BD-30F22FDE61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F6253B8-ACD7-445C-6C84-BD96C091A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9818655-1797-60FF-0F07-36FA45405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C96D51-446D-DE14-0032-49906289A4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16D3688D-D88F-222F-28FC-F21CE2C1A9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2288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B7FDEE93-16D2-FAD9-58CD-BE3656863E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38525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46F9F311-5758-DE40-0F62-7EBA79BCDB6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54762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57865A49-F548-CBC6-E9F4-DDDA6499904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70999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EA112CB0-5EC3-3EF7-F95B-02E49493FF2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2288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23E94E26-853C-1642-474A-DE9BB52EC5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38525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7115AF71-0AA8-A9E8-03E3-3079A20FEBC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54762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2169CAF7-F3AC-C87A-2219-83F24BBAF0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270999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31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DC60B02-45BE-1118-539A-D0D668CED8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D7570CD-0EB2-53E9-23D7-07041D6775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2270953-3BD1-0603-9277-F0617DB59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D7F94A3-888B-0DB4-671D-358849ED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8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ED29820-56DD-2322-6F94-4DD5322CC8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3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5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9BC7759-1D69-9C53-103B-51CE310443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51200" y="368300"/>
            <a:ext cx="2773363" cy="5292725"/>
          </a:xfrm>
          <a:prstGeom prst="roundRect">
            <a:avLst>
              <a:gd name="adj" fmla="val 5677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AA73782B-5E28-7561-6081-385FF055ED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2288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6F7DFE6F-D225-07D4-88C3-2FA6C4B689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4762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DBFB7D4-7B4F-2301-9162-61DD44945E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999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839F508-8219-9E2B-EFE3-EB502636A6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D75F735-6A65-F326-CD93-E47BDE4467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82DACC26-A854-9AFD-F411-92ACD31C9B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849700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  <p15:guide id="7" orient="horz" pos="1842" userDrawn="1">
          <p15:clr>
            <a:srgbClr val="FBAE40"/>
          </p15:clr>
        </p15:guide>
        <p15:guide id="8" orient="horz" pos="1933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+ Im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DC60B02-45BE-1118-539A-D0D668CED8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D7570CD-0EB2-53E9-23D7-07041D6775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2270953-3BD1-0603-9277-F0617DB59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D7F94A3-888B-0DB4-671D-358849ED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8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ED29820-56DD-2322-6F94-4DD5322CC8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3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chemeClr val="accent4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9BC7759-1D69-9C53-103B-51CE310443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51200" y="368300"/>
            <a:ext cx="2773363" cy="5292725"/>
          </a:xfrm>
          <a:prstGeom prst="roundRect">
            <a:avLst>
              <a:gd name="adj" fmla="val 5677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5AE84CF3-CCCF-541E-10D6-C005EC1614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2288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F022F86-E905-F27B-ADF6-013B7B8D1D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4762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642EF13E-6361-2CF3-616E-7A2A1F180DA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999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E07A7F46-F351-7DC4-8FAB-219DF28DC08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DC6F414-90B0-A91A-2F2A-E0E5FF06E5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7675F31-20A8-2CD4-EB4A-90A509CF84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168335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  <p15:guide id="7" orient="horz" pos="1842" userDrawn="1">
          <p15:clr>
            <a:srgbClr val="FBAE40"/>
          </p15:clr>
        </p15:guide>
        <p15:guide id="8" orient="horz" pos="1933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DDDFC68-688F-98DC-504A-C1DFCAB9B0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3B0A043-D8AF-5D0E-273B-BFCFD6F12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96540F7-EB2C-672B-6DEB-33FCDA6A0B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C7490D9C-1293-3347-0BEB-838F094B81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451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0BDAED07-51D4-D798-132E-68D11F6A19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28695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81024463-0A41-0AEE-D8A6-1E9CE07AB1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9938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85CDFAB-719F-680F-8669-A31FF89B32C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3EFB1DE8-B335-E2CB-DA5B-6CA016B3B3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35156A41-030D-BA5A-52CF-58A7411D00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451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50C3DC9C-6A2E-AC40-D2A9-17CCF7DB70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8695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C089A4F-017F-7EAC-6554-3486F1DCCD2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9938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5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5462AAF9-B990-F1F1-D2AD-204E4DCADD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A7577441-2657-0D00-D492-D1C2535958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7343EFFA-DFE4-E271-B9DB-B87822EEE6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C7CE0FD7-FE40-7426-5AB9-55EAB1D23A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E2F5260A-85D8-32FC-C381-911BF2220B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4776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3" name="Text Placeholder 12">
            <a:extLst>
              <a:ext uri="{FF2B5EF4-FFF2-40B4-BE49-F238E27FC236}">
                <a16:creationId xmlns:a16="http://schemas.microsoft.com/office/drawing/2014/main" id="{D83BECC3-064E-C143-7C4B-D1C063BD686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4776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2A31298D-EBF0-4ED8-C599-EC695648E3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1601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D4FF717A-32CD-BBF3-6E27-7EE2588AE74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1601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A546BC7C-10B0-031A-673B-BF1E2150099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47264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29F0F5A8-A14C-6CB8-AB84-E5C15F503D2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47264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66258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1595" userDrawn="1">
          <p15:clr>
            <a:srgbClr val="FBAE40"/>
          </p15:clr>
        </p15:guide>
        <p15:guide id="3" pos="3160" userDrawn="1">
          <p15:clr>
            <a:srgbClr val="FBAE40"/>
          </p15:clr>
        </p15:guide>
        <p15:guide id="4" pos="1685" userDrawn="1">
          <p15:clr>
            <a:srgbClr val="FBAE40"/>
          </p15:clr>
        </p15:guide>
        <p15:guide id="5" pos="5995" userDrawn="1">
          <p15:clr>
            <a:srgbClr val="FBAE40"/>
          </p15:clr>
        </p15:guide>
        <p15:guide id="6" pos="6085" userDrawn="1">
          <p15:clr>
            <a:srgbClr val="FBAE40"/>
          </p15:clr>
        </p15:guide>
        <p15:guide id="7" pos="4611" userDrawn="1">
          <p15:clr>
            <a:srgbClr val="FBAE40"/>
          </p15:clr>
        </p15:guide>
        <p15:guide id="8" pos="452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DDDFC68-688F-98DC-504A-C1DFCAB9B0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9ECF0DE1-0402-4245-16F0-1F8625A9A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B89E0F4-78EE-1796-9605-CF19A4EE37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CB9A3CE-A7A2-5792-B433-7F3A23F42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451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3610E4A4-DB6A-FDD1-8F16-3384DB96BE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28695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F901BED7-C1A7-DA69-B401-7E2A907467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9938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412F73E7-421B-6EE7-B3B1-9038BCC55B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F380C90-52E3-3ADD-5C3C-AC18C2B26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304BFAF-FB73-F76A-0C9B-0147961841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451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B72B023-8010-7F61-05A4-44C2F6885D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8695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9321269-A6DE-2CE9-309A-155FF78271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9938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chemeClr val="accent4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7BF30013-465A-4513-1E25-2CBD6196C1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CD9E8805-2B3D-8425-442F-7581490D70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61679C39-06AC-DF65-2913-3EA62910FE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6459C7D6-2B2E-2067-F487-1A9C1439B3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F0C95BAF-B433-38E7-3353-056FD3D1C1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4776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77F87F17-4096-48D4-A260-2DFDAB05E05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4776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7BD1BED-CC87-FF07-9B52-4697A5736BC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1601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7DA5FD52-85CF-20C6-B21C-11ED4E3D444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1601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0CED0142-3B38-7563-13B5-9329887166E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47264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3473157E-B101-F456-AD0C-9862865CFF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47264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4459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1595" userDrawn="1">
          <p15:clr>
            <a:srgbClr val="FBAE40"/>
          </p15:clr>
        </p15:guide>
        <p15:guide id="3" pos="3160" userDrawn="1">
          <p15:clr>
            <a:srgbClr val="FBAE40"/>
          </p15:clr>
        </p15:guide>
        <p15:guide id="4" pos="1685" userDrawn="1">
          <p15:clr>
            <a:srgbClr val="FBAE40"/>
          </p15:clr>
        </p15:guide>
        <p15:guide id="5" pos="5995" userDrawn="1">
          <p15:clr>
            <a:srgbClr val="FBAE40"/>
          </p15:clr>
        </p15:guide>
        <p15:guide id="6" pos="6085" userDrawn="1">
          <p15:clr>
            <a:srgbClr val="FBAE40"/>
          </p15:clr>
        </p15:guide>
        <p15:guide id="7" pos="4611" userDrawn="1">
          <p15:clr>
            <a:srgbClr val="FBAE40"/>
          </p15:clr>
        </p15:guide>
        <p15:guide id="8" pos="452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96F5596-25AD-99F0-4E6C-68DAF4BBC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6E6EF3-7792-4B89-9761-3D2A8B81B6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5"/>
            <a:ext cx="5689599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990695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78017-B1C0-99C1-3C9A-11E7FAB838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F863BF-E1B5-3DB6-AA0F-7843F4DB63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74F4AD-5E21-E05E-44C9-D5783DD7FA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2F4350-53FF-699D-9691-3A8AAF0C64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2751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65084D-E6C5-2F10-5B2A-F61927D5CC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2126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</p:spTree>
    <p:extLst>
      <p:ext uri="{BB962C8B-B14F-4D97-AF65-F5344CB8AC3E}">
        <p14:creationId xmlns:p14="http://schemas.microsoft.com/office/powerpoint/2010/main" val="74626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70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5" pos="5019" userDrawn="1">
          <p15:clr>
            <a:srgbClr val="FBAE40"/>
          </p15:clr>
        </p15:guide>
        <p15:guide id="6" pos="511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31D7BA3-C63A-4D3A-A18A-92144B2DD3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094E61-1D9A-9CB5-1E10-DA789026F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C4D4C7E-B30A-3DD7-28DA-64C347E324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FCCF0A1-4F2D-3EAF-A1BD-5E2FC8F157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E894ECD6-A9BD-1DC0-72CD-9473212FD5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288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EDE0EA09-2952-F4AF-298C-DD65E38DDB7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8525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4D47585-A54E-3288-C445-63094CD10A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4762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E700A541-6497-E94B-8B15-2A438B5618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999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24AA456D-1079-B5F7-9773-B4FD3BA120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56583EFC-8702-0356-EE74-F39032C9F0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22ECF549-6409-5155-15FA-892E91732D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09504637-791F-341E-8DB3-CDE7A550FE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1907426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35883B1-D903-134B-B4BD-30F22FDE61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F6253B8-ACD7-445C-6C84-BD96C091A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9818655-1797-60FF-0F07-36FA45405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C96D51-446D-DE14-0032-49906289A4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16D3688D-D88F-222F-28FC-F21CE2C1A9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2288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B7FDEE93-16D2-FAD9-58CD-BE3656863E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38525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46F9F311-5758-DE40-0F62-7EBA79BCDB6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54762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57865A49-F548-CBC6-E9F4-DDDA6499904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70999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EA112CB0-5EC3-3EF7-F95B-02E49493FF2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2288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23E94E26-853C-1642-474A-DE9BB52EC5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38525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7115AF71-0AA8-A9E8-03E3-3079A20FEBC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54762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2169CAF7-F3AC-C87A-2219-83F24BBAF0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270999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262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DC60B02-45BE-1118-539A-D0D668CED8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D7570CD-0EB2-53E9-23D7-07041D6775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2270953-3BD1-0603-9277-F0617DB59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D7F94A3-888B-0DB4-671D-358849ED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8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ED29820-56DD-2322-6F94-4DD5322CC8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3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9BC7759-1D69-9C53-103B-51CE310443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51200" y="368300"/>
            <a:ext cx="2773363" cy="5292725"/>
          </a:xfrm>
          <a:prstGeom prst="roundRect">
            <a:avLst>
              <a:gd name="adj" fmla="val 5677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580B9BB9-D4F1-CE1E-645D-9B74DBE3F8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2288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DC04307-31E4-1B1D-84BE-BA6229DAE0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4762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1DAB03A2-98C4-F789-C3FD-2836EE759F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999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C98F122-8346-F35A-0654-888D95B2B91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55B350F-57AD-3C67-F89B-34EED468010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F0BB81F-0D00-CF3E-5D28-572BB9AEC4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32827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  <p15:guide id="7" orient="horz" pos="1842" userDrawn="1">
          <p15:clr>
            <a:srgbClr val="FBAE40"/>
          </p15:clr>
        </p15:guide>
        <p15:guide id="8" orient="horz" pos="1933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DDDFC68-688F-98DC-504A-C1DFCAB9B0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E95C286-47DD-DC28-7CD4-9D9F729F86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451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F0361F-45EF-BA19-3CCD-28D435965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28695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43E5C0-8495-2423-B07D-09D3708390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9938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F104192-3E5C-855B-DCF9-EA4858760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451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F716A7-039E-F0A8-4141-1B67DFE1FF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8695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CA561B2-F7BA-A028-45C7-6193BB210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9938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6B52A3A4-2CB7-8CEE-4272-D6A2A49E93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24EEA4D-B329-4572-E3B8-702FEE4B80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4CCBDF7-C93C-E508-14FD-CB10706C1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B55CF67-7CC4-5BDB-63CF-47EF4E3AE1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673FE15-6AD4-DA90-5E3C-30BF07EF198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4776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E038B299-5084-4DB1-F625-CA29360B8D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4776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32F69C4A-EBFF-F51F-2B0A-E1402468C9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1601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60F43B4-4F25-4BAA-9546-BA17F4D76A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1601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C03BBD81-BE0A-3BC8-560E-6CECDD8E95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47264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F18925B-C2CB-BAD7-6618-ECD2F20D7BF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47264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877922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1595" userDrawn="1">
          <p15:clr>
            <a:srgbClr val="FBAE40"/>
          </p15:clr>
        </p15:guide>
        <p15:guide id="3" pos="3160" userDrawn="1">
          <p15:clr>
            <a:srgbClr val="FBAE40"/>
          </p15:clr>
        </p15:guide>
        <p15:guide id="4" pos="1685" userDrawn="1">
          <p15:clr>
            <a:srgbClr val="FBAE40"/>
          </p15:clr>
        </p15:guide>
        <p15:guide id="5" pos="5995" userDrawn="1">
          <p15:clr>
            <a:srgbClr val="FBAE40"/>
          </p15:clr>
        </p15:guide>
        <p15:guide id="6" pos="6085" userDrawn="1">
          <p15:clr>
            <a:srgbClr val="FBAE40"/>
          </p15:clr>
        </p15:guide>
        <p15:guide id="7" pos="4611" userDrawn="1">
          <p15:clr>
            <a:srgbClr val="FBAE40"/>
          </p15:clr>
        </p15:guide>
        <p15:guide id="8" pos="452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FE6AB184-9780-970D-64F9-446774F6563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05444" y="436118"/>
            <a:ext cx="1531236" cy="1531236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200"/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38104AA-88A6-6E62-D4DE-F363E51900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4534218"/>
            <a:ext cx="1955482" cy="195548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574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96F5596-25AD-99F0-4E6C-68DAF4BBC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6E6EF3-7792-4B89-9761-3D2A8B81B6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5"/>
            <a:ext cx="5689599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30100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78017-B1C0-99C1-3C9A-11E7FAB838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F863BF-E1B5-3DB6-AA0F-7843F4DB63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74F4AD-5E21-E05E-44C9-D5783DD7FA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2F4350-53FF-699D-9691-3A8AAF0C64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2751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65084D-E6C5-2F10-5B2A-F61927D5CC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2126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</p:spTree>
    <p:extLst>
      <p:ext uri="{BB962C8B-B14F-4D97-AF65-F5344CB8AC3E}">
        <p14:creationId xmlns:p14="http://schemas.microsoft.com/office/powerpoint/2010/main" val="2986131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70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5" pos="5019" userDrawn="1">
          <p15:clr>
            <a:srgbClr val="FBAE40"/>
          </p15:clr>
        </p15:guide>
        <p15:guide id="6" pos="511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31D7BA3-C63A-4D3A-A18A-92144B2DD3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094E61-1D9A-9CB5-1E10-DA789026F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C4D4C7E-B30A-3DD7-28DA-64C347E324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FCCF0A1-4F2D-3EAF-A1BD-5E2FC8F157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423006F-2C78-9E7C-83BD-B505D5CC19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288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575A8CF-A861-031A-9DA0-77BC1A85ED6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8525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07AA0C4-BF8F-4A3F-6DBA-0B1D390F7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4762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77A8042-ADEF-5C59-7285-0FBC30263E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999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8C0E1DF-0D50-4806-0D99-7055145FA17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1ADF5550-C97E-BEF7-BC48-404ED247F51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ED485EC6-6CCE-BA9F-FD68-7F31DFD23A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6AACC45-E3A9-298F-4D44-FA76CCCA4C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80440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35883B1-D903-134B-B4BD-30F22FDE61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F6253B8-ACD7-445C-6C84-BD96C091A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9818655-1797-60FF-0F07-36FA45405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C96D51-446D-DE14-0032-49906289A4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16D3688D-D88F-222F-28FC-F21CE2C1A9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2288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B7FDEE93-16D2-FAD9-58CD-BE3656863E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38525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46F9F311-5758-DE40-0F62-7EBA79BCDB6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54762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57865A49-F548-CBC6-E9F4-DDDA6499904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70999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EA112CB0-5EC3-3EF7-F95B-02E49493FF2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2288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23E94E26-853C-1642-474A-DE9BB52EC5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38525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7115AF71-0AA8-A9E8-03E3-3079A20FEBC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54762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2169CAF7-F3AC-C87A-2219-83F24BBAF0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270999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rgbClr val="FFFFFF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967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DC60B02-45BE-1118-539A-D0D668CED8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D7570CD-0EB2-53E9-23D7-07041D6775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2270953-3BD1-0603-9277-F0617DB59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D7F94A3-888B-0DB4-671D-358849ED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8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ED29820-56DD-2322-6F94-4DD5322CC8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3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2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9BC7759-1D69-9C53-103B-51CE310443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51200" y="368300"/>
            <a:ext cx="2773363" cy="5292725"/>
          </a:xfrm>
          <a:prstGeom prst="roundRect">
            <a:avLst>
              <a:gd name="adj" fmla="val 5677"/>
            </a:avLst>
          </a:prstGeom>
          <a:noFill/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9E9A5A36-8C36-8EA0-57A7-7682B6AC436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2288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8E35B4-0DB1-E719-DDB1-55DA8CB6E1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4762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066C51D-A5DD-3937-ACD0-D27A300181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999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CEC63843-A550-9A1C-DE4F-A216DBCC3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D32329B-C271-5BF5-7188-FED5356C8A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1453686-D68B-BB7B-EA82-29381DA3F48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557747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  <p15:guide id="7" orient="horz" pos="1842" userDrawn="1">
          <p15:clr>
            <a:srgbClr val="FBAE40"/>
          </p15:clr>
        </p15:guide>
        <p15:guide id="8" orient="horz" pos="1933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DDDFC68-688F-98DC-504A-C1DFCAB9B0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E95C286-47DD-DC28-7CD4-9D9F729F86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451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F0361F-45EF-BA19-3CCD-28D435965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28695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43E5C0-8495-2423-B07D-09D3708390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9938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F104192-3E5C-855B-DCF9-EA4858760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451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F716A7-039E-F0A8-4141-1B67DFE1FF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8695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CA561B2-F7BA-A028-45C7-6193BB210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9938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5282A93-36D5-2DCA-DB33-129C67C137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DD1050B1-57DA-3479-6238-AB4015A2C6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3931D4B-B5E7-57E3-FD48-A9311F9FCF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9633F75-33EB-07AC-1A2A-7DE844F02F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9650B4B-77E0-A224-AD8C-A15FF66869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4776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0FF1EAF-D71B-28A7-002C-5C100CA26BB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4776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4A3AC86-3061-809E-9570-08037CFDAB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1601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F9C3858-8912-3925-3818-11B465DA0A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1601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5AD5B9F-77D4-B0BB-1E54-830A5D58366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47264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FD89BC42-CA36-6787-AD53-9D8606B18E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47264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737597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1595" userDrawn="1">
          <p15:clr>
            <a:srgbClr val="FBAE40"/>
          </p15:clr>
        </p15:guide>
        <p15:guide id="3" pos="3160" userDrawn="1">
          <p15:clr>
            <a:srgbClr val="FBAE40"/>
          </p15:clr>
        </p15:guide>
        <p15:guide id="4" pos="1685" userDrawn="1">
          <p15:clr>
            <a:srgbClr val="FBAE40"/>
          </p15:clr>
        </p15:guide>
        <p15:guide id="5" pos="5995" userDrawn="1">
          <p15:clr>
            <a:srgbClr val="FBAE40"/>
          </p15:clr>
        </p15:guide>
        <p15:guide id="6" pos="6085" userDrawn="1">
          <p15:clr>
            <a:srgbClr val="FBAE40"/>
          </p15:clr>
        </p15:guide>
        <p15:guide id="7" pos="4611" userDrawn="1">
          <p15:clr>
            <a:srgbClr val="FBAE40"/>
          </p15:clr>
        </p15:guide>
        <p15:guide id="8" pos="452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FE6AB184-9780-970D-64F9-446774F6563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05444" y="436118"/>
            <a:ext cx="1531236" cy="1531236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2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38104AA-88A6-6E62-D4DE-F363E51900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4534218"/>
            <a:ext cx="1955482" cy="19554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98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1958">
          <p15:clr>
            <a:srgbClr val="FBAE40"/>
          </p15:clr>
        </p15:guide>
        <p15:guide id="3" pos="3885">
          <p15:clr>
            <a:srgbClr val="FBAE40"/>
          </p15:clr>
        </p15:guide>
        <p15:guide id="4" pos="2048">
          <p15:clr>
            <a:srgbClr val="FBAE40"/>
          </p15:clr>
        </p15:guide>
        <p15:guide id="5" pos="5632">
          <p15:clr>
            <a:srgbClr val="FBAE40"/>
          </p15:clr>
        </p15:guide>
        <p15:guide id="6" pos="572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96F5596-25AD-99F0-4E6C-68DAF4BBC4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7632701" cy="531587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заголовок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6E6EF3-7792-4B89-9761-3D2A8B81B6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161505"/>
            <a:ext cx="5689599" cy="4499519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477318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78017-B1C0-99C1-3C9A-11E7FAB838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F863BF-E1B5-3DB6-AA0F-7843F4DB63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374F4AD-5E21-E05E-44C9-D5783DD7FA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2F4350-53FF-699D-9691-3A8AAF0C64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22751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65084D-E6C5-2F10-5B2A-F61927D5CC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2126" y="2004151"/>
            <a:ext cx="3744912" cy="3656874"/>
          </a:xfrm>
          <a:prstGeom prst="roundRect">
            <a:avLst>
              <a:gd name="adj" fmla="val 4381"/>
            </a:avLst>
          </a:prstGeom>
          <a:solidFill>
            <a:srgbClr val="FFFFFF"/>
          </a:solidFill>
        </p:spPr>
        <p:txBody>
          <a:bodyPr lIns="144000" tIns="144000" rIns="144000" bIns="14400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</p:spTree>
    <p:extLst>
      <p:ext uri="{BB962C8B-B14F-4D97-AF65-F5344CB8AC3E}">
        <p14:creationId xmlns:p14="http://schemas.microsoft.com/office/powerpoint/2010/main" val="493976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570" userDrawn="1">
          <p15:clr>
            <a:srgbClr val="FBAE40"/>
          </p15:clr>
        </p15:guide>
        <p15:guide id="4" pos="2661" userDrawn="1">
          <p15:clr>
            <a:srgbClr val="FBAE40"/>
          </p15:clr>
        </p15:guide>
        <p15:guide id="5" pos="5019" userDrawn="1">
          <p15:clr>
            <a:srgbClr val="FBAE40"/>
          </p15:clr>
        </p15:guide>
        <p15:guide id="6" pos="511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31D7BA3-C63A-4D3A-A18A-92144B2DD3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094E61-1D9A-9CB5-1E10-DA789026F9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C4D4C7E-B30A-3DD7-28DA-64C347E324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FCCF0A1-4F2D-3EAF-A1BD-5E2FC8F157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DE9DBEF0-F4BC-FF7C-B1A0-50A9EBD327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288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7A55A2-38A0-91A7-7A44-983A0DA947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38525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F17A590-23B2-1544-E69A-2DBC3F2222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4762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D211E5E-70C5-49BA-F160-C00EE01A6A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70999" y="2207260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EBCCA12-9B5F-C3F6-39BD-7B228C9480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04E939C-6809-D863-B07A-9D9F5190750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BB5436B9-2728-765B-001D-83CD388F89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2C4BA89E-8067-6BBD-40DB-EC5E844D2D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3007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C3773-55D3-F2D1-1779-9C54CB48E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156137A-2893-75B0-C2D9-3C6DC5746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BDA3940-9295-78AC-231C-C81677A242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EA1E444-879C-AF65-C750-3F9BBCA396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1201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AFBDB-DD1B-7AC5-3E45-E1407DC493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7438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2004151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35883B1-D903-134B-B4BD-30F22FDE61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F6253B8-ACD7-445C-6C84-BD96C091A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9818655-1797-60FF-0F07-36FA45405D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6C96D51-446D-DE14-0032-49906289A4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lIns="144000" tIns="144000" rIns="144000" bIns="144000"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76213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44450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719138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987425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16D3688D-D88F-222F-28FC-F21CE2C1A9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2288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B7FDEE93-16D2-FAD9-58CD-BE3656863E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38525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46F9F311-5758-DE40-0F62-7EBA79BCDB6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54762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57865A49-F548-CBC6-E9F4-DDDA6499904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270999" y="2207260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EA112CB0-5EC3-3EF7-F95B-02E49493FF2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22288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23E94E26-853C-1642-474A-DE9BB52EC5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438525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7115AF71-0AA8-A9E8-03E3-3079A20FEBC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54762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2169CAF7-F3AC-C87A-2219-83F24BBAF0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270999" y="4107815"/>
            <a:ext cx="505460" cy="505460"/>
          </a:xfrm>
          <a:prstGeom prst="roundRect">
            <a:avLst>
              <a:gd name="adj" fmla="val 21938"/>
            </a:avLst>
          </a:prstGeo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0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A721F-30EC-0648-F983-E99D62BFC2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3675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DC60B02-45BE-1118-539A-D0D668CED8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7438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D7570CD-0EB2-53E9-23D7-07041D6775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36830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2270953-3BD1-0603-9277-F0617DB59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D7F94A3-888B-0DB4-671D-358849EDAD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67438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ED29820-56DD-2322-6F94-4DD5322CC85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3" y="3105150"/>
            <a:ext cx="2773362" cy="2555875"/>
          </a:xfrm>
          <a:prstGeom prst="roundRect">
            <a:avLst>
              <a:gd name="adj" fmla="val 6297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9BC7759-1D69-9C53-103B-51CE3104436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51200" y="368300"/>
            <a:ext cx="2773363" cy="5292725"/>
          </a:xfrm>
          <a:prstGeom prst="roundRect">
            <a:avLst>
              <a:gd name="adj" fmla="val 5677"/>
            </a:avLst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A47FB5B2-4AB8-836B-81A0-BBB5CD0F4C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2288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1A8D808-A45C-EC24-EDE3-23EED19DB9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4762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154B06F9-2B07-3492-0DE3-7AD08E7761D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70999" y="568960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577FE8A-3B42-90D4-0B3F-08CF6F6948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E9F5B02-DC54-1F61-EDE7-7D7068B8E7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6CF36C-E0EB-6A35-FADE-D5A47E35C2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3304541"/>
            <a:ext cx="2398713" cy="568325"/>
          </a:xfrm>
        </p:spPr>
        <p:txBody>
          <a:bodyPr>
            <a:noAutofit/>
          </a:bodyPr>
          <a:lstStyle>
            <a:lvl1pPr>
              <a:defRPr sz="2000" b="1"/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32076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  <p15:guide id="7" orient="horz" pos="1842" userDrawn="1">
          <p15:clr>
            <a:srgbClr val="FBAE40"/>
          </p15:clr>
        </p15:guide>
        <p15:guide id="8" orient="horz" pos="1933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DDDFC68-688F-98DC-504A-C1DFCAB9B0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125" y="368299"/>
            <a:ext cx="3744913" cy="941796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E95C286-47DD-DC28-7CD4-9D9F729F86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97451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F0361F-45EF-BA19-3CCD-28D435965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28695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43E5C0-8495-2423-B07D-09D3708390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9938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F104192-3E5C-855B-DCF9-EA4858760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7451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F716A7-039E-F0A8-4141-1B67DFE1FF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28695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CA561B2-F7BA-A028-45C7-6193BB210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9938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09B85D66-A350-8859-DCF4-1E90DFE11A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90F970F2-8583-D586-C998-1EC852A25D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54F454E9-21AB-B3AC-CB07-BFB1786602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B6E8752-77D0-02D6-032B-F5B063E0A88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1D56051-4B21-8CDF-A718-2B650C061B6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4776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C5F27BDB-F296-A9A6-0E3D-5923078A45D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4776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E319FAE-4DB5-54EF-4AA8-0489B77F0DD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1601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8F0CB25-843F-4279-36BA-E411E0E578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51601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BCD7C6B3-26D3-E01C-1334-2F96D32E50A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47264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A830D6AD-5BFF-9C70-A376-9849CB2F840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47264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19684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1595" userDrawn="1">
          <p15:clr>
            <a:srgbClr val="FBAE40"/>
          </p15:clr>
        </p15:guide>
        <p15:guide id="3" pos="3160" userDrawn="1">
          <p15:clr>
            <a:srgbClr val="FBAE40"/>
          </p15:clr>
        </p15:guide>
        <p15:guide id="4" pos="1685" userDrawn="1">
          <p15:clr>
            <a:srgbClr val="FBAE40"/>
          </p15:clr>
        </p15:guide>
        <p15:guide id="5" pos="5995" userDrawn="1">
          <p15:clr>
            <a:srgbClr val="FBAE40"/>
          </p15:clr>
        </p15:guide>
        <p15:guide id="6" pos="6085" userDrawn="1">
          <p15:clr>
            <a:srgbClr val="FBAE40"/>
          </p15:clr>
        </p15:guide>
        <p15:guide id="7" pos="4611" userDrawn="1">
          <p15:clr>
            <a:srgbClr val="FBAE40"/>
          </p15:clr>
        </p15:guide>
        <p15:guide id="8" pos="452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FE6AB184-9780-970D-64F9-446774F6563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05444" y="436118"/>
            <a:ext cx="1531236" cy="1531236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200"/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38104AA-88A6-6E62-D4DE-F363E51900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67438" y="4534218"/>
            <a:ext cx="1955482" cy="195548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38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1958">
          <p15:clr>
            <a:srgbClr val="FBAE40"/>
          </p15:clr>
        </p15:guide>
        <p15:guide id="3" pos="3885">
          <p15:clr>
            <a:srgbClr val="FBAE40"/>
          </p15:clr>
        </p15:guide>
        <p15:guide id="4" pos="2048">
          <p15:clr>
            <a:srgbClr val="FBAE40"/>
          </p15:clr>
        </p15:guide>
        <p15:guide id="5" pos="5632">
          <p15:clr>
            <a:srgbClr val="FBAE40"/>
          </p15:clr>
        </p15:guide>
        <p15:guide id="6" pos="572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5DB7B-D128-97AD-C1D4-EAD62267D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56B584-9DBD-2FCA-B8E4-C93364078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5689599" cy="950838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AD1E0E2-FADF-5C41-6241-08A96283C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6536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82958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1089F-9259-5E55-4CD6-9FE6534F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200"/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4018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9E53F-C82A-510C-A341-B2DEEA3D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B7A91963-3EC2-EF30-FE42-90B9D43FD2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7BAC708-8F72-5FD8-1B2C-042C903E07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A56CF0-D303-BF01-F8E8-456ED638399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3C12B8E-EF70-EA33-7FC7-0ECF726561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88581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1595">
          <p15:clr>
            <a:srgbClr val="FBAE40"/>
          </p15:clr>
        </p15:guide>
        <p15:guide id="3" pos="3160">
          <p15:clr>
            <a:srgbClr val="FBAE40"/>
          </p15:clr>
        </p15:guide>
        <p15:guide id="4" pos="1685">
          <p15:clr>
            <a:srgbClr val="FBAE40"/>
          </p15:clr>
        </p15:guide>
        <p15:guide id="5" pos="5995">
          <p15:clr>
            <a:srgbClr val="FBAE40"/>
          </p15:clr>
        </p15:guide>
        <p15:guide id="6" pos="6085">
          <p15:clr>
            <a:srgbClr val="FBAE40"/>
          </p15:clr>
        </p15:guide>
        <p15:guide id="7" pos="4611">
          <p15:clr>
            <a:srgbClr val="FBAE40"/>
          </p15:clr>
        </p15:guide>
        <p15:guide id="8" pos="452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5DB7B-D128-97AD-C1D4-EAD62267D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762391C-C780-779F-E63C-4AEF83C49B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F16B16D-16F0-73BE-B619-E2A825778D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7727A5F-7D8C-0C12-0650-82B4FEB713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CC4CFE5-C951-3D3C-9620-CB0F9B0644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34D12F5-7C00-F2F4-070E-A59933442D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EB555D-B14F-1F29-BA49-6C5708112E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269EDCC-46BA-183C-0DD7-F1704C54D7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1A9C655-8663-139D-469E-6B2B30DFD8F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982115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1958">
          <p15:clr>
            <a:srgbClr val="FBAE40"/>
          </p15:clr>
        </p15:guide>
        <p15:guide id="3" pos="3885">
          <p15:clr>
            <a:srgbClr val="FBAE40"/>
          </p15:clr>
        </p15:guide>
        <p15:guide id="4" pos="2048">
          <p15:clr>
            <a:srgbClr val="FBAE40"/>
          </p15:clr>
        </p15:guide>
        <p15:guide id="5" pos="5632">
          <p15:clr>
            <a:srgbClr val="FBAE40"/>
          </p15:clr>
        </p15:guide>
        <p15:guide id="6" pos="5722">
          <p15:clr>
            <a:srgbClr val="FBAE40"/>
          </p15:clr>
        </p15:guide>
        <p15:guide id="7" orient="horz" pos="1842">
          <p15:clr>
            <a:srgbClr val="FBAE40"/>
          </p15:clr>
        </p15:guide>
        <p15:guide id="8" orient="horz" pos="1933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5DB7B-D128-97AD-C1D4-EAD62267D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56B584-9DBD-2FCA-B8E4-C93364078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5689599" cy="950838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AD1E0E2-FADF-5C41-6241-08A96283C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6536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106395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1089F-9259-5E55-4CD6-9FE6534F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200"/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5332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49E53F-C82A-510C-A341-B2DEEA3D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A5B6623-8839-3FD3-BE1E-8776FCB4E01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E8908ECA-F373-7B93-F5ED-BD3C2F80B1D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2D4F84E-21AF-75A0-505C-C0020D736D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85AE240-B355-7E74-D0E6-CECC4E380C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237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1595">
          <p15:clr>
            <a:srgbClr val="FBAE40"/>
          </p15:clr>
        </p15:guide>
        <p15:guide id="3" pos="3160">
          <p15:clr>
            <a:srgbClr val="FBAE40"/>
          </p15:clr>
        </p15:guide>
        <p15:guide id="4" pos="1685">
          <p15:clr>
            <a:srgbClr val="FBAE40"/>
          </p15:clr>
        </p15:guide>
        <p15:guide id="5" pos="5995">
          <p15:clr>
            <a:srgbClr val="FBAE40"/>
          </p15:clr>
        </p15:guide>
        <p15:guide id="6" pos="6085">
          <p15:clr>
            <a:srgbClr val="FBAE40"/>
          </p15:clr>
        </p15:guide>
        <p15:guide id="7" pos="4611">
          <p15:clr>
            <a:srgbClr val="FBAE40"/>
          </p15:clr>
        </p15:guide>
        <p15:guide id="8" pos="45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5DB7B-D128-97AD-C1D4-EAD62267D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762391C-C780-779F-E63C-4AEF83C49B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F16B16D-16F0-73BE-B619-E2A825778D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7727A5F-7D8C-0C12-0650-82B4FEB713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CC4CFE5-C951-3D3C-9620-CB0F9B0644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17C6D3D4-3D04-B7D7-40B0-011D01031B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E0E224D-9867-CBC0-BB3C-6E692333BD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600FBB7-BB46-1D14-8027-44498D5FB1D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342ACBC-E90A-3A0F-FCF0-2AA6E837EC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149123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1958">
          <p15:clr>
            <a:srgbClr val="FBAE40"/>
          </p15:clr>
        </p15:guide>
        <p15:guide id="3" pos="3885">
          <p15:clr>
            <a:srgbClr val="FBAE40"/>
          </p15:clr>
        </p15:guide>
        <p15:guide id="4" pos="2048">
          <p15:clr>
            <a:srgbClr val="FBAE40"/>
          </p15:clr>
        </p15:guide>
        <p15:guide id="5" pos="5632">
          <p15:clr>
            <a:srgbClr val="FBAE40"/>
          </p15:clr>
        </p15:guide>
        <p15:guide id="6" pos="5722">
          <p15:clr>
            <a:srgbClr val="FBAE40"/>
          </p15:clr>
        </p15:guide>
        <p15:guide id="7" orient="horz" pos="1842">
          <p15:clr>
            <a:srgbClr val="FBAE40"/>
          </p15:clr>
        </p15:guide>
        <p15:guide id="8" orient="horz" pos="1933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8D0999-EA8B-B78A-B322-DB09E98C2C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56B584-9DBD-2FCA-B8E4-C93364078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5689599" cy="950838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AD1E0E2-FADF-5C41-6241-08A96283C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6536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275223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056FEF-0B9A-1034-0612-96CEF362B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2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2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tx2"/>
          </a:solidFill>
        </p:spPr>
        <p:txBody>
          <a:bodyPr anchor="ctr">
            <a:normAutofit/>
          </a:bodyPr>
          <a:lstStyle>
            <a:lvl1pPr algn="ctr">
              <a:defRPr sz="1200"/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97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A9E7D0-15A5-0FAD-9BF5-14373EA6F0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2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9F3F2F1-BD62-B7FF-6F09-588CCF3F1D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895F6DB-D441-CB27-3CF3-EBD497CCDB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67ECB80F-196B-B4D5-6BBB-5DEFA016B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62E564E-9150-D8F4-55F5-68E9CCCECB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585902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1595">
          <p15:clr>
            <a:srgbClr val="FBAE40"/>
          </p15:clr>
        </p15:guide>
        <p15:guide id="3" pos="3160">
          <p15:clr>
            <a:srgbClr val="FBAE40"/>
          </p15:clr>
        </p15:guide>
        <p15:guide id="4" pos="1685">
          <p15:clr>
            <a:srgbClr val="FBAE40"/>
          </p15:clr>
        </p15:guide>
        <p15:guide id="5" pos="5995">
          <p15:clr>
            <a:srgbClr val="FBAE40"/>
          </p15:clr>
        </p15:guide>
        <p15:guide id="6" pos="6085">
          <p15:clr>
            <a:srgbClr val="FBAE40"/>
          </p15:clr>
        </p15:guide>
        <p15:guide id="7" pos="4611">
          <p15:clr>
            <a:srgbClr val="FBAE40"/>
          </p15:clr>
        </p15:guide>
        <p15:guide id="8" pos="452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02DEF2-6D2B-0B18-48AB-F6E597400D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762391C-C780-779F-E63C-4AEF83C49B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F16B16D-16F0-73BE-B619-E2A825778D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7727A5F-7D8C-0C12-0650-82B4FEB713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CC4CFE5-C951-3D3C-9620-CB0F9B0644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457BB65-BB02-A644-9BE4-A4F9227B50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05E9140-8A15-8E5A-A358-418F4ECAB8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BC77B6E-0B79-B434-B740-D8CE4F269C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817151A-7916-B12A-7871-6808B7DCAE8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703135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1958">
          <p15:clr>
            <a:srgbClr val="FBAE40"/>
          </p15:clr>
        </p15:guide>
        <p15:guide id="3" pos="3885">
          <p15:clr>
            <a:srgbClr val="FBAE40"/>
          </p15:clr>
        </p15:guide>
        <p15:guide id="4" pos="2048">
          <p15:clr>
            <a:srgbClr val="FBAE40"/>
          </p15:clr>
        </p15:guide>
        <p15:guide id="5" pos="5632">
          <p15:clr>
            <a:srgbClr val="FBAE40"/>
          </p15:clr>
        </p15:guide>
        <p15:guide id="6" pos="5722">
          <p15:clr>
            <a:srgbClr val="FBAE40"/>
          </p15:clr>
        </p15:guide>
        <p15:guide id="7" orient="horz" pos="1842">
          <p15:clr>
            <a:srgbClr val="FBAE40"/>
          </p15:clr>
        </p15:guide>
        <p15:guide id="8" orient="horz" pos="1933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65DB7B-D128-97AD-C1D4-EAD62267D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56B584-9DBD-2FCA-B8E4-C93364078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68299"/>
            <a:ext cx="5689599" cy="950838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AD1E0E2-FADF-5C41-6241-08A96283C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1565366"/>
            <a:ext cx="5689599" cy="601980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54868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ADF3FC-2AB4-039A-7B19-4479983744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DB1CF1-50C5-D320-E954-17CDA1BCC1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693884"/>
            <a:ext cx="5689600" cy="1737655"/>
          </a:xfrm>
        </p:spPr>
        <p:txBody>
          <a:bodyPr wrap="square" anchor="t">
            <a:spAutoFit/>
          </a:bodyPr>
          <a:lstStyle>
            <a:lvl1pPr>
              <a:lnSpc>
                <a:spcPct val="85000"/>
              </a:lnSpc>
              <a:defRPr sz="44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Главная тема выступления спикера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E7293FE-149E-7302-BD26-1E60F6164A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298"/>
            <a:ext cx="4537075" cy="1018541"/>
          </a:xfrm>
        </p:spPr>
        <p:txBody>
          <a:bodyPr vert="horz" lIns="0" tIns="0" rIns="0" bIns="0" rtlCol="0" anchor="t">
            <a:noAutofit/>
          </a:bodyPr>
          <a:lstStyle>
            <a:lvl1pPr>
              <a:defRPr lang="ru-RU" sz="1200" b="0" dirty="0">
                <a:solidFill>
                  <a:schemeClr val="bg1"/>
                </a:solidFill>
                <a:latin typeface="X5 Sans" panose="020B0403020203020204" pitchFamily="34" charset="0"/>
                <a:ea typeface="X5 Sans" panose="020B04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402F68D-636F-CC16-E0EE-376658DB76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48309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Имя Спикера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53AD973-6F6E-79B2-0C22-AA5E4D4944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4757419"/>
            <a:ext cx="4537075" cy="21332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  <a:latin typeface="X5 Sans Light" panose="020B0303020203020204" pitchFamily="34" charset="0"/>
                <a:ea typeface="X5 Sans Light" panose="020B0303020203020204" pitchFamily="34" charset="0"/>
                <a:cs typeface="+mj-cs"/>
              </a:defRPr>
            </a:lvl1pPr>
          </a:lstStyle>
          <a:p>
            <a:pPr lvl="0">
              <a:lnSpc>
                <a:spcPct val="85000"/>
              </a:lnSpc>
              <a:spcBef>
                <a:spcPct val="0"/>
              </a:spcBef>
              <a:buNone/>
            </a:pPr>
            <a:r>
              <a:rPr lang="ru-RU" dirty="0"/>
              <a:t>Должность спикера</a:t>
            </a:r>
          </a:p>
        </p:txBody>
      </p:sp>
      <p:sp>
        <p:nvSpPr>
          <p:cNvPr id="17" name="Picture Placeholder 18">
            <a:extLst>
              <a:ext uri="{FF2B5EF4-FFF2-40B4-BE49-F238E27FC236}">
                <a16:creationId xmlns:a16="http://schemas.microsoft.com/office/drawing/2014/main" id="{0ADA1D0E-448C-0A53-E021-72E9D03FEC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251384" y="1203959"/>
            <a:ext cx="3519678" cy="4450082"/>
          </a:xfrm>
          <a:prstGeom prst="roundRect">
            <a:avLst>
              <a:gd name="adj" fmla="val 1083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200"/>
            </a:lvl1pPr>
          </a:lstStyle>
          <a:p>
            <a:r>
              <a:rPr lang="ru-RU" dirty="0"/>
              <a:t>Место для фотографии </a:t>
            </a:r>
            <a:endParaRPr lang="en-US" dirty="0"/>
          </a:p>
          <a:p>
            <a:r>
              <a:rPr lang="ru-RU" dirty="0"/>
              <a:t>спикера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3070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1958" userDrawn="1">
          <p15:clr>
            <a:srgbClr val="FBAE40"/>
          </p15:clr>
        </p15:guide>
        <p15:guide id="3" pos="3885" userDrawn="1">
          <p15:clr>
            <a:srgbClr val="FBAE40"/>
          </p15:clr>
        </p15:guide>
        <p15:guide id="4" pos="2048" userDrawn="1">
          <p15:clr>
            <a:srgbClr val="FBAE40"/>
          </p15:clr>
        </p15:guide>
        <p15:guide id="5" pos="5632" userDrawn="1">
          <p15:clr>
            <a:srgbClr val="FBAE40"/>
          </p15:clr>
        </p15:guide>
        <p15:guide id="6" pos="5722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2D538-27D9-270A-D040-59FF92282B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D7713B-9ECD-AAB7-6128-3205A3A4C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68299"/>
            <a:ext cx="5689600" cy="941796"/>
          </a:xfrm>
        </p:spPr>
        <p:txBody>
          <a:bodyPr wrap="square" anchor="t">
            <a:noAutofit/>
          </a:bodyPr>
          <a:lstStyle>
            <a:lvl1pPr>
              <a:lnSpc>
                <a:spcPct val="85000"/>
              </a:lnSpc>
              <a:defRPr sz="3600">
                <a:solidFill>
                  <a:schemeClr val="bg1"/>
                </a:solidFill>
                <a:latin typeface="X5 Sans Medium" panose="020B0503020203020204" pitchFamily="34" charset="0"/>
                <a:ea typeface="X5 Sans Medium" panose="020B0503020203020204" pitchFamily="34" charset="0"/>
              </a:defRPr>
            </a:lvl1pPr>
          </a:lstStyle>
          <a:p>
            <a:r>
              <a:rPr lang="ru-RU" dirty="0"/>
              <a:t>Не такой 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F8BB3-D76F-D801-A587-7CEFC9FDD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37345A6-442B-E569-0689-CD8E3C20C7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6207" y="2004151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7E2847A-A389-94BF-446F-838AB85F72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41D54B1-6044-7170-FF94-775E46653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66207" y="3913596"/>
            <a:ext cx="2197100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D13CCFF-6F6E-B21A-B835-43964E8718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2289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2807081-AE4A-4DA5-C6A6-05767D246F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9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19F3E09-7CE6-AFCC-B1D1-97649CBCEA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3531" y="2207260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A8517D01-3A6B-C4F8-E17D-11C17C601D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53531" y="4109085"/>
            <a:ext cx="1855151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2622386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1595">
          <p15:clr>
            <a:srgbClr val="FBAE40"/>
          </p15:clr>
        </p15:guide>
        <p15:guide id="3" pos="3160">
          <p15:clr>
            <a:srgbClr val="FBAE40"/>
          </p15:clr>
        </p15:guide>
        <p15:guide id="4" pos="1685">
          <p15:clr>
            <a:srgbClr val="FBAE40"/>
          </p15:clr>
        </p15:guide>
        <p15:guide id="5" pos="5995">
          <p15:clr>
            <a:srgbClr val="FBAE40"/>
          </p15:clr>
        </p15:guide>
        <p15:guide id="6" pos="6085">
          <p15:clr>
            <a:srgbClr val="FBAE40"/>
          </p15:clr>
        </p15:guide>
        <p15:guide id="7" pos="4611">
          <p15:clr>
            <a:srgbClr val="FBAE40"/>
          </p15:clr>
        </p15:guide>
        <p15:guide id="8" pos="452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728003-9A73-F3CB-EADC-5EB4BEC4C2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762391C-C780-779F-E63C-4AEF83C49B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F16B16D-16F0-73BE-B619-E2A825778D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1201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7727A5F-7D8C-0C12-0650-82B4FEB713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7438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CC4CFE5-C951-3D3C-9620-CB0F9B0644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83675" y="3913596"/>
            <a:ext cx="2773362" cy="1747429"/>
          </a:xfrm>
          <a:prstGeom prst="roundRect">
            <a:avLst>
              <a:gd name="adj" fmla="val 9278"/>
            </a:avLst>
          </a:prstGeom>
          <a:solidFill>
            <a:srgbClr val="FFFFFF"/>
          </a:solidFill>
        </p:spPr>
        <p:txBody>
          <a:bodyPr vert="horz" lIns="144000" tIns="144000" rIns="144000" bIns="144000" rtlCol="0" anchor="b">
            <a:noAutofit/>
          </a:bodyPr>
          <a:lstStyle>
            <a:lvl1pPr>
              <a:defRPr lang="ru-RU" sz="1200" dirty="0"/>
            </a:lvl1pPr>
          </a:lstStyle>
          <a:p>
            <a:pPr lvl="0"/>
            <a:r>
              <a:rPr lang="ru-RU" dirty="0"/>
              <a:t>Замещающий текст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EEF877D-073F-066B-1B4C-7B533435E2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2288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D95C3F6-0525-9AF9-3CA4-2E37E28254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8525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117B121-0772-F43D-4C47-7496F767A20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4762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AC8C7AB6-9865-AE7C-5085-12E4D207F6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70999" y="4109085"/>
            <a:ext cx="2398713" cy="568325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405331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1958">
          <p15:clr>
            <a:srgbClr val="FBAE40"/>
          </p15:clr>
        </p15:guide>
        <p15:guide id="3" pos="3885">
          <p15:clr>
            <a:srgbClr val="FBAE40"/>
          </p15:clr>
        </p15:guide>
        <p15:guide id="4" pos="2048">
          <p15:clr>
            <a:srgbClr val="FBAE40"/>
          </p15:clr>
        </p15:guide>
        <p15:guide id="5" pos="5632">
          <p15:clr>
            <a:srgbClr val="FBAE40"/>
          </p15:clr>
        </p15:guide>
        <p15:guide id="6" pos="5722">
          <p15:clr>
            <a:srgbClr val="FBAE40"/>
          </p15:clr>
        </p15:guide>
        <p15:guide id="7" orient="horz" pos="1842">
          <p15:clr>
            <a:srgbClr val="FBAE40"/>
          </p15:clr>
        </p15:guide>
        <p15:guide id="8" orient="horz" pos="193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6" Type="http://schemas.openxmlformats.org/officeDocument/2006/relationships/image" Target="../media/image3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theme" Target="../theme/theme3.xml"/><Relationship Id="rId6" Type="http://schemas.openxmlformats.org/officeDocument/2006/relationships/image" Target="../media/image1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theme" Target="../theme/theme4.xml"/><Relationship Id="rId6" Type="http://schemas.openxmlformats.org/officeDocument/2006/relationships/image" Target="../media/image6.sv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5.xml"/><Relationship Id="rId6" Type="http://schemas.openxmlformats.org/officeDocument/2006/relationships/image" Target="../media/image10.sv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theme" Target="../theme/theme6.xml"/><Relationship Id="rId6" Type="http://schemas.openxmlformats.org/officeDocument/2006/relationships/image" Target="../media/image1.sv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theme" Target="../theme/theme7.xml"/><Relationship Id="rId9" Type="http://schemas.openxmlformats.org/officeDocument/2006/relationships/image" Target="../media/image1.sv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8.xml"/><Relationship Id="rId14" Type="http://schemas.openxmlformats.org/officeDocument/2006/relationships/image" Target="../media/image1.sv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theme" Target="../theme/theme9.xml"/><Relationship Id="rId9" Type="http://schemas.openxmlformats.org/officeDocument/2006/relationships/image" Target="../media/image1.sv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theme" Target="../theme/theme10.xml"/><Relationship Id="rId9" Type="http://schemas.openxmlformats.org/officeDocument/2006/relationships/image" Target="../media/image10.sv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theme" Target="../theme/theme11.xml"/><Relationship Id="rId9" Type="http://schemas.openxmlformats.org/officeDocument/2006/relationships/image" Target="../media/image1.sv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6.xml"/><Relationship Id="rId5" Type="http://schemas.openxmlformats.org/officeDocument/2006/relationships/theme" Target="../theme/theme12.xml"/><Relationship Id="rId6" Type="http://schemas.openxmlformats.org/officeDocument/2006/relationships/image" Target="../media/image1.sv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theme" Target="../theme/theme13.xml"/><Relationship Id="rId6" Type="http://schemas.openxmlformats.org/officeDocument/2006/relationships/image" Target="../media/image1.sv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theme" Target="../theme/theme14.xml"/><Relationship Id="rId6" Type="http://schemas.openxmlformats.org/officeDocument/2006/relationships/image" Target="../media/image10.sv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theme" Target="../theme/theme15.xml"/><Relationship Id="rId6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0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2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83" r:id="rId3"/>
    <p:sldLayoutId id="214748367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tx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4" r:id="rId3"/>
    <p:sldLayoutId id="214748368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9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1" r:id="rId2"/>
    <p:sldLayoutId id="2147483669" r:id="rId3"/>
    <p:sldLayoutId id="214748367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tx2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9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2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2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5" pos="7469" userDrawn="1">
          <p15:clr>
            <a:srgbClr val="F26B43"/>
          </p15:clr>
        </p15:guide>
        <p15:guide id="6" orient="horz" pos="356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9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8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689" r:id="rId3"/>
    <p:sldLayoutId id="2147483664" r:id="rId4"/>
    <p:sldLayoutId id="2147483665" r:id="rId5"/>
    <p:sldLayoutId id="2147483659" r:id="rId6"/>
    <p:sldLayoutId id="214748366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FBE40-A570-8E8D-3504-C75AE9B6D6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4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4" r:id="rId2"/>
    <p:sldLayoutId id="2147483698" r:id="rId3"/>
    <p:sldLayoutId id="2147483718" r:id="rId4"/>
    <p:sldLayoutId id="2147483700" r:id="rId5"/>
    <p:sldLayoutId id="2147483719" r:id="rId6"/>
    <p:sldLayoutId id="2147483772" r:id="rId7"/>
    <p:sldLayoutId id="2147483773" r:id="rId8"/>
    <p:sldLayoutId id="2147483701" r:id="rId9"/>
    <p:sldLayoutId id="2147483720" r:id="rId10"/>
    <p:sldLayoutId id="2147483703" r:id="rId11"/>
    <p:sldLayoutId id="214748372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6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24" r:id="rId2"/>
    <p:sldLayoutId id="2147483722" r:id="rId3"/>
    <p:sldLayoutId id="2147483774" r:id="rId4"/>
    <p:sldLayoutId id="2147483723" r:id="rId5"/>
    <p:sldLayoutId id="2147483712" r:id="rId6"/>
    <p:sldLayoutId id="214748373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0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31" r:id="rId2"/>
    <p:sldLayoutId id="2147483732" r:id="rId3"/>
    <p:sldLayoutId id="2147483775" r:id="rId4"/>
    <p:sldLayoutId id="2147483733" r:id="rId5"/>
    <p:sldLayoutId id="2147483734" r:id="rId6"/>
    <p:sldLayoutId id="214748373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2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2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26" r:id="rId2"/>
    <p:sldLayoutId id="2147483727" r:id="rId3"/>
    <p:sldLayoutId id="2147483776" r:id="rId4"/>
    <p:sldLayoutId id="2147483728" r:id="rId5"/>
    <p:sldLayoutId id="2147483729" r:id="rId6"/>
    <p:sldLayoutId id="214748373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4" r:id="rId2"/>
    <p:sldLayoutId id="2147483748" r:id="rId3"/>
    <p:sldLayoutId id="214748374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0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6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2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2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EE479-BE5A-7035-F070-B7152D31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79" y="378868"/>
            <a:ext cx="8466599" cy="73458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8E0D-7F21-21F4-CA78-3AD3BF08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825625"/>
            <a:ext cx="5761037" cy="3835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A770D6-ED64-EB19-A75B-BE7D88A80D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279" y="6099083"/>
            <a:ext cx="1266825" cy="3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600" kern="1200" dirty="0">
          <a:solidFill>
            <a:schemeClr val="bg1"/>
          </a:solidFill>
          <a:latin typeface="X5 Sans Medium" panose="020B0503020203020204" pitchFamily="34" charset="0"/>
          <a:ea typeface="X5 Sans Medium" panose="020B05030202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/>
          </a:solidFill>
          <a:latin typeface="X5 Sans" panose="020B0403020203020204" pitchFamily="34" charset="0"/>
          <a:ea typeface="X5 Sans" panose="020B04030202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4088" userDrawn="1">
          <p15:clr>
            <a:srgbClr val="F26B43"/>
          </p15:clr>
        </p15:guide>
        <p15:guide id="4" orient="horz" pos="3566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9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15.xml"/></Relationships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V8 для самых маленьких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Что за лев этот турболев?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977639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0FBCC"/>
                </a:solidFill>
                <a:latin typeface="X5 Sans"/>
              </a:rPr>
              <a:t>В описании доклада часть текста написал агент. Честно.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4764024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X5 Sans Medium"/>
              </a:rPr>
              <a:t>Александр Зайцев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X5 Sans"/>
              </a:rPr>
              <a:t>HolyJS 2026 Autumn · 24.10.2026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План на сегодня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1.2</a:t>
            </a:r>
          </a:p>
        </p:txBody>
      </p:sp>
      <p:sp>
        <p:nvSpPr>
          <p:cNvPr id="100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325880"/>
            <a:ext cx="11512296" cy="932688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566928" y="1517904"/>
            <a:ext cx="548640" cy="54864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3" name="TextBox 1002"/>
          <p:cNvSpPr txBox="1"/>
          <p:nvPr/>
        </p:nvSpPr>
        <p:spPr>
          <a:xfrm>
            <a:off x="566928" y="151790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1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1371600" y="1325880"/>
            <a:ext cx="1024128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1E5B28"/>
                </a:solidFill>
                <a:latin typeface="X5 Sans"/>
              </a:rPr>
              <a:t>Где расходятся две одинаковые функции</a:t>
            </a:r>
          </a:p>
        </p:txBody>
      </p:sp>
      <p:sp>
        <p:nvSpPr>
          <p:cNvPr id="100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2404872"/>
            <a:ext cx="11512296" cy="932688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566928" y="2596896"/>
            <a:ext cx="548640" cy="54864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6" name="TextBox 1005"/>
          <p:cNvSpPr txBox="1"/>
          <p:nvPr/>
        </p:nvSpPr>
        <p:spPr>
          <a:xfrm>
            <a:off x="566928" y="259689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2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1371600" y="2404872"/>
            <a:ext cx="1024128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1E5B28"/>
                </a:solidFill>
                <a:latin typeface="X5 Sans"/>
              </a:rPr>
              <a:t>Почему компилятор не спасает — и во что это обходится</a:t>
            </a:r>
          </a:p>
        </p:txBody>
      </p:sp>
      <p:sp>
        <p:nvSpPr>
          <p:cNvPr id="100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3483863"/>
            <a:ext cx="11512296" cy="932688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566928" y="3675887"/>
            <a:ext cx="548640" cy="54864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9" name="TextBox 1008"/>
          <p:cNvSpPr txBox="1"/>
          <p:nvPr/>
        </p:nvSpPr>
        <p:spPr>
          <a:xfrm>
            <a:off x="566928" y="3675887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3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1371600" y="3483863"/>
            <a:ext cx="1024128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1E5B28"/>
                </a:solidFill>
                <a:latin typeface="X5 Sans"/>
              </a:rPr>
              <a:t>Три эпохи V8: что менялось за 18 лет, а что нет</a:t>
            </a:r>
          </a:p>
        </p:txBody>
      </p:sp>
      <p:sp>
        <p:nvSpPr>
          <p:cNvPr id="100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4562856"/>
            <a:ext cx="11512296" cy="932688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566928" y="4754880"/>
            <a:ext cx="548640" cy="54864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2" name="TextBox 1011"/>
          <p:cNvSpPr txBox="1"/>
          <p:nvPr/>
        </p:nvSpPr>
        <p:spPr>
          <a:xfrm>
            <a:off x="566928" y="4754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4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1371600" y="4562856"/>
            <a:ext cx="1024128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1E5B28"/>
                </a:solidFill>
                <a:latin typeface="X5 Sans"/>
              </a:rPr>
              <a:t>Как увидеть это в своём коде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338328" y="5669280"/>
            <a:ext cx="11512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X5 Sans"/>
              </a:rPr>
              <a:t>в конце — те же четыре пункта, с ответами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Две функции: дифф в три 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1.3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0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6" name="Connector 1005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7" name="Oval 1006"/>
          <p:cNvSpPr/>
          <p:nvPr/>
        </p:nvSpPr>
        <p:spPr>
          <a:xfrm>
            <a:off x="9619487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8" name="Oval 1007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9" name="Oval 1008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0" name="Oval 1009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1" name="Oval 1010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2" name="Oval 1011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3" name="Oval 1012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4" name="Oval 1013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5" name="Oval 1014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6" name="Oval 1015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7" name="Oval 1016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8" name="Oval 1017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9" name="TextBox 1018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00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8988552" cy="18002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34506" y="1297305"/>
            <a:ext cx="1529302" cy="32575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534506" y="1297305"/>
            <a:ext cx="1529302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 Medium"/>
              </a:rPr>
              <a:t>A · ?? null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650430" y="1674494"/>
            <a:ext cx="8364347" cy="1157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72" b="0">
                <a:solidFill>
                  <a:srgbClr val="1E5B28"/>
                </a:solidFill>
                <a:latin typeface="Consolas"/>
              </a:rPr>
              <a:t>referrer: raw.referrer ?? null,</a:t>
            </a:r>
          </a:p>
          <a:p>
            <a:pPr algn="l">
              <a:spcAft>
                <a:spcPts val="400"/>
              </a:spcAft>
            </a:pPr>
            <a:r>
              <a:rPr sz="1672" b="0">
                <a:solidFill>
                  <a:srgbClr val="1E5B28"/>
                </a:solidFill>
                <a:latin typeface="Consolas"/>
              </a:rPr>
              <a:t>trialUntil: raw.trialUntil ?? null,</a:t>
            </a:r>
          </a:p>
          <a:p>
            <a:pPr algn="l">
              <a:spcAft>
                <a:spcPts val="400"/>
              </a:spcAft>
            </a:pPr>
            <a:r>
              <a:rPr sz="1672" b="0">
                <a:solidFill>
                  <a:srgbClr val="1E5B28"/>
                </a:solidFill>
                <a:latin typeface="Consolas"/>
              </a:rPr>
              <a:t>teamId: raw.teamId ?? null,</a:t>
            </a:r>
          </a:p>
        </p:txBody>
      </p:sp>
      <p:sp>
        <p:nvSpPr>
          <p:cNvPr id="1008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38328" y="3114674"/>
            <a:ext cx="8988552" cy="1800224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09" name="Скругленный прямоугольник 12">
            <a:extLst>
              <a:ext uri="{FF2B5EF4-FFF2-40B4-BE49-F238E27FC236}">
                <a16:creationId xmlns:a16="http://schemas.microsoft.com/office/drawing/2014/main" id="{4A6C495B-3C28-BDB7-EB0A-99C6A1C5ED23}"/>
              </a:ext>
            </a:extLst>
          </p:cNvPr>
          <p:cNvSpPr/>
          <p:nvPr/>
        </p:nvSpPr>
        <p:spPr>
          <a:xfrm>
            <a:off x="534506" y="3268979"/>
            <a:ext cx="2247138" cy="325754"/>
          </a:xfrm>
          <a:prstGeom prst="roundRect">
            <a:avLst>
              <a:gd name="adj" fmla="val 9804"/>
            </a:avLst>
          </a:prstGeom>
          <a:solidFill>
            <a:srgbClr val="FF81A6">
              <a:alpha val="3018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22" name="TextBox 1021"/>
          <p:cNvSpPr txBox="1"/>
          <p:nvPr/>
        </p:nvSpPr>
        <p:spPr>
          <a:xfrm>
            <a:off x="534506" y="3268979"/>
            <a:ext cx="2247138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8A1538"/>
                </a:solidFill>
                <a:latin typeface="X5 Sans Medium"/>
              </a:rPr>
              <a:t>B · условный спред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650430" y="3646170"/>
            <a:ext cx="8364347" cy="1157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72" b="0">
                <a:solidFill>
                  <a:srgbClr val="1E5B28"/>
                </a:solidFill>
                <a:latin typeface="Consolas"/>
              </a:rPr>
              <a:t>...(raw.referrer &amp;&amp; { referrer: raw.referrer }),</a:t>
            </a:r>
          </a:p>
          <a:p>
            <a:pPr algn="l">
              <a:spcAft>
                <a:spcPts val="400"/>
              </a:spcAft>
            </a:pPr>
            <a:r>
              <a:rPr sz="1672" b="0">
                <a:solidFill>
                  <a:srgbClr val="1E5B28"/>
                </a:solidFill>
                <a:latin typeface="Consolas"/>
              </a:rPr>
              <a:t>...(raw.trialUntil &amp;&amp; { trialUntil: raw.trialUntil }),</a:t>
            </a:r>
          </a:p>
          <a:p>
            <a:pPr algn="l">
              <a:spcAft>
                <a:spcPts val="400"/>
              </a:spcAft>
            </a:pPr>
            <a:r>
              <a:rPr sz="1672" b="0">
                <a:solidFill>
                  <a:srgbClr val="1E5B28"/>
                </a:solidFill>
                <a:latin typeface="Consolas"/>
              </a:rPr>
              <a:t>...(raw.teamId &amp;&amp; { teamId: raw.teamId }),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4261902" y="1297305"/>
            <a:ext cx="463695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X5 Sans"/>
              </a:rPr>
              <a:t>поле есть всегда · пять строк выше одинаковы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4261902" y="3268979"/>
            <a:ext cx="463695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6B7280"/>
                </a:solidFill>
                <a:latin typeface="X5 Sans"/>
              </a:rPr>
              <a:t>поля нет, если нет значения</a:t>
            </a:r>
          </a:p>
        </p:txBody>
      </p:sp>
      <p:sp>
        <p:nvSpPr>
          <p:cNvPr id="1010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38328" y="5129212"/>
            <a:ext cx="2847563" cy="814387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605844" y="5283517"/>
            <a:ext cx="2312530" cy="505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"/>
              </a:rPr>
              <a:t>чексуммы равны</a:t>
            </a:r>
          </a:p>
        </p:txBody>
      </p:sp>
      <p:sp>
        <p:nvSpPr>
          <p:cNvPr id="1011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408822" y="5129212"/>
            <a:ext cx="2847563" cy="814387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3676338" y="5283517"/>
            <a:ext cx="2312530" cy="505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"/>
              </a:rPr>
              <a:t>тесты зелёные</a:t>
            </a:r>
          </a:p>
        </p:txBody>
      </p:sp>
      <p:sp>
        <p:nvSpPr>
          <p:cNvPr id="1012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6479316" y="5129212"/>
            <a:ext cx="2847563" cy="814387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6746832" y="5283517"/>
            <a:ext cx="2312530" cy="505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"/>
              </a:rPr>
              <a:t>ревью: approve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Прибор: 0.12 против 0.79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1.4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1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4" name="Connector 1013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5" name="Oval 1014"/>
          <p:cNvSpPr/>
          <p:nvPr/>
        </p:nvSpPr>
        <p:spPr>
          <a:xfrm>
            <a:off x="9619487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6" name="Oval 1015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7" name="Oval 1016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8" name="Oval 1017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9" name="Oval 1018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0" name="Oval 1019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1" name="Oval 1020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2" name="Oval 1021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3" name="Oval 1022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4" name="Oval 1023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5" name="Oval 1024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6" name="Oval 1025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7" name="TextBox 1026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01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5617845" cy="124301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34506" y="1297305"/>
            <a:ext cx="1529302" cy="32575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TextBox 1027"/>
          <p:cNvSpPr txBox="1"/>
          <p:nvPr/>
        </p:nvSpPr>
        <p:spPr>
          <a:xfrm>
            <a:off x="534506" y="1297305"/>
            <a:ext cx="1529302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 Medium"/>
              </a:rPr>
              <a:t>A · ?? null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650430" y="1674494"/>
            <a:ext cx="4993639" cy="600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0">
                <a:solidFill>
                  <a:srgbClr val="1E5B28"/>
                </a:solidFill>
                <a:latin typeface="X5 Sans Medium"/>
              </a:rPr>
              <a:t>0.12 мс</a:t>
            </a:r>
          </a:p>
        </p:txBody>
      </p:sp>
      <p:sp>
        <p:nvSpPr>
          <p:cNvPr id="1016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38328" y="2514600"/>
            <a:ext cx="5617845" cy="1243012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17" name="Скругленный прямоугольник 12">
            <a:extLst>
              <a:ext uri="{FF2B5EF4-FFF2-40B4-BE49-F238E27FC236}">
                <a16:creationId xmlns:a16="http://schemas.microsoft.com/office/drawing/2014/main" id="{4A6C495B-3C28-BDB7-EB0A-99C6A1C5ED23}"/>
              </a:ext>
            </a:extLst>
          </p:cNvPr>
          <p:cNvSpPr/>
          <p:nvPr/>
        </p:nvSpPr>
        <p:spPr>
          <a:xfrm>
            <a:off x="534506" y="2668904"/>
            <a:ext cx="2247138" cy="325754"/>
          </a:xfrm>
          <a:prstGeom prst="roundRect">
            <a:avLst>
              <a:gd name="adj" fmla="val 9804"/>
            </a:avLst>
          </a:prstGeom>
          <a:solidFill>
            <a:srgbClr val="FF81A6">
              <a:alpha val="3018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30" name="TextBox 1029"/>
          <p:cNvSpPr txBox="1"/>
          <p:nvPr/>
        </p:nvSpPr>
        <p:spPr>
          <a:xfrm>
            <a:off x="534506" y="2668904"/>
            <a:ext cx="2247138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8A1538"/>
                </a:solidFill>
                <a:latin typeface="X5 Sans Medium"/>
              </a:rPr>
              <a:t>B · условный спред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650430" y="3046094"/>
            <a:ext cx="4993639" cy="600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0">
                <a:solidFill>
                  <a:srgbClr val="1E5B28"/>
                </a:solidFill>
                <a:latin typeface="X5 Sans Medium"/>
              </a:rPr>
              <a:t>0.79 мс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6134517" y="1828800"/>
            <a:ext cx="2942680" cy="1243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0">
                <a:solidFill>
                  <a:srgbClr val="1E5B28"/>
                </a:solidFill>
                <a:latin typeface="X5 Sans Medium"/>
              </a:rPr>
              <a:t>~×6.6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134517" y="3114674"/>
            <a:ext cx="3121025" cy="8572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X5 Sans"/>
              </a:rPr>
              <a:t>медиана одного прохода чтения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X5 Sans"/>
              </a:rPr>
              <a:t>50 000 готовых объектов · код разогрет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338328" y="4100512"/>
            <a:ext cx="8988552" cy="1457324"/>
          </a:xfrm>
          <a:prstGeom prst="roundRect">
            <a:avLst>
              <a:gd name="adj" fmla="val 9411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5" name="Oval 1034"/>
          <p:cNvSpPr/>
          <p:nvPr/>
        </p:nvSpPr>
        <p:spPr>
          <a:xfrm>
            <a:off x="516672" y="4237672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6" name="Oval 1035"/>
          <p:cNvSpPr/>
          <p:nvPr/>
        </p:nvSpPr>
        <p:spPr>
          <a:xfrm>
            <a:off x="695016" y="4237672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7" name="Oval 1036"/>
          <p:cNvSpPr/>
          <p:nvPr/>
        </p:nvSpPr>
        <p:spPr>
          <a:xfrm>
            <a:off x="873360" y="4237672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8" name="TextBox 1037"/>
          <p:cNvSpPr txBox="1"/>
          <p:nvPr/>
        </p:nvSpPr>
        <p:spPr>
          <a:xfrm>
            <a:off x="1230049" y="4186237"/>
            <a:ext cx="79184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запись R1 · один прогон — крупно медиана пяти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561258" y="4460557"/>
            <a:ext cx="8542691" cy="9858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ADC00"/>
                </a:solidFill>
                <a:latin typeface="Consolas"/>
              </a:rPr>
              <a:t>$ node --allow-natives-syntax shape-analyzer.js ref-a.js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6F2E9"/>
                </a:solidFill>
                <a:latin typeface="Consolas"/>
              </a:rPr>
              <a:t>{"shapes":1,"ic":"MONO","p50_ms":0.11,"correct":true}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AADC00"/>
                </a:solidFill>
                <a:latin typeface="Consolas"/>
              </a:rPr>
              <a:t>$ node --allow-natives-syntax shape-analyzer.js ref-b.js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E6F2E9"/>
                </a:solidFill>
                <a:latin typeface="Consolas"/>
              </a:rPr>
              <a:t>{"shapes":8,"ic":"MEGA","p50_ms":0.76,"correct":true}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Улика и пустая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1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9" name="Connector 1018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0" name="Oval 1019"/>
          <p:cNvSpPr/>
          <p:nvPr/>
        </p:nvSpPr>
        <p:spPr>
          <a:xfrm>
            <a:off x="9619487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1" name="Oval 1020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2" name="Oval 1021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3" name="Oval 1022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4" name="Oval 1023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5" name="Oval 1024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6" name="Oval 1025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7" name="Oval 1026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" name="Oval 1027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Oval 1028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" name="Oval 1029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" name="Oval 1030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" name="TextBox 1031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338328" y="1143000"/>
            <a:ext cx="8988552" cy="1500187"/>
          </a:xfrm>
          <a:prstGeom prst="roundRect">
            <a:avLst>
              <a:gd name="adj" fmla="val 9142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4" name="Oval 1033"/>
          <p:cNvSpPr/>
          <p:nvPr/>
        </p:nvSpPr>
        <p:spPr>
          <a:xfrm>
            <a:off x="516672" y="1280160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5" name="Oval 1034"/>
          <p:cNvSpPr/>
          <p:nvPr/>
        </p:nvSpPr>
        <p:spPr>
          <a:xfrm>
            <a:off x="695016" y="1280160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6" name="Oval 1035"/>
          <p:cNvSpPr/>
          <p:nvPr/>
        </p:nvSpPr>
        <p:spPr>
          <a:xfrm>
            <a:off x="873360" y="1280160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7" name="TextBox 1036"/>
          <p:cNvSpPr txBox="1"/>
          <p:nvPr/>
        </p:nvSpPr>
        <p:spPr>
          <a:xfrm>
            <a:off x="1230049" y="1228724"/>
            <a:ext cx="79184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запись R2 · читатель score()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561258" y="1503044"/>
            <a:ext cx="8542691" cy="1028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AADC00"/>
                </a:solidFill>
                <a:latin typeface="Consolas"/>
              </a:rPr>
              <a:t>$ node --allow-natives-syntax --trace-deopt demo-wrongmap.js ref-b.js | grep "JSFunction score"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F2E9"/>
                </a:solidFill>
                <a:latin typeface="Consolas"/>
              </a:rPr>
              <a:t>[bailout (kind: deopt-eager, reason: </a:t>
            </a:r>
            <a:r>
              <a:rPr sz="1100" b="1">
                <a:solidFill>
                  <a:srgbClr val="FF9DB8"/>
                </a:solidFill>
                <a:latin typeface="Consolas"/>
              </a:rPr>
              <a:t>wrong map</a:t>
            </a:r>
            <a:r>
              <a:rPr sz="1100" b="0">
                <a:solidFill>
                  <a:srgbClr val="E6F2E9"/>
                </a:solidFill>
                <a:latin typeface="Consolas"/>
              </a:rPr>
              <a:t>): begin. deoptimizing &lt;JSFunction score&gt;, &lt;Code TURBOFAN_JS&gt;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ADC00"/>
                </a:solidFill>
                <a:latin typeface="Consolas"/>
              </a:rPr>
              <a:t>$ node --allow-natives-syntax --trace-deopt demo-wrongmap.js ref-a.js | grep "JSFunction score"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F9DB8"/>
                </a:solidFill>
                <a:latin typeface="Consolas"/>
              </a:rPr>
              <a:t>(пусто)</a:t>
            </a:r>
          </a:p>
        </p:txBody>
      </p:sp>
      <p:sp>
        <p:nvSpPr>
          <p:cNvPr id="1019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2771775"/>
            <a:ext cx="2675164" cy="51434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427500" y="2823209"/>
            <a:ext cx="2496819" cy="4114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X5 Sans"/>
              </a:rPr>
              <a:t>улика, не причина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191836" y="2728912"/>
            <a:ext cx="6135043" cy="600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X5 Sans"/>
              </a:rPr>
              <a:t>читатель сначала видел полные записи, потом — без хвостовых полей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X5 Sans"/>
              </a:rPr>
              <a:t>у читателя на A строки нет: 0 из 5 прогонов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877076" y="3789045"/>
            <a:ext cx="8405216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338328" y="4804171"/>
            <a:ext cx="366348" cy="517921"/>
          </a:xfrm>
          <a:prstGeom prst="roundRect">
            <a:avLst>
              <a:gd name="adj" fmla="val 19472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3" name="TextBox 1042"/>
          <p:cNvSpPr txBox="1"/>
          <p:nvPr/>
        </p:nvSpPr>
        <p:spPr>
          <a:xfrm>
            <a:off x="338328" y="4804171"/>
            <a:ext cx="366348" cy="517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338328" y="5404961"/>
            <a:ext cx="366348" cy="517921"/>
          </a:xfrm>
          <a:prstGeom prst="roundRect">
            <a:avLst>
              <a:gd name="adj" fmla="val 19472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5" name="TextBox 1044"/>
          <p:cNvSpPr txBox="1"/>
          <p:nvPr/>
        </p:nvSpPr>
        <p:spPr>
          <a:xfrm>
            <a:off x="338328" y="5404961"/>
            <a:ext cx="366348" cy="517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1046" name="Oval 1045"/>
          <p:cNvSpPr/>
          <p:nvPr/>
        </p:nvSpPr>
        <p:spPr>
          <a:xfrm>
            <a:off x="949864" y="3520553"/>
            <a:ext cx="558574" cy="536981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7" name="Oval 1046"/>
          <p:cNvSpPr/>
          <p:nvPr/>
        </p:nvSpPr>
        <p:spPr>
          <a:xfrm>
            <a:off x="1035201" y="3602593"/>
            <a:ext cx="387897" cy="37290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8" name="TextBox 1047"/>
          <p:cNvSpPr txBox="1"/>
          <p:nvPr/>
        </p:nvSpPr>
        <p:spPr>
          <a:xfrm>
            <a:off x="1035201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894910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3828" y="4804171"/>
            <a:ext cx="650646" cy="517921"/>
          </a:xfrm>
          <a:prstGeom prst="roundRect">
            <a:avLst>
              <a:gd name="adj" fmla="val 9931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1" name="TextBox 1050"/>
          <p:cNvSpPr txBox="1"/>
          <p:nvPr/>
        </p:nvSpPr>
        <p:spPr>
          <a:xfrm>
            <a:off x="921662" y="4804171"/>
            <a:ext cx="614977" cy="517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7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052" name="Rounded Rectangle 1051"/>
          <p:cNvSpPr/>
          <p:nvPr/>
        </p:nvSpPr>
        <p:spPr>
          <a:xfrm>
            <a:off x="903828" y="5404961"/>
            <a:ext cx="650646" cy="517921"/>
          </a:xfrm>
          <a:prstGeom prst="roundRect">
            <a:avLst>
              <a:gd name="adj" fmla="val 9931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3" name="TextBox 1052"/>
          <p:cNvSpPr txBox="1"/>
          <p:nvPr/>
        </p:nvSpPr>
        <p:spPr>
          <a:xfrm>
            <a:off x="921662" y="5404961"/>
            <a:ext cx="614977" cy="517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7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054" name="Oval 1053"/>
          <p:cNvSpPr/>
          <p:nvPr/>
        </p:nvSpPr>
        <p:spPr>
          <a:xfrm>
            <a:off x="1739351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5" name="TextBox 1054"/>
          <p:cNvSpPr txBox="1"/>
          <p:nvPr/>
        </p:nvSpPr>
        <p:spPr>
          <a:xfrm>
            <a:off x="1739351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2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1599060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1057" name="Oval 1056"/>
          <p:cNvSpPr/>
          <p:nvPr/>
        </p:nvSpPr>
        <p:spPr>
          <a:xfrm>
            <a:off x="2443502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8" name="TextBox 1057"/>
          <p:cNvSpPr txBox="1"/>
          <p:nvPr/>
        </p:nvSpPr>
        <p:spPr>
          <a:xfrm>
            <a:off x="2443502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3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2303211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1060" name="Diamond 1059"/>
          <p:cNvSpPr/>
          <p:nvPr/>
        </p:nvSpPr>
        <p:spPr>
          <a:xfrm>
            <a:off x="2892552" y="3695819"/>
            <a:ext cx="193948" cy="186450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1" name="Oval 1060"/>
          <p:cNvSpPr/>
          <p:nvPr/>
        </p:nvSpPr>
        <p:spPr>
          <a:xfrm>
            <a:off x="3147652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2" name="TextBox 1061"/>
          <p:cNvSpPr txBox="1"/>
          <p:nvPr/>
        </p:nvSpPr>
        <p:spPr>
          <a:xfrm>
            <a:off x="3147652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4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3007361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ярусы</a:t>
            </a:r>
          </a:p>
        </p:txBody>
      </p:sp>
      <p:sp>
        <p:nvSpPr>
          <p:cNvPr id="1064" name="Oval 1063"/>
          <p:cNvSpPr/>
          <p:nvPr/>
        </p:nvSpPr>
        <p:spPr>
          <a:xfrm>
            <a:off x="3851803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5" name="TextBox 1064"/>
          <p:cNvSpPr txBox="1"/>
          <p:nvPr/>
        </p:nvSpPr>
        <p:spPr>
          <a:xfrm>
            <a:off x="3851803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5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3711512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ставка</a:t>
            </a:r>
          </a:p>
        </p:txBody>
      </p:sp>
      <p:sp>
        <p:nvSpPr>
          <p:cNvPr id="1067" name="Diamond 1066"/>
          <p:cNvSpPr/>
          <p:nvPr/>
        </p:nvSpPr>
        <p:spPr>
          <a:xfrm>
            <a:off x="4300852" y="3695819"/>
            <a:ext cx="193948" cy="186450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8" name="Oval 1067"/>
          <p:cNvSpPr/>
          <p:nvPr/>
        </p:nvSpPr>
        <p:spPr>
          <a:xfrm>
            <a:off x="4555952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9" name="TextBox 1068"/>
          <p:cNvSpPr txBox="1"/>
          <p:nvPr/>
        </p:nvSpPr>
        <p:spPr>
          <a:xfrm>
            <a:off x="4555952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6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4415661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сервис</a:t>
            </a:r>
          </a:p>
        </p:txBody>
      </p:sp>
      <p:sp>
        <p:nvSpPr>
          <p:cNvPr id="1071" name="Oval 1070"/>
          <p:cNvSpPr/>
          <p:nvPr/>
        </p:nvSpPr>
        <p:spPr>
          <a:xfrm>
            <a:off x="5260103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2" name="TextBox 1071"/>
          <p:cNvSpPr txBox="1"/>
          <p:nvPr/>
        </p:nvSpPr>
        <p:spPr>
          <a:xfrm>
            <a:off x="5260103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7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5119812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эпоха 2014</a:t>
            </a:r>
          </a:p>
        </p:txBody>
      </p:sp>
      <p:sp>
        <p:nvSpPr>
          <p:cNvPr id="1074" name="Oval 1073"/>
          <p:cNvSpPr/>
          <p:nvPr/>
        </p:nvSpPr>
        <p:spPr>
          <a:xfrm>
            <a:off x="5964253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5" name="TextBox 1074"/>
          <p:cNvSpPr txBox="1"/>
          <p:nvPr/>
        </p:nvSpPr>
        <p:spPr>
          <a:xfrm>
            <a:off x="5964253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8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5823962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эпоха 2017</a:t>
            </a:r>
          </a:p>
        </p:txBody>
      </p:sp>
      <p:sp>
        <p:nvSpPr>
          <p:cNvPr id="1077" name="Diamond 1076"/>
          <p:cNvSpPr/>
          <p:nvPr/>
        </p:nvSpPr>
        <p:spPr>
          <a:xfrm>
            <a:off x="6413304" y="3695819"/>
            <a:ext cx="193948" cy="186450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8" name="Oval 1077"/>
          <p:cNvSpPr/>
          <p:nvPr/>
        </p:nvSpPr>
        <p:spPr>
          <a:xfrm>
            <a:off x="6668404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TextBox 1078"/>
          <p:cNvSpPr txBox="1"/>
          <p:nvPr/>
        </p:nvSpPr>
        <p:spPr>
          <a:xfrm>
            <a:off x="6668404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9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6528113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эпоха 2027</a:t>
            </a:r>
          </a:p>
        </p:txBody>
      </p:sp>
      <p:sp>
        <p:nvSpPr>
          <p:cNvPr id="1081" name="Oval 1080"/>
          <p:cNvSpPr/>
          <p:nvPr/>
        </p:nvSpPr>
        <p:spPr>
          <a:xfrm>
            <a:off x="7372554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2" name="TextBox 1081"/>
          <p:cNvSpPr txBox="1"/>
          <p:nvPr/>
        </p:nvSpPr>
        <p:spPr>
          <a:xfrm>
            <a:off x="7372554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10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7232263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1084" name="Oval 1083"/>
          <p:cNvSpPr/>
          <p:nvPr/>
        </p:nvSpPr>
        <p:spPr>
          <a:xfrm>
            <a:off x="8076704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5" name="TextBox 1084"/>
          <p:cNvSpPr txBox="1"/>
          <p:nvPr/>
        </p:nvSpPr>
        <p:spPr>
          <a:xfrm>
            <a:off x="8076704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11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7936413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1087" name="Oval 1086"/>
          <p:cNvSpPr/>
          <p:nvPr/>
        </p:nvSpPr>
        <p:spPr>
          <a:xfrm>
            <a:off x="8780854" y="3602593"/>
            <a:ext cx="387897" cy="372902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8" name="TextBox 1087"/>
          <p:cNvSpPr txBox="1"/>
          <p:nvPr/>
        </p:nvSpPr>
        <p:spPr>
          <a:xfrm>
            <a:off x="8780854" y="3602593"/>
            <a:ext cx="387897" cy="372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67" b="0">
                <a:solidFill>
                  <a:srgbClr val="9CA3AF"/>
                </a:solidFill>
                <a:latin typeface="X5 Sans Medium"/>
              </a:rPr>
              <a:t>12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8640563" y="4099798"/>
            <a:ext cx="66848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2" b="0">
                <a:solidFill>
                  <a:srgbClr val="B6BCC6"/>
                </a:solidFill>
                <a:latin typeface="X5 Sans Medium"/>
              </a:rPr>
              <a:t>снова слайд 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Развилка: форма при сборке объекта</a:t>
            </a:r>
          </a:p>
        </p:txBody>
      </p:sp>
      <p:sp>
        <p:nvSpPr>
          <p:cNvPr id="1020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TextBox 1020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2 из 12</a:t>
            </a:r>
          </a:p>
        </p:txBody>
      </p:sp>
      <p:sp>
        <p:nvSpPr>
          <p:cNvPr id="1021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TextBox 1021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Где расходятся, если делают одно и то же и результат одинаковый?</a:t>
            </a:r>
          </a:p>
        </p:txBody>
      </p:sp>
      <p:sp>
        <p:nvSpPr>
          <p:cNvPr id="1023" name="Oval 1022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4" name="Oval 1023"/>
          <p:cNvSpPr/>
          <p:nvPr/>
        </p:nvSpPr>
        <p:spPr>
          <a:xfrm>
            <a:off x="4605375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5" name="Oval 1024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6" name="Oval 1025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7" name="Oval 1026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8" name="Oval 1027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Oval 1028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0" name="Oval 1029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1" name="Oval 1030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" name="Oval 1031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3" name="Oval 1032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4" name="Oval 1033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Термин: форма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2.1</a:t>
            </a:r>
          </a:p>
        </p:txBody>
      </p:sp>
      <p:sp>
        <p:nvSpPr>
          <p:cNvPr id="102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?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6" name="TextBox 1025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9" name="TextBox 1028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2" name="TextBox 1031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5" name="TextBox 1034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2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7" name="Connector 1036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Oval 1037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9" name="Oval 1038"/>
          <p:cNvSpPr/>
          <p:nvPr/>
        </p:nvSpPr>
        <p:spPr>
          <a:xfrm>
            <a:off x="979488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0" name="Oval 1039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1" name="Oval 1040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2" name="Oval 1041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3" name="Oval 1042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4" name="Oval 1043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5" name="Oval 1044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6" name="Oval 1045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7" name="Oval 1046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8" name="Oval 1047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9" name="Oval 1048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0" name="TextBox 1049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2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102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1143000"/>
            <a:ext cx="3210197" cy="480059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605844" y="1485900"/>
            <a:ext cx="2675164" cy="1028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0">
                <a:solidFill>
                  <a:srgbClr val="FFFFFF"/>
                </a:solidFill>
                <a:latin typeface="X5 Sans Medium"/>
              </a:rPr>
              <a:t>форма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605844" y="4914900"/>
            <a:ext cx="2675164" cy="771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0FBCC"/>
                </a:solidFill>
                <a:latin typeface="X5 Sans"/>
              </a:rPr>
              <a:t>hidden class</a:t>
            </a:r>
          </a:p>
          <a:p>
            <a:pPr algn="l"/>
            <a:r>
              <a:rPr sz="1500" b="0">
                <a:solidFill>
                  <a:srgbClr val="E0FBCC"/>
                </a:solidFill>
                <a:latin typeface="X5 Sans"/>
              </a:rPr>
              <a:t>в трейсе — </a:t>
            </a:r>
            <a:r>
              <a:rPr sz="1320" b="0">
                <a:solidFill>
                  <a:srgbClr val="E0FBCC"/>
                </a:solidFill>
                <a:latin typeface="Consolas"/>
              </a:rPr>
              <a:t>map</a:t>
            </a:r>
          </a:p>
        </p:txBody>
      </p:sp>
      <p:sp>
        <p:nvSpPr>
          <p:cNvPr id="1025" name="Нашивка 6">
            <a:extLst>
              <a:ext uri="{FF2B5EF4-FFF2-40B4-BE49-F238E27FC236}">
                <a16:creationId xmlns:a16="http://schemas.microsoft.com/office/drawing/2014/main" id="{F80B4974-C140-AA86-1C4E-8502021E883C}"/>
              </a:ext>
            </a:extLst>
          </p:cNvPr>
          <p:cNvSpPr/>
          <p:nvPr/>
        </p:nvSpPr>
        <p:spPr>
          <a:xfrm>
            <a:off x="4065723" y="1357312"/>
            <a:ext cx="178344" cy="471487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4511584" y="1314450"/>
            <a:ext cx="4815295" cy="1243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E5B28"/>
                </a:solidFill>
                <a:latin typeface="X5 Sans"/>
              </a:rPr>
              <a:t>внутреннее описание объекта: какие поля, в каком порядке добавлены</a:t>
            </a:r>
          </a:p>
        </p:txBody>
      </p:sp>
      <p:sp>
        <p:nvSpPr>
          <p:cNvPr id="1026" name="Нашивка 6">
            <a:extLst>
              <a:ext uri="{FF2B5EF4-FFF2-40B4-BE49-F238E27FC236}">
                <a16:creationId xmlns:a16="http://schemas.microsoft.com/office/drawing/2014/main" id="{F80B4974-C140-AA86-1C4E-8502021E883C}"/>
              </a:ext>
            </a:extLst>
          </p:cNvPr>
          <p:cNvSpPr/>
          <p:nvPr/>
        </p:nvSpPr>
        <p:spPr>
          <a:xfrm>
            <a:off x="4065723" y="2728912"/>
            <a:ext cx="178344" cy="471487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4511584" y="2686050"/>
            <a:ext cx="4815295" cy="1243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1E5B28"/>
                </a:solidFill>
                <a:latin typeface="X5 Sans"/>
              </a:rPr>
              <a:t>одинаково собранные объекты делят одно описание</a:t>
            </a:r>
          </a:p>
        </p:txBody>
      </p:sp>
      <p:sp>
        <p:nvSpPr>
          <p:cNvPr id="102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4065723" y="4229100"/>
            <a:ext cx="2496819" cy="17144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4333239" y="4383404"/>
            <a:ext cx="1961786" cy="1405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A</a:t>
            </a:r>
            <a:r>
              <a:rPr sz="2000" b="0">
                <a:solidFill>
                  <a:srgbClr val="1E5B28"/>
                </a:solidFill>
                <a:latin typeface="X5 Sans"/>
              </a:rPr>
              <a:t>: 8 полей</a:t>
            </a:r>
          </a:p>
          <a:p>
            <a:pPr algn="ctr"/>
            <a:r>
              <a:rPr sz="2000" b="0">
                <a:solidFill>
                  <a:srgbClr val="1E5B28"/>
                </a:solidFill>
                <a:latin typeface="X5 Sans"/>
              </a:rPr>
              <a:t>форм: </a:t>
            </a:r>
            <a:r>
              <a:rPr sz="2000" b="0">
                <a:solidFill>
                  <a:srgbClr val="1E5B28"/>
                </a:solidFill>
                <a:latin typeface="X5 Sans Medium"/>
              </a:rPr>
              <a:t>1</a:t>
            </a:r>
          </a:p>
        </p:txBody>
      </p:sp>
      <p:sp>
        <p:nvSpPr>
          <p:cNvPr id="1028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6830060" y="4229100"/>
            <a:ext cx="2496819" cy="1714499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56" name="TextBox 1055"/>
          <p:cNvSpPr txBox="1"/>
          <p:nvPr/>
        </p:nvSpPr>
        <p:spPr>
          <a:xfrm>
            <a:off x="7097576" y="4383404"/>
            <a:ext cx="1961786" cy="1405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B</a:t>
            </a:r>
          </a:p>
          <a:p>
            <a:pPr algn="ctr"/>
            <a:r>
              <a:rPr sz="2000" b="0">
                <a:solidFill>
                  <a:srgbClr val="1E5B28"/>
                </a:solidFill>
                <a:latin typeface="X5 Sans"/>
              </a:rPr>
              <a:t>форм: </a:t>
            </a:r>
            <a:r>
              <a:rPr sz="2000" b="0">
                <a:solidFill>
                  <a:srgbClr val="1E5B28"/>
                </a:solidFill>
                <a:latin typeface="X5 Sans Medium"/>
              </a:rPr>
              <a:t>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B: три развилки, восемь листьев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2.2</a:t>
            </a:r>
          </a:p>
        </p:txBody>
      </p:sp>
      <p:sp>
        <p:nvSpPr>
          <p:cNvPr id="102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TextBox 1029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3" name="TextBox 1032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6" name="TextBox 1035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9" name="TextBox 1038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2" name="TextBox 1041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4" name="Connector 1043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Oval 1044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6" name="Oval 1045"/>
          <p:cNvSpPr/>
          <p:nvPr/>
        </p:nvSpPr>
        <p:spPr>
          <a:xfrm>
            <a:off x="979488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7" name="Oval 1046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8" name="Oval 1047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9" name="Oval 1048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0" name="Oval 1049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1" name="Oval 1050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2" name="Oval 1051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3" name="Oval 1052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4" name="Oval 1053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5" name="Oval 1054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6" name="Oval 1055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7" name="TextBox 1056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2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103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2407647" cy="48005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516672" y="1228724"/>
            <a:ext cx="2050959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5B28"/>
                </a:solidFill>
                <a:latin typeface="X5 Sans Medium"/>
              </a:rPr>
              <a:t>A</a:t>
            </a:r>
            <a:r>
              <a:rPr sz="1500" b="0">
                <a:solidFill>
                  <a:srgbClr val="1E5B28"/>
                </a:solidFill>
                <a:latin typeface="X5 Sans"/>
              </a:rPr>
              <a:t> · </a:t>
            </a:r>
            <a:r>
              <a:rPr sz="1320" b="0">
                <a:solidFill>
                  <a:srgbClr val="1E5B28"/>
                </a:solidFill>
                <a:latin typeface="Consolas"/>
              </a:rPr>
              <a:t>?? null</a:t>
            </a:r>
          </a:p>
        </p:txBody>
      </p:sp>
      <p:sp>
        <p:nvSpPr>
          <p:cNvPr id="1059" name="Rounded Rectangle 1058"/>
          <p:cNvSpPr/>
          <p:nvPr/>
        </p:nvSpPr>
        <p:spPr>
          <a:xfrm>
            <a:off x="561258" y="1571625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0" name="TextBox 1059"/>
          <p:cNvSpPr txBox="1"/>
          <p:nvPr/>
        </p:nvSpPr>
        <p:spPr>
          <a:xfrm>
            <a:off x="650430" y="1571625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id</a:t>
            </a:r>
          </a:p>
        </p:txBody>
      </p:sp>
      <p:sp>
        <p:nvSpPr>
          <p:cNvPr id="1061" name="Rounded Rectangle 1060"/>
          <p:cNvSpPr/>
          <p:nvPr/>
        </p:nvSpPr>
        <p:spPr>
          <a:xfrm>
            <a:off x="561258" y="2048470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2" name="TextBox 1061"/>
          <p:cNvSpPr txBox="1"/>
          <p:nvPr/>
        </p:nvSpPr>
        <p:spPr>
          <a:xfrm>
            <a:off x="650430" y="2048470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name</a:t>
            </a:r>
          </a:p>
        </p:txBody>
      </p:sp>
      <p:sp>
        <p:nvSpPr>
          <p:cNvPr id="1063" name="Rounded Rectangle 1062"/>
          <p:cNvSpPr/>
          <p:nvPr/>
        </p:nvSpPr>
        <p:spPr>
          <a:xfrm>
            <a:off x="561258" y="2525314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4" name="TextBox 1063"/>
          <p:cNvSpPr txBox="1"/>
          <p:nvPr/>
        </p:nvSpPr>
        <p:spPr>
          <a:xfrm>
            <a:off x="650430" y="2525314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email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561258" y="3002160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6" name="TextBox 1065"/>
          <p:cNvSpPr txBox="1"/>
          <p:nvPr/>
        </p:nvSpPr>
        <p:spPr>
          <a:xfrm>
            <a:off x="650430" y="3002160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plan</a:t>
            </a:r>
          </a:p>
        </p:txBody>
      </p:sp>
      <p:sp>
        <p:nvSpPr>
          <p:cNvPr id="1067" name="Rounded Rectangle 1066"/>
          <p:cNvSpPr/>
          <p:nvPr/>
        </p:nvSpPr>
        <p:spPr>
          <a:xfrm>
            <a:off x="561258" y="3479005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8" name="TextBox 1067"/>
          <p:cNvSpPr txBox="1"/>
          <p:nvPr/>
        </p:nvSpPr>
        <p:spPr>
          <a:xfrm>
            <a:off x="650430" y="3479005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credits</a:t>
            </a:r>
          </a:p>
        </p:txBody>
      </p:sp>
      <p:sp>
        <p:nvSpPr>
          <p:cNvPr id="1069" name="Rounded Rectangle 1068"/>
          <p:cNvSpPr/>
          <p:nvPr/>
        </p:nvSpPr>
        <p:spPr>
          <a:xfrm>
            <a:off x="561258" y="3955851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0" name="TextBox 1069"/>
          <p:cNvSpPr txBox="1"/>
          <p:nvPr/>
        </p:nvSpPr>
        <p:spPr>
          <a:xfrm>
            <a:off x="650430" y="3955851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referrer</a:t>
            </a:r>
            <a:r>
              <a:rPr sz="1300" b="0">
                <a:solidFill>
                  <a:srgbClr val="1E5B28"/>
                </a:solidFill>
                <a:latin typeface="X5 Sans"/>
              </a:rPr>
              <a:t>  ?? null</a:t>
            </a:r>
          </a:p>
        </p:txBody>
      </p:sp>
      <p:sp>
        <p:nvSpPr>
          <p:cNvPr id="1071" name="Rounded Rectangle 1070"/>
          <p:cNvSpPr/>
          <p:nvPr/>
        </p:nvSpPr>
        <p:spPr>
          <a:xfrm>
            <a:off x="561258" y="4432695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2" name="TextBox 1071"/>
          <p:cNvSpPr txBox="1"/>
          <p:nvPr/>
        </p:nvSpPr>
        <p:spPr>
          <a:xfrm>
            <a:off x="650430" y="4432695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trialUntil</a:t>
            </a:r>
            <a:r>
              <a:rPr sz="1300" b="0">
                <a:solidFill>
                  <a:srgbClr val="1E5B28"/>
                </a:solidFill>
                <a:latin typeface="X5 Sans"/>
              </a:rPr>
              <a:t>  ?? null</a:t>
            </a:r>
          </a:p>
        </p:txBody>
      </p:sp>
      <p:sp>
        <p:nvSpPr>
          <p:cNvPr id="1073" name="Rounded Rectangle 1072"/>
          <p:cNvSpPr/>
          <p:nvPr/>
        </p:nvSpPr>
        <p:spPr>
          <a:xfrm>
            <a:off x="561258" y="4909542"/>
            <a:ext cx="1961787" cy="433981"/>
          </a:xfrm>
          <a:prstGeom prst="roundRect">
            <a:avLst>
              <a:gd name="adj" fmla="val 9876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4" name="TextBox 1073"/>
          <p:cNvSpPr txBox="1"/>
          <p:nvPr/>
        </p:nvSpPr>
        <p:spPr>
          <a:xfrm>
            <a:off x="650430" y="4909542"/>
            <a:ext cx="1783442" cy="4339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44" b="0">
                <a:solidFill>
                  <a:srgbClr val="1E5B28"/>
                </a:solidFill>
                <a:latin typeface="Consolas"/>
              </a:rPr>
              <a:t>teamId</a:t>
            </a:r>
            <a:r>
              <a:rPr sz="1300" b="0">
                <a:solidFill>
                  <a:srgbClr val="1E5B28"/>
                </a:solidFill>
                <a:latin typeface="X5 Sans"/>
              </a:rPr>
              <a:t>  ?? null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338328" y="5386386"/>
            <a:ext cx="2407647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1E5B28"/>
                </a:solidFill>
                <a:latin typeface="X5 Sans Medium"/>
              </a:rPr>
              <a:t>1 форма</a:t>
            </a:r>
          </a:p>
        </p:txBody>
      </p:sp>
      <p:sp>
        <p:nvSpPr>
          <p:cNvPr id="1032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2968906" y="1143000"/>
            <a:ext cx="6357973" cy="4800599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76" name="TextBox 1075"/>
          <p:cNvSpPr txBox="1"/>
          <p:nvPr/>
        </p:nvSpPr>
        <p:spPr>
          <a:xfrm>
            <a:off x="3147250" y="1228724"/>
            <a:ext cx="6001285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A1538"/>
                </a:solidFill>
                <a:latin typeface="X5 Sans Medium"/>
              </a:rPr>
              <a:t>B</a:t>
            </a:r>
            <a:r>
              <a:rPr sz="1500" b="0">
                <a:solidFill>
                  <a:srgbClr val="8A1538"/>
                </a:solidFill>
                <a:latin typeface="X5 Sans"/>
              </a:rPr>
              <a:t> · условный спред</a:t>
            </a:r>
          </a:p>
        </p:txBody>
      </p:sp>
      <p:cxnSp>
        <p:nvCxnSpPr>
          <p:cNvPr id="1077" name="Connector 1076"/>
          <p:cNvCxnSpPr/>
          <p:nvPr/>
        </p:nvCxnSpPr>
        <p:spPr>
          <a:xfrm flipH="1">
            <a:off x="4669864" y="1820226"/>
            <a:ext cx="1478028" cy="914400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 1077"/>
          <p:cNvCxnSpPr/>
          <p:nvPr/>
        </p:nvCxnSpPr>
        <p:spPr>
          <a:xfrm>
            <a:off x="6147893" y="1820226"/>
            <a:ext cx="1478028" cy="914400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nector 1078"/>
          <p:cNvCxnSpPr/>
          <p:nvPr/>
        </p:nvCxnSpPr>
        <p:spPr>
          <a:xfrm flipH="1">
            <a:off x="3930850" y="2991802"/>
            <a:ext cx="739014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Connector 1079"/>
          <p:cNvCxnSpPr/>
          <p:nvPr/>
        </p:nvCxnSpPr>
        <p:spPr>
          <a:xfrm>
            <a:off x="4669864" y="2991802"/>
            <a:ext cx="739014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 1080"/>
          <p:cNvCxnSpPr/>
          <p:nvPr/>
        </p:nvCxnSpPr>
        <p:spPr>
          <a:xfrm flipH="1">
            <a:off x="6886907" y="2991802"/>
            <a:ext cx="739014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 1081"/>
          <p:cNvCxnSpPr/>
          <p:nvPr/>
        </p:nvCxnSpPr>
        <p:spPr>
          <a:xfrm>
            <a:off x="7625921" y="2991802"/>
            <a:ext cx="739014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 flipH="1">
            <a:off x="3561343" y="4163377"/>
            <a:ext cx="369507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3930850" y="4163377"/>
            <a:ext cx="369506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 1084"/>
          <p:cNvCxnSpPr/>
          <p:nvPr/>
        </p:nvCxnSpPr>
        <p:spPr>
          <a:xfrm flipH="1">
            <a:off x="5039371" y="4163377"/>
            <a:ext cx="369507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 1085"/>
          <p:cNvCxnSpPr/>
          <p:nvPr/>
        </p:nvCxnSpPr>
        <p:spPr>
          <a:xfrm>
            <a:off x="5408878" y="4163377"/>
            <a:ext cx="369506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nector 1086"/>
          <p:cNvCxnSpPr/>
          <p:nvPr/>
        </p:nvCxnSpPr>
        <p:spPr>
          <a:xfrm flipH="1">
            <a:off x="6517399" y="4163377"/>
            <a:ext cx="369507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nector 1087"/>
          <p:cNvCxnSpPr/>
          <p:nvPr/>
        </p:nvCxnSpPr>
        <p:spPr>
          <a:xfrm>
            <a:off x="6886907" y="4163377"/>
            <a:ext cx="369506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nector 1088"/>
          <p:cNvCxnSpPr/>
          <p:nvPr/>
        </p:nvCxnSpPr>
        <p:spPr>
          <a:xfrm flipH="1">
            <a:off x="7995427" y="4163377"/>
            <a:ext cx="369507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nector 1089"/>
          <p:cNvCxnSpPr/>
          <p:nvPr/>
        </p:nvCxnSpPr>
        <p:spPr>
          <a:xfrm>
            <a:off x="8364935" y="4163377"/>
            <a:ext cx="369506" cy="914399"/>
          </a:xfrm>
          <a:prstGeom prst="line">
            <a:avLst/>
          </a:prstGeom>
          <a:ln w="15875">
            <a:solidFill>
              <a:srgbClr val="E6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1" name="Rounded Rectangle 1090"/>
          <p:cNvSpPr/>
          <p:nvPr/>
        </p:nvSpPr>
        <p:spPr>
          <a:xfrm>
            <a:off x="5389929" y="1425892"/>
            <a:ext cx="151592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2" name="TextBox 1091"/>
          <p:cNvSpPr txBox="1"/>
          <p:nvPr/>
        </p:nvSpPr>
        <p:spPr>
          <a:xfrm>
            <a:off x="5443433" y="1425892"/>
            <a:ext cx="140891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4" b="0">
                <a:solidFill>
                  <a:srgbClr val="1E5B28"/>
                </a:solidFill>
                <a:latin typeface="Consolas"/>
              </a:rPr>
              <a:t>referrer?</a:t>
            </a:r>
          </a:p>
        </p:txBody>
      </p:sp>
      <p:sp>
        <p:nvSpPr>
          <p:cNvPr id="1093" name="Rounded Rectangle 1092"/>
          <p:cNvSpPr/>
          <p:nvPr/>
        </p:nvSpPr>
        <p:spPr>
          <a:xfrm>
            <a:off x="3911901" y="2597467"/>
            <a:ext cx="151592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4" name="TextBox 1093"/>
          <p:cNvSpPr txBox="1"/>
          <p:nvPr/>
        </p:nvSpPr>
        <p:spPr>
          <a:xfrm>
            <a:off x="3965404" y="2597467"/>
            <a:ext cx="140891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4" b="0">
                <a:solidFill>
                  <a:srgbClr val="1E5B28"/>
                </a:solidFill>
                <a:latin typeface="Consolas"/>
              </a:rPr>
              <a:t>trialUntil?</a:t>
            </a:r>
          </a:p>
        </p:txBody>
      </p:sp>
      <p:sp>
        <p:nvSpPr>
          <p:cNvPr id="1095" name="Rounded Rectangle 1094"/>
          <p:cNvSpPr/>
          <p:nvPr/>
        </p:nvSpPr>
        <p:spPr>
          <a:xfrm>
            <a:off x="6867958" y="2597467"/>
            <a:ext cx="151592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6" name="TextBox 1095"/>
          <p:cNvSpPr txBox="1"/>
          <p:nvPr/>
        </p:nvSpPr>
        <p:spPr>
          <a:xfrm>
            <a:off x="6921461" y="2597467"/>
            <a:ext cx="140891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44" b="0">
                <a:solidFill>
                  <a:srgbClr val="1E5B28"/>
                </a:solidFill>
                <a:latin typeface="Consolas"/>
              </a:rPr>
              <a:t>trialUntil?</a:t>
            </a:r>
          </a:p>
        </p:txBody>
      </p:sp>
      <p:sp>
        <p:nvSpPr>
          <p:cNvPr id="1097" name="Rounded Rectangle 1096"/>
          <p:cNvSpPr/>
          <p:nvPr/>
        </p:nvSpPr>
        <p:spPr>
          <a:xfrm>
            <a:off x="3236422" y="3769042"/>
            <a:ext cx="138885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8" name="TextBox 1097"/>
          <p:cNvSpPr txBox="1"/>
          <p:nvPr/>
        </p:nvSpPr>
        <p:spPr>
          <a:xfrm>
            <a:off x="3289925" y="3769042"/>
            <a:ext cx="128184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8" b="0">
                <a:solidFill>
                  <a:srgbClr val="1E5B28"/>
                </a:solidFill>
                <a:latin typeface="Consolas"/>
              </a:rPr>
              <a:t>teamId?</a:t>
            </a:r>
          </a:p>
        </p:txBody>
      </p:sp>
      <p:sp>
        <p:nvSpPr>
          <p:cNvPr id="1099" name="Rounded Rectangle 1098"/>
          <p:cNvSpPr/>
          <p:nvPr/>
        </p:nvSpPr>
        <p:spPr>
          <a:xfrm>
            <a:off x="4714450" y="3769042"/>
            <a:ext cx="138885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0" name="TextBox 1099"/>
          <p:cNvSpPr txBox="1"/>
          <p:nvPr/>
        </p:nvSpPr>
        <p:spPr>
          <a:xfrm>
            <a:off x="4767954" y="3769042"/>
            <a:ext cx="128184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8" b="0">
                <a:solidFill>
                  <a:srgbClr val="1E5B28"/>
                </a:solidFill>
                <a:latin typeface="Consolas"/>
              </a:rPr>
              <a:t>teamId?</a:t>
            </a:r>
          </a:p>
        </p:txBody>
      </p:sp>
      <p:sp>
        <p:nvSpPr>
          <p:cNvPr id="1101" name="Rounded Rectangle 1100"/>
          <p:cNvSpPr/>
          <p:nvPr/>
        </p:nvSpPr>
        <p:spPr>
          <a:xfrm>
            <a:off x="6192479" y="3769042"/>
            <a:ext cx="138885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2" name="TextBox 1101"/>
          <p:cNvSpPr txBox="1"/>
          <p:nvPr/>
        </p:nvSpPr>
        <p:spPr>
          <a:xfrm>
            <a:off x="6245982" y="3769042"/>
            <a:ext cx="128184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8" b="0">
                <a:solidFill>
                  <a:srgbClr val="1E5B28"/>
                </a:solidFill>
                <a:latin typeface="Consolas"/>
              </a:rPr>
              <a:t>teamId?</a:t>
            </a:r>
          </a:p>
        </p:txBody>
      </p:sp>
      <p:sp>
        <p:nvSpPr>
          <p:cNvPr id="1103" name="Rounded Rectangle 1102"/>
          <p:cNvSpPr/>
          <p:nvPr/>
        </p:nvSpPr>
        <p:spPr>
          <a:xfrm>
            <a:off x="7670506" y="3769042"/>
            <a:ext cx="1388856" cy="394334"/>
          </a:xfrm>
          <a:prstGeom prst="roundRect">
            <a:avLst>
              <a:gd name="adj" fmla="val 21739"/>
            </a:avLst>
          </a:prstGeom>
          <a:solidFill>
            <a:srgbClr val="E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4" name="TextBox 1103"/>
          <p:cNvSpPr txBox="1"/>
          <p:nvPr/>
        </p:nvSpPr>
        <p:spPr>
          <a:xfrm>
            <a:off x="7724010" y="3769042"/>
            <a:ext cx="1281849" cy="3943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8" b="0">
                <a:solidFill>
                  <a:srgbClr val="1E5B28"/>
                </a:solidFill>
                <a:latin typeface="Consolas"/>
              </a:rPr>
              <a:t>teamId?</a:t>
            </a:r>
          </a:p>
        </p:txBody>
      </p:sp>
      <p:sp>
        <p:nvSpPr>
          <p:cNvPr id="1105" name="Rounded Rectangle 1104"/>
          <p:cNvSpPr/>
          <p:nvPr/>
        </p:nvSpPr>
        <p:spPr>
          <a:xfrm>
            <a:off x="3209671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6" name="TextBox 1105"/>
          <p:cNvSpPr txBox="1"/>
          <p:nvPr/>
        </p:nvSpPr>
        <p:spPr>
          <a:xfrm>
            <a:off x="3209671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—</a:t>
            </a:r>
          </a:p>
        </p:txBody>
      </p:sp>
      <p:sp>
        <p:nvSpPr>
          <p:cNvPr id="1107" name="Rounded Rectangle 1106"/>
          <p:cNvSpPr/>
          <p:nvPr/>
        </p:nvSpPr>
        <p:spPr>
          <a:xfrm>
            <a:off x="3948685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8" name="TextBox 1107"/>
          <p:cNvSpPr txBox="1"/>
          <p:nvPr/>
        </p:nvSpPr>
        <p:spPr>
          <a:xfrm>
            <a:off x="3948685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+i</a:t>
            </a:r>
          </a:p>
        </p:txBody>
      </p:sp>
      <p:sp>
        <p:nvSpPr>
          <p:cNvPr id="1109" name="Rounded Rectangle 1108"/>
          <p:cNvSpPr/>
          <p:nvPr/>
        </p:nvSpPr>
        <p:spPr>
          <a:xfrm>
            <a:off x="4687699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0" name="TextBox 1109"/>
          <p:cNvSpPr txBox="1"/>
          <p:nvPr/>
        </p:nvSpPr>
        <p:spPr>
          <a:xfrm>
            <a:off x="4687699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+t</a:t>
            </a:r>
          </a:p>
        </p:txBody>
      </p:sp>
      <p:sp>
        <p:nvSpPr>
          <p:cNvPr id="1111" name="Rounded Rectangle 1110"/>
          <p:cNvSpPr/>
          <p:nvPr/>
        </p:nvSpPr>
        <p:spPr>
          <a:xfrm>
            <a:off x="5426713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2" name="TextBox 1111"/>
          <p:cNvSpPr txBox="1"/>
          <p:nvPr/>
        </p:nvSpPr>
        <p:spPr>
          <a:xfrm>
            <a:off x="5426713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+t +i</a:t>
            </a:r>
          </a:p>
        </p:txBody>
      </p:sp>
      <p:sp>
        <p:nvSpPr>
          <p:cNvPr id="1113" name="Rounded Rectangle 1112"/>
          <p:cNvSpPr/>
          <p:nvPr/>
        </p:nvSpPr>
        <p:spPr>
          <a:xfrm>
            <a:off x="6165727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4" name="TextBox 1113"/>
          <p:cNvSpPr txBox="1"/>
          <p:nvPr/>
        </p:nvSpPr>
        <p:spPr>
          <a:xfrm>
            <a:off x="6165727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+r</a:t>
            </a:r>
          </a:p>
        </p:txBody>
      </p:sp>
      <p:sp>
        <p:nvSpPr>
          <p:cNvPr id="1115" name="Rounded Rectangle 1114"/>
          <p:cNvSpPr/>
          <p:nvPr/>
        </p:nvSpPr>
        <p:spPr>
          <a:xfrm>
            <a:off x="6904741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6" name="TextBox 1115"/>
          <p:cNvSpPr txBox="1"/>
          <p:nvPr/>
        </p:nvSpPr>
        <p:spPr>
          <a:xfrm>
            <a:off x="6904741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+r +i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7643755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TextBox 1117"/>
          <p:cNvSpPr txBox="1"/>
          <p:nvPr/>
        </p:nvSpPr>
        <p:spPr>
          <a:xfrm>
            <a:off x="7643755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+r +t</a:t>
            </a:r>
          </a:p>
        </p:txBody>
      </p:sp>
      <p:sp>
        <p:nvSpPr>
          <p:cNvPr id="1119" name="Rounded Rectangle 1118"/>
          <p:cNvSpPr/>
          <p:nvPr/>
        </p:nvSpPr>
        <p:spPr>
          <a:xfrm>
            <a:off x="8382768" y="5077777"/>
            <a:ext cx="703345" cy="428624"/>
          </a:xfrm>
          <a:prstGeom prst="roundRect">
            <a:avLst>
              <a:gd name="adj" fmla="val 20000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0" name="TextBox 1119"/>
          <p:cNvSpPr txBox="1"/>
          <p:nvPr/>
        </p:nvSpPr>
        <p:spPr>
          <a:xfrm>
            <a:off x="8382768" y="5077777"/>
            <a:ext cx="703345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8A1538"/>
                </a:solidFill>
                <a:latin typeface="X5 Sans"/>
              </a:rPr>
              <a:t>+r +t +i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3147250" y="1571625"/>
            <a:ext cx="2050959" cy="5143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X5 Sans"/>
              </a:rPr>
              <a:t>r — referrer · t — trialUntil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X5 Sans"/>
              </a:rPr>
              <a:t>i — teamId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2968906" y="5514974"/>
            <a:ext cx="6357973" cy="3857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>
                <a:solidFill>
                  <a:srgbClr val="8A1538"/>
                </a:solidFill>
                <a:latin typeface="X5 Sans Medium"/>
              </a:rPr>
              <a:t>2³ = 8 форм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Проверка живьём: %HaveSameMap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2.3</a:t>
            </a:r>
          </a:p>
        </p:txBody>
      </p:sp>
      <p:sp>
        <p:nvSpPr>
          <p:cNvPr id="103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Box 1033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36" name="Rounded Rectangle 1035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7" name="TextBox 1036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0" name="TextBox 1039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3" name="TextBox 1042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5" name="Rounded Rectangle 1044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6" name="TextBox 1045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3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8" name="Connector 1047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9" name="Oval 1048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0" name="Oval 1049"/>
          <p:cNvSpPr/>
          <p:nvPr/>
        </p:nvSpPr>
        <p:spPr>
          <a:xfrm>
            <a:off x="979488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1" name="Oval 1050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2" name="Oval 1051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3" name="Oval 1052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4" name="Oval 1053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5" name="Oval 1054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6" name="Oval 1055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7" name="Oval 1056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8" name="Oval 1057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9" name="Oval 1058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0" name="Oval 1059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1" name="TextBox 1060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2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1062" name="Rounded Rectangle 1061"/>
          <p:cNvSpPr/>
          <p:nvPr/>
        </p:nvSpPr>
        <p:spPr>
          <a:xfrm>
            <a:off x="338328" y="1143000"/>
            <a:ext cx="5617845" cy="4800599"/>
          </a:xfrm>
          <a:prstGeom prst="roundRect">
            <a:avLst>
              <a:gd name="adj" fmla="val 2857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3" name="Oval 1062"/>
          <p:cNvSpPr/>
          <p:nvPr/>
        </p:nvSpPr>
        <p:spPr>
          <a:xfrm>
            <a:off x="516672" y="1280160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4" name="Oval 1063"/>
          <p:cNvSpPr/>
          <p:nvPr/>
        </p:nvSpPr>
        <p:spPr>
          <a:xfrm>
            <a:off x="695016" y="1280160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5" name="Oval 1064"/>
          <p:cNvSpPr/>
          <p:nvPr/>
        </p:nvSpPr>
        <p:spPr>
          <a:xfrm>
            <a:off x="873360" y="1280160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6" name="TextBox 1065"/>
          <p:cNvSpPr txBox="1"/>
          <p:nvPr/>
        </p:nvSpPr>
        <p:spPr>
          <a:xfrm>
            <a:off x="1230049" y="1228724"/>
            <a:ext cx="454777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LIVE №1 · фолбэк — этот же кадр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561258" y="1503044"/>
            <a:ext cx="5171984" cy="4329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50" b="0">
                <a:solidFill>
                  <a:srgbClr val="AADC00"/>
                </a:solidFill>
                <a:latin typeface="Consolas"/>
              </a:rPr>
              <a:t>$ node --allow-natives-syntax demo-samemap.js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E6F2E9"/>
                </a:solidFill>
                <a:latin typeface="Consolas"/>
              </a:rPr>
              <a:t>A: </a:t>
            </a:r>
            <a:r>
              <a:rPr sz="1450" b="1">
                <a:solidFill>
                  <a:srgbClr val="FF9DB8"/>
                </a:solidFill>
                <a:latin typeface="Consolas"/>
              </a:rPr>
              <a:t>true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E6F2E9"/>
                </a:solidFill>
                <a:latin typeface="Consolas"/>
              </a:rPr>
              <a:t>B: </a:t>
            </a:r>
            <a:r>
              <a:rPr sz="1450" b="1">
                <a:solidFill>
                  <a:srgbClr val="FF9DB8"/>
                </a:solidFill>
                <a:latin typeface="Consolas"/>
              </a:rPr>
              <a:t>false</a:t>
            </a:r>
          </a:p>
          <a:p>
            <a:pPr>
              <a:spcAft>
                <a:spcPts val="200"/>
              </a:spcAft>
            </a:pPr>
            <a:r>
              <a:rPr sz="1450" b="0">
                <a:solidFill>
                  <a:srgbClr val="E6F2E9"/>
                </a:solidFill>
                <a:latin typeface="Consolas"/>
              </a:rPr>
              <a:t>форм у B: </a:t>
            </a:r>
            <a:r>
              <a:rPr sz="1450" b="1">
                <a:solidFill>
                  <a:srgbClr val="FF9DB8"/>
                </a:solidFill>
                <a:latin typeface="Consolas"/>
              </a:rPr>
              <a:t>8</a:t>
            </a:r>
          </a:p>
        </p:txBody>
      </p:sp>
      <p:sp>
        <p:nvSpPr>
          <p:cNvPr id="1035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6428785" y="1143000"/>
            <a:ext cx="2898094" cy="2486024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6696301" y="1297305"/>
            <a:ext cx="2363061" cy="21774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>
                <a:solidFill>
                  <a:srgbClr val="FFFFFF"/>
                </a:solidFill>
                <a:latin typeface="Consolas"/>
              </a:rPr>
              <a:t>%HaveSameMap(a, b)</a:t>
            </a:r>
            <a:r>
              <a:rPr sz="1500" b="0">
                <a:solidFill>
                  <a:srgbClr val="FFFFFF"/>
                </a:solidFill>
                <a:latin typeface="X5 Sans"/>
              </a:rPr>
              <a:t>: одной ли формы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FFFFFF"/>
                </a:solidFill>
                <a:latin typeface="Consolas"/>
              </a:rPr>
              <a:t>x = {id, name, teamId}</a:t>
            </a:r>
          </a:p>
          <a:p>
            <a:pPr algn="l">
              <a:spcAft>
                <a:spcPts val="300"/>
              </a:spcAft>
            </a:pPr>
            <a:r>
              <a:rPr sz="1320" b="0">
                <a:solidFill>
                  <a:srgbClr val="FFFFFF"/>
                </a:solidFill>
                <a:latin typeface="Consolas"/>
              </a:rPr>
              <a:t>y = {id, name}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X5 Sans"/>
              </a:rPr>
              <a:t>A(x), A(y) → </a:t>
            </a:r>
            <a:r>
              <a:rPr sz="1500" b="0">
                <a:solidFill>
                  <a:srgbClr val="FFFFFF"/>
                </a:solidFill>
                <a:latin typeface="X5 Sans Medium"/>
              </a:rPr>
              <a:t>true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X5 Sans"/>
              </a:rPr>
              <a:t>B(x), B(y) → </a:t>
            </a:r>
            <a:r>
              <a:rPr sz="1500" b="0">
                <a:solidFill>
                  <a:srgbClr val="FFFFFF"/>
                </a:solidFill>
                <a:latin typeface="X5 Sans Medium"/>
              </a:rPr>
              <a:t>false</a:t>
            </a:r>
          </a:p>
        </p:txBody>
      </p:sp>
      <p:sp>
        <p:nvSpPr>
          <p:cNvPr id="103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428785" y="3843337"/>
            <a:ext cx="2898094" cy="210026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6428785" y="3843337"/>
            <a:ext cx="2898094" cy="2100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1E5B28"/>
                </a:solidFill>
                <a:latin typeface="X5 Sans Medium"/>
              </a:rPr>
              <a:t>1 vs 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Карта: первая развилка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2.4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04385" y="1890630"/>
            <a:ext cx="10909662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8328" y="3000102"/>
            <a:ext cx="384918" cy="566057"/>
          </a:xfrm>
          <a:prstGeom prst="roundRect">
            <a:avLst>
              <a:gd name="adj" fmla="val 19004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8328" y="3000102"/>
            <a:ext cx="384918" cy="566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3656729"/>
            <a:ext cx="384918" cy="566057"/>
          </a:xfrm>
          <a:prstGeom prst="roundRect">
            <a:avLst>
              <a:gd name="adj" fmla="val 1900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8" y="3656729"/>
            <a:ext cx="384918" cy="566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1157078" y="1686850"/>
            <a:ext cx="407561" cy="407561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57078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85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хук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73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817" y="3000102"/>
            <a:ext cx="858084" cy="566057"/>
          </a:xfrm>
          <a:prstGeom prst="roundRect">
            <a:avLst>
              <a:gd name="adj" fmla="val 969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105" y="3000102"/>
            <a:ext cx="821508" cy="566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67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1817" y="3656729"/>
            <a:ext cx="858084" cy="566057"/>
          </a:xfrm>
          <a:prstGeom prst="roundRect">
            <a:avLst>
              <a:gd name="adj" fmla="val 969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0105" y="3656729"/>
            <a:ext cx="821508" cy="566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67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73" y="4290713"/>
            <a:ext cx="876372" cy="452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shape-analyzer</a:t>
            </a:r>
          </a:p>
        </p:txBody>
      </p:sp>
      <p:sp>
        <p:nvSpPr>
          <p:cNvPr id="18" name="Oval 17"/>
          <p:cNvSpPr/>
          <p:nvPr/>
        </p:nvSpPr>
        <p:spPr>
          <a:xfrm>
            <a:off x="1980363" y="1597186"/>
            <a:ext cx="586888" cy="58688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2070027" y="1686850"/>
            <a:ext cx="407561" cy="407561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070027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FFFFFF"/>
                </a:solidFill>
                <a:latin typeface="X5 Sans Medium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17333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вызов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5621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4765" y="3000102"/>
            <a:ext cx="858084" cy="566057"/>
          </a:xfrm>
          <a:prstGeom prst="roundRect">
            <a:avLst>
              <a:gd name="adj" fmla="val 969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863053" y="3000102"/>
            <a:ext cx="821508" cy="566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67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4765" y="3656729"/>
            <a:ext cx="858084" cy="566057"/>
          </a:xfrm>
          <a:prstGeom prst="roundRect">
            <a:avLst>
              <a:gd name="adj" fmla="val 969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863053" y="3656729"/>
            <a:ext cx="821508" cy="5660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67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5621" y="4290713"/>
            <a:ext cx="876372" cy="452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%HaveSameMap</a:t>
            </a:r>
          </a:p>
        </p:txBody>
      </p:sp>
      <p:sp>
        <p:nvSpPr>
          <p:cNvPr id="28" name="Oval 27"/>
          <p:cNvSpPr/>
          <p:nvPr/>
        </p:nvSpPr>
        <p:spPr>
          <a:xfrm>
            <a:off x="2982976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82976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0282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первые вызовы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8570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32" name="Diamond 31"/>
          <p:cNvSpPr/>
          <p:nvPr/>
        </p:nvSpPr>
        <p:spPr>
          <a:xfrm>
            <a:off x="3541340" y="1788740"/>
            <a:ext cx="203780" cy="203780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3895924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95924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3230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первые мс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61518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ярусы</a:t>
            </a:r>
          </a:p>
        </p:txBody>
      </p:sp>
      <p:sp>
        <p:nvSpPr>
          <p:cNvPr id="37" name="Oval 36"/>
          <p:cNvSpPr/>
          <p:nvPr/>
        </p:nvSpPr>
        <p:spPr>
          <a:xfrm>
            <a:off x="4808873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08873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6179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после компиляции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4467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ставка</a:t>
            </a:r>
          </a:p>
        </p:txBody>
      </p:sp>
      <p:sp>
        <p:nvSpPr>
          <p:cNvPr id="41" name="Diamond 40"/>
          <p:cNvSpPr/>
          <p:nvPr/>
        </p:nvSpPr>
        <p:spPr>
          <a:xfrm>
            <a:off x="5367237" y="1788740"/>
            <a:ext cx="203780" cy="203780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5721821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721821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69128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прод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7415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сервис</a:t>
            </a:r>
          </a:p>
        </p:txBody>
      </p:sp>
      <p:sp>
        <p:nvSpPr>
          <p:cNvPr id="46" name="Oval 45"/>
          <p:cNvSpPr/>
          <p:nvPr/>
        </p:nvSpPr>
        <p:spPr>
          <a:xfrm>
            <a:off x="6634770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634770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076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2010–2017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364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эпоха 2014</a:t>
            </a:r>
          </a:p>
        </p:txBody>
      </p:sp>
      <p:sp>
        <p:nvSpPr>
          <p:cNvPr id="50" name="Oval 49"/>
          <p:cNvSpPr/>
          <p:nvPr/>
        </p:nvSpPr>
        <p:spPr>
          <a:xfrm>
            <a:off x="7547718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547718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95025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2017–2023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3313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эпоха 2017</a:t>
            </a:r>
          </a:p>
        </p:txBody>
      </p:sp>
      <p:sp>
        <p:nvSpPr>
          <p:cNvPr id="54" name="Diamond 53"/>
          <p:cNvSpPr/>
          <p:nvPr/>
        </p:nvSpPr>
        <p:spPr>
          <a:xfrm>
            <a:off x="8106083" y="1788740"/>
            <a:ext cx="203780" cy="203780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8460667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460667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7973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2023–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6261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эпоха 2027</a:t>
            </a:r>
          </a:p>
        </p:txBody>
      </p:sp>
      <p:sp>
        <p:nvSpPr>
          <p:cNvPr id="59" name="Oval 58"/>
          <p:cNvSpPr/>
          <p:nvPr/>
        </p:nvSpPr>
        <p:spPr>
          <a:xfrm>
            <a:off x="9373616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373616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20922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с 2008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9210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63" name="Oval 62"/>
          <p:cNvSpPr/>
          <p:nvPr/>
        </p:nvSpPr>
        <p:spPr>
          <a:xfrm>
            <a:off x="10286564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286564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33870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2158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67" name="Oval 66"/>
          <p:cNvSpPr/>
          <p:nvPr/>
        </p:nvSpPr>
        <p:spPr>
          <a:xfrm>
            <a:off x="11199513" y="1686850"/>
            <a:ext cx="407561" cy="407561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199513" y="1686850"/>
            <a:ext cx="407561" cy="4075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17" b="0">
                <a:solidFill>
                  <a:srgbClr val="9CA3AF"/>
                </a:solidFill>
                <a:latin typeface="X5 Sans Medium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46819" y="1188720"/>
            <a:ext cx="912948" cy="3396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финал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65107" y="2230265"/>
            <a:ext cx="876372" cy="6792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67" b="0">
                <a:solidFill>
                  <a:srgbClr val="B6BCC6"/>
                </a:solidFill>
                <a:latin typeface="X5 Sans Medium"/>
              </a:rPr>
              <a:t>снова слайд 1</a:t>
            </a:r>
          </a:p>
        </p:txBody>
      </p:sp>
      <p:sp>
        <p:nvSpPr>
          <p:cNvPr id="1037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38328" y="5074920"/>
            <a:ext cx="11521440" cy="822960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TextBox 1037"/>
          <p:cNvSpPr txBox="1"/>
          <p:nvPr/>
        </p:nvSpPr>
        <p:spPr>
          <a:xfrm>
            <a:off x="475488" y="5157216"/>
            <a:ext cx="1124711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"/>
              </a:rPr>
              <a:t>с этого шага строки A и B на карте больше не совпадают: 1 форма против 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Формы сборку не удорожают — платит чтение</a:t>
            </a:r>
          </a:p>
        </p:txBody>
      </p:sp>
      <p:sp>
        <p:nvSpPr>
          <p:cNvPr id="1038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3 из 12</a:t>
            </a:r>
          </a:p>
        </p:txBody>
      </p:sp>
      <p:sp>
        <p:nvSpPr>
          <p:cNvPr id="1039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Восемь описаний вместо одного — это и есть цена? Собирать восемью способами дороже?</a:t>
            </a:r>
          </a:p>
        </p:txBody>
      </p:sp>
      <p:sp>
        <p:nvSpPr>
          <p:cNvPr id="1041" name="Oval 1040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2" name="Oval 1041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3" name="Oval 1042"/>
          <p:cNvSpPr/>
          <p:nvPr/>
        </p:nvSpPr>
        <p:spPr>
          <a:xfrm>
            <a:off x="4916271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4" name="Oval 1043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5" name="Oval 1044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6" name="Oval 1045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7" name="Oval 1046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8" name="Oval 1047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9" name="Oval 1048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0" name="Oval 1049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1" name="Oval 1050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2" name="Oval 1051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Сборка ×0.93–1.02, чтение ×5.1–5.4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3.1</a:t>
            </a:r>
          </a:p>
        </p:txBody>
      </p:sp>
      <p:sp>
        <p:nvSpPr>
          <p:cNvPr id="104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TextBox 1040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4" name="TextBox 1043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6" name="Rounded Rectangle 1045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7" name="TextBox 1046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9" name="Rounded Rectangle 1048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0" name="TextBox 1049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52" name="Rounded Rectangle 1051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3" name="TextBox 1052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5" name="Connector 1054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Oval 1055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7" name="Oval 1056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8" name="Oval 1057"/>
          <p:cNvSpPr/>
          <p:nvPr/>
        </p:nvSpPr>
        <p:spPr>
          <a:xfrm>
            <a:off x="9970285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9" name="Oval 1058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0" name="Oval 1059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1" name="Oval 1060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2" name="Oval 1061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3" name="Oval 1062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4" name="Oval 1063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5" name="Oval 1064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6" name="Oval 1065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7" name="Oval 1066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8" name="TextBox 1067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3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graphicFrame>
        <p:nvGraphicFramePr>
          <p:cNvPr id="1069" name="Chart 1068"/>
          <p:cNvGraphicFramePr>
            <a:graphicFrameLocks noGrp="1"/>
          </p:cNvGraphicFramePr>
          <p:nvPr/>
        </p:nvGraphicFramePr>
        <p:xfrm>
          <a:off x="338328" y="1143000"/>
          <a:ext cx="4993639" cy="3514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70" name="TextBox 1069"/>
          <p:cNvSpPr txBox="1"/>
          <p:nvPr/>
        </p:nvSpPr>
        <p:spPr>
          <a:xfrm>
            <a:off x="338328" y="4700587"/>
            <a:ext cx="4993639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B относительно A (A = ×1) · 150 прогонов</a:t>
            </a:r>
          </a:p>
        </p:txBody>
      </p:sp>
      <p:sp>
        <p:nvSpPr>
          <p:cNvPr id="104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5554898" y="1143000"/>
            <a:ext cx="3771981" cy="162877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TextBox 1070"/>
          <p:cNvSpPr txBox="1"/>
          <p:nvPr/>
        </p:nvSpPr>
        <p:spPr>
          <a:xfrm>
            <a:off x="5777828" y="1271587"/>
            <a:ext cx="3326120" cy="13715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E5B28"/>
                </a:solidFill>
                <a:latin typeface="X5 Sans"/>
              </a:rPr>
              <a:t>сборка: </a:t>
            </a:r>
            <a:r>
              <a:rPr sz="1500" b="0">
                <a:solidFill>
                  <a:srgbClr val="1E5B28"/>
                </a:solidFill>
                <a:latin typeface="X5 Sans Medium"/>
              </a:rPr>
              <a:t>×0.93–1.02</a:t>
            </a:r>
          </a:p>
          <a:p>
            <a:pPr algn="l"/>
            <a:r>
              <a:rPr sz="1500" b="0">
                <a:solidFill>
                  <a:srgbClr val="1E5B28"/>
                </a:solidFill>
                <a:latin typeface="X5 Sans"/>
              </a:rPr>
              <a:t>восемь форм сами по себе сборку не удорожают</a:t>
            </a:r>
          </a:p>
        </p:txBody>
      </p:sp>
      <p:sp>
        <p:nvSpPr>
          <p:cNvPr id="1043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554898" y="2900362"/>
            <a:ext cx="3771981" cy="1157287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72" name="TextBox 1071"/>
          <p:cNvSpPr txBox="1"/>
          <p:nvPr/>
        </p:nvSpPr>
        <p:spPr>
          <a:xfrm>
            <a:off x="5777828" y="3028950"/>
            <a:ext cx="3326120" cy="900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E5B28"/>
                </a:solidFill>
                <a:latin typeface="X5 Sans"/>
              </a:rPr>
              <a:t>спред с первого слайда: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×1.5–1.7</a:t>
            </a:r>
          </a:p>
          <a:p>
            <a:pPr algn="l"/>
            <a:r>
              <a:rPr sz="1400" b="0">
                <a:solidFill>
                  <a:srgbClr val="1E5B28"/>
                </a:solidFill>
                <a:latin typeface="X5 Sans"/>
              </a:rPr>
              <a:t>это цена спреда, не форм</a:t>
            </a:r>
          </a:p>
        </p:txBody>
      </p:sp>
      <p:sp>
        <p:nvSpPr>
          <p:cNvPr id="1044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5554898" y="4186237"/>
            <a:ext cx="3771981" cy="1757361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73" name="TextBox 1072"/>
          <p:cNvSpPr txBox="1"/>
          <p:nvPr/>
        </p:nvSpPr>
        <p:spPr>
          <a:xfrm>
            <a:off x="5777828" y="4314825"/>
            <a:ext cx="3326120" cy="15001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8A1538"/>
                </a:solidFill>
                <a:latin typeface="X5 Sans"/>
              </a:rPr>
              <a:t>чтение: </a:t>
            </a:r>
            <a:r>
              <a:rPr sz="1500" b="0">
                <a:solidFill>
                  <a:srgbClr val="8A1538"/>
                </a:solidFill>
                <a:latin typeface="X5 Sans Medium"/>
              </a:rPr>
              <a:t>×5.1–5.4</a:t>
            </a:r>
          </a:p>
          <a:p>
            <a:pPr algn="l"/>
            <a:r>
              <a:rPr sz="1500" b="0">
                <a:solidFill>
                  <a:srgbClr val="8A1538"/>
                </a:solidFill>
                <a:latin typeface="X5 Sans"/>
              </a:rPr>
              <a:t>у обоих вариантов B · сборка одна, чтений много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Место чтения запоминает 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3.2</a:t>
            </a:r>
          </a:p>
        </p:txBody>
      </p:sp>
      <p:sp>
        <p:nvSpPr>
          <p:cNvPr id="104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TextBox 1045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4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1" name="TextBox 1050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53" name="Rounded Rectangle 1052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4" name="TextBox 105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56" name="Rounded Rectangle 105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7" name="TextBox 105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4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9" name="Connector 1058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Oval 1059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1" name="Oval 1060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2" name="Oval 1061"/>
          <p:cNvSpPr/>
          <p:nvPr/>
        </p:nvSpPr>
        <p:spPr>
          <a:xfrm>
            <a:off x="9970285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3" name="Oval 1062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4" name="Oval 1063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5" name="Oval 1064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6" name="Oval 1065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7" name="Oval 1066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8" name="Oval 1067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9" name="Oval 1068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0" name="Oval 1069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1" name="Oval 1070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2" name="TextBox 1071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3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1048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338328" y="1143000"/>
            <a:ext cx="2877287" cy="317182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516672" y="1245869"/>
            <a:ext cx="2520599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E5B28"/>
                </a:solidFill>
                <a:latin typeface="X5 Sans Medium"/>
              </a:rPr>
              <a:t>MONO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516672" y="1314450"/>
            <a:ext cx="2520599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1075" name="Rounded Rectangle 1074"/>
          <p:cNvSpPr/>
          <p:nvPr/>
        </p:nvSpPr>
        <p:spPr>
          <a:xfrm>
            <a:off x="534506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6" name="TextBox 1075"/>
          <p:cNvSpPr txBox="1"/>
          <p:nvPr/>
        </p:nvSpPr>
        <p:spPr>
          <a:xfrm>
            <a:off x="534506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E5B28"/>
                </a:solidFill>
                <a:latin typeface="X5 Sans"/>
              </a:rPr>
              <a:t>1</a:t>
            </a:r>
          </a:p>
        </p:txBody>
      </p:sp>
      <p:cxnSp>
        <p:nvCxnSpPr>
          <p:cNvPr id="1077" name="Connector 1076"/>
          <p:cNvCxnSpPr/>
          <p:nvPr/>
        </p:nvCxnSpPr>
        <p:spPr>
          <a:xfrm>
            <a:off x="650430" y="1965959"/>
            <a:ext cx="0" cy="22288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8" name="Rounded Rectangle 1077"/>
          <p:cNvSpPr/>
          <p:nvPr/>
        </p:nvSpPr>
        <p:spPr>
          <a:xfrm>
            <a:off x="534506" y="2188845"/>
            <a:ext cx="1159237" cy="37719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TextBox 1078"/>
          <p:cNvSpPr txBox="1"/>
          <p:nvPr/>
        </p:nvSpPr>
        <p:spPr>
          <a:xfrm>
            <a:off x="588009" y="2188845"/>
            <a:ext cx="105223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32" b="0">
                <a:solidFill>
                  <a:srgbClr val="1E5B28"/>
                </a:solidFill>
                <a:latin typeface="Consolas"/>
              </a:rPr>
              <a:t>u.plan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534506" y="2686050"/>
            <a:ext cx="248493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5B28"/>
                </a:solidFill>
                <a:latin typeface="X5 Sans"/>
              </a:rPr>
              <a:t>быстрый путь: одна проверка, одно чтение</a:t>
            </a:r>
          </a:p>
        </p:txBody>
      </p:sp>
      <p:sp>
        <p:nvSpPr>
          <p:cNvPr id="1081" name="TextBox 1080"/>
          <p:cNvSpPr txBox="1"/>
          <p:nvPr/>
        </p:nvSpPr>
        <p:spPr>
          <a:xfrm>
            <a:off x="534506" y="3457575"/>
            <a:ext cx="248493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E5B28"/>
                </a:solidFill>
                <a:latin typeface="X5 Sans Medium"/>
              </a:rPr>
              <a:t>1 форма: ×1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534506" y="3886200"/>
            <a:ext cx="2484930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E5B28"/>
                </a:solidFill>
                <a:latin typeface="X5 Sans Medium"/>
              </a:rPr>
              <a:t>читатель объектов A</a:t>
            </a:r>
          </a:p>
        </p:txBody>
      </p:sp>
      <p:sp>
        <p:nvSpPr>
          <p:cNvPr id="1049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393960" y="1143000"/>
            <a:ext cx="2877287" cy="3171824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TextBox 1082"/>
          <p:cNvSpPr txBox="1"/>
          <p:nvPr/>
        </p:nvSpPr>
        <p:spPr>
          <a:xfrm>
            <a:off x="3572304" y="1245869"/>
            <a:ext cx="2520599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E5B28"/>
                </a:solidFill>
                <a:latin typeface="X5 Sans Medium"/>
              </a:rPr>
              <a:t>POLY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3572304" y="1314450"/>
            <a:ext cx="2520599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1E5B28"/>
                </a:solidFill>
                <a:latin typeface="X5 Sans"/>
              </a:rPr>
              <a:t>2–4 формы</a:t>
            </a:r>
          </a:p>
        </p:txBody>
      </p:sp>
      <p:sp>
        <p:nvSpPr>
          <p:cNvPr id="1085" name="Rounded Rectangle 1084"/>
          <p:cNvSpPr/>
          <p:nvPr/>
        </p:nvSpPr>
        <p:spPr>
          <a:xfrm>
            <a:off x="3590138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6" name="TextBox 1085"/>
          <p:cNvSpPr txBox="1"/>
          <p:nvPr/>
        </p:nvSpPr>
        <p:spPr>
          <a:xfrm>
            <a:off x="3590138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E5B28"/>
                </a:solidFill>
                <a:latin typeface="X5 Sans"/>
              </a:rPr>
              <a:t>1</a:t>
            </a:r>
          </a:p>
        </p:txBody>
      </p:sp>
      <p:sp>
        <p:nvSpPr>
          <p:cNvPr id="1087" name="Rounded Rectangle 1086"/>
          <p:cNvSpPr/>
          <p:nvPr/>
        </p:nvSpPr>
        <p:spPr>
          <a:xfrm>
            <a:off x="3857655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8" name="TextBox 1087"/>
          <p:cNvSpPr txBox="1"/>
          <p:nvPr/>
        </p:nvSpPr>
        <p:spPr>
          <a:xfrm>
            <a:off x="3857655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E5B28"/>
                </a:solidFill>
                <a:latin typeface="X5 Sans"/>
              </a:rPr>
              <a:t>2</a:t>
            </a:r>
          </a:p>
        </p:txBody>
      </p:sp>
      <p:sp>
        <p:nvSpPr>
          <p:cNvPr id="1089" name="Rounded Rectangle 1088"/>
          <p:cNvSpPr/>
          <p:nvPr/>
        </p:nvSpPr>
        <p:spPr>
          <a:xfrm>
            <a:off x="4125171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0" name="TextBox 1089"/>
          <p:cNvSpPr txBox="1"/>
          <p:nvPr/>
        </p:nvSpPr>
        <p:spPr>
          <a:xfrm>
            <a:off x="4125171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1E5B28"/>
                </a:solidFill>
                <a:latin typeface="X5 Sans"/>
              </a:rPr>
              <a:t>3</a:t>
            </a:r>
          </a:p>
        </p:txBody>
      </p:sp>
      <p:cxnSp>
        <p:nvCxnSpPr>
          <p:cNvPr id="1091" name="Connector 1090"/>
          <p:cNvCxnSpPr/>
          <p:nvPr/>
        </p:nvCxnSpPr>
        <p:spPr>
          <a:xfrm>
            <a:off x="3706062" y="1965959"/>
            <a:ext cx="0" cy="22288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2" name="Rounded Rectangle 1091"/>
          <p:cNvSpPr/>
          <p:nvPr/>
        </p:nvSpPr>
        <p:spPr>
          <a:xfrm>
            <a:off x="3590138" y="2188845"/>
            <a:ext cx="1159237" cy="37719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3" name="TextBox 1092"/>
          <p:cNvSpPr txBox="1"/>
          <p:nvPr/>
        </p:nvSpPr>
        <p:spPr>
          <a:xfrm>
            <a:off x="3643642" y="2188845"/>
            <a:ext cx="105223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32" b="0">
                <a:solidFill>
                  <a:srgbClr val="1E5B28"/>
                </a:solidFill>
                <a:latin typeface="Consolas"/>
              </a:rPr>
              <a:t>u.plan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3590138" y="2686050"/>
            <a:ext cx="248493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E5B28"/>
                </a:solidFill>
                <a:latin typeface="X5 Sans"/>
              </a:rPr>
              <a:t>перебор короткого списка форм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3590138" y="3457575"/>
            <a:ext cx="248493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E5B28"/>
                </a:solidFill>
                <a:latin typeface="X5 Sans Medium"/>
              </a:rPr>
              <a:t>4 формы: ×1.3</a:t>
            </a:r>
          </a:p>
        </p:txBody>
      </p:sp>
      <p:sp>
        <p:nvSpPr>
          <p:cNvPr id="1050" name="Скругленный прямоугольник 12">
            <a:extLst>
              <a:ext uri="{FF2B5EF4-FFF2-40B4-BE49-F238E27FC236}">
                <a16:creationId xmlns:a16="http://schemas.microsoft.com/office/drawing/2014/main" id="{4A6C495B-3C28-BDB7-EB0A-99C6A1C5ED23}"/>
              </a:ext>
            </a:extLst>
          </p:cNvPr>
          <p:cNvSpPr/>
          <p:nvPr/>
        </p:nvSpPr>
        <p:spPr>
          <a:xfrm>
            <a:off x="6449592" y="1143000"/>
            <a:ext cx="2877287" cy="3171824"/>
          </a:xfrm>
          <a:prstGeom prst="roundRect">
            <a:avLst>
              <a:gd name="adj" fmla="val 9804"/>
            </a:avLst>
          </a:prstGeom>
          <a:solidFill>
            <a:srgbClr val="FF81A6">
              <a:alpha val="3018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96" name="TextBox 1095"/>
          <p:cNvSpPr txBox="1"/>
          <p:nvPr/>
        </p:nvSpPr>
        <p:spPr>
          <a:xfrm>
            <a:off x="6627936" y="1245869"/>
            <a:ext cx="2520599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6627936" y="1314450"/>
            <a:ext cx="2520599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8A1538"/>
                </a:solidFill>
                <a:latin typeface="X5 Sans"/>
              </a:rPr>
              <a:t>5+ форм</a:t>
            </a:r>
          </a:p>
        </p:txBody>
      </p:sp>
      <p:sp>
        <p:nvSpPr>
          <p:cNvPr id="1098" name="Rounded Rectangle 1097"/>
          <p:cNvSpPr/>
          <p:nvPr/>
        </p:nvSpPr>
        <p:spPr>
          <a:xfrm>
            <a:off x="6645770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9" name="TextBox 1098"/>
          <p:cNvSpPr txBox="1"/>
          <p:nvPr/>
        </p:nvSpPr>
        <p:spPr>
          <a:xfrm>
            <a:off x="6645770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1</a:t>
            </a:r>
          </a:p>
        </p:txBody>
      </p:sp>
      <p:sp>
        <p:nvSpPr>
          <p:cNvPr id="1100" name="Rounded Rectangle 1099"/>
          <p:cNvSpPr/>
          <p:nvPr/>
        </p:nvSpPr>
        <p:spPr>
          <a:xfrm>
            <a:off x="6913287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1" name="TextBox 1100"/>
          <p:cNvSpPr txBox="1"/>
          <p:nvPr/>
        </p:nvSpPr>
        <p:spPr>
          <a:xfrm>
            <a:off x="6913287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2</a:t>
            </a:r>
          </a:p>
        </p:txBody>
      </p:sp>
      <p:sp>
        <p:nvSpPr>
          <p:cNvPr id="1102" name="Rounded Rectangle 1101"/>
          <p:cNvSpPr/>
          <p:nvPr/>
        </p:nvSpPr>
        <p:spPr>
          <a:xfrm>
            <a:off x="7180803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3" name="TextBox 1102"/>
          <p:cNvSpPr txBox="1"/>
          <p:nvPr/>
        </p:nvSpPr>
        <p:spPr>
          <a:xfrm>
            <a:off x="7180803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3</a:t>
            </a:r>
          </a:p>
        </p:txBody>
      </p:sp>
      <p:sp>
        <p:nvSpPr>
          <p:cNvPr id="1104" name="Rounded Rectangle 1103"/>
          <p:cNvSpPr/>
          <p:nvPr/>
        </p:nvSpPr>
        <p:spPr>
          <a:xfrm>
            <a:off x="7448320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5" name="TextBox 1104"/>
          <p:cNvSpPr txBox="1"/>
          <p:nvPr/>
        </p:nvSpPr>
        <p:spPr>
          <a:xfrm>
            <a:off x="7448320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4</a:t>
            </a:r>
          </a:p>
        </p:txBody>
      </p:sp>
      <p:sp>
        <p:nvSpPr>
          <p:cNvPr id="1106" name="Rounded Rectangle 1105"/>
          <p:cNvSpPr/>
          <p:nvPr/>
        </p:nvSpPr>
        <p:spPr>
          <a:xfrm>
            <a:off x="7715835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7" name="TextBox 1106"/>
          <p:cNvSpPr txBox="1"/>
          <p:nvPr/>
        </p:nvSpPr>
        <p:spPr>
          <a:xfrm>
            <a:off x="7715835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5</a:t>
            </a:r>
          </a:p>
        </p:txBody>
      </p:sp>
      <p:sp>
        <p:nvSpPr>
          <p:cNvPr id="1108" name="Rounded Rectangle 1107"/>
          <p:cNvSpPr/>
          <p:nvPr/>
        </p:nvSpPr>
        <p:spPr>
          <a:xfrm>
            <a:off x="7983353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9" name="TextBox 1108"/>
          <p:cNvSpPr txBox="1"/>
          <p:nvPr/>
        </p:nvSpPr>
        <p:spPr>
          <a:xfrm>
            <a:off x="7983353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6</a:t>
            </a:r>
          </a:p>
        </p:txBody>
      </p:sp>
      <p:sp>
        <p:nvSpPr>
          <p:cNvPr id="1110" name="Rounded Rectangle 1109"/>
          <p:cNvSpPr/>
          <p:nvPr/>
        </p:nvSpPr>
        <p:spPr>
          <a:xfrm>
            <a:off x="8250868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1" name="TextBox 1110"/>
          <p:cNvSpPr txBox="1"/>
          <p:nvPr/>
        </p:nvSpPr>
        <p:spPr>
          <a:xfrm>
            <a:off x="8250868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7</a:t>
            </a:r>
          </a:p>
        </p:txBody>
      </p:sp>
      <p:sp>
        <p:nvSpPr>
          <p:cNvPr id="1112" name="Rounded Rectangle 1111"/>
          <p:cNvSpPr/>
          <p:nvPr/>
        </p:nvSpPr>
        <p:spPr>
          <a:xfrm>
            <a:off x="8518385" y="1743075"/>
            <a:ext cx="231847" cy="222884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3" name="TextBox 1112"/>
          <p:cNvSpPr txBox="1"/>
          <p:nvPr/>
        </p:nvSpPr>
        <p:spPr>
          <a:xfrm>
            <a:off x="8518385" y="1743075"/>
            <a:ext cx="231847" cy="222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8A1538"/>
                </a:solidFill>
                <a:latin typeface="X5 Sans"/>
              </a:rPr>
              <a:t>8</a:t>
            </a:r>
          </a:p>
        </p:txBody>
      </p:sp>
      <p:cxnSp>
        <p:nvCxnSpPr>
          <p:cNvPr id="1114" name="Connector 1113"/>
          <p:cNvCxnSpPr/>
          <p:nvPr/>
        </p:nvCxnSpPr>
        <p:spPr>
          <a:xfrm>
            <a:off x="6761694" y="1965959"/>
            <a:ext cx="0" cy="222885"/>
          </a:xfrm>
          <a:prstGeom prst="line">
            <a:avLst/>
          </a:prstGeom>
          <a:ln w="15875">
            <a:solidFill>
              <a:srgbClr val="8A1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5" name="Rounded Rectangle 1114"/>
          <p:cNvSpPr/>
          <p:nvPr/>
        </p:nvSpPr>
        <p:spPr>
          <a:xfrm>
            <a:off x="6645770" y="2188845"/>
            <a:ext cx="1159237" cy="37719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6" name="TextBox 1115"/>
          <p:cNvSpPr txBox="1"/>
          <p:nvPr/>
        </p:nvSpPr>
        <p:spPr>
          <a:xfrm>
            <a:off x="6699274" y="2188845"/>
            <a:ext cx="105223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32" b="0">
                <a:solidFill>
                  <a:srgbClr val="8A1538"/>
                </a:solidFill>
                <a:latin typeface="Consolas"/>
              </a:rPr>
              <a:t>u.plan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6645770" y="2686050"/>
            <a:ext cx="2484930" cy="814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A1538"/>
                </a:solidFill>
                <a:latin typeface="X5 Sans"/>
              </a:rPr>
              <a:t>общий словарь движка: форма + имя поля → где лежит</a:t>
            </a:r>
          </a:p>
        </p:txBody>
      </p:sp>
      <p:sp>
        <p:nvSpPr>
          <p:cNvPr id="1118" name="TextBox 1117"/>
          <p:cNvSpPr txBox="1"/>
          <p:nvPr/>
        </p:nvSpPr>
        <p:spPr>
          <a:xfrm>
            <a:off x="6645770" y="3457575"/>
            <a:ext cx="248493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A1538"/>
                </a:solidFill>
                <a:latin typeface="X5 Sans Medium"/>
              </a:rPr>
              <a:t>8 форм: ×2.7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6645770" y="3886200"/>
            <a:ext cx="2484930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A1538"/>
                </a:solidFill>
                <a:latin typeface="X5 Sans Medium"/>
              </a:rPr>
              <a:t>читатель объектов B</a:t>
            </a:r>
          </a:p>
        </p:txBody>
      </p:sp>
      <p:sp>
        <p:nvSpPr>
          <p:cNvPr id="1051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443412"/>
            <a:ext cx="8988552" cy="1157287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605844" y="4443412"/>
            <a:ext cx="4815295" cy="1157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X5 Sans"/>
              </a:rPr>
              <a:t>место чтения запоминает формы</a:t>
            </a:r>
          </a:p>
          <a:p>
            <a:pPr algn="l">
              <a:spcAft>
                <a:spcPts val="300"/>
              </a:spcAft>
            </a:pPr>
            <a:r>
              <a:rPr sz="1232" b="0">
                <a:solidFill>
                  <a:srgbClr val="FFFFFF"/>
                </a:solidFill>
                <a:latin typeface="Consolas"/>
              </a:rPr>
              <a:t>inline cache</a:t>
            </a:r>
            <a:r>
              <a:rPr sz="1400" b="0">
                <a:solidFill>
                  <a:srgbClr val="FFFFFF"/>
                </a:solidFill>
                <a:latin typeface="X5 Sans"/>
              </a:rPr>
              <a:t> · память у места кода, не у объекта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5331967" y="4443412"/>
            <a:ext cx="3816567" cy="11572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E0FBCC"/>
                </a:solidFill>
                <a:latin typeface="X5 Sans Medium"/>
              </a:rPr>
              <a:t>MEGA / MONO, одно поле</a:t>
            </a:r>
          </a:p>
          <a:p>
            <a:pPr algn="ctr"/>
            <a:r>
              <a:rPr sz="2000" b="0">
                <a:solidFill>
                  <a:srgbClr val="E0FBCC"/>
                </a:solidFill>
                <a:latin typeface="X5 Sans Medium"/>
              </a:rPr>
              <a:t>×2.7 Node 24 · ×3.4 Node 22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Журнал --log-ic: 1 → P →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3.3</a:t>
            </a:r>
          </a:p>
        </p:txBody>
      </p:sp>
      <p:sp>
        <p:nvSpPr>
          <p:cNvPr id="105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TextBox 1052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5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57" name="Rounded Rectangle 1056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8" name="TextBox 1057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60" name="Rounded Rectangle 1059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1" name="TextBox 1060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63" name="Rounded Rectangle 1062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4" name="TextBox 1063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5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6" name="Connector 1065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Oval 1066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8" name="Oval 1067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9" name="Oval 1068"/>
          <p:cNvSpPr/>
          <p:nvPr/>
        </p:nvSpPr>
        <p:spPr>
          <a:xfrm>
            <a:off x="9970285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0" name="Oval 1069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1" name="Oval 1070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2" name="Oval 1071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3" name="Oval 1072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4" name="Oval 1073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5" name="Oval 1074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6" name="Oval 1075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7" name="Oval 1076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8" name="Oval 1077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TextBox 1078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3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1080" name="Rounded Rectangle 1079"/>
          <p:cNvSpPr/>
          <p:nvPr/>
        </p:nvSpPr>
        <p:spPr>
          <a:xfrm>
            <a:off x="338328" y="1143000"/>
            <a:ext cx="6152877" cy="3428999"/>
          </a:xfrm>
          <a:prstGeom prst="roundRect">
            <a:avLst>
              <a:gd name="adj" fmla="val 4000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1" name="Oval 1080"/>
          <p:cNvSpPr/>
          <p:nvPr/>
        </p:nvSpPr>
        <p:spPr>
          <a:xfrm>
            <a:off x="516672" y="1280160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2" name="Oval 1081"/>
          <p:cNvSpPr/>
          <p:nvPr/>
        </p:nvSpPr>
        <p:spPr>
          <a:xfrm>
            <a:off x="695016" y="1280160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3" name="Oval 1082"/>
          <p:cNvSpPr/>
          <p:nvPr/>
        </p:nvSpPr>
        <p:spPr>
          <a:xfrm>
            <a:off x="873360" y="1280160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4" name="TextBox 1083"/>
          <p:cNvSpPr txBox="1"/>
          <p:nvPr/>
        </p:nvSpPr>
        <p:spPr>
          <a:xfrm>
            <a:off x="1230049" y="1228724"/>
            <a:ext cx="508281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скрин R4 · одно место: u.plan в читателе, строка 30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561258" y="1503044"/>
            <a:ext cx="5707017" cy="295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AADC00"/>
                </a:solidFill>
                <a:latin typeface="Consolas"/>
              </a:rPr>
              <a:t>$ node --allow-natives-syntax --log-ic --no-logfile-per-isolate \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AADC00"/>
                </a:solidFill>
                <a:latin typeface="Consolas"/>
              </a:rPr>
              <a:t>    --logfile=b.log shape-analyzer.js ref-b.js &gt; /dev/null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AADC00"/>
                </a:solidFill>
                <a:latin typeface="Consolas"/>
              </a:rPr>
              <a:t>$ grep ^LoadIC b.log | grep ',30,9,' | cut -d, -f1,4-9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,0,1,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0x3093ac1963b1,plan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,1,P,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0x3093ac195f81,plan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,P,P,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0x3093ac196279,plan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,P,P,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0x3093ac196011,plan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,P,N,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0x3093ac196b49,plan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,N,N,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0x3093ac196c91,plan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,N,N,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0x3093ac1964b9,plan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,N,N,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0x3093ac196159,plan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AADC00"/>
                </a:solidFill>
                <a:latin typeface="Consolas"/>
              </a:rPr>
              <a:t>$ node --allow-natives-syntax --log-ic --no-logfile-per-isolate \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AADC00"/>
                </a:solidFill>
                <a:latin typeface="Consolas"/>
              </a:rPr>
              <a:t>    --logfile=a.log shape-analyzer.js ref-a.js &gt; /dev/null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AADC00"/>
                </a:solidFill>
                <a:latin typeface="Consolas"/>
              </a:rPr>
              <a:t>$ grep ^LoadIC a.log | grep ',30,9,' | cut -d, -f1,4-9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6F2E9"/>
                </a:solidFill>
                <a:latin typeface="Consolas"/>
              </a:rPr>
              <a:t>LoadIC,30,9</a:t>
            </a:r>
            <a:r>
              <a:rPr sz="1050" b="1">
                <a:solidFill>
                  <a:srgbClr val="FF9DB8"/>
                </a:solidFill>
                <a:latin typeface="Consolas"/>
              </a:rPr>
              <a:t>,0,1,</a:t>
            </a:r>
            <a:r>
              <a:rPr sz="1050" b="0">
                <a:solidFill>
                  <a:srgbClr val="E6F2E9"/>
                </a:solidFill>
                <a:latin typeface="Consolas"/>
              </a:rPr>
              <a:t>0x3c9e6d815ff9,plan</a:t>
            </a:r>
          </a:p>
        </p:txBody>
      </p:sp>
      <p:sp>
        <p:nvSpPr>
          <p:cNvPr id="1055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6919232" y="1143000"/>
            <a:ext cx="2407647" cy="342899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TextBox 1085"/>
          <p:cNvSpPr txBox="1"/>
          <p:nvPr/>
        </p:nvSpPr>
        <p:spPr>
          <a:xfrm>
            <a:off x="7186748" y="1297305"/>
            <a:ext cx="1872615" cy="3120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X5 Sans Medium"/>
              </a:rPr>
              <a:t>1 → P → N</a:t>
            </a:r>
          </a:p>
          <a:p>
            <a:pPr algn="ctr"/>
          </a:p>
          <a:p>
            <a:pPr algn="ctr"/>
            <a:r>
              <a:rPr sz="1700" b="0">
                <a:solidFill>
                  <a:srgbClr val="FFFFFF"/>
                </a:solidFill>
                <a:latin typeface="X5 Sans"/>
              </a:rPr>
              <a:t>N — на пятой форме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X5 Sans"/>
              </a:rPr>
              <a:t>после первых вызовов</a:t>
            </a:r>
          </a:p>
          <a:p>
            <a:pPr algn="ctr"/>
          </a:p>
          <a:p>
            <a:pPr algn="ctr"/>
            <a:r>
              <a:rPr sz="1700" b="0">
                <a:solidFill>
                  <a:srgbClr val="FFFFFF"/>
                </a:solidFill>
                <a:latin typeface="X5 Sans"/>
              </a:rPr>
              <a:t>A: одна строка</a:t>
            </a:r>
          </a:p>
        </p:txBody>
      </p:sp>
      <p:sp>
        <p:nvSpPr>
          <p:cNvPr id="1056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38328" y="4743450"/>
            <a:ext cx="8988552" cy="857249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TextBox 1086"/>
          <p:cNvSpPr txBox="1"/>
          <p:nvPr/>
        </p:nvSpPr>
        <p:spPr>
          <a:xfrm>
            <a:off x="445334" y="4805171"/>
            <a:ext cx="8774538" cy="733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шаг 3 на карте — место чтения: A </a:t>
            </a:r>
            <a:r>
              <a:rPr sz="1500" b="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 b="0">
                <a:solidFill>
                  <a:srgbClr val="1E5B28"/>
                </a:solidFill>
                <a:latin typeface="X5 Sans"/>
              </a:rPr>
              <a:t> / B </a:t>
            </a:r>
            <a:r>
              <a:rPr sz="1500" b="0">
                <a:solidFill>
                  <a:srgbClr val="1E5B28"/>
                </a:solidFill>
                <a:latin typeface="X5 Sans Medium"/>
              </a:rPr>
              <a:t>MEGA</a:t>
            </a:r>
          </a:p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в шапке справа заполнилась вторая строка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t>Два вопроса</a:t>
            </a:r>
          </a:p>
        </p:txBody>
      </p:sp>
      <p:sp>
        <p:nvSpPr>
          <p:cNvPr id="1057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3533241" y="1097280"/>
            <a:ext cx="512521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3533241" y="1097280"/>
            <a:ext cx="51252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Цена объяснена. Улика — ещё нет</a:t>
            </a:r>
          </a:p>
        </p:txBody>
      </p:sp>
      <p:sp>
        <p:nvSpPr>
          <p:cNvPr id="1058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TextBox 1058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1. Спасёт ли компилятор B?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2. Растёт ли цена с числом чтений?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мы · после узла 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8225" y="2216766"/>
            <a:ext cx="10556095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9768" y="3624942"/>
            <a:ext cx="488550" cy="718457"/>
          </a:xfrm>
          <a:prstGeom prst="roundRect">
            <a:avLst>
              <a:gd name="adj" fmla="val 14973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3624942"/>
            <a:ext cx="488550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4458353"/>
            <a:ext cx="488550" cy="718457"/>
          </a:xfrm>
          <a:prstGeom prst="roundRect">
            <a:avLst>
              <a:gd name="adj" fmla="val 14973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9768" y="4458353"/>
            <a:ext cx="488550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331322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1322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8225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хук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6513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5657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93945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5657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3945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6513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shape-analyzer</a:t>
            </a:r>
          </a:p>
        </p:txBody>
      </p:sp>
      <p:sp>
        <p:nvSpPr>
          <p:cNvPr id="17" name="Oval 16"/>
          <p:cNvSpPr/>
          <p:nvPr/>
        </p:nvSpPr>
        <p:spPr>
          <a:xfrm>
            <a:off x="2214807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14807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1709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вызов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9997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9141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77429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9141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77429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9997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%HaveSameMap</a:t>
            </a:r>
          </a:p>
        </p:txBody>
      </p:sp>
      <p:sp>
        <p:nvSpPr>
          <p:cNvPr id="26" name="Oval 25"/>
          <p:cNvSpPr/>
          <p:nvPr/>
        </p:nvSpPr>
        <p:spPr>
          <a:xfrm>
            <a:off x="2984488" y="1844318"/>
            <a:ext cx="744896" cy="744896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3098292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98292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5194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первые вызовы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33482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42626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60914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MONO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42626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960914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MEGA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3482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--log-ic</a:t>
            </a:r>
          </a:p>
        </p:txBody>
      </p:sp>
      <p:sp>
        <p:nvSpPr>
          <p:cNvPr id="36" name="Diamond 35"/>
          <p:cNvSpPr/>
          <p:nvPr/>
        </p:nvSpPr>
        <p:spPr>
          <a:xfrm>
            <a:off x="3669356" y="2087444"/>
            <a:ext cx="258644" cy="258644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3981776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981776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8678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первые мс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6966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ярусы</a:t>
            </a:r>
          </a:p>
        </p:txBody>
      </p:sp>
      <p:sp>
        <p:nvSpPr>
          <p:cNvPr id="41" name="Oval 40"/>
          <p:cNvSpPr/>
          <p:nvPr/>
        </p:nvSpPr>
        <p:spPr>
          <a:xfrm>
            <a:off x="4865261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65261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2163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после компиляции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0451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ставка</a:t>
            </a:r>
          </a:p>
        </p:txBody>
      </p:sp>
      <p:sp>
        <p:nvSpPr>
          <p:cNvPr id="45" name="Diamond 44"/>
          <p:cNvSpPr/>
          <p:nvPr/>
        </p:nvSpPr>
        <p:spPr>
          <a:xfrm>
            <a:off x="5436325" y="2087444"/>
            <a:ext cx="258644" cy="258644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5748745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748745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5647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прод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3935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сервис</a:t>
            </a:r>
          </a:p>
        </p:txBody>
      </p:sp>
      <p:sp>
        <p:nvSpPr>
          <p:cNvPr id="50" name="Oval 49"/>
          <p:cNvSpPr/>
          <p:nvPr/>
        </p:nvSpPr>
        <p:spPr>
          <a:xfrm>
            <a:off x="6632230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32230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9132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2010–2017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7420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2014</a:t>
            </a:r>
          </a:p>
        </p:txBody>
      </p:sp>
      <p:sp>
        <p:nvSpPr>
          <p:cNvPr id="54" name="Oval 53"/>
          <p:cNvSpPr/>
          <p:nvPr/>
        </p:nvSpPr>
        <p:spPr>
          <a:xfrm>
            <a:off x="7515714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515714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2617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2017–2023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50905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2017</a:t>
            </a:r>
          </a:p>
        </p:txBody>
      </p:sp>
      <p:sp>
        <p:nvSpPr>
          <p:cNvPr id="58" name="Diamond 57"/>
          <p:cNvSpPr/>
          <p:nvPr/>
        </p:nvSpPr>
        <p:spPr>
          <a:xfrm>
            <a:off x="8086779" y="2087444"/>
            <a:ext cx="258644" cy="258644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8399199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399199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16101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2023–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34389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2027</a:t>
            </a:r>
          </a:p>
        </p:txBody>
      </p:sp>
      <p:sp>
        <p:nvSpPr>
          <p:cNvPr id="63" name="Oval 62"/>
          <p:cNvSpPr/>
          <p:nvPr/>
        </p:nvSpPr>
        <p:spPr>
          <a:xfrm>
            <a:off x="9282683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282683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9586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с 2008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17874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67" name="Oval 66"/>
          <p:cNvSpPr/>
          <p:nvPr/>
        </p:nvSpPr>
        <p:spPr>
          <a:xfrm>
            <a:off x="10166168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0166168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83070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01358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71" name="Oval 70"/>
          <p:cNvSpPr/>
          <p:nvPr/>
        </p:nvSpPr>
        <p:spPr>
          <a:xfrm>
            <a:off x="11049653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049653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66555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финал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84843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снова слайд 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Лестница по вызовам</a:t>
            </a:r>
          </a:p>
        </p:txBody>
      </p:sp>
      <p:sp>
        <p:nvSpPr>
          <p:cNvPr id="1059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4 из 12</a:t>
            </a:r>
          </a:p>
        </p:txBody>
      </p:sp>
      <p:sp>
        <p:nvSpPr>
          <p:cNvPr id="1060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TextBox 1060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Спасёт ли компилятор B от налога?</a:t>
            </a:r>
          </a:p>
        </p:txBody>
      </p:sp>
      <p:sp>
        <p:nvSpPr>
          <p:cNvPr id="1062" name="Oval 1061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3" name="Oval 1062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4" name="Oval 1063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5" name="Oval 1064"/>
          <p:cNvSpPr/>
          <p:nvPr/>
        </p:nvSpPr>
        <p:spPr>
          <a:xfrm>
            <a:off x="5227167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6" name="Oval 1065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7" name="Oval 1066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8" name="Oval 1067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9" name="Oval 1068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0" name="Oval 1069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1" name="Oval 1070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2" name="Oval 1071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3" name="Oval 1072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Спасёт ли компилятор 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4.1</a:t>
            </a:r>
          </a:p>
        </p:txBody>
      </p:sp>
      <p:sp>
        <p:nvSpPr>
          <p:cNvPr id="106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TextBox 1061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6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TextBox 1063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66" name="Rounded Rectangle 1065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7" name="TextBox 1066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69" name="Rounded Rectangle 1068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0" name="TextBox 1069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72" name="Rounded Rectangle 1071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3" name="TextBox 1072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6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5" name="Connector 1074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6" name="Oval 1075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7" name="Oval 1076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8" name="Oval 1077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Oval 1078"/>
          <p:cNvSpPr/>
          <p:nvPr/>
        </p:nvSpPr>
        <p:spPr>
          <a:xfrm>
            <a:off x="10145683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0" name="Oval 1079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1" name="Oval 1080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2" name="Oval 1081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3" name="Oval 1082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4" name="Oval 1083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5" name="Oval 1084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6" name="Oval 1085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7" name="Oval 1086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8" name="TextBox 1087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4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sp>
        <p:nvSpPr>
          <p:cNvPr id="106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1143000"/>
            <a:ext cx="2853508" cy="480059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TextBox 1088"/>
          <p:cNvSpPr txBox="1"/>
          <p:nvPr/>
        </p:nvSpPr>
        <p:spPr>
          <a:xfrm>
            <a:off x="338328" y="1143000"/>
            <a:ext cx="2853508" cy="48005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X5 Sans Medium"/>
              </a:rPr>
              <a:t>Нет.</a:t>
            </a:r>
          </a:p>
        </p:txBody>
      </p:sp>
      <p:sp>
        <p:nvSpPr>
          <p:cNvPr id="106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619862" y="1143000"/>
            <a:ext cx="5707017" cy="1500187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3816040" y="1297305"/>
            <a:ext cx="503822" cy="32575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TextBox 1089"/>
          <p:cNvSpPr txBox="1"/>
          <p:nvPr/>
        </p:nvSpPr>
        <p:spPr>
          <a:xfrm>
            <a:off x="3816040" y="1297305"/>
            <a:ext cx="503822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3931964" y="1674494"/>
            <a:ext cx="5082812" cy="8572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rgbClr val="1E5B28"/>
                </a:solidFill>
                <a:latin typeface="X5 Sans Medium"/>
              </a:rPr>
              <a:t>0.12 мс</a:t>
            </a:r>
          </a:p>
        </p:txBody>
      </p:sp>
      <p:sp>
        <p:nvSpPr>
          <p:cNvPr id="1067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619862" y="2814637"/>
            <a:ext cx="5707017" cy="1500187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68" name="Скругленный прямоугольник 12">
            <a:extLst>
              <a:ext uri="{FF2B5EF4-FFF2-40B4-BE49-F238E27FC236}">
                <a16:creationId xmlns:a16="http://schemas.microsoft.com/office/drawing/2014/main" id="{4A6C495B-3C28-BDB7-EB0A-99C6A1C5ED23}"/>
              </a:ext>
            </a:extLst>
          </p:cNvPr>
          <p:cNvSpPr/>
          <p:nvPr/>
        </p:nvSpPr>
        <p:spPr>
          <a:xfrm>
            <a:off x="3816040" y="2968942"/>
            <a:ext cx="503822" cy="325754"/>
          </a:xfrm>
          <a:prstGeom prst="roundRect">
            <a:avLst>
              <a:gd name="adj" fmla="val 9804"/>
            </a:avLst>
          </a:prstGeom>
          <a:solidFill>
            <a:srgbClr val="FF81A6">
              <a:alpha val="3018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092" name="TextBox 1091"/>
          <p:cNvSpPr txBox="1"/>
          <p:nvPr/>
        </p:nvSpPr>
        <p:spPr>
          <a:xfrm>
            <a:off x="3816040" y="2968942"/>
            <a:ext cx="503822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3931964" y="3346132"/>
            <a:ext cx="5082812" cy="8572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0">
                <a:solidFill>
                  <a:srgbClr val="1E5B28"/>
                </a:solidFill>
                <a:latin typeface="X5 Sans Medium"/>
              </a:rPr>
              <a:t>0.79 мс</a:t>
            </a:r>
          </a:p>
        </p:txBody>
      </p:sp>
      <p:sp>
        <p:nvSpPr>
          <p:cNvPr id="1069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619862" y="4486275"/>
            <a:ext cx="5707017" cy="728662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3753620" y="4563427"/>
            <a:ext cx="5439500" cy="574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E5B28"/>
                </a:solidFill>
                <a:latin typeface="X5 Sans"/>
              </a:rPr>
              <a:t>горячий цикл = давно скомпилированный код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3619862" y="5343525"/>
            <a:ext cx="5707017" cy="5143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X5 Sans"/>
              </a:rPr>
              <a:t>читатель у обеих версий уже оптимизирован — проверено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Ярус — способ исполнить функцию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4.2</a:t>
            </a:r>
          </a:p>
        </p:txBody>
      </p:sp>
      <p:sp>
        <p:nvSpPr>
          <p:cNvPr id="107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TextBox 1070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7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75" name="Rounded Rectangle 1074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6" name="TextBox 1075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78" name="Rounded Rectangle 1077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TextBox 1078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81" name="Rounded Rectangle 1080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2" name="TextBox 1081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7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4" name="Connector 1083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Oval 1084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6" name="Oval 1085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7" name="Oval 1086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8" name="Oval 1087"/>
          <p:cNvSpPr/>
          <p:nvPr/>
        </p:nvSpPr>
        <p:spPr>
          <a:xfrm>
            <a:off x="10145683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9" name="Oval 1088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0" name="Oval 1089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1" name="Oval 1090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2" name="Oval 1091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3" name="Oval 1092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4" name="Oval 1093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5" name="Oval 1094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6" name="Oval 1095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7" name="TextBox 1096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4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cxnSp>
        <p:nvCxnSpPr>
          <p:cNvPr id="1098" name="Connector 1097"/>
          <p:cNvCxnSpPr/>
          <p:nvPr/>
        </p:nvCxnSpPr>
        <p:spPr>
          <a:xfrm>
            <a:off x="338328" y="3929062"/>
            <a:ext cx="8988552" cy="0"/>
          </a:xfrm>
          <a:prstGeom prst="line">
            <a:avLst/>
          </a:prstGeom>
          <a:ln w="2222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9" name="TextBox 1098"/>
          <p:cNvSpPr txBox="1"/>
          <p:nvPr/>
        </p:nvSpPr>
        <p:spPr>
          <a:xfrm>
            <a:off x="6562543" y="4271962"/>
            <a:ext cx="276433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количество вызовов → (Node 24)</a:t>
            </a:r>
          </a:p>
        </p:txBody>
      </p:sp>
      <p:sp>
        <p:nvSpPr>
          <p:cNvPr id="1100" name="Rounded Rectangle 1099"/>
          <p:cNvSpPr/>
          <p:nvPr/>
        </p:nvSpPr>
        <p:spPr>
          <a:xfrm>
            <a:off x="427500" y="3297814"/>
            <a:ext cx="2149048" cy="631246"/>
          </a:xfrm>
          <a:prstGeom prst="roundRect">
            <a:avLst>
              <a:gd name="adj" fmla="val 108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1" name="TextBox 1100"/>
          <p:cNvSpPr txBox="1"/>
          <p:nvPr/>
        </p:nvSpPr>
        <p:spPr>
          <a:xfrm>
            <a:off x="498837" y="3332104"/>
            <a:ext cx="2006373" cy="56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 Medium"/>
              </a:rPr>
              <a:t>Ignition</a:t>
            </a:r>
          </a:p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"/>
              </a:rPr>
              <a:t>интерпретатор</a:t>
            </a:r>
          </a:p>
        </p:txBody>
      </p:sp>
      <p:cxnSp>
        <p:nvCxnSpPr>
          <p:cNvPr id="1102" name="Connector 1101"/>
          <p:cNvCxnSpPr/>
          <p:nvPr/>
        </p:nvCxnSpPr>
        <p:spPr>
          <a:xfrm>
            <a:off x="427500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3" name="TextBox 1102"/>
          <p:cNvSpPr txBox="1"/>
          <p:nvPr/>
        </p:nvSpPr>
        <p:spPr>
          <a:xfrm>
            <a:off x="409665" y="4031932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вызов 1</a:t>
            </a:r>
          </a:p>
        </p:txBody>
      </p:sp>
      <p:sp>
        <p:nvSpPr>
          <p:cNvPr id="1104" name="Rounded Rectangle 1103"/>
          <p:cNvSpPr/>
          <p:nvPr/>
        </p:nvSpPr>
        <p:spPr>
          <a:xfrm>
            <a:off x="2630052" y="2982190"/>
            <a:ext cx="2149048" cy="946871"/>
          </a:xfrm>
          <a:prstGeom prst="roundRect">
            <a:avLst>
              <a:gd name="adj" fmla="val 7242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5" name="TextBox 1104"/>
          <p:cNvSpPr txBox="1"/>
          <p:nvPr/>
        </p:nvSpPr>
        <p:spPr>
          <a:xfrm>
            <a:off x="2701389" y="3016480"/>
            <a:ext cx="2006373" cy="8782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Sparkplug</a:t>
            </a:r>
          </a:p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быстрый компилятор</a:t>
            </a:r>
          </a:p>
        </p:txBody>
      </p:sp>
      <p:cxnSp>
        <p:nvCxnSpPr>
          <p:cNvPr id="1106" name="Connector 1105"/>
          <p:cNvCxnSpPr/>
          <p:nvPr/>
        </p:nvCxnSpPr>
        <p:spPr>
          <a:xfrm>
            <a:off x="2630052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7" name="TextBox 1106"/>
          <p:cNvSpPr txBox="1"/>
          <p:nvPr/>
        </p:nvSpPr>
        <p:spPr>
          <a:xfrm>
            <a:off x="2612217" y="4031932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десятки</a:t>
            </a:r>
          </a:p>
        </p:txBody>
      </p:sp>
      <p:sp>
        <p:nvSpPr>
          <p:cNvPr id="1108" name="Rounded Rectangle 1107"/>
          <p:cNvSpPr/>
          <p:nvPr/>
        </p:nvSpPr>
        <p:spPr>
          <a:xfrm>
            <a:off x="4832604" y="2491219"/>
            <a:ext cx="2149048" cy="1437841"/>
          </a:xfrm>
          <a:prstGeom prst="roundRect">
            <a:avLst>
              <a:gd name="adj" fmla="val 4769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9" name="TextBox 1108"/>
          <p:cNvSpPr txBox="1"/>
          <p:nvPr/>
        </p:nvSpPr>
        <p:spPr>
          <a:xfrm>
            <a:off x="4903941" y="2525509"/>
            <a:ext cx="2006373" cy="1369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Maglev</a:t>
            </a:r>
          </a:p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первый оптимизирующий</a:t>
            </a:r>
          </a:p>
        </p:txBody>
      </p:sp>
      <p:cxnSp>
        <p:nvCxnSpPr>
          <p:cNvPr id="1110" name="Connector 1109"/>
          <p:cNvCxnSpPr/>
          <p:nvPr/>
        </p:nvCxnSpPr>
        <p:spPr>
          <a:xfrm>
            <a:off x="4832604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1" name="TextBox 1110"/>
          <p:cNvSpPr txBox="1"/>
          <p:nvPr/>
        </p:nvSpPr>
        <p:spPr>
          <a:xfrm>
            <a:off x="4814769" y="4031932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~тысяча</a:t>
            </a:r>
          </a:p>
        </p:txBody>
      </p:sp>
      <p:sp>
        <p:nvSpPr>
          <p:cNvPr id="1112" name="Rounded Rectangle 1111"/>
          <p:cNvSpPr/>
          <p:nvPr/>
        </p:nvSpPr>
        <p:spPr>
          <a:xfrm>
            <a:off x="7035155" y="2000249"/>
            <a:ext cx="2149048" cy="1928812"/>
          </a:xfrm>
          <a:prstGeom prst="roundRect">
            <a:avLst>
              <a:gd name="adj" fmla="val 3555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3" name="TextBox 1112"/>
          <p:cNvSpPr txBox="1"/>
          <p:nvPr/>
        </p:nvSpPr>
        <p:spPr>
          <a:xfrm>
            <a:off x="7106493" y="2034539"/>
            <a:ext cx="2006373" cy="1860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TurboFan</a:t>
            </a:r>
          </a:p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самый сильный</a:t>
            </a:r>
          </a:p>
        </p:txBody>
      </p:sp>
      <p:cxnSp>
        <p:nvCxnSpPr>
          <p:cNvPr id="1114" name="Connector 1113"/>
          <p:cNvCxnSpPr/>
          <p:nvPr/>
        </p:nvCxnSpPr>
        <p:spPr>
          <a:xfrm>
            <a:off x="7035155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5" name="TextBox 1114"/>
          <p:cNvSpPr txBox="1"/>
          <p:nvPr/>
        </p:nvSpPr>
        <p:spPr>
          <a:xfrm>
            <a:off x="7017321" y="4031932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&gt;10 тысяч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427500" y="4271962"/>
            <a:ext cx="59566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X5 Sans"/>
              </a:rPr>
              <a:t>следующий ярус компилируется в фоне — функция не ждёт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338328" y="4614862"/>
            <a:ext cx="8988552" cy="1328737"/>
          </a:xfrm>
          <a:prstGeom prst="roundRect">
            <a:avLst>
              <a:gd name="adj" fmla="val 10322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Oval 1117"/>
          <p:cNvSpPr/>
          <p:nvPr/>
        </p:nvSpPr>
        <p:spPr>
          <a:xfrm>
            <a:off x="516672" y="4752022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9" name="Oval 1118"/>
          <p:cNvSpPr/>
          <p:nvPr/>
        </p:nvSpPr>
        <p:spPr>
          <a:xfrm>
            <a:off x="695016" y="4752022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0" name="Oval 1119"/>
          <p:cNvSpPr/>
          <p:nvPr/>
        </p:nvSpPr>
        <p:spPr>
          <a:xfrm>
            <a:off x="873360" y="4752022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1" name="TextBox 1120"/>
          <p:cNvSpPr txBox="1"/>
          <p:nvPr/>
        </p:nvSpPr>
        <p:spPr>
          <a:xfrm>
            <a:off x="1230049" y="4700586"/>
            <a:ext cx="79184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скрин R5 · байткод Ignition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561258" y="4974907"/>
            <a:ext cx="8542691" cy="8572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AADC00"/>
                </a:solidFill>
                <a:latin typeface="Consolas"/>
              </a:rPr>
              <a:t>$ node --print-bytecode --print-bytecode-filter=normalizeUser ref-a.js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6F2E9"/>
                </a:solidFill>
                <a:latin typeface="Consolas"/>
              </a:rPr>
              <a:t>  110 S&gt; 0x34e3243c40 @    0 : 85 00 00 29       </a:t>
            </a:r>
            <a:r>
              <a:rPr sz="1200" b="1">
                <a:solidFill>
                  <a:srgbClr val="FF9DB8"/>
                </a:solidFill>
                <a:latin typeface="Consolas"/>
              </a:rPr>
              <a:t>CreateObjectLiteral</a:t>
            </a:r>
            <a:r>
              <a:rPr sz="1200" b="0">
                <a:solidFill>
                  <a:srgbClr val="E6F2E9"/>
                </a:solidFill>
                <a:latin typeface="Consolas"/>
              </a:rPr>
              <a:t> [0], [0], #41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6F2E9"/>
                </a:solidFill>
                <a:latin typeface="Consolas"/>
              </a:rPr>
              <a:t>  131 E&gt; 0x34e3243c45 @    5 : 33 03 01 01       </a:t>
            </a:r>
            <a:r>
              <a:rPr sz="1200" b="1">
                <a:solidFill>
                  <a:srgbClr val="FF9DB8"/>
                </a:solidFill>
                <a:latin typeface="Consolas"/>
              </a:rPr>
              <a:t>GetNamedProperty</a:t>
            </a:r>
            <a:r>
              <a:rPr sz="1200" b="0">
                <a:solidFill>
                  <a:srgbClr val="E6F2E9"/>
                </a:solidFill>
                <a:latin typeface="Consolas"/>
              </a:rPr>
              <a:t> a0, [1], [1]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6F2E9"/>
                </a:solidFill>
                <a:latin typeface="Consolas"/>
              </a:rPr>
              <a:t>         0x34e3243c49 @    9 : 3a f9 01 03       </a:t>
            </a:r>
            <a:r>
              <a:rPr sz="1200" b="1">
                <a:solidFill>
                  <a:srgbClr val="FF9DB8"/>
                </a:solidFill>
                <a:latin typeface="Consolas"/>
              </a:rPr>
              <a:t>DefineNamedOwnProperty</a:t>
            </a:r>
            <a:r>
              <a:rPr sz="1200" b="0">
                <a:solidFill>
                  <a:srgbClr val="E6F2E9"/>
                </a:solidFill>
                <a:latin typeface="Consolas"/>
              </a:rPr>
              <a:t> r0, [1], [3]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Цена ступеней: ×13.5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4.3</a:t>
            </a:r>
          </a:p>
        </p:txBody>
      </p:sp>
      <p:sp>
        <p:nvSpPr>
          <p:cNvPr id="107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TextBox 1073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7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TextBox 1075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78" name="Rounded Rectangle 1077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9" name="TextBox 1078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81" name="Rounded Rectangle 1080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2" name="TextBox 1081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84" name="Rounded Rectangle 1083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5" name="TextBox 1084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7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7" name="Connector 1086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8" name="Oval 1087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9" name="Oval 1088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0" name="Oval 1089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1" name="Oval 1090"/>
          <p:cNvSpPr/>
          <p:nvPr/>
        </p:nvSpPr>
        <p:spPr>
          <a:xfrm>
            <a:off x="10145683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2" name="Oval 1091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3" name="Oval 1092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4" name="Oval 1093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5" name="Oval 1094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6" name="Oval 1095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7" name="Oval 1096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8" name="Oval 1097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9" name="Oval 1098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0" name="TextBox 1099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4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graphicFrame>
        <p:nvGraphicFramePr>
          <p:cNvPr id="1101" name="Chart 1100"/>
          <p:cNvGraphicFramePr>
            <a:graphicFrameLocks noGrp="1"/>
          </p:cNvGraphicFramePr>
          <p:nvPr/>
        </p:nvGraphicFramePr>
        <p:xfrm>
          <a:off x="338328" y="1143000"/>
          <a:ext cx="5528672" cy="39433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7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089931" y="1143000"/>
            <a:ext cx="3236948" cy="1157287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TextBox 1101"/>
          <p:cNvSpPr txBox="1"/>
          <p:nvPr/>
        </p:nvSpPr>
        <p:spPr>
          <a:xfrm>
            <a:off x="6196937" y="1204721"/>
            <a:ext cx="3022934" cy="1033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×13.5</a:t>
            </a:r>
            <a:r>
              <a:rPr sz="1500" b="0">
                <a:solidFill>
                  <a:srgbClr val="1E5B28"/>
                </a:solidFill>
                <a:latin typeface="X5 Sans"/>
              </a:rPr>
              <a:t> · один и тот же код</a:t>
            </a:r>
          </a:p>
          <a:p>
            <a:pPr algn="ctr">
              <a:spcAft>
                <a:spcPts val="3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--max-opt=0 / 1 / 2 / 3</a:t>
            </a:r>
          </a:p>
        </p:txBody>
      </p:sp>
      <p:sp>
        <p:nvSpPr>
          <p:cNvPr id="1077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6089931" y="2428874"/>
            <a:ext cx="3236948" cy="600074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6179103" y="2480309"/>
            <a:ext cx="3058603" cy="497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X5 Sans"/>
              </a:rPr>
              <a:t>почему не сразу TurboFan?</a:t>
            </a:r>
          </a:p>
        </p:txBody>
      </p:sp>
      <p:sp>
        <p:nvSpPr>
          <p:cNvPr id="1078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6089931" y="3114674"/>
            <a:ext cx="3236948" cy="942975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04" name="TextBox 1103"/>
          <p:cNvSpPr txBox="1"/>
          <p:nvPr/>
        </p:nvSpPr>
        <p:spPr>
          <a:xfrm>
            <a:off x="6179103" y="3166110"/>
            <a:ext cx="3058603" cy="840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компиляция в TurboFan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в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разы</a:t>
            </a:r>
            <a:r>
              <a:rPr sz="1400" b="0">
                <a:solidFill>
                  <a:srgbClr val="1E5B28"/>
                </a:solidFill>
                <a:latin typeface="X5 Sans"/>
              </a:rPr>
              <a:t> дороже, чем в Maglev</a:t>
            </a:r>
          </a:p>
        </p:txBody>
      </p:sp>
      <p:sp>
        <p:nvSpPr>
          <p:cNvPr id="1079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6089931" y="4143375"/>
            <a:ext cx="3236948" cy="942975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05" name="TextBox 1104"/>
          <p:cNvSpPr txBox="1"/>
          <p:nvPr/>
        </p:nvSpPr>
        <p:spPr>
          <a:xfrm>
            <a:off x="6179103" y="4194809"/>
            <a:ext cx="3058603" cy="840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старт </a:t>
            </a:r>
            <a:r>
              <a:rPr sz="1232" b="0">
                <a:solidFill>
                  <a:srgbClr val="1E5B28"/>
                </a:solidFill>
                <a:latin typeface="Consolas"/>
              </a:rPr>
              <a:t>npm</a:t>
            </a:r>
            <a:r>
              <a:rPr sz="1400" b="0">
                <a:solidFill>
                  <a:srgbClr val="1E5B28"/>
                </a:solidFill>
                <a:latin typeface="X5 Sans"/>
              </a:rPr>
              <a:t>: из сотен функций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до TurboFan дошла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одна</a:t>
            </a:r>
          </a:p>
        </p:txBody>
      </p:sp>
      <p:sp>
        <p:nvSpPr>
          <p:cNvPr id="1080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38328" y="5172075"/>
            <a:ext cx="8988552" cy="771524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427500" y="5223509"/>
            <a:ext cx="8810207" cy="66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32" b="0">
                <a:solidFill>
                  <a:srgbClr val="1E5B28"/>
                </a:solidFill>
                <a:latin typeface="Consolas"/>
              </a:rPr>
              <a:t>--always-turbofan</a:t>
            </a:r>
            <a:r>
              <a:rPr sz="1400" b="0">
                <a:solidFill>
                  <a:srgbClr val="1E5B28"/>
                </a:solidFill>
                <a:latin typeface="X5 Sans"/>
              </a:rPr>
              <a:t> (Node 24): старт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вдвое дольше</a:t>
            </a:r>
            <a:r>
              <a:rPr sz="1400" b="0">
                <a:solidFill>
                  <a:srgbClr val="1E5B28"/>
                </a:solidFill>
                <a:latin typeface="X5 Sans"/>
              </a:rPr>
              <a:t> · а на первом вызове компилятору не на что опереться: наблюдений ещё нет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Ставка: что вшивают верхние ярусы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4.4</a:t>
            </a:r>
          </a:p>
        </p:txBody>
      </p:sp>
      <p:sp>
        <p:nvSpPr>
          <p:cNvPr id="108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8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TextBox 1083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86" name="Rounded Rectangle 1085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7" name="TextBox 1086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89" name="Rounded Rectangle 1088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0" name="TextBox 1089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92" name="Rounded Rectangle 1091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3" name="TextBox 1092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8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5" name="Connector 1094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6" name="Oval 1095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7" name="Oval 1096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8" name="Oval 1097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9" name="Oval 1098"/>
          <p:cNvSpPr/>
          <p:nvPr/>
        </p:nvSpPr>
        <p:spPr>
          <a:xfrm>
            <a:off x="10145683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0" name="Oval 1099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1" name="Oval 1100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2" name="Oval 1101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3" name="Oval 1102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4" name="Oval 1103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5" name="Oval 1104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6" name="Oval 1105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7" name="Oval 1106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8" name="TextBox 1107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4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cxnSp>
        <p:nvCxnSpPr>
          <p:cNvPr id="1109" name="Connector 1108"/>
          <p:cNvCxnSpPr/>
          <p:nvPr/>
        </p:nvCxnSpPr>
        <p:spPr>
          <a:xfrm>
            <a:off x="338328" y="3328986"/>
            <a:ext cx="8988552" cy="0"/>
          </a:xfrm>
          <a:prstGeom prst="line">
            <a:avLst/>
          </a:prstGeom>
          <a:ln w="2222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0" name="TextBox 1109"/>
          <p:cNvSpPr txBox="1"/>
          <p:nvPr/>
        </p:nvSpPr>
        <p:spPr>
          <a:xfrm>
            <a:off x="6562543" y="3671887"/>
            <a:ext cx="276433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количество вызовов → (Node 24)</a:t>
            </a:r>
          </a:p>
        </p:txBody>
      </p:sp>
      <p:sp>
        <p:nvSpPr>
          <p:cNvPr id="1111" name="Rounded Rectangle 1110"/>
          <p:cNvSpPr/>
          <p:nvPr/>
        </p:nvSpPr>
        <p:spPr>
          <a:xfrm>
            <a:off x="427500" y="2894127"/>
            <a:ext cx="2149048" cy="434859"/>
          </a:xfrm>
          <a:prstGeom prst="roundRect">
            <a:avLst>
              <a:gd name="adj" fmla="val 1577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2" name="TextBox 1111"/>
          <p:cNvSpPr txBox="1"/>
          <p:nvPr/>
        </p:nvSpPr>
        <p:spPr>
          <a:xfrm>
            <a:off x="498837" y="2928417"/>
            <a:ext cx="2006373" cy="366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 Medium"/>
              </a:rPr>
              <a:t>Ignition</a:t>
            </a:r>
          </a:p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"/>
              </a:rPr>
              <a:t>интерпретатор</a:t>
            </a:r>
          </a:p>
        </p:txBody>
      </p:sp>
      <p:cxnSp>
        <p:nvCxnSpPr>
          <p:cNvPr id="1113" name="Connector 1112"/>
          <p:cNvCxnSpPr/>
          <p:nvPr/>
        </p:nvCxnSpPr>
        <p:spPr>
          <a:xfrm>
            <a:off x="427500" y="3328986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4" name="TextBox 1113"/>
          <p:cNvSpPr txBox="1"/>
          <p:nvPr/>
        </p:nvSpPr>
        <p:spPr>
          <a:xfrm>
            <a:off x="409665" y="3431857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вызов 1</a:t>
            </a:r>
          </a:p>
        </p:txBody>
      </p:sp>
      <p:sp>
        <p:nvSpPr>
          <p:cNvPr id="1115" name="Rounded Rectangle 1114"/>
          <p:cNvSpPr/>
          <p:nvPr/>
        </p:nvSpPr>
        <p:spPr>
          <a:xfrm>
            <a:off x="2630052" y="2676697"/>
            <a:ext cx="2149048" cy="652289"/>
          </a:xfrm>
          <a:prstGeom prst="roundRect">
            <a:avLst>
              <a:gd name="adj" fmla="val 10513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6" name="TextBox 1115"/>
          <p:cNvSpPr txBox="1"/>
          <p:nvPr/>
        </p:nvSpPr>
        <p:spPr>
          <a:xfrm>
            <a:off x="2701389" y="2710987"/>
            <a:ext cx="2006373" cy="5837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 Medium"/>
              </a:rPr>
              <a:t>Sparkplug</a:t>
            </a:r>
          </a:p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"/>
              </a:rPr>
              <a:t>быстрый компилятор</a:t>
            </a:r>
          </a:p>
        </p:txBody>
      </p:sp>
      <p:cxnSp>
        <p:nvCxnSpPr>
          <p:cNvPr id="1117" name="Connector 1116"/>
          <p:cNvCxnSpPr/>
          <p:nvPr/>
        </p:nvCxnSpPr>
        <p:spPr>
          <a:xfrm>
            <a:off x="2630052" y="3328986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8" name="TextBox 1117"/>
          <p:cNvSpPr txBox="1"/>
          <p:nvPr/>
        </p:nvSpPr>
        <p:spPr>
          <a:xfrm>
            <a:off x="2612217" y="3431857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десятки</a:t>
            </a:r>
          </a:p>
        </p:txBody>
      </p:sp>
      <p:sp>
        <p:nvSpPr>
          <p:cNvPr id="1119" name="Rounded Rectangle 1118"/>
          <p:cNvSpPr/>
          <p:nvPr/>
        </p:nvSpPr>
        <p:spPr>
          <a:xfrm>
            <a:off x="4832604" y="2338473"/>
            <a:ext cx="2149048" cy="990512"/>
          </a:xfrm>
          <a:prstGeom prst="roundRect">
            <a:avLst>
              <a:gd name="adj" fmla="val 6923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0" name="TextBox 1119"/>
          <p:cNvSpPr txBox="1"/>
          <p:nvPr/>
        </p:nvSpPr>
        <p:spPr>
          <a:xfrm>
            <a:off x="4903941" y="2372763"/>
            <a:ext cx="2006373" cy="9219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Maglev</a:t>
            </a:r>
          </a:p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первый оптимизирующий</a:t>
            </a:r>
          </a:p>
        </p:txBody>
      </p:sp>
      <p:cxnSp>
        <p:nvCxnSpPr>
          <p:cNvPr id="1121" name="Connector 1120"/>
          <p:cNvCxnSpPr/>
          <p:nvPr/>
        </p:nvCxnSpPr>
        <p:spPr>
          <a:xfrm>
            <a:off x="4832604" y="3328986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2" name="TextBox 1121"/>
          <p:cNvSpPr txBox="1"/>
          <p:nvPr/>
        </p:nvSpPr>
        <p:spPr>
          <a:xfrm>
            <a:off x="4814769" y="3431857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~тысяча</a:t>
            </a:r>
          </a:p>
        </p:txBody>
      </p:sp>
      <p:sp>
        <p:nvSpPr>
          <p:cNvPr id="1123" name="Rounded Rectangle 1122"/>
          <p:cNvSpPr/>
          <p:nvPr/>
        </p:nvSpPr>
        <p:spPr>
          <a:xfrm>
            <a:off x="7035155" y="2000249"/>
            <a:ext cx="2149048" cy="1328736"/>
          </a:xfrm>
          <a:prstGeom prst="roundRect">
            <a:avLst>
              <a:gd name="adj" fmla="val 5161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4" name="TextBox 1123"/>
          <p:cNvSpPr txBox="1"/>
          <p:nvPr/>
        </p:nvSpPr>
        <p:spPr>
          <a:xfrm>
            <a:off x="7106493" y="2034539"/>
            <a:ext cx="2006373" cy="12601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TurboFan</a:t>
            </a:r>
          </a:p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самый сильный</a:t>
            </a:r>
          </a:p>
        </p:txBody>
      </p:sp>
      <p:cxnSp>
        <p:nvCxnSpPr>
          <p:cNvPr id="1125" name="Connector 1124"/>
          <p:cNvCxnSpPr/>
          <p:nvPr/>
        </p:nvCxnSpPr>
        <p:spPr>
          <a:xfrm>
            <a:off x="7035155" y="3328986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6" name="TextBox 1125"/>
          <p:cNvSpPr txBox="1"/>
          <p:nvPr/>
        </p:nvSpPr>
        <p:spPr>
          <a:xfrm>
            <a:off x="7017321" y="3431857"/>
            <a:ext cx="220255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&gt;10 тысяч</a:t>
            </a:r>
          </a:p>
        </p:txBody>
      </p:sp>
      <p:cxnSp>
        <p:nvCxnSpPr>
          <p:cNvPr id="1127" name="Connector 1126"/>
          <p:cNvCxnSpPr/>
          <p:nvPr/>
        </p:nvCxnSpPr>
        <p:spPr>
          <a:xfrm>
            <a:off x="427500" y="1545907"/>
            <a:ext cx="4351600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Connector 1127"/>
          <p:cNvCxnSpPr/>
          <p:nvPr/>
        </p:nvCxnSpPr>
        <p:spPr>
          <a:xfrm>
            <a:off x="427500" y="1545907"/>
            <a:ext cx="0" cy="85725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Connector 1128"/>
          <p:cNvCxnSpPr/>
          <p:nvPr/>
        </p:nvCxnSpPr>
        <p:spPr>
          <a:xfrm>
            <a:off x="4779100" y="1545907"/>
            <a:ext cx="0" cy="85725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0" name="TextBox 1129"/>
          <p:cNvSpPr txBox="1"/>
          <p:nvPr/>
        </p:nvSpPr>
        <p:spPr>
          <a:xfrm>
            <a:off x="427500" y="1057275"/>
            <a:ext cx="4351600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читают записи мест чтения, ничего не предполагают</a:t>
            </a:r>
          </a:p>
        </p:txBody>
      </p:sp>
      <p:cxnSp>
        <p:nvCxnSpPr>
          <p:cNvPr id="1131" name="Connector 1130"/>
          <p:cNvCxnSpPr/>
          <p:nvPr/>
        </p:nvCxnSpPr>
        <p:spPr>
          <a:xfrm>
            <a:off x="4832604" y="1545907"/>
            <a:ext cx="4351600" cy="0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2" name="Connector 1131"/>
          <p:cNvCxnSpPr/>
          <p:nvPr/>
        </p:nvCxnSpPr>
        <p:spPr>
          <a:xfrm>
            <a:off x="4832604" y="1545907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nector 1132"/>
          <p:cNvCxnSpPr/>
          <p:nvPr/>
        </p:nvCxnSpPr>
        <p:spPr>
          <a:xfrm>
            <a:off x="9184204" y="1545907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4" name="TextBox 1133"/>
          <p:cNvSpPr txBox="1"/>
          <p:nvPr/>
        </p:nvSpPr>
        <p:spPr>
          <a:xfrm>
            <a:off x="4832604" y="1057275"/>
            <a:ext cx="4351600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"/>
              </a:rPr>
              <a:t>вшивают в код ставку на увиденные формы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427500" y="3671887"/>
            <a:ext cx="595669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X5 Sans"/>
              </a:rPr>
              <a:t>следующий ярус компилируется в фоне — функция не ждёт</a:t>
            </a:r>
          </a:p>
        </p:txBody>
      </p:sp>
      <p:sp>
        <p:nvSpPr>
          <p:cNvPr id="108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100512"/>
            <a:ext cx="8988552" cy="1457324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TextBox 1135"/>
          <p:cNvSpPr txBox="1"/>
          <p:nvPr/>
        </p:nvSpPr>
        <p:spPr>
          <a:xfrm>
            <a:off x="605844" y="4254817"/>
            <a:ext cx="8453519" cy="11487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X5 Sans Medium"/>
              </a:rPr>
              <a:t>ставка</a:t>
            </a:r>
            <a:r>
              <a:rPr sz="1600" b="0">
                <a:solidFill>
                  <a:srgbClr val="FFFFFF"/>
                </a:solidFill>
                <a:latin typeface="X5 Sans"/>
              </a:rPr>
              <a:t> — что вшито в код читателя: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X5 Sans"/>
              </a:rPr>
              <a:t>форма u — та, что в записях?  нет → ?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X5 Sans"/>
              </a:rPr>
              <a:t>да → plan читается по готовому месту: одна инструкция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X5 Sans"/>
              </a:rPr>
              <a:t>форм 2–4 → несколько сравнений · 5+ → ставки нет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Ставка и событие wrong map</a:t>
            </a:r>
          </a:p>
        </p:txBody>
      </p:sp>
      <p:sp>
        <p:nvSpPr>
          <p:cNvPr id="1085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TextBox 1085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5 из 12</a:t>
            </a:r>
          </a:p>
        </p:txBody>
      </p:sp>
      <p:sp>
        <p:nvSpPr>
          <p:cNvPr id="1086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TextBox 1086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Что будет со ставкой, когда к читателю B придёт форма, которой компилятор не видел?</a:t>
            </a:r>
          </a:p>
        </p:txBody>
      </p:sp>
      <p:sp>
        <p:nvSpPr>
          <p:cNvPr id="1088" name="Oval 1087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9" name="Oval 1088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0" name="Oval 1089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1" name="Oval 1090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2" name="Oval 1091"/>
          <p:cNvSpPr/>
          <p:nvPr/>
        </p:nvSpPr>
        <p:spPr>
          <a:xfrm>
            <a:off x="5538063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3" name="Oval 1092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4" name="Oval 1093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5" name="Oval 1094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6" name="Oval 1095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7" name="Oval 1096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8" name="Oval 1097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9" name="Oval 1098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Ставка не сыграла: wrong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5.1</a:t>
            </a:r>
          </a:p>
        </p:txBody>
      </p:sp>
      <p:sp>
        <p:nvSpPr>
          <p:cNvPr id="108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8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TextBox 1089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92" name="Rounded Rectangle 1091"/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3" name="TextBox 1092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95" name="Rounded Rectangle 1094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6" name="TextBox 1095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98" name="Rounded Rectangle 1097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9" name="TextBox 1098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8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1" name="Connector 1100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2" name="Oval 1101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3" name="Oval 1102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4" name="Oval 1103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5" name="Oval 1104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6" name="Oval 1105"/>
          <p:cNvSpPr/>
          <p:nvPr/>
        </p:nvSpPr>
        <p:spPr>
          <a:xfrm>
            <a:off x="10321082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7" name="Oval 1106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8" name="Oval 1107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9" name="Oval 1108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0" name="Oval 1109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1" name="Oval 1110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2" name="Oval 1111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3" name="Oval 1112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4" name="TextBox 1113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5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109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8988552" cy="1521618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561258" y="1245869"/>
            <a:ext cx="854269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E5B28"/>
                </a:solidFill>
                <a:latin typeface="X5 Sans Medium"/>
              </a:rPr>
              <a:t>A</a:t>
            </a:r>
            <a:r>
              <a:rPr sz="1400" b="0">
                <a:solidFill>
                  <a:srgbClr val="1E5B28"/>
                </a:solidFill>
                <a:latin typeface="X5 Sans"/>
              </a:rPr>
              <a:t> · читатель объектов A на оптимизирующем ярусе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561258" y="1245869"/>
            <a:ext cx="854269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280"/>
                </a:solidFill>
                <a:latin typeface="X5 Sans"/>
              </a:rPr>
              <a:t>записи: MONO, 1 форма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605844" y="1743075"/>
            <a:ext cx="1583696" cy="428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TextBox 1117"/>
          <p:cNvSpPr txBox="1"/>
          <p:nvPr/>
        </p:nvSpPr>
        <p:spPr>
          <a:xfrm>
            <a:off x="659347" y="1743075"/>
            <a:ext cx="1476690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1E5B28"/>
                </a:solidFill>
                <a:latin typeface="X5 Sans"/>
              </a:rPr>
              <a:t>проверка формы</a:t>
            </a:r>
          </a:p>
        </p:txBody>
      </p:sp>
      <p:cxnSp>
        <p:nvCxnSpPr>
          <p:cNvPr id="1119" name="Connector 1118"/>
          <p:cNvCxnSpPr/>
          <p:nvPr/>
        </p:nvCxnSpPr>
        <p:spPr>
          <a:xfrm>
            <a:off x="2189541" y="1957387"/>
            <a:ext cx="267516" cy="0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0" name="Rounded Rectangle 1119"/>
          <p:cNvSpPr/>
          <p:nvPr/>
        </p:nvSpPr>
        <p:spPr>
          <a:xfrm>
            <a:off x="2457057" y="1743075"/>
            <a:ext cx="1861914" cy="428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1" name="TextBox 1120"/>
          <p:cNvSpPr txBox="1"/>
          <p:nvPr/>
        </p:nvSpPr>
        <p:spPr>
          <a:xfrm>
            <a:off x="2510561" y="1743075"/>
            <a:ext cx="1754907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1E5B28"/>
                </a:solidFill>
                <a:latin typeface="X5 Sans"/>
              </a:rPr>
              <a:t>быстрый путь вшит</a:t>
            </a:r>
          </a:p>
        </p:txBody>
      </p:sp>
      <p:cxnSp>
        <p:nvCxnSpPr>
          <p:cNvPr id="1122" name="Connector 1121"/>
          <p:cNvCxnSpPr/>
          <p:nvPr/>
        </p:nvCxnSpPr>
        <p:spPr>
          <a:xfrm>
            <a:off x="4318971" y="1957387"/>
            <a:ext cx="4740390" cy="0"/>
          </a:xfrm>
          <a:prstGeom prst="line">
            <a:avLst/>
          </a:prstGeom>
          <a:ln w="38100">
            <a:solidFill>
              <a:srgbClr val="3FA3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3" name="TextBox 1122"/>
          <p:cNvSpPr txBox="1"/>
          <p:nvPr/>
        </p:nvSpPr>
        <p:spPr>
          <a:xfrm>
            <a:off x="605844" y="2257425"/>
            <a:ext cx="845351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X5 Sans"/>
              </a:rPr>
              <a:t>ставка играет каждый вызов · у читателя строки wrong map нет (0 из 5 прогонов)</a:t>
            </a:r>
          </a:p>
        </p:txBody>
      </p:sp>
      <p:sp>
        <p:nvSpPr>
          <p:cNvPr id="1091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38328" y="2836068"/>
            <a:ext cx="8988552" cy="1521618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24" name="TextBox 1123"/>
          <p:cNvSpPr txBox="1"/>
          <p:nvPr/>
        </p:nvSpPr>
        <p:spPr>
          <a:xfrm>
            <a:off x="561258" y="2938938"/>
            <a:ext cx="854269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1538"/>
                </a:solidFill>
                <a:latin typeface="X5 Sans Medium"/>
              </a:rPr>
              <a:t>B</a:t>
            </a:r>
            <a:r>
              <a:rPr sz="1400" b="0">
                <a:solidFill>
                  <a:srgbClr val="8A1538"/>
                </a:solidFill>
                <a:latin typeface="X5 Sans"/>
              </a:rPr>
              <a:t> · читатель объектов B на оптимизирующем ярусе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561258" y="2938938"/>
            <a:ext cx="8542691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280"/>
                </a:solidFill>
                <a:latin typeface="X5 Sans"/>
              </a:rPr>
              <a:t>сначала одна форма → потом другая</a:t>
            </a:r>
          </a:p>
        </p:txBody>
      </p:sp>
      <p:sp>
        <p:nvSpPr>
          <p:cNvPr id="1126" name="Rounded Rectangle 1125"/>
          <p:cNvSpPr/>
          <p:nvPr/>
        </p:nvSpPr>
        <p:spPr>
          <a:xfrm>
            <a:off x="605844" y="3436143"/>
            <a:ext cx="2140131" cy="428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7" name="TextBox 1126"/>
          <p:cNvSpPr txBox="1"/>
          <p:nvPr/>
        </p:nvSpPr>
        <p:spPr>
          <a:xfrm>
            <a:off x="659347" y="3436143"/>
            <a:ext cx="2033123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8A1538"/>
                </a:solidFill>
                <a:latin typeface="X5 Sans"/>
              </a:rPr>
              <a:t>ставка на одну форму</a:t>
            </a:r>
          </a:p>
        </p:txBody>
      </p:sp>
      <p:cxnSp>
        <p:nvCxnSpPr>
          <p:cNvPr id="1128" name="Connector 1127"/>
          <p:cNvCxnSpPr/>
          <p:nvPr/>
        </p:nvCxnSpPr>
        <p:spPr>
          <a:xfrm>
            <a:off x="2745975" y="3650456"/>
            <a:ext cx="178344" cy="0"/>
          </a:xfrm>
          <a:prstGeom prst="line">
            <a:avLst/>
          </a:prstGeom>
          <a:ln w="15875">
            <a:solidFill>
              <a:srgbClr val="8A1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9" name="Oval 1128"/>
          <p:cNvSpPr/>
          <p:nvPr/>
        </p:nvSpPr>
        <p:spPr>
          <a:xfrm>
            <a:off x="2772727" y="3590448"/>
            <a:ext cx="124841" cy="120015"/>
          </a:xfrm>
          <a:prstGeom prst="ellipse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0" name="Rounded Rectangle 1129"/>
          <p:cNvSpPr/>
          <p:nvPr/>
        </p:nvSpPr>
        <p:spPr>
          <a:xfrm>
            <a:off x="2924320" y="3436143"/>
            <a:ext cx="1398219" cy="428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1" name="TextBox 1130"/>
          <p:cNvSpPr txBox="1"/>
          <p:nvPr/>
        </p:nvSpPr>
        <p:spPr>
          <a:xfrm>
            <a:off x="2977823" y="3436143"/>
            <a:ext cx="1291212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8A1538"/>
                </a:solidFill>
                <a:latin typeface="X5 Sans"/>
              </a:rPr>
              <a:t>деопт: откат</a:t>
            </a:r>
          </a:p>
        </p:txBody>
      </p:sp>
      <p:cxnSp>
        <p:nvCxnSpPr>
          <p:cNvPr id="1132" name="Connector 1131"/>
          <p:cNvCxnSpPr/>
          <p:nvPr/>
        </p:nvCxnSpPr>
        <p:spPr>
          <a:xfrm>
            <a:off x="4322539" y="3650456"/>
            <a:ext cx="178344" cy="0"/>
          </a:xfrm>
          <a:prstGeom prst="line">
            <a:avLst/>
          </a:prstGeom>
          <a:ln w="15875">
            <a:solidFill>
              <a:srgbClr val="8A1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3" name="Rounded Rectangle 1132"/>
          <p:cNvSpPr/>
          <p:nvPr/>
        </p:nvSpPr>
        <p:spPr>
          <a:xfrm>
            <a:off x="4500883" y="3436143"/>
            <a:ext cx="1769174" cy="428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4" name="TextBox 1133"/>
          <p:cNvSpPr txBox="1"/>
          <p:nvPr/>
        </p:nvSpPr>
        <p:spPr>
          <a:xfrm>
            <a:off x="4554386" y="3436143"/>
            <a:ext cx="1662168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8A1538"/>
                </a:solidFill>
                <a:latin typeface="X5 Sans"/>
              </a:rPr>
              <a:t>записи дополнены</a:t>
            </a:r>
          </a:p>
        </p:txBody>
      </p:sp>
      <p:cxnSp>
        <p:nvCxnSpPr>
          <p:cNvPr id="1135" name="Connector 1134"/>
          <p:cNvCxnSpPr/>
          <p:nvPr/>
        </p:nvCxnSpPr>
        <p:spPr>
          <a:xfrm>
            <a:off x="6270058" y="3650456"/>
            <a:ext cx="178344" cy="0"/>
          </a:xfrm>
          <a:prstGeom prst="line">
            <a:avLst/>
          </a:prstGeom>
          <a:ln w="15875">
            <a:solidFill>
              <a:srgbClr val="8A1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6" name="Rounded Rectangle 1135"/>
          <p:cNvSpPr/>
          <p:nvPr/>
        </p:nvSpPr>
        <p:spPr>
          <a:xfrm>
            <a:off x="6448402" y="3436143"/>
            <a:ext cx="2140131" cy="428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A15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7" name="TextBox 1136"/>
          <p:cNvSpPr txBox="1"/>
          <p:nvPr/>
        </p:nvSpPr>
        <p:spPr>
          <a:xfrm>
            <a:off x="6501905" y="3436143"/>
            <a:ext cx="2033123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8A1538"/>
                </a:solidFill>
                <a:latin typeface="X5 Sans"/>
              </a:rPr>
              <a:t>новый код без ставки</a:t>
            </a:r>
          </a:p>
        </p:txBody>
      </p:sp>
      <p:cxnSp>
        <p:nvCxnSpPr>
          <p:cNvPr id="1138" name="Connector 1137"/>
          <p:cNvCxnSpPr/>
          <p:nvPr/>
        </p:nvCxnSpPr>
        <p:spPr>
          <a:xfrm>
            <a:off x="8588533" y="3650456"/>
            <a:ext cx="470828" cy="0"/>
          </a:xfrm>
          <a:prstGeom prst="line">
            <a:avLst/>
          </a:prstGeom>
          <a:ln w="38100">
            <a:solidFill>
              <a:srgbClr val="D63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9" name="TextBox 1138"/>
          <p:cNvSpPr txBox="1"/>
          <p:nvPr/>
        </p:nvSpPr>
        <p:spPr>
          <a:xfrm>
            <a:off x="2772727" y="3144678"/>
            <a:ext cx="3031852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A1538"/>
                </a:solidFill>
                <a:latin typeface="X5 Sans"/>
              </a:rPr>
              <a:t>↑ </a:t>
            </a:r>
            <a:r>
              <a:rPr sz="1056" b="0">
                <a:solidFill>
                  <a:srgbClr val="8A1538"/>
                </a:solidFill>
                <a:latin typeface="Consolas"/>
              </a:rPr>
              <a:t>reason: wrong map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605844" y="3907631"/>
            <a:ext cx="8453519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X5 Sans"/>
              </a:rPr>
              <a:t>один откат (5 из 5) · дальше — общий путь MEGA · в приборе ставки не было: 0 откатов, и всё равно ×6.6</a:t>
            </a:r>
          </a:p>
        </p:txBody>
      </p:sp>
      <p:sp>
        <p:nvSpPr>
          <p:cNvPr id="1141" name="Rounded Rectangle 1140"/>
          <p:cNvSpPr/>
          <p:nvPr/>
        </p:nvSpPr>
        <p:spPr>
          <a:xfrm>
            <a:off x="338328" y="4443412"/>
            <a:ext cx="8988552" cy="1243012"/>
          </a:xfrm>
          <a:prstGeom prst="roundRect">
            <a:avLst>
              <a:gd name="adj" fmla="val 11034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2" name="Oval 1141"/>
          <p:cNvSpPr/>
          <p:nvPr/>
        </p:nvSpPr>
        <p:spPr>
          <a:xfrm>
            <a:off x="516672" y="4580572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3" name="Oval 1142"/>
          <p:cNvSpPr/>
          <p:nvPr/>
        </p:nvSpPr>
        <p:spPr>
          <a:xfrm>
            <a:off x="695016" y="4580572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4" name="Oval 1143"/>
          <p:cNvSpPr/>
          <p:nvPr/>
        </p:nvSpPr>
        <p:spPr>
          <a:xfrm>
            <a:off x="873360" y="4580572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5" name="TextBox 1144"/>
          <p:cNvSpPr txBox="1"/>
          <p:nvPr/>
        </p:nvSpPr>
        <p:spPr>
          <a:xfrm>
            <a:off x="1230049" y="4529137"/>
            <a:ext cx="7918486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запись R2 · читатель score()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561258" y="4803457"/>
            <a:ext cx="8542691" cy="771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AADC00"/>
                </a:solidFill>
                <a:latin typeface="Consolas"/>
              </a:rPr>
              <a:t>$ node --allow-natives-syntax --trace-deopt demo-wrongmap.js ref-b.js | grep "JSFunction score"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E6F2E9"/>
                </a:solidFill>
                <a:latin typeface="Consolas"/>
              </a:rPr>
              <a:t>[bailout (kind: deopt-eager, reason: </a:t>
            </a:r>
            <a:r>
              <a:rPr sz="1000" b="1">
                <a:solidFill>
                  <a:srgbClr val="FF9DB8"/>
                </a:solidFill>
                <a:latin typeface="Consolas"/>
              </a:rPr>
              <a:t>wrong map</a:t>
            </a:r>
            <a:r>
              <a:rPr sz="1000" b="0">
                <a:solidFill>
                  <a:srgbClr val="E6F2E9"/>
                </a:solidFill>
                <a:latin typeface="Consolas"/>
              </a:rPr>
              <a:t>): begin. deoptimizing &lt;JSFunction score&gt;, &lt;Code TURBOFAN_JS&gt;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AADC00"/>
                </a:solidFill>
                <a:latin typeface="Consolas"/>
              </a:rPr>
              <a:t>$ node --allow-natives-syntax --trace-deopt demo-wrongmap.js ref-a.js | grep "JSFunction score"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9DB8"/>
                </a:solidFill>
                <a:latin typeface="Consolas"/>
              </a:rPr>
              <a:t>(пусто)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Стационар: общий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5.2</a:t>
            </a:r>
          </a:p>
        </p:txBody>
      </p:sp>
      <p:sp>
        <p:nvSpPr>
          <p:cNvPr id="109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TextBox 1092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09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TextBox 1094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09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099" name="Rounded Rectangle 1098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0" name="TextBox 1099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02" name="Rounded Rectangle 1101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3" name="TextBox 1102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09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5" name="Connector 1104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Oval 1105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7" name="Oval 1106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8" name="Oval 1107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9" name="Oval 1108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0" name="Oval 1109"/>
          <p:cNvSpPr/>
          <p:nvPr/>
        </p:nvSpPr>
        <p:spPr>
          <a:xfrm>
            <a:off x="10321082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1" name="Oval 1110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2" name="Oval 1111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3" name="Oval 1112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4" name="Oval 1113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5" name="Oval 1114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6" name="Oval 1115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7" name="Oval 1116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TextBox 1117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5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109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8988552" cy="48005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605844" y="1314450"/>
            <a:ext cx="8453519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0">
                <a:solidFill>
                  <a:srgbClr val="1E5B28"/>
                </a:solidFill>
                <a:latin typeface="X5 Sans Medium"/>
              </a:rPr>
              <a:t>0.79 = цена общего пути</a:t>
            </a:r>
          </a:p>
        </p:txBody>
      </p:sp>
      <p:sp>
        <p:nvSpPr>
          <p:cNvPr id="1097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695016" y="2857499"/>
            <a:ext cx="2609770" cy="1628774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873360" y="2960370"/>
            <a:ext cx="2253081" cy="14230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после отката — перекомпиляция без ставки на одну форму</a:t>
            </a:r>
          </a:p>
        </p:txBody>
      </p:sp>
      <p:sp>
        <p:nvSpPr>
          <p:cNvPr id="1098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3527717" y="2857499"/>
            <a:ext cx="2609770" cy="1628774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3706062" y="2960370"/>
            <a:ext cx="2253081" cy="14230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в приборе ставки не было: у читателя B 0 откатов, TurboFan — и всё равно ×6.6</a:t>
            </a:r>
          </a:p>
        </p:txBody>
      </p:sp>
      <p:sp>
        <p:nvSpPr>
          <p:cNvPr id="1099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6360420" y="2857499"/>
            <a:ext cx="2609770" cy="1628774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6538764" y="2960370"/>
            <a:ext cx="2253081" cy="14230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деопт — событие, оно заканчивается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695016" y="4743450"/>
            <a:ext cx="827517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читатель оптимизирован TurboFan и у A, и у B — проверено </a:t>
            </a:r>
            <a:r>
              <a:rPr sz="1144" b="0">
                <a:solidFill>
                  <a:srgbClr val="6B7280"/>
                </a:solidFill>
                <a:latin typeface="Consolas"/>
              </a:rPr>
              <a:t>%GetOptimizationStatus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Улика прочитана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5.3</a:t>
            </a:r>
          </a:p>
        </p:txBody>
      </p:sp>
      <p:sp>
        <p:nvSpPr>
          <p:cNvPr id="110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TextBox 1100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0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0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TextBox 1104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06" name="TextBox 1105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07" name="Rounded Rectangle 1106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8" name="TextBox 1107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09" name="TextBox 1108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10" name="Rounded Rectangle 1109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1" name="TextBox 1110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0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3" name="Connector 1112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4" name="Oval 1113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5" name="Oval 1114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6" name="Oval 1115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7" name="Oval 1116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Oval 1117"/>
          <p:cNvSpPr/>
          <p:nvPr/>
        </p:nvSpPr>
        <p:spPr>
          <a:xfrm>
            <a:off x="10321082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9" name="Oval 1118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0" name="Oval 1119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1" name="Oval 1120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2" name="Oval 1121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3" name="Oval 1122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4" name="Oval 1123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5" name="Oval 1124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6" name="TextBox 1125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5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1104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38328" y="1143000"/>
            <a:ext cx="4280262" cy="2057399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27" name="TextBox 1126"/>
          <p:cNvSpPr txBox="1"/>
          <p:nvPr/>
        </p:nvSpPr>
        <p:spPr>
          <a:xfrm>
            <a:off x="605844" y="1297305"/>
            <a:ext cx="3745230" cy="1748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88" b="0">
                <a:solidFill>
                  <a:srgbClr val="1E5B28"/>
                </a:solidFill>
                <a:latin typeface="Consolas"/>
              </a:rPr>
              <a:t>reason: wrong map</a:t>
            </a:r>
          </a:p>
        </p:txBody>
      </p:sp>
      <p:sp>
        <p:nvSpPr>
          <p:cNvPr id="1105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338328" y="3414712"/>
            <a:ext cx="2050959" cy="2528887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605844" y="3569017"/>
            <a:ext cx="1515925" cy="22202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map</a:t>
            </a:r>
          </a:p>
          <a:p>
            <a:pPr algn="ctr"/>
            <a:r>
              <a:rPr sz="2000" b="0">
                <a:solidFill>
                  <a:srgbClr val="1E5B28"/>
                </a:solidFill>
                <a:latin typeface="X5 Sans"/>
              </a:rPr>
              <a:t>= форма</a:t>
            </a:r>
          </a:p>
          <a:p>
            <a:pPr algn="ctr"/>
            <a:r>
              <a:rPr sz="2000" b="0">
                <a:solidFill>
                  <a:srgbClr val="1E5B28"/>
                </a:solidFill>
                <a:latin typeface="X5 Sans"/>
              </a:rPr>
              <a:t>(узел 2)</a:t>
            </a:r>
          </a:p>
        </p:txBody>
      </p:sp>
      <p:sp>
        <p:nvSpPr>
          <p:cNvPr id="1106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2567631" y="3414712"/>
            <a:ext cx="2050959" cy="2528887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TextBox 1128"/>
          <p:cNvSpPr txBox="1"/>
          <p:nvPr/>
        </p:nvSpPr>
        <p:spPr>
          <a:xfrm>
            <a:off x="2835147" y="3569017"/>
            <a:ext cx="1515925" cy="22202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wrong</a:t>
            </a:r>
          </a:p>
          <a:p>
            <a:pPr algn="ctr"/>
            <a:r>
              <a:rPr sz="2000" b="0">
                <a:solidFill>
                  <a:srgbClr val="1E5B28"/>
                </a:solidFill>
                <a:latin typeface="X5 Sans"/>
              </a:rPr>
              <a:t>= ставка</a:t>
            </a:r>
          </a:p>
          <a:p>
            <a:pPr algn="ctr"/>
            <a:r>
              <a:rPr sz="2000" b="0">
                <a:solidFill>
                  <a:srgbClr val="1E5B28"/>
                </a:solidFill>
                <a:latin typeface="X5 Sans"/>
              </a:rPr>
              <a:t>(узел 4)</a:t>
            </a:r>
          </a:p>
        </p:txBody>
      </p:sp>
      <p:sp>
        <p:nvSpPr>
          <p:cNvPr id="1107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4823686" y="1143000"/>
            <a:ext cx="4280262" cy="480059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TextBox 1129"/>
          <p:cNvSpPr txBox="1"/>
          <p:nvPr/>
        </p:nvSpPr>
        <p:spPr>
          <a:xfrm>
            <a:off x="4823686" y="1400175"/>
            <a:ext cx="4280262" cy="17144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X5 Sans Medium"/>
              </a:rPr>
              <a:t>2008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5153623" y="3371849"/>
            <a:ext cx="3620388" cy="2228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E0FBCC"/>
                </a:solidFill>
                <a:latin typeface="X5 Sans"/>
              </a:rPr>
              <a:t>формы и записи мест чтения — с первого релиза V8</a:t>
            </a:r>
          </a:p>
          <a:p>
            <a:pPr algn="ctr"/>
          </a:p>
          <a:p>
            <a:pPr algn="ctr"/>
            <a:r>
              <a:rPr sz="1800" b="0">
                <a:solidFill>
                  <a:srgbClr val="E0FBCC"/>
                </a:solidFill>
                <a:latin typeface="X5 Sans"/>
              </a:rPr>
              <a:t>старше всех ступеней лестницы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мы · после узла 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8225" y="2216766"/>
            <a:ext cx="10556095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9768" y="3624942"/>
            <a:ext cx="488550" cy="718457"/>
          </a:xfrm>
          <a:prstGeom prst="roundRect">
            <a:avLst>
              <a:gd name="adj" fmla="val 14973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3624942"/>
            <a:ext cx="488550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4458353"/>
            <a:ext cx="488550" cy="718457"/>
          </a:xfrm>
          <a:prstGeom prst="roundRect">
            <a:avLst>
              <a:gd name="adj" fmla="val 14973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9768" y="4458353"/>
            <a:ext cx="488550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331322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1322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8225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хук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6513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5657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93945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5657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3945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6513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shape-analyzer</a:t>
            </a:r>
          </a:p>
        </p:txBody>
      </p:sp>
      <p:sp>
        <p:nvSpPr>
          <p:cNvPr id="17" name="Oval 16"/>
          <p:cNvSpPr/>
          <p:nvPr/>
        </p:nvSpPr>
        <p:spPr>
          <a:xfrm>
            <a:off x="2214807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14807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1709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вызов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9997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9141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77429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9141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77429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9997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%HaveSameMap</a:t>
            </a:r>
          </a:p>
        </p:txBody>
      </p:sp>
      <p:sp>
        <p:nvSpPr>
          <p:cNvPr id="26" name="Oval 25"/>
          <p:cNvSpPr/>
          <p:nvPr/>
        </p:nvSpPr>
        <p:spPr>
          <a:xfrm>
            <a:off x="3098292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098292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5194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первые вызовы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3482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42626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60914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MONO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42626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960914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MEGA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3482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--log-ic</a:t>
            </a:r>
          </a:p>
        </p:txBody>
      </p:sp>
      <p:sp>
        <p:nvSpPr>
          <p:cNvPr id="35" name="Diamond 34"/>
          <p:cNvSpPr/>
          <p:nvPr/>
        </p:nvSpPr>
        <p:spPr>
          <a:xfrm>
            <a:off x="3669356" y="2087444"/>
            <a:ext cx="258644" cy="258644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3981776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981776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8678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первые мс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6966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26110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844398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26110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844398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6966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--trace-opt</a:t>
            </a:r>
          </a:p>
        </p:txBody>
      </p:sp>
      <p:sp>
        <p:nvSpPr>
          <p:cNvPr id="45" name="Oval 44"/>
          <p:cNvSpPr/>
          <p:nvPr/>
        </p:nvSpPr>
        <p:spPr>
          <a:xfrm>
            <a:off x="4751457" y="1844318"/>
            <a:ext cx="744896" cy="744896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4865261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865261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2163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после компиляции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0451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9595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727883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сыграла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09595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727883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не сыграла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451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--trace-deopt</a:t>
            </a:r>
          </a:p>
        </p:txBody>
      </p:sp>
      <p:sp>
        <p:nvSpPr>
          <p:cNvPr id="55" name="Diamond 54"/>
          <p:cNvSpPr/>
          <p:nvPr/>
        </p:nvSpPr>
        <p:spPr>
          <a:xfrm>
            <a:off x="5436325" y="2087444"/>
            <a:ext cx="258644" cy="258644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748745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748745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65647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прод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83935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сервис</a:t>
            </a:r>
          </a:p>
        </p:txBody>
      </p:sp>
      <p:sp>
        <p:nvSpPr>
          <p:cNvPr id="60" name="Oval 59"/>
          <p:cNvSpPr/>
          <p:nvPr/>
        </p:nvSpPr>
        <p:spPr>
          <a:xfrm>
            <a:off x="6632230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632230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9132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2010–2017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7420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2014</a:t>
            </a:r>
          </a:p>
        </p:txBody>
      </p:sp>
      <p:sp>
        <p:nvSpPr>
          <p:cNvPr id="64" name="Oval 63"/>
          <p:cNvSpPr/>
          <p:nvPr/>
        </p:nvSpPr>
        <p:spPr>
          <a:xfrm>
            <a:off x="7515714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515714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2617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2017–2023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50905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2017</a:t>
            </a:r>
          </a:p>
        </p:txBody>
      </p:sp>
      <p:sp>
        <p:nvSpPr>
          <p:cNvPr id="68" name="Diamond 67"/>
          <p:cNvSpPr/>
          <p:nvPr/>
        </p:nvSpPr>
        <p:spPr>
          <a:xfrm>
            <a:off x="8086779" y="2087444"/>
            <a:ext cx="258644" cy="258644"/>
          </a:xfrm>
          <a:prstGeom prst="diamond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8399199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399199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6101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2023–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34389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2027</a:t>
            </a:r>
          </a:p>
        </p:txBody>
      </p:sp>
      <p:sp>
        <p:nvSpPr>
          <p:cNvPr id="73" name="Oval 72"/>
          <p:cNvSpPr/>
          <p:nvPr/>
        </p:nvSpPr>
        <p:spPr>
          <a:xfrm>
            <a:off x="9282683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282683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9586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с 2008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17874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77" name="Oval 76"/>
          <p:cNvSpPr/>
          <p:nvPr/>
        </p:nvSpPr>
        <p:spPr>
          <a:xfrm>
            <a:off x="10166168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166168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83070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01358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81" name="Oval 80"/>
          <p:cNvSpPr/>
          <p:nvPr/>
        </p:nvSpPr>
        <p:spPr>
          <a:xfrm>
            <a:off x="11049653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1049653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66555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финал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84843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снова слайд 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Установившаяся судьба в сервисе</a:t>
            </a:r>
          </a:p>
        </p:txBody>
      </p:sp>
      <p:sp>
        <p:nvSpPr>
          <p:cNvPr id="1108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6 из 12</a:t>
            </a:r>
          </a:p>
        </p:txBody>
      </p:sp>
      <p:sp>
        <p:nvSpPr>
          <p:cNvPr id="1109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TextBox 1109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Судьбы установились в цикле. А в сервисе, где JSON.parse, база и сеть — сколько от этих шести с лишним раз доживает?</a:t>
            </a:r>
          </a:p>
        </p:txBody>
      </p:sp>
      <p:sp>
        <p:nvSpPr>
          <p:cNvPr id="1111" name="Oval 1110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2" name="Oval 1111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3" name="Oval 1112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4" name="Oval 1113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5" name="Oval 1114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6" name="Oval 1115"/>
          <p:cNvSpPr/>
          <p:nvPr/>
        </p:nvSpPr>
        <p:spPr>
          <a:xfrm>
            <a:off x="5848959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7" name="Oval 1116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Oval 1117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9" name="Oval 1118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0" name="Oval 1119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1" name="Oval 1120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2" name="Oval 1121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rPr sz="3000"/>
              <a:t>Кривая R: цена растёт с числом чтений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6.1</a:t>
            </a:r>
          </a:p>
        </p:txBody>
      </p:sp>
      <p:sp>
        <p:nvSpPr>
          <p:cNvPr id="111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TextBox 1110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1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1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8" name="TextBox 1117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20" name="Rounded Rectangle 1119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1" name="TextBox 1120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1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3" name="Connector 1122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4" name="Oval 1123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5" name="Oval 1124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6" name="Oval 1125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7" name="Oval 1126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8" name="Oval 1127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9" name="Oval 1128"/>
          <p:cNvSpPr/>
          <p:nvPr/>
        </p:nvSpPr>
        <p:spPr>
          <a:xfrm>
            <a:off x="10496480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0" name="Oval 1129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1" name="Oval 1130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2" name="Oval 1131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3" name="Oval 1132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4" name="Oval 1133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5" name="Oval 1134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6" name="TextBox 1135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6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сервис</a:t>
            </a:r>
          </a:p>
        </p:txBody>
      </p:sp>
      <p:sp>
        <p:nvSpPr>
          <p:cNvPr id="1137" name="TextBox 1136"/>
          <p:cNvSpPr txBox="1"/>
          <p:nvPr/>
        </p:nvSpPr>
        <p:spPr>
          <a:xfrm>
            <a:off x="338328" y="1057275"/>
            <a:ext cx="898855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X5 Sans"/>
              </a:rPr>
              <a:t>200k NDJSON · parse → normalize → consume (R чтений) → serialize · 150 прогонов</a:t>
            </a:r>
          </a:p>
        </p:txBody>
      </p:sp>
      <p:graphicFrame>
        <p:nvGraphicFramePr>
          <p:cNvPr id="1138" name="Chart 1137"/>
          <p:cNvGraphicFramePr>
            <a:graphicFrameLocks noGrp="1"/>
          </p:cNvGraphicFramePr>
          <p:nvPr/>
        </p:nvGraphicFramePr>
        <p:xfrm>
          <a:off x="338328" y="1485900"/>
          <a:ext cx="5617845" cy="368617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1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179103" y="1485900"/>
            <a:ext cx="3147776" cy="7715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TextBox 1138"/>
          <p:cNvSpPr txBox="1"/>
          <p:nvPr/>
        </p:nvSpPr>
        <p:spPr>
          <a:xfrm>
            <a:off x="6268275" y="1537335"/>
            <a:ext cx="2969432" cy="66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E5B28"/>
                </a:solidFill>
                <a:latin typeface="X5 Sans"/>
              </a:rPr>
              <a:t>R = 1 · </a:t>
            </a:r>
            <a:r>
              <a:rPr sz="1700" b="0">
                <a:solidFill>
                  <a:srgbClr val="1E5B28"/>
                </a:solidFill>
                <a:latin typeface="X5 Sans Medium"/>
              </a:rPr>
              <a:t>+29–31%</a:t>
            </a:r>
          </a:p>
        </p:txBody>
      </p:sp>
      <p:sp>
        <p:nvSpPr>
          <p:cNvPr id="111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179103" y="2343150"/>
            <a:ext cx="3147776" cy="7715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6268275" y="2394584"/>
            <a:ext cx="2969432" cy="66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E5B28"/>
                </a:solidFill>
                <a:latin typeface="X5 Sans"/>
              </a:rPr>
              <a:t>R = 5 · </a:t>
            </a:r>
            <a:r>
              <a:rPr sz="1700" b="0">
                <a:solidFill>
                  <a:srgbClr val="1E5B28"/>
                </a:solidFill>
                <a:latin typeface="X5 Sans Medium"/>
              </a:rPr>
              <a:t>×1.95–1.98</a:t>
            </a:r>
          </a:p>
        </p:txBody>
      </p:sp>
      <p:sp>
        <p:nvSpPr>
          <p:cNvPr id="111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179103" y="3200400"/>
            <a:ext cx="3147776" cy="7715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TextBox 1140"/>
          <p:cNvSpPr txBox="1"/>
          <p:nvPr/>
        </p:nvSpPr>
        <p:spPr>
          <a:xfrm>
            <a:off x="6268275" y="3251835"/>
            <a:ext cx="2969432" cy="66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E5B28"/>
                </a:solidFill>
                <a:latin typeface="X5 Sans"/>
              </a:rPr>
              <a:t>R = 20 · </a:t>
            </a:r>
            <a:r>
              <a:rPr sz="1700" b="0">
                <a:solidFill>
                  <a:srgbClr val="1E5B28"/>
                </a:solidFill>
                <a:latin typeface="X5 Sans Medium"/>
              </a:rPr>
              <a:t>×3.1–3.3</a:t>
            </a:r>
          </a:p>
        </p:txBody>
      </p:sp>
      <p:sp>
        <p:nvSpPr>
          <p:cNvPr id="1117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6179103" y="4100512"/>
            <a:ext cx="3147776" cy="1071562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TextBox 1141"/>
          <p:cNvSpPr txBox="1"/>
          <p:nvPr/>
        </p:nvSpPr>
        <p:spPr>
          <a:xfrm>
            <a:off x="6268275" y="4151947"/>
            <a:ext cx="2969432" cy="9686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батч 500 = батч 5000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доля parse: 65% → 10%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sort + stringify: ×1.34–1.56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1943426" y="5300662"/>
            <a:ext cx="7383452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X5 Sans"/>
              </a:rPr>
              <a:t>пара той же формы, 1 против 8, — откуда этот код, скажу в конце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HTTP: 2302 против 1180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6.2</a:t>
            </a:r>
          </a:p>
        </p:txBody>
      </p:sp>
      <p:sp>
        <p:nvSpPr>
          <p:cNvPr id="111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1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2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TextBox 1122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2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TextBox 1124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27" name="Rounded Rectangle 1126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8" name="TextBox 1127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2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0" name="Connector 1129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1" name="Oval 1130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2" name="Oval 1131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3" name="Oval 1132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4" name="Oval 1133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5" name="Oval 1134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6" name="Oval 1135"/>
          <p:cNvSpPr/>
          <p:nvPr/>
        </p:nvSpPr>
        <p:spPr>
          <a:xfrm>
            <a:off x="10496480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7" name="Oval 1136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8" name="Oval 1137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9" name="Oval 1138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0" name="Oval 1139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1" name="Oval 1140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2" name="Oval 1141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3" name="TextBox 1142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6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сервис</a:t>
            </a:r>
          </a:p>
        </p:txBody>
      </p:sp>
      <p:graphicFrame>
        <p:nvGraphicFramePr>
          <p:cNvPr id="1144" name="Chart 1143"/>
          <p:cNvGraphicFramePr>
            <a:graphicFrameLocks noGrp="1"/>
          </p:cNvGraphicFramePr>
          <p:nvPr/>
        </p:nvGraphicFramePr>
        <p:xfrm>
          <a:off x="338328" y="1143000"/>
          <a:ext cx="4101918" cy="3771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2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4663176" y="1143000"/>
            <a:ext cx="4663703" cy="18002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TextBox 1144"/>
          <p:cNvSpPr txBox="1"/>
          <p:nvPr/>
        </p:nvSpPr>
        <p:spPr>
          <a:xfrm>
            <a:off x="4663176" y="1143000"/>
            <a:ext cx="4663703" cy="1800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>
                <a:solidFill>
                  <a:srgbClr val="1E5B28"/>
                </a:solidFill>
                <a:latin typeface="X5 Sans Medium"/>
              </a:rPr>
              <a:t>×1.95</a:t>
            </a:r>
          </a:p>
        </p:txBody>
      </p:sp>
      <p:sp>
        <p:nvSpPr>
          <p:cNvPr id="1124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4663176" y="3071812"/>
            <a:ext cx="2220386" cy="814387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4752348" y="3123247"/>
            <a:ext cx="2042041" cy="711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p50 · 21 → 41 мс</a:t>
            </a:r>
          </a:p>
        </p:txBody>
      </p:sp>
      <p:sp>
        <p:nvSpPr>
          <p:cNvPr id="1125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7106492" y="3071812"/>
            <a:ext cx="2220386" cy="814387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7195664" y="3123247"/>
            <a:ext cx="2042041" cy="711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p99 · 42 → 82 мс (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+95%</a:t>
            </a:r>
            <a:r>
              <a:rPr sz="1400" b="0">
                <a:solidFill>
                  <a:srgbClr val="1E5B28"/>
                </a:solidFill>
                <a:latin typeface="X5 Sans"/>
              </a:rPr>
              <a:t>)</a:t>
            </a:r>
          </a:p>
        </p:txBody>
      </p:sp>
      <p:sp>
        <p:nvSpPr>
          <p:cNvPr id="112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4663176" y="4014787"/>
            <a:ext cx="4663703" cy="192881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4841521" y="4151947"/>
            <a:ext cx="3125483" cy="32575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TextBox 1147"/>
          <p:cNvSpPr txBox="1"/>
          <p:nvPr/>
        </p:nvSpPr>
        <p:spPr>
          <a:xfrm>
            <a:off x="4841521" y="4151947"/>
            <a:ext cx="3125483" cy="325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 Medium"/>
              </a:rPr>
              <a:t>итог R7 · autocannon, R = 5</a:t>
            </a:r>
          </a:p>
        </p:txBody>
      </p:sp>
      <p:sp>
        <p:nvSpPr>
          <p:cNvPr id="1149" name="TextBox 1148"/>
          <p:cNvSpPr txBox="1"/>
          <p:nvPr/>
        </p:nvSpPr>
        <p:spPr>
          <a:xfrm>
            <a:off x="4930693" y="4614862"/>
            <a:ext cx="4217842" cy="12001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Consolas"/>
              </a:rPr>
              <a:t>вариант     rps   p50    p99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5B28"/>
                </a:solidFill>
                <a:latin typeface="Consolas"/>
              </a:rPr>
              <a:t>mono-llm   2302  21 мс  42 мс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5B28"/>
                </a:solidFill>
                <a:latin typeface="Consolas"/>
              </a:rPr>
              <a:t>guard-llm  1180  41 мс  82 мс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Consolas"/>
              </a:rPr>
              <a:t>mixed-mono 2005  24 мс  48 мс</a:t>
            </a:r>
          </a:p>
        </p:txBody>
      </p:sp>
      <p:sp>
        <p:nvSpPr>
          <p:cNvPr id="1150" name="TextBox 1149"/>
          <p:cNvSpPr txBox="1"/>
          <p:nvPr/>
        </p:nvSpPr>
        <p:spPr>
          <a:xfrm>
            <a:off x="338328" y="5043487"/>
            <a:ext cx="4101918" cy="8572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X5 Sans"/>
              </a:rPr>
              <a:t>node:http · 50 соединений · 20 с</a:t>
            </a:r>
          </a:p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X5 Sans"/>
              </a:rPr>
              <a:t>термин: </a:t>
            </a:r>
            <a:r>
              <a:rPr sz="1300" b="0">
                <a:solidFill>
                  <a:srgbClr val="6B7280"/>
                </a:solidFill>
                <a:latin typeface="X5 Sans Medium"/>
              </a:rPr>
              <a:t>p99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Где это не важно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6.3</a:t>
            </a:r>
          </a:p>
        </p:txBody>
      </p:sp>
      <p:sp>
        <p:nvSpPr>
          <p:cNvPr id="112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TextBox 1128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2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3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TextBox 1132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3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TextBox 1134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36" name="TextBox 1135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37" name="Rounded Rectangle 1136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8" name="TextBox 1137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3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0" name="Connector 1139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1" name="Oval 1140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2" name="Oval 1141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3" name="Oval 1142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4" name="Oval 1143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5" name="Oval 1144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6" name="Oval 1145"/>
          <p:cNvSpPr/>
          <p:nvPr/>
        </p:nvSpPr>
        <p:spPr>
          <a:xfrm>
            <a:off x="10496480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7" name="Oval 1146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8" name="Oval 1147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9" name="Oval 1148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0" name="Oval 1149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1" name="Oval 1150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2" name="Oval 1151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3" name="TextBox 1152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6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сервис</a:t>
            </a:r>
          </a:p>
        </p:txBody>
      </p:sp>
      <p:sp>
        <p:nvSpPr>
          <p:cNvPr id="1133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38328" y="1143000"/>
            <a:ext cx="2847563" cy="2571749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54" name="TextBox 1153"/>
          <p:cNvSpPr txBox="1"/>
          <p:nvPr/>
        </p:nvSpPr>
        <p:spPr>
          <a:xfrm>
            <a:off x="588009" y="1287017"/>
            <a:ext cx="2348199" cy="22837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приём без чтений, R≈0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if после литерала: </a:t>
            </a:r>
            <a:r>
              <a:rPr sz="1600" b="0">
                <a:solidFill>
                  <a:srgbClr val="1E5B28"/>
                </a:solidFill>
                <a:latin typeface="X5 Sans Medium"/>
              </a:rPr>
              <a:t>+6–10%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спред: </a:t>
            </a:r>
            <a:r>
              <a:rPr sz="1600" b="0">
                <a:solidFill>
                  <a:srgbClr val="1E5B28"/>
                </a:solidFill>
                <a:latin typeface="X5 Sans Medium"/>
              </a:rPr>
              <a:t>+13–18%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оценка по стадиям</a:t>
            </a:r>
          </a:p>
        </p:txBody>
      </p:sp>
      <p:sp>
        <p:nvSpPr>
          <p:cNvPr id="1134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408822" y="1143000"/>
            <a:ext cx="2847563" cy="2571749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55" name="TextBox 1154"/>
          <p:cNvSpPr txBox="1"/>
          <p:nvPr/>
        </p:nvSpPr>
        <p:spPr>
          <a:xfrm>
            <a:off x="3658504" y="1287017"/>
            <a:ext cx="2348199" cy="22837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ждёт базу десятки мс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доли мс процессора теряются — пока CPU не загружен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оценка</a:t>
            </a:r>
          </a:p>
        </p:txBody>
      </p:sp>
      <p:sp>
        <p:nvSpPr>
          <p:cNvPr id="1135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6479316" y="1143000"/>
            <a:ext cx="2847563" cy="2571749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56" name="TextBox 1155"/>
          <p:cNvSpPr txBox="1"/>
          <p:nvPr/>
        </p:nvSpPr>
        <p:spPr>
          <a:xfrm>
            <a:off x="6728998" y="1287017"/>
            <a:ext cx="2348199" cy="22837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малые батчи, R = 1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0.17 vs 0.22 мс</a:t>
            </a:r>
            <a:r>
              <a:rPr sz="1600" b="0">
                <a:solidFill>
                  <a:srgbClr val="1E5B28"/>
                </a:solidFill>
                <a:latin typeface="X5 Sans"/>
              </a:rPr>
              <a:t> на 500 записей</a:t>
            </a:r>
          </a:p>
        </p:txBody>
      </p:sp>
      <p:sp>
        <p:nvSpPr>
          <p:cNvPr id="1136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3929062"/>
            <a:ext cx="8988552" cy="1157287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605844" y="4083367"/>
            <a:ext cx="8453519" cy="8486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X5 Sans"/>
              </a:rPr>
              <a:t>читаете нормализованное — от +30% до ×3 с лишним · только складываете — проценты, а не разы</a:t>
            </a:r>
          </a:p>
        </p:txBody>
      </p:sp>
      <p:sp>
        <p:nvSpPr>
          <p:cNvPr id="1158" name="TextBox 1157"/>
          <p:cNvSpPr txBox="1"/>
          <p:nvPr/>
        </p:nvSpPr>
        <p:spPr>
          <a:xfrm>
            <a:off x="338328" y="5214937"/>
            <a:ext cx="89885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«упрётся в базу» — верно при R≈0 · мой consume плотный — калибруйте R на свой профиль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10058400" cy="0"/>
          </a:xfrm>
        </p:spPr>
        <p:txBody>
          <a:bodyPr/>
          <a:lstStyle/>
          <a:p>
            <a:r>
              <a:t>Как мерили — и где легко соврать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резерв</a:t>
            </a:r>
          </a:p>
        </p:txBody>
      </p:sp>
      <p:sp>
        <p:nvSpPr>
          <p:cNvPr id="1137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429768" y="1188720"/>
            <a:ext cx="2724912" cy="178308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38" name="TextBox 1137"/>
          <p:cNvSpPr txBox="1"/>
          <p:nvPr/>
        </p:nvSpPr>
        <p:spPr>
          <a:xfrm>
            <a:off x="630936" y="1309420"/>
            <a:ext cx="2322576" cy="1541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 Medium"/>
              </a:rPr>
              <a:t>одна среда</a:t>
            </a:r>
            <a:r>
              <a:rPr sz="1450" b="0">
                <a:solidFill>
                  <a:srgbClr val="1E5B28"/>
                </a:solidFill>
                <a:latin typeface="X5 Sans"/>
              </a:rPr>
              <a:t> · Docker</a:t>
            </a:r>
          </a:p>
          <a:p>
            <a:pPr algn="l">
              <a:spcAft>
                <a:spcPts val="400"/>
              </a:spcAft>
            </a:pPr>
            <a:r>
              <a:rPr sz="1276" b="0">
                <a:solidFill>
                  <a:srgbClr val="1E5B28"/>
                </a:solidFill>
                <a:latin typeface="Consolas"/>
              </a:rPr>
              <a:t>node:24.21.0-alpine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"/>
              </a:rPr>
              <a:t>тег запиннен · </a:t>
            </a:r>
            <a:r>
              <a:rPr sz="1276" b="0">
                <a:solidFill>
                  <a:srgbClr val="1E5B28"/>
                </a:solidFill>
                <a:latin typeface="Consolas"/>
              </a:rPr>
              <a:t>--cpus 2</a:t>
            </a:r>
          </a:p>
        </p:txBody>
      </p:sp>
      <p:sp>
        <p:nvSpPr>
          <p:cNvPr id="1138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291839" y="1188720"/>
            <a:ext cx="2724912" cy="178308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39" name="TextBox 1138"/>
          <p:cNvSpPr txBox="1"/>
          <p:nvPr/>
        </p:nvSpPr>
        <p:spPr>
          <a:xfrm>
            <a:off x="3493008" y="1309420"/>
            <a:ext cx="2322576" cy="1541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 Medium"/>
              </a:rPr>
              <a:t>процесс на прогон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"/>
              </a:rPr>
              <a:t>записи мест чтения не текут между вариантами</a:t>
            </a:r>
          </a:p>
        </p:txBody>
      </p:sp>
      <p:sp>
        <p:nvSpPr>
          <p:cNvPr id="1139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6153912" y="1188720"/>
            <a:ext cx="2724912" cy="178308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40" name="TextBox 1139"/>
          <p:cNvSpPr txBox="1"/>
          <p:nvPr/>
        </p:nvSpPr>
        <p:spPr>
          <a:xfrm>
            <a:off x="6355079" y="1309420"/>
            <a:ext cx="2322576" cy="1541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 Medium"/>
              </a:rPr>
              <a:t>прогрев → замер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"/>
              </a:rPr>
              <a:t>300 / 1000 итераций, 5 повторов, медианы</a:t>
            </a:r>
          </a:p>
        </p:txBody>
      </p:sp>
      <p:sp>
        <p:nvSpPr>
          <p:cNvPr id="1140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9015984" y="1188720"/>
            <a:ext cx="2724912" cy="178308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41" name="TextBox 1140"/>
          <p:cNvSpPr txBox="1"/>
          <p:nvPr/>
        </p:nvSpPr>
        <p:spPr>
          <a:xfrm>
            <a:off x="9217152" y="1309420"/>
            <a:ext cx="2322576" cy="15416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 Medium"/>
              </a:rPr>
              <a:t>чексуммы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E5B28"/>
                </a:solidFill>
                <a:latin typeface="X5 Sans"/>
              </a:rPr>
              <a:t>совпали у всех вариантов во всех 150 прогонах</a:t>
            </a:r>
          </a:p>
        </p:txBody>
      </p:sp>
      <p:sp>
        <p:nvSpPr>
          <p:cNvPr id="1141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429768" y="3154680"/>
            <a:ext cx="2724912" cy="2240280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42" name="TextBox 1141"/>
          <p:cNvSpPr txBox="1"/>
          <p:nvPr/>
        </p:nvSpPr>
        <p:spPr>
          <a:xfrm>
            <a:off x="630936" y="3275380"/>
            <a:ext cx="2322576" cy="19988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общий процесс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кейсы заражают друг друга: так «try/catch дорогой» даёт ×3</a:t>
            </a:r>
          </a:p>
        </p:txBody>
      </p:sp>
      <p:sp>
        <p:nvSpPr>
          <p:cNvPr id="1142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291839" y="3154680"/>
            <a:ext cx="2724912" cy="2240280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43" name="TextBox 1142"/>
          <p:cNvSpPr txBox="1"/>
          <p:nvPr/>
        </p:nvSpPr>
        <p:spPr>
          <a:xfrm>
            <a:off x="3493008" y="3275380"/>
            <a:ext cx="2322576" cy="19988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трейс без фильтра</a:t>
            </a:r>
          </a:p>
          <a:p>
            <a:pPr algn="l">
              <a:spcAft>
                <a:spcPts val="400"/>
              </a:spcAft>
            </a:pPr>
            <a:r>
              <a:rPr sz="1232" b="0">
                <a:solidFill>
                  <a:srgbClr val="1E5B28"/>
                </a:solidFill>
                <a:latin typeface="Consolas"/>
              </a:rPr>
              <a:t>wrong map</a:t>
            </a:r>
            <a:r>
              <a:rPr sz="1400" b="0">
                <a:solidFill>
                  <a:srgbClr val="1E5B28"/>
                </a:solidFill>
                <a:latin typeface="X5 Sans"/>
              </a:rPr>
              <a:t> есть и у A — в normalizeUser и в обёртке модуля; смотреть только читателя</a:t>
            </a:r>
          </a:p>
        </p:txBody>
      </p:sp>
      <p:sp>
        <p:nvSpPr>
          <p:cNvPr id="1143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6153912" y="3154680"/>
            <a:ext cx="2724912" cy="2240280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44" name="TextBox 1143"/>
          <p:cNvSpPr txBox="1"/>
          <p:nvPr/>
        </p:nvSpPr>
        <p:spPr>
          <a:xfrm>
            <a:off x="6355079" y="3275380"/>
            <a:ext cx="2322576" cy="19988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помеха на старте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первая серия дала 3.5 мс вместо 0.8 — забракована, перемеряна с контролем эталона</a:t>
            </a:r>
          </a:p>
        </p:txBody>
      </p:sp>
      <p:sp>
        <p:nvSpPr>
          <p:cNvPr id="1144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9015984" y="3154680"/>
            <a:ext cx="2724912" cy="2240280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45" name="TextBox 1144"/>
          <p:cNvSpPr txBox="1"/>
          <p:nvPr/>
        </p:nvSpPr>
        <p:spPr>
          <a:xfrm>
            <a:off x="9217152" y="3275380"/>
            <a:ext cx="2322576" cy="19988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чужая архитектура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эмуляция x64 на маке искажает JIT; настоящий x64 — в CI: направление то же, множители другие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429768" y="5486400"/>
            <a:ext cx="113202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микробенч ≠ прод: поэтому после прибора — пайплайн с JSON.parse и сериализацией, а после него — HTTP под нагрузкой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V8 в 2014: две ступени</a:t>
            </a:r>
          </a:p>
        </p:txBody>
      </p:sp>
      <p:sp>
        <p:nvSpPr>
          <p:cNvPr id="1145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TextBox 1145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7 из 12</a:t>
            </a:r>
          </a:p>
        </p:txBody>
      </p:sp>
      <p:sp>
        <p:nvSpPr>
          <p:cNvPr id="1146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Движок только смотрит и ставит на то, что видел. Это свойство сегодняшнего компилятора — или V8 ставил на форму всегда?</a:t>
            </a:r>
          </a:p>
        </p:txBody>
      </p:sp>
      <p:sp>
        <p:nvSpPr>
          <p:cNvPr id="1148" name="Oval 1147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9" name="Oval 1148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0" name="Oval 1149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1" name="Oval 1150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2" name="Oval 1151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3" name="Oval 1152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4" name="Oval 1153"/>
          <p:cNvSpPr/>
          <p:nvPr/>
        </p:nvSpPr>
        <p:spPr>
          <a:xfrm>
            <a:off x="6159855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5" name="Oval 1154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6" name="Oval 1155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7" name="Oval 1156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8" name="Oval 1157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9" name="Oval 1158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Формы и IC — старше V8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7.1</a:t>
            </a:r>
          </a:p>
        </p:txBody>
      </p:sp>
      <p:sp>
        <p:nvSpPr>
          <p:cNvPr id="114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TextBox 1147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49" name="TextBox 1148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4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51" name="TextBox 1150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4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Box 1151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5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56" name="Rounded Rectangle 115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7" name="TextBox 115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58" name="TextBox 115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5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9" name="Connector 1158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Oval 1159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1" name="Oval 1160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2" name="Oval 1161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3" name="Oval 1162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4" name="Oval 1163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5" name="Oval 1164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6" name="Oval 1165"/>
          <p:cNvSpPr/>
          <p:nvPr/>
        </p:nvSpPr>
        <p:spPr>
          <a:xfrm>
            <a:off x="10671879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7" name="Oval 1166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8" name="Oval 1167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9" name="Oval 1168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0" name="Oval 1169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1" name="Oval 1170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2" name="TextBox 1171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7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2014</a:t>
            </a:r>
          </a:p>
        </p:txBody>
      </p:sp>
      <p:sp>
        <p:nvSpPr>
          <p:cNvPr id="115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2146819" cy="20573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TextBox 1172"/>
          <p:cNvSpPr txBox="1"/>
          <p:nvPr/>
        </p:nvSpPr>
        <p:spPr>
          <a:xfrm>
            <a:off x="427500" y="1194435"/>
            <a:ext cx="1968475" cy="1954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1984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inline cache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Smalltalk-80</a:t>
            </a:r>
          </a:p>
        </p:txBody>
      </p:sp>
      <p:sp>
        <p:nvSpPr>
          <p:cNvPr id="115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2618905" y="1143000"/>
            <a:ext cx="2146819" cy="20573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TextBox 1173"/>
          <p:cNvSpPr txBox="1"/>
          <p:nvPr/>
        </p:nvSpPr>
        <p:spPr>
          <a:xfrm>
            <a:off x="2708077" y="1194435"/>
            <a:ext cx="1968475" cy="1954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1989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скрытые классы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язык Self</a:t>
            </a:r>
          </a:p>
        </p:txBody>
      </p:sp>
      <p:sp>
        <p:nvSpPr>
          <p:cNvPr id="115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4899483" y="1143000"/>
            <a:ext cx="2146819" cy="20573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4988655" y="1194435"/>
            <a:ext cx="1968475" cy="1954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1991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несколько форм на место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язык Self</a:t>
            </a:r>
          </a:p>
        </p:txBody>
      </p:sp>
      <p:sp>
        <p:nvSpPr>
          <p:cNvPr id="1155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7180060" y="1143000"/>
            <a:ext cx="2146819" cy="2057399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TextBox 1175"/>
          <p:cNvSpPr txBox="1"/>
          <p:nvPr/>
        </p:nvSpPr>
        <p:spPr>
          <a:xfrm>
            <a:off x="7269232" y="1194435"/>
            <a:ext cx="1968475" cy="1954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2008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V8: формы и IC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с первого релиза</a:t>
            </a:r>
          </a:p>
        </p:txBody>
      </p:sp>
      <p:sp>
        <p:nvSpPr>
          <p:cNvPr id="1156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3457575"/>
            <a:ext cx="8988552" cy="1885950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TextBox 1176"/>
          <p:cNvSpPr txBox="1"/>
          <p:nvPr/>
        </p:nvSpPr>
        <p:spPr>
          <a:xfrm>
            <a:off x="605844" y="3611879"/>
            <a:ext cx="8453519" cy="1577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X5 Sans"/>
              </a:rPr>
              <a:t>в V8 форма так и называется — </a:t>
            </a:r>
            <a:r>
              <a:rPr sz="1672" b="0">
                <a:solidFill>
                  <a:srgbClr val="FFFFFF"/>
                </a:solidFill>
                <a:latin typeface="Consolas"/>
              </a:rPr>
              <a:t>Map</a:t>
            </a:r>
          </a:p>
          <a:p>
            <a:pPr algn="ctr"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X5 Sans"/>
              </a:rPr>
              <a:t>в 2008 оптимизирующего компилятора нет — а записи уже ведутся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2014: full-codegen и Crankshaft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7.2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64207" y="1627632"/>
            <a:ext cx="4887469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64207" y="1627632"/>
            <a:ext cx="0" cy="1097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51676" y="1627632"/>
            <a:ext cx="0" cy="1097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4207" y="1188720"/>
            <a:ext cx="48874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X5 Sans Medium"/>
              </a:rPr>
              <a:t>без ставки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63156" y="1627632"/>
            <a:ext cx="4887468" cy="0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63156" y="1627632"/>
            <a:ext cx="0" cy="109728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50624" y="1627632"/>
            <a:ext cx="0" cy="109728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63156" y="1188720"/>
            <a:ext cx="48874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ставка на 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74519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E5B28"/>
                </a:solidFill>
                <a:latin typeface="X5 Sans Medium"/>
              </a:rPr>
              <a:t>2014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4207" y="1874519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55648" y="1874519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full-codegen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2630" y="1874519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04070" y="1874519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Crankshaft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8778" y="2308860"/>
            <a:ext cx="5628132" cy="0"/>
          </a:xfrm>
          <a:prstGeom prst="line">
            <a:avLst/>
          </a:prstGeom>
          <a:ln w="28575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8" y="4892040"/>
            <a:ext cx="115122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E5B28"/>
                </a:solidFill>
                <a:latin typeface="X5 Sans"/>
              </a:rPr>
              <a:t>Первый код — сразу машинный. Горячую функцию Crankshaft перекомпилирует со ставкой на формы.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Почему обе ступени заменили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7.3</a:t>
            </a:r>
          </a:p>
        </p:txBody>
      </p:sp>
      <p:sp>
        <p:nvSpPr>
          <p:cNvPr id="115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TextBox 1157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59" name="TextBox 1158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5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5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TextBox 1161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6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TextBox 116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66" name="Rounded Rectangle 116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7" name="TextBox 116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68" name="TextBox 116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6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9" name="Connector 1168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0" name="Oval 1169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1" name="Oval 1170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2" name="Oval 1171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3" name="Oval 1172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4" name="Oval 1173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5" name="Oval 1174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6" name="Oval 1175"/>
          <p:cNvSpPr/>
          <p:nvPr/>
        </p:nvSpPr>
        <p:spPr>
          <a:xfrm>
            <a:off x="10671879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7" name="Oval 1176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8" name="Oval 1177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9" name="Oval 1178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0" name="Oval 1179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1" name="Oval 1180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2" name="TextBox 1181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7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2014</a:t>
            </a:r>
          </a:p>
        </p:txBody>
      </p:sp>
      <p:sp>
        <p:nvSpPr>
          <p:cNvPr id="116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38328" y="1143000"/>
            <a:ext cx="4382810" cy="27432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83" name="TextBox 1182"/>
          <p:cNvSpPr txBox="1"/>
          <p:nvPr/>
        </p:nvSpPr>
        <p:spPr>
          <a:xfrm>
            <a:off x="561258" y="1271587"/>
            <a:ext cx="3936950" cy="2486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память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машинный код на каждую вызванную функцию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байткод — от ¼ до ½ его объёма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Ignition сначала — Android с малой памятью, 2016</a:t>
            </a:r>
          </a:p>
        </p:txBody>
      </p:sp>
      <p:sp>
        <p:nvSpPr>
          <p:cNvPr id="1163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4944069" y="1143000"/>
            <a:ext cx="4382810" cy="27432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184" name="TextBox 1183"/>
          <p:cNvSpPr txBox="1"/>
          <p:nvPr/>
        </p:nvSpPr>
        <p:spPr>
          <a:xfrm>
            <a:off x="5166999" y="1271587"/>
            <a:ext cx="3936950" cy="2486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не всё оптимизировалось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Crankshaft пропускал функции с try/catch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у TurboFan такого ограничения нет</a:t>
            </a:r>
          </a:p>
        </p:txBody>
      </p:sp>
      <p:sp>
        <p:nvSpPr>
          <p:cNvPr id="116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100512"/>
            <a:ext cx="8988552" cy="1371600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TextBox 1184"/>
          <p:cNvSpPr txBox="1"/>
          <p:nvPr/>
        </p:nvSpPr>
        <p:spPr>
          <a:xfrm>
            <a:off x="605844" y="4254817"/>
            <a:ext cx="8453519" cy="10629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 Medium"/>
              </a:rPr>
              <a:t>июнь 2017, Chrome 59:</a:t>
            </a:r>
            <a:r>
              <a:rPr sz="1700" b="0">
                <a:solidFill>
                  <a:srgbClr val="FFFFFF"/>
                </a:solidFill>
                <a:latin typeface="X5 Sans"/>
              </a:rPr>
              <a:t> Ignition + TurboFan по умолчанию · Node 8.3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"/>
              </a:rPr>
              <a:t>Crankshaft и full-codegen удалены в том же году (Chrome 61–62)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2017–2022: байткод и граф</a:t>
            </a:r>
          </a:p>
        </p:txBody>
      </p:sp>
      <p:sp>
        <p:nvSpPr>
          <p:cNvPr id="1165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8 из 12</a:t>
            </a:r>
          </a:p>
        </p:txBody>
      </p:sp>
      <p:sp>
        <p:nvSpPr>
          <p:cNvPr id="1166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TextBox 1166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Обе ступени сменили разом. Что стало со ставкой на форму — и с записями, по которым она делается?</a:t>
            </a:r>
          </a:p>
        </p:txBody>
      </p:sp>
      <p:sp>
        <p:nvSpPr>
          <p:cNvPr id="1168" name="Oval 1167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9" name="Oval 1168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0" name="Oval 1169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1" name="Oval 1170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2" name="Oval 1171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3" name="Oval 1172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4" name="Oval 1173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5" name="Oval 1174"/>
          <p:cNvSpPr/>
          <p:nvPr/>
        </p:nvSpPr>
        <p:spPr>
          <a:xfrm>
            <a:off x="6470751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6" name="Oval 1175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7" name="Oval 1176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8" name="Oval 1177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9" name="Oval 1178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Записи уехали из кода в вектор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8.1</a:t>
            </a:r>
          </a:p>
        </p:txBody>
      </p:sp>
      <p:sp>
        <p:nvSpPr>
          <p:cNvPr id="116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TextBox 1167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6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TextBox 1169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71" name="TextBox 1170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6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7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TextBox 1173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76" name="Rounded Rectangle 1175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7" name="TextBox 1176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7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9" name="Connector 1178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Oval 1179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1" name="Oval 1180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2" name="Oval 1181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3" name="Oval 1182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4" name="Oval 1183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5" name="Oval 1184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6" name="Oval 1185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7" name="Oval 1186"/>
          <p:cNvSpPr/>
          <p:nvPr/>
        </p:nvSpPr>
        <p:spPr>
          <a:xfrm>
            <a:off x="10847277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8" name="Oval 1187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9" name="Oval 1188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0" name="Oval 1189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1" name="Oval 1190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2" name="TextBox 1191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8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2017</a:t>
            </a:r>
          </a:p>
        </p:txBody>
      </p:sp>
      <p:sp>
        <p:nvSpPr>
          <p:cNvPr id="117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4093001" cy="2314575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61258" y="1271587"/>
            <a:ext cx="36471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5B28"/>
                </a:solidFill>
                <a:latin typeface="X5 Sans Medium"/>
              </a:rPr>
              <a:t>2014</a:t>
            </a:r>
            <a:r>
              <a:rPr sz="1600" b="0">
                <a:solidFill>
                  <a:srgbClr val="1E5B28"/>
                </a:solidFill>
                <a:latin typeface="X5 Sans"/>
              </a:rPr>
              <a:t> · записи внутри машинного кода</a:t>
            </a:r>
          </a:p>
        </p:txBody>
      </p:sp>
      <p:sp>
        <p:nvSpPr>
          <p:cNvPr id="1194" name="Rounded Rectangle 1193"/>
          <p:cNvSpPr/>
          <p:nvPr/>
        </p:nvSpPr>
        <p:spPr>
          <a:xfrm>
            <a:off x="605844" y="1785936"/>
            <a:ext cx="3557968" cy="1457324"/>
          </a:xfrm>
          <a:prstGeom prst="roundRect">
            <a:avLst>
              <a:gd name="adj" fmla="val 4705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5" name="TextBox 1194"/>
          <p:cNvSpPr txBox="1"/>
          <p:nvPr/>
        </p:nvSpPr>
        <p:spPr>
          <a:xfrm>
            <a:off x="739602" y="1845944"/>
            <a:ext cx="3290452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X5 Sans"/>
              </a:rPr>
              <a:t>машинный код full-codegen</a:t>
            </a:r>
          </a:p>
        </p:txBody>
      </p:sp>
      <p:sp>
        <p:nvSpPr>
          <p:cNvPr id="1196" name="Rounded Rectangle 1195"/>
          <p:cNvSpPr/>
          <p:nvPr/>
        </p:nvSpPr>
        <p:spPr>
          <a:xfrm>
            <a:off x="1317437" y="2257425"/>
            <a:ext cx="2134780" cy="685800"/>
          </a:xfrm>
          <a:prstGeom prst="roundRect">
            <a:avLst>
              <a:gd name="adj" fmla="val 10000"/>
            </a:avLst>
          </a:prstGeom>
          <a:solidFill>
            <a:srgbClr val="E0FBCC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7" name="TextBox 1196"/>
          <p:cNvSpPr txBox="1"/>
          <p:nvPr/>
        </p:nvSpPr>
        <p:spPr>
          <a:xfrm>
            <a:off x="1317437" y="2257425"/>
            <a:ext cx="21347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заглушка места чтения</a:t>
            </a:r>
          </a:p>
        </p:txBody>
      </p:sp>
      <p:cxnSp>
        <p:nvCxnSpPr>
          <p:cNvPr id="1198" name="Connector 1197"/>
          <p:cNvCxnSpPr/>
          <p:nvPr/>
        </p:nvCxnSpPr>
        <p:spPr>
          <a:xfrm>
            <a:off x="4520501" y="2300287"/>
            <a:ext cx="624204" cy="0"/>
          </a:xfrm>
          <a:prstGeom prst="line">
            <a:avLst/>
          </a:prstGeom>
          <a:ln w="31750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5233878" y="1143000"/>
            <a:ext cx="4093001" cy="2314575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5456809" y="1271587"/>
            <a:ext cx="36471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5B28"/>
                </a:solidFill>
                <a:latin typeface="X5 Sans Medium"/>
              </a:rPr>
              <a:t>2017</a:t>
            </a:r>
            <a:r>
              <a:rPr sz="1600" b="0">
                <a:solidFill>
                  <a:srgbClr val="1E5B28"/>
                </a:solidFill>
                <a:latin typeface="X5 Sans"/>
              </a:rPr>
              <a:t> · байткод + вектор записей</a:t>
            </a:r>
          </a:p>
        </p:txBody>
      </p:sp>
      <p:sp>
        <p:nvSpPr>
          <p:cNvPr id="1200" name="Rounded Rectangle 1199"/>
          <p:cNvSpPr/>
          <p:nvPr/>
        </p:nvSpPr>
        <p:spPr>
          <a:xfrm>
            <a:off x="5501395" y="1785936"/>
            <a:ext cx="1636664" cy="1457324"/>
          </a:xfrm>
          <a:prstGeom prst="roundRect">
            <a:avLst>
              <a:gd name="adj" fmla="val 4705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1" name="TextBox 1200"/>
          <p:cNvSpPr txBox="1"/>
          <p:nvPr/>
        </p:nvSpPr>
        <p:spPr>
          <a:xfrm>
            <a:off x="5590567" y="1785936"/>
            <a:ext cx="1458320" cy="1457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X5 Sans"/>
              </a:rPr>
              <a:t>байткод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X5 Sans"/>
              </a:rPr>
              <a:t>место чтения → слот</a:t>
            </a:r>
          </a:p>
        </p:txBody>
      </p:sp>
      <p:sp>
        <p:nvSpPr>
          <p:cNvPr id="1202" name="Rounded Rectangle 1201"/>
          <p:cNvSpPr/>
          <p:nvPr/>
        </p:nvSpPr>
        <p:spPr>
          <a:xfrm>
            <a:off x="7422697" y="1785936"/>
            <a:ext cx="1636664" cy="428624"/>
          </a:xfrm>
          <a:prstGeom prst="roundRect">
            <a:avLst>
              <a:gd name="adj" fmla="val 12000"/>
            </a:avLst>
          </a:prstGeom>
          <a:solidFill>
            <a:srgbClr val="E0FBCC"/>
          </a:solidFill>
          <a:ln w="15875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3" name="TextBox 1202"/>
          <p:cNvSpPr txBox="1"/>
          <p:nvPr/>
        </p:nvSpPr>
        <p:spPr>
          <a:xfrm>
            <a:off x="7422697" y="1785936"/>
            <a:ext cx="1636664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"/>
              </a:rPr>
              <a:t>[0] MONO</a:t>
            </a:r>
          </a:p>
        </p:txBody>
      </p:sp>
      <p:sp>
        <p:nvSpPr>
          <p:cNvPr id="1204" name="Rounded Rectangle 1203"/>
          <p:cNvSpPr/>
          <p:nvPr/>
        </p:nvSpPr>
        <p:spPr>
          <a:xfrm>
            <a:off x="7422697" y="2283142"/>
            <a:ext cx="1636664" cy="428624"/>
          </a:xfrm>
          <a:prstGeom prst="roundRect">
            <a:avLst>
              <a:gd name="adj" fmla="val 12000"/>
            </a:avLst>
          </a:prstGeom>
          <a:solidFill>
            <a:srgbClr val="E0FBCC"/>
          </a:solidFill>
          <a:ln w="15875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5" name="TextBox 1204"/>
          <p:cNvSpPr txBox="1"/>
          <p:nvPr/>
        </p:nvSpPr>
        <p:spPr>
          <a:xfrm>
            <a:off x="7422697" y="2283142"/>
            <a:ext cx="1636664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"/>
              </a:rPr>
              <a:t>[1] POLY</a:t>
            </a:r>
          </a:p>
        </p:txBody>
      </p:sp>
      <p:sp>
        <p:nvSpPr>
          <p:cNvPr id="1206" name="Rounded Rectangle 1205"/>
          <p:cNvSpPr/>
          <p:nvPr/>
        </p:nvSpPr>
        <p:spPr>
          <a:xfrm>
            <a:off x="7422697" y="2780347"/>
            <a:ext cx="1636664" cy="428624"/>
          </a:xfrm>
          <a:prstGeom prst="roundRect">
            <a:avLst>
              <a:gd name="adj" fmla="val 12000"/>
            </a:avLst>
          </a:prstGeom>
          <a:solidFill>
            <a:srgbClr val="E0FBCC"/>
          </a:solidFill>
          <a:ln w="15875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7" name="TextBox 1206"/>
          <p:cNvSpPr txBox="1"/>
          <p:nvPr/>
        </p:nvSpPr>
        <p:spPr>
          <a:xfrm>
            <a:off x="7422697" y="2780347"/>
            <a:ext cx="1636664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"/>
              </a:rPr>
              <a:t>[2] MEGA</a:t>
            </a:r>
          </a:p>
        </p:txBody>
      </p:sp>
      <p:sp>
        <p:nvSpPr>
          <p:cNvPr id="117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3714750"/>
            <a:ext cx="8988552" cy="942975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TextBox 1207"/>
          <p:cNvSpPr txBox="1"/>
          <p:nvPr/>
        </p:nvSpPr>
        <p:spPr>
          <a:xfrm>
            <a:off x="605844" y="3869054"/>
            <a:ext cx="8453519" cy="63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X5 Sans"/>
              </a:rPr>
              <a:t>формат записи тот же с 2008: 1 форма → 2–4 → мега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338328" y="4829174"/>
            <a:ext cx="89885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X5 Sans"/>
              </a:rPr>
              <a:t>переезд: чтение полей — 2015 · запись — 2016 · вектор заводят после первых вызовов — 2019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TurboFan: граф Sea of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8.2</a:t>
            </a:r>
          </a:p>
        </p:txBody>
      </p:sp>
      <p:sp>
        <p:nvSpPr>
          <p:cNvPr id="117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TextBox 1175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7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7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TextBox 1179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81" name="TextBox 1180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7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TextBox 1181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83" name="TextBox 1182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84" name="Rounded Rectangle 1183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5" name="TextBox 1184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86" name="TextBox 1185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7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7" name="Connector 1186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Oval 1187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9" name="Oval 1188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0" name="Oval 1189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1" name="Oval 1190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2" name="Oval 1191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3" name="Oval 1192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4" name="Oval 1193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5" name="Oval 1194"/>
          <p:cNvSpPr/>
          <p:nvPr/>
        </p:nvSpPr>
        <p:spPr>
          <a:xfrm>
            <a:off x="10847277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6" name="Oval 1195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7" name="Oval 1196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8" name="Oval 1197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9" name="Oval 1198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0" name="TextBox 1199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8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2017</a:t>
            </a:r>
          </a:p>
        </p:txBody>
      </p:sp>
      <p:sp>
        <p:nvSpPr>
          <p:cNvPr id="1201" name="Rounded Rectangle 1200"/>
          <p:cNvSpPr/>
          <p:nvPr/>
        </p:nvSpPr>
        <p:spPr>
          <a:xfrm>
            <a:off x="338328" y="1228724"/>
            <a:ext cx="2511087" cy="5143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2" name="TextBox 1201"/>
          <p:cNvSpPr txBox="1"/>
          <p:nvPr/>
        </p:nvSpPr>
        <p:spPr>
          <a:xfrm>
            <a:off x="391831" y="1228724"/>
            <a:ext cx="2404080" cy="5143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байткод + вектор записей</a:t>
            </a:r>
          </a:p>
        </p:txBody>
      </p:sp>
      <p:cxnSp>
        <p:nvCxnSpPr>
          <p:cNvPr id="1203" name="Connector 1202"/>
          <p:cNvCxnSpPr/>
          <p:nvPr/>
        </p:nvCxnSpPr>
        <p:spPr>
          <a:xfrm>
            <a:off x="2849415" y="1485900"/>
            <a:ext cx="267516" cy="0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4" name="Rounded Rectangle 1203"/>
          <p:cNvSpPr/>
          <p:nvPr/>
        </p:nvSpPr>
        <p:spPr>
          <a:xfrm>
            <a:off x="3116931" y="1228724"/>
            <a:ext cx="1861914" cy="5143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5" name="TextBox 1204"/>
          <p:cNvSpPr txBox="1"/>
          <p:nvPr/>
        </p:nvSpPr>
        <p:spPr>
          <a:xfrm>
            <a:off x="3170434" y="1228724"/>
            <a:ext cx="1754907" cy="5143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граф Sea of Nodes</a:t>
            </a:r>
          </a:p>
        </p:txBody>
      </p:sp>
      <p:cxnSp>
        <p:nvCxnSpPr>
          <p:cNvPr id="1206" name="Connector 1205"/>
          <p:cNvCxnSpPr/>
          <p:nvPr/>
        </p:nvCxnSpPr>
        <p:spPr>
          <a:xfrm>
            <a:off x="4978845" y="1485900"/>
            <a:ext cx="267516" cy="0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7" name="Rounded Rectangle 1206"/>
          <p:cNvSpPr/>
          <p:nvPr/>
        </p:nvSpPr>
        <p:spPr>
          <a:xfrm>
            <a:off x="5246362" y="1228724"/>
            <a:ext cx="2418347" cy="514349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8" name="TextBox 1207"/>
          <p:cNvSpPr txBox="1"/>
          <p:nvPr/>
        </p:nvSpPr>
        <p:spPr>
          <a:xfrm>
            <a:off x="5299865" y="1228724"/>
            <a:ext cx="2311341" cy="5143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"/>
              </a:rPr>
              <a:t>машинный код со ставкой</a:t>
            </a:r>
          </a:p>
        </p:txBody>
      </p:sp>
      <p:sp>
        <p:nvSpPr>
          <p:cNvPr id="118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2043112"/>
            <a:ext cx="2847563" cy="2228850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TextBox 1208"/>
          <p:cNvSpPr txBox="1"/>
          <p:nvPr/>
        </p:nvSpPr>
        <p:spPr>
          <a:xfrm>
            <a:off x="534506" y="2156268"/>
            <a:ext cx="2455206" cy="20025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Sea of Nodes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"/>
              </a:rPr>
              <a:t>у операций нет жёсткого порядка — их связывают данные и зависимости</a:t>
            </a:r>
          </a:p>
        </p:txBody>
      </p:sp>
      <p:sp>
        <p:nvSpPr>
          <p:cNvPr id="118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408822" y="2043112"/>
            <a:ext cx="2847563" cy="2228850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TextBox 1209"/>
          <p:cNvSpPr txBox="1"/>
          <p:nvPr/>
        </p:nvSpPr>
        <p:spPr>
          <a:xfrm>
            <a:off x="3605000" y="2156268"/>
            <a:ext cx="2455206" cy="20025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идея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"/>
              </a:rPr>
              <a:t>Cliff Click, 1995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"/>
              </a:rPr>
              <a:t>серверный компилятор Java HotSpot</a:t>
            </a:r>
          </a:p>
        </p:txBody>
      </p:sp>
      <p:sp>
        <p:nvSpPr>
          <p:cNvPr id="118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479316" y="2043112"/>
            <a:ext cx="2847563" cy="2228850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TextBox 1210"/>
          <p:cNvSpPr txBox="1"/>
          <p:nvPr/>
        </p:nvSpPr>
        <p:spPr>
          <a:xfrm>
            <a:off x="6675494" y="2156268"/>
            <a:ext cx="2455206" cy="20025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в V8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"/>
              </a:rPr>
              <a:t>код — 2014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"/>
              </a:rPr>
              <a:t>asm.js — 2015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5B28"/>
                </a:solidFill>
                <a:latin typeface="X5 Sans"/>
              </a:rPr>
              <a:t>весь JS — 2017</a:t>
            </a:r>
          </a:p>
        </p:txBody>
      </p:sp>
      <p:sp>
        <p:nvSpPr>
          <p:cNvPr id="1183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314825"/>
            <a:ext cx="8988552" cy="1114425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TextBox 1211"/>
          <p:cNvSpPr txBox="1"/>
          <p:nvPr/>
        </p:nvSpPr>
        <p:spPr>
          <a:xfrm>
            <a:off x="605844" y="4469129"/>
            <a:ext cx="8453519" cy="805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X5 Sans Medium"/>
              </a:rPr>
              <a:t>граф другой — ставка та же</a:t>
            </a:r>
          </a:p>
          <a:p>
            <a:pPr algn="ctr">
              <a:spcAft>
                <a:spcPts val="400"/>
              </a:spcAft>
            </a:pPr>
            <a:r>
              <a:rPr sz="1584" b="0">
                <a:solidFill>
                  <a:srgbClr val="FFFFFF"/>
                </a:solidFill>
                <a:latin typeface="Consolas"/>
              </a:rPr>
              <a:t>wrong map</a:t>
            </a:r>
            <a:r>
              <a:rPr sz="1800" b="0">
                <a:solidFill>
                  <a:srgbClr val="FFFFFF"/>
                </a:solidFill>
                <a:latin typeface="X5 Sans"/>
              </a:rPr>
              <a:t> из хука — это деопт TurboFan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2022: байткод, Sparkplug, TurboFan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8.3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64207" y="1627632"/>
            <a:ext cx="4887469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64207" y="1627632"/>
            <a:ext cx="0" cy="1097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51676" y="1627632"/>
            <a:ext cx="0" cy="1097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4207" y="1188720"/>
            <a:ext cx="48874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X5 Sans Medium"/>
              </a:rPr>
              <a:t>без ставки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63156" y="1627632"/>
            <a:ext cx="4887468" cy="0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63156" y="1627632"/>
            <a:ext cx="0" cy="109728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50624" y="1627632"/>
            <a:ext cx="0" cy="109728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63156" y="1188720"/>
            <a:ext cx="48874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ставка на 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74519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B6BCC6"/>
                </a:solidFill>
                <a:latin typeface="X5 Sans Medium"/>
              </a:rPr>
              <a:t>2014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4207" y="1874519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55648" y="1874519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full-codegen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2630" y="1874519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04070" y="1874519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Crankshaft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8778" y="2308860"/>
            <a:ext cx="5628132" cy="0"/>
          </a:xfrm>
          <a:prstGeom prst="line">
            <a:avLst/>
          </a:prstGeom>
          <a:ln w="28575">
            <a:solidFill>
              <a:srgbClr val="C9CE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8" y="2880360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E5B28"/>
                </a:solidFill>
                <a:latin typeface="X5 Sans Medium"/>
              </a:rPr>
              <a:t>2022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7" y="288036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55648" y="288036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Ignition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3682" y="288036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05122" y="288036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Sparkplug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2630" y="288036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04070" y="288036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TurboFan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8778" y="3314700"/>
            <a:ext cx="329184" cy="0"/>
          </a:xfrm>
          <a:prstGeom prst="line">
            <a:avLst/>
          </a:prstGeom>
          <a:ln w="28575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8252" y="3314700"/>
            <a:ext cx="2978658" cy="0"/>
          </a:xfrm>
          <a:prstGeom prst="line">
            <a:avLst/>
          </a:prstGeom>
          <a:ln w="28575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8328" y="4892040"/>
            <a:ext cx="115122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E5B28"/>
                </a:solidFill>
                <a:latin typeface="X5 Sans"/>
              </a:rPr>
              <a:t>С 2017 первый код — байткод, вместо Crankshaft — TurboFan. В 2021 между ними встал Sparkplug.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Где мы · после узла 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48225" y="2216766"/>
            <a:ext cx="10556095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9768" y="3624942"/>
            <a:ext cx="488550" cy="718457"/>
          </a:xfrm>
          <a:prstGeom prst="roundRect">
            <a:avLst>
              <a:gd name="adj" fmla="val 14973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29768" y="3624942"/>
            <a:ext cx="488550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4458353"/>
            <a:ext cx="488550" cy="718457"/>
          </a:xfrm>
          <a:prstGeom prst="roundRect">
            <a:avLst>
              <a:gd name="adj" fmla="val 14973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9768" y="4458353"/>
            <a:ext cx="488550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8" name="Oval 7"/>
          <p:cNvSpPr/>
          <p:nvPr/>
        </p:nvSpPr>
        <p:spPr>
          <a:xfrm>
            <a:off x="1331322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31322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8225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хук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6513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5657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93945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5657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3945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6513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shape-analyzer</a:t>
            </a:r>
          </a:p>
        </p:txBody>
      </p:sp>
      <p:sp>
        <p:nvSpPr>
          <p:cNvPr id="17" name="Oval 16"/>
          <p:cNvSpPr/>
          <p:nvPr/>
        </p:nvSpPr>
        <p:spPr>
          <a:xfrm>
            <a:off x="2214807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214807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1709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вызов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9997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9141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077429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9141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77429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9997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%HaveSameMap</a:t>
            </a:r>
          </a:p>
        </p:txBody>
      </p:sp>
      <p:sp>
        <p:nvSpPr>
          <p:cNvPr id="26" name="Oval 25"/>
          <p:cNvSpPr/>
          <p:nvPr/>
        </p:nvSpPr>
        <p:spPr>
          <a:xfrm>
            <a:off x="3098292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098292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5194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первые вызовы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3482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42626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60914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MONO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42626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960914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MEGA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3482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--log-ic</a:t>
            </a:r>
          </a:p>
        </p:txBody>
      </p:sp>
      <p:sp>
        <p:nvSpPr>
          <p:cNvPr id="35" name="Diamond 34"/>
          <p:cNvSpPr/>
          <p:nvPr/>
        </p:nvSpPr>
        <p:spPr>
          <a:xfrm>
            <a:off x="3669356" y="2087444"/>
            <a:ext cx="258644" cy="258644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3981776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981776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8678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первые мс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6966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26110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844398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26110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844398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6966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--trace-opt</a:t>
            </a:r>
          </a:p>
        </p:txBody>
      </p:sp>
      <p:sp>
        <p:nvSpPr>
          <p:cNvPr id="45" name="Oval 44"/>
          <p:cNvSpPr/>
          <p:nvPr/>
        </p:nvSpPr>
        <p:spPr>
          <a:xfrm>
            <a:off x="4865261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865261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2163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после компиляции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0451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595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727883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сыграла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09595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727883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не сыграла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0451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--trace-deopt</a:t>
            </a:r>
          </a:p>
        </p:txBody>
      </p:sp>
      <p:sp>
        <p:nvSpPr>
          <p:cNvPr id="54" name="Diamond 53"/>
          <p:cNvSpPr/>
          <p:nvPr/>
        </p:nvSpPr>
        <p:spPr>
          <a:xfrm>
            <a:off x="5436325" y="2087444"/>
            <a:ext cx="258644" cy="258644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5748745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748745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65647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прод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83935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сервис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93080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611367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2302 rps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93080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611367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1180 rps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83935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autocannon</a:t>
            </a:r>
          </a:p>
        </p:txBody>
      </p:sp>
      <p:sp>
        <p:nvSpPr>
          <p:cNvPr id="64" name="Oval 63"/>
          <p:cNvSpPr/>
          <p:nvPr/>
        </p:nvSpPr>
        <p:spPr>
          <a:xfrm>
            <a:off x="6632230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632230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9132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2010–2017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7420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эпоха 2014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76564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494852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76564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494852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67420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Crankshaft</a:t>
            </a:r>
          </a:p>
        </p:txBody>
      </p:sp>
      <p:sp>
        <p:nvSpPr>
          <p:cNvPr id="73" name="Oval 72"/>
          <p:cNvSpPr/>
          <p:nvPr/>
        </p:nvSpPr>
        <p:spPr>
          <a:xfrm>
            <a:off x="7401911" y="1844318"/>
            <a:ext cx="744896" cy="744896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7515714" y="1958122"/>
            <a:ext cx="517289" cy="517289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515714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FFFFFF"/>
                </a:solidFill>
                <a:latin typeface="X5 Sans Medium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32617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2017–2023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50905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1E5B28"/>
                </a:solidFill>
                <a:latin typeface="X5 Sans Medium"/>
              </a:rPr>
              <a:t>эпоха 2017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360049" y="3624942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7378337" y="3624942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60049" y="4458353"/>
            <a:ext cx="828620" cy="718457"/>
          </a:xfrm>
          <a:prstGeom prst="roundRect">
            <a:avLst>
              <a:gd name="adj" fmla="val 7636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378337" y="4458353"/>
            <a:ext cx="792044" cy="7184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5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50905" y="5263025"/>
            <a:ext cx="846908" cy="574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TurboFan</a:t>
            </a:r>
          </a:p>
        </p:txBody>
      </p:sp>
      <p:sp>
        <p:nvSpPr>
          <p:cNvPr id="83" name="Diamond 82"/>
          <p:cNvSpPr/>
          <p:nvPr/>
        </p:nvSpPr>
        <p:spPr>
          <a:xfrm>
            <a:off x="8086779" y="2087444"/>
            <a:ext cx="258644" cy="258644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8399199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399199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16101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2023–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34389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эпоха 2027</a:t>
            </a:r>
          </a:p>
        </p:txBody>
      </p:sp>
      <p:sp>
        <p:nvSpPr>
          <p:cNvPr id="88" name="Oval 87"/>
          <p:cNvSpPr/>
          <p:nvPr/>
        </p:nvSpPr>
        <p:spPr>
          <a:xfrm>
            <a:off x="9282683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282683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99586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с 2008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17874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92" name="Oval 91"/>
          <p:cNvSpPr/>
          <p:nvPr/>
        </p:nvSpPr>
        <p:spPr>
          <a:xfrm>
            <a:off x="10166168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10166168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83070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01358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96" name="Oval 95"/>
          <p:cNvSpPr/>
          <p:nvPr/>
        </p:nvSpPr>
        <p:spPr>
          <a:xfrm>
            <a:off x="11049653" y="1958122"/>
            <a:ext cx="517289" cy="517289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1049653" y="1958122"/>
            <a:ext cx="517289" cy="517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5" b="0">
                <a:solidFill>
                  <a:srgbClr val="9CA3AF"/>
                </a:solidFill>
                <a:latin typeface="X5 Sans Medium"/>
              </a:rPr>
              <a:t>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66555" y="1325880"/>
            <a:ext cx="883484" cy="43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C9CED6"/>
                </a:solidFill>
                <a:latin typeface="X5 Sans"/>
              </a:rPr>
              <a:t>финал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84843" y="2647841"/>
            <a:ext cx="846908" cy="86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18" b="0">
                <a:solidFill>
                  <a:srgbClr val="B6BCC6"/>
                </a:solidFill>
                <a:latin typeface="X5 Sans Medium"/>
              </a:rPr>
              <a:t>снова слайд 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2023–2027: Maglev и Turbolev</a:t>
            </a:r>
          </a:p>
        </p:txBody>
      </p:sp>
      <p:sp>
        <p:nvSpPr>
          <p:cNvPr id="1184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79695" y="1097280"/>
            <a:ext cx="243230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TextBox 1184"/>
          <p:cNvSpPr txBox="1"/>
          <p:nvPr/>
        </p:nvSpPr>
        <p:spPr>
          <a:xfrm>
            <a:off x="4879695" y="1097280"/>
            <a:ext cx="24323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9 из 12</a:t>
            </a:r>
          </a:p>
        </p:txBody>
      </p:sp>
      <p:sp>
        <p:nvSpPr>
          <p:cNvPr id="1185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TextBox 1185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Между ступенями без ставки и дорогим TurboFan — пропасть. Чем её закрыли — и уходит ли TurboFan?</a:t>
            </a:r>
          </a:p>
        </p:txBody>
      </p:sp>
      <p:sp>
        <p:nvSpPr>
          <p:cNvPr id="1187" name="Oval 1186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8" name="Oval 1187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9" name="Oval 1188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0" name="Oval 1189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1" name="Oval 1190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2" name="Oval 1191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3" name="Oval 1192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4" name="Oval 1193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5" name="Oval 1194"/>
          <p:cNvSpPr/>
          <p:nvPr/>
        </p:nvSpPr>
        <p:spPr>
          <a:xfrm>
            <a:off x="6781647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6" name="Oval 1195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7" name="Oval 1196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8" name="Oval 1197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Maglev: ставка подешевле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9.1</a:t>
            </a:r>
          </a:p>
        </p:txBody>
      </p:sp>
      <p:sp>
        <p:nvSpPr>
          <p:cNvPr id="118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8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TextBox 1188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90" name="TextBox 1189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8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TextBox 1190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192" name="TextBox 1191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8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195" name="Rounded Rectangle 1194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6" name="TextBox 1195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9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8" name="Connector 1197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9" name="Oval 1198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0" name="Oval 1199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1" name="Oval 1200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2" name="Oval 1201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3" name="Oval 1202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4" name="Oval 1203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5" name="Oval 1204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6" name="Oval 1205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7" name="Oval 1206"/>
          <p:cNvSpPr/>
          <p:nvPr/>
        </p:nvSpPr>
        <p:spPr>
          <a:xfrm>
            <a:off x="1102267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8" name="Oval 1207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9" name="Oval 1208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0" name="Oval 1209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1" name="TextBox 1210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9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2027</a:t>
            </a:r>
          </a:p>
        </p:txBody>
      </p:sp>
      <p:cxnSp>
        <p:nvCxnSpPr>
          <p:cNvPr id="1212" name="Connector 1211"/>
          <p:cNvCxnSpPr/>
          <p:nvPr/>
        </p:nvCxnSpPr>
        <p:spPr>
          <a:xfrm>
            <a:off x="338328" y="3929062"/>
            <a:ext cx="5261156" cy="0"/>
          </a:xfrm>
          <a:prstGeom prst="line">
            <a:avLst/>
          </a:prstGeom>
          <a:ln w="2222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3" name="Rounded Rectangle 1212"/>
          <p:cNvSpPr/>
          <p:nvPr/>
        </p:nvSpPr>
        <p:spPr>
          <a:xfrm>
            <a:off x="427500" y="3297814"/>
            <a:ext cx="1217199" cy="631246"/>
          </a:xfrm>
          <a:prstGeom prst="roundRect">
            <a:avLst>
              <a:gd name="adj" fmla="val 108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4" name="TextBox 1213"/>
          <p:cNvSpPr txBox="1"/>
          <p:nvPr/>
        </p:nvSpPr>
        <p:spPr>
          <a:xfrm>
            <a:off x="498837" y="3332104"/>
            <a:ext cx="1074524" cy="56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 Medium"/>
              </a:rPr>
              <a:t>Ignition</a:t>
            </a:r>
          </a:p>
        </p:txBody>
      </p:sp>
      <p:cxnSp>
        <p:nvCxnSpPr>
          <p:cNvPr id="1215" name="Connector 1214"/>
          <p:cNvCxnSpPr/>
          <p:nvPr/>
        </p:nvCxnSpPr>
        <p:spPr>
          <a:xfrm>
            <a:off x="427500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6" name="TextBox 1215"/>
          <p:cNvSpPr txBox="1"/>
          <p:nvPr/>
        </p:nvSpPr>
        <p:spPr>
          <a:xfrm>
            <a:off x="409665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вызов 1</a:t>
            </a:r>
          </a:p>
        </p:txBody>
      </p:sp>
      <p:sp>
        <p:nvSpPr>
          <p:cNvPr id="1217" name="Rounded Rectangle 1216"/>
          <p:cNvSpPr/>
          <p:nvPr/>
        </p:nvSpPr>
        <p:spPr>
          <a:xfrm>
            <a:off x="1698203" y="2982190"/>
            <a:ext cx="1217199" cy="946871"/>
          </a:xfrm>
          <a:prstGeom prst="roundRect">
            <a:avLst>
              <a:gd name="adj" fmla="val 7242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8" name="TextBox 1217"/>
          <p:cNvSpPr txBox="1"/>
          <p:nvPr/>
        </p:nvSpPr>
        <p:spPr>
          <a:xfrm>
            <a:off x="1769540" y="3016480"/>
            <a:ext cx="1074524" cy="8782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Sparkplug</a:t>
            </a:r>
          </a:p>
        </p:txBody>
      </p:sp>
      <p:cxnSp>
        <p:nvCxnSpPr>
          <p:cNvPr id="1219" name="Connector 1218"/>
          <p:cNvCxnSpPr/>
          <p:nvPr/>
        </p:nvCxnSpPr>
        <p:spPr>
          <a:xfrm>
            <a:off x="1698203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0" name="TextBox 1219"/>
          <p:cNvSpPr txBox="1"/>
          <p:nvPr/>
        </p:nvSpPr>
        <p:spPr>
          <a:xfrm>
            <a:off x="1680368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десятки</a:t>
            </a:r>
          </a:p>
        </p:txBody>
      </p:sp>
      <p:sp>
        <p:nvSpPr>
          <p:cNvPr id="1221" name="Rounded Rectangle 1220"/>
          <p:cNvSpPr/>
          <p:nvPr/>
        </p:nvSpPr>
        <p:spPr>
          <a:xfrm>
            <a:off x="2968906" y="2491219"/>
            <a:ext cx="1217199" cy="1437841"/>
          </a:xfrm>
          <a:prstGeom prst="roundRect">
            <a:avLst>
              <a:gd name="adj" fmla="val 5860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2" name="TextBox 1221"/>
          <p:cNvSpPr txBox="1"/>
          <p:nvPr/>
        </p:nvSpPr>
        <p:spPr>
          <a:xfrm>
            <a:off x="3040243" y="2525509"/>
            <a:ext cx="1074524" cy="1369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Maglev</a:t>
            </a:r>
          </a:p>
        </p:txBody>
      </p:sp>
      <p:cxnSp>
        <p:nvCxnSpPr>
          <p:cNvPr id="1223" name="Connector 1222"/>
          <p:cNvCxnSpPr/>
          <p:nvPr/>
        </p:nvCxnSpPr>
        <p:spPr>
          <a:xfrm>
            <a:off x="2968906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4" name="TextBox 1223"/>
          <p:cNvSpPr txBox="1"/>
          <p:nvPr/>
        </p:nvSpPr>
        <p:spPr>
          <a:xfrm>
            <a:off x="2951071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~тысяча</a:t>
            </a:r>
          </a:p>
        </p:txBody>
      </p:sp>
      <p:sp>
        <p:nvSpPr>
          <p:cNvPr id="1225" name="Rounded Rectangle 1224"/>
          <p:cNvSpPr/>
          <p:nvPr/>
        </p:nvSpPr>
        <p:spPr>
          <a:xfrm>
            <a:off x="4239609" y="2000249"/>
            <a:ext cx="1217199" cy="1928812"/>
          </a:xfrm>
          <a:prstGeom prst="roundRect">
            <a:avLst>
              <a:gd name="adj" fmla="val 5860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6" name="TextBox 1225"/>
          <p:cNvSpPr txBox="1"/>
          <p:nvPr/>
        </p:nvSpPr>
        <p:spPr>
          <a:xfrm>
            <a:off x="4310946" y="2034539"/>
            <a:ext cx="1074524" cy="1860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TurboFan</a:t>
            </a:r>
          </a:p>
        </p:txBody>
      </p:sp>
      <p:cxnSp>
        <p:nvCxnSpPr>
          <p:cNvPr id="1227" name="Connector 1226"/>
          <p:cNvCxnSpPr/>
          <p:nvPr/>
        </p:nvCxnSpPr>
        <p:spPr>
          <a:xfrm>
            <a:off x="4239609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TextBox 1227"/>
          <p:cNvSpPr txBox="1"/>
          <p:nvPr/>
        </p:nvSpPr>
        <p:spPr>
          <a:xfrm>
            <a:off x="4221774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&gt;10 тысяч</a:t>
            </a:r>
          </a:p>
        </p:txBody>
      </p:sp>
      <p:cxnSp>
        <p:nvCxnSpPr>
          <p:cNvPr id="1229" name="Connector 1228"/>
          <p:cNvCxnSpPr/>
          <p:nvPr/>
        </p:nvCxnSpPr>
        <p:spPr>
          <a:xfrm>
            <a:off x="427500" y="1545907"/>
            <a:ext cx="2487902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>
            <a:off x="427500" y="1545907"/>
            <a:ext cx="0" cy="85725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>
            <a:off x="2915402" y="1545907"/>
            <a:ext cx="0" cy="85725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TextBox 1231"/>
          <p:cNvSpPr txBox="1"/>
          <p:nvPr/>
        </p:nvSpPr>
        <p:spPr>
          <a:xfrm>
            <a:off x="427500" y="1057275"/>
            <a:ext cx="2487902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ничего не предполагают</a:t>
            </a:r>
          </a:p>
        </p:txBody>
      </p:sp>
      <p:cxnSp>
        <p:nvCxnSpPr>
          <p:cNvPr id="1233" name="Connector 1232"/>
          <p:cNvCxnSpPr/>
          <p:nvPr/>
        </p:nvCxnSpPr>
        <p:spPr>
          <a:xfrm>
            <a:off x="2968906" y="1545907"/>
            <a:ext cx="2487902" cy="0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nector 1233"/>
          <p:cNvCxnSpPr/>
          <p:nvPr/>
        </p:nvCxnSpPr>
        <p:spPr>
          <a:xfrm>
            <a:off x="2968906" y="1545907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Connector 1234"/>
          <p:cNvCxnSpPr/>
          <p:nvPr/>
        </p:nvCxnSpPr>
        <p:spPr>
          <a:xfrm>
            <a:off x="5456809" y="1545907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TextBox 1235"/>
          <p:cNvSpPr txBox="1"/>
          <p:nvPr/>
        </p:nvSpPr>
        <p:spPr>
          <a:xfrm>
            <a:off x="2968906" y="1057275"/>
            <a:ext cx="2487902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"/>
              </a:rPr>
              <a:t>ставка на форму</a:t>
            </a:r>
          </a:p>
        </p:txBody>
      </p:sp>
      <p:sp>
        <p:nvSpPr>
          <p:cNvPr id="1191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822414" y="1143000"/>
            <a:ext cx="3504464" cy="1328737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TextBox 1236"/>
          <p:cNvSpPr txBox="1"/>
          <p:nvPr/>
        </p:nvSpPr>
        <p:spPr>
          <a:xfrm>
            <a:off x="5911586" y="1194435"/>
            <a:ext cx="3326119" cy="1225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Maglev</a:t>
            </a:r>
            <a:r>
              <a:rPr sz="1400" b="0">
                <a:solidFill>
                  <a:srgbClr val="1E5B28"/>
                </a:solidFill>
                <a:latin typeface="X5 Sans"/>
              </a:rPr>
              <a:t> · 2023, Chrome 117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свой граф — те же записи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ставка и деопт — как у TurboFan</a:t>
            </a:r>
          </a:p>
        </p:txBody>
      </p:sp>
      <p:sp>
        <p:nvSpPr>
          <p:cNvPr id="119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5822414" y="2600325"/>
            <a:ext cx="3504464" cy="10286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5911586" y="2651760"/>
            <a:ext cx="3326119" cy="925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компилирует в разы быстрее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~1000-й вызов, а не ~13 000-й</a:t>
            </a:r>
          </a:p>
        </p:txBody>
      </p:sp>
      <p:sp>
        <p:nvSpPr>
          <p:cNvPr id="1193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822414" y="3757611"/>
            <a:ext cx="3504464" cy="814387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39" name="TextBox 1238"/>
          <p:cNvSpPr txBox="1"/>
          <p:nvPr/>
        </p:nvSpPr>
        <p:spPr>
          <a:xfrm>
            <a:off x="5911586" y="3809046"/>
            <a:ext cx="3326119" cy="7115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Node 24 — есть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Node 22 с 22.9 — выключен</a:t>
            </a:r>
          </a:p>
        </p:txBody>
      </p:sp>
      <p:sp>
        <p:nvSpPr>
          <p:cNvPr id="119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786312"/>
            <a:ext cx="8988552" cy="942975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TextBox 1239"/>
          <p:cNvSpPr txBox="1"/>
          <p:nvPr/>
        </p:nvSpPr>
        <p:spPr>
          <a:xfrm>
            <a:off x="605844" y="4940617"/>
            <a:ext cx="8453519" cy="63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X5 Sans"/>
              </a:rPr>
              <a:t>со ставкой теперь две ступени из четырёх — и обе ставят на форму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Turboshaft: уход из Sea of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9.2</a:t>
            </a:r>
          </a:p>
        </p:txBody>
      </p:sp>
      <p:sp>
        <p:nvSpPr>
          <p:cNvPr id="119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19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TextBox 119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199" name="TextBox 119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19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TextBox 1199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01" name="TextBox 1200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19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TextBox 1201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04" name="Rounded Rectangle 1203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5" name="TextBox 1204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19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7" name="Connector 1206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8" name="Oval 1207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9" name="Oval 1208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0" name="Oval 1209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1" name="Oval 1210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2" name="Oval 1211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3" name="Oval 1212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4" name="Oval 1213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5" name="Oval 1214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6" name="Oval 1215"/>
          <p:cNvSpPr/>
          <p:nvPr/>
        </p:nvSpPr>
        <p:spPr>
          <a:xfrm>
            <a:off x="1102267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7" name="Oval 1216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8" name="Oval 1217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9" name="Oval 1218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0" name="TextBox 1219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9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2027</a:t>
            </a:r>
          </a:p>
        </p:txBody>
      </p:sp>
      <p:sp>
        <p:nvSpPr>
          <p:cNvPr id="120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5261156" cy="24860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TextBox 1220"/>
          <p:cNvSpPr txBox="1"/>
          <p:nvPr/>
        </p:nvSpPr>
        <p:spPr>
          <a:xfrm>
            <a:off x="561258" y="1271587"/>
            <a:ext cx="481529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E5B28"/>
                </a:solidFill>
                <a:latin typeface="X5 Sans Medium"/>
              </a:rPr>
              <a:t>TurboFan</a:t>
            </a:r>
            <a:r>
              <a:rPr sz="1700" b="0">
                <a:solidFill>
                  <a:srgbClr val="1E5B28"/>
                </a:solidFill>
                <a:latin typeface="X5 Sans"/>
              </a:rPr>
              <a:t> · две половины</a:t>
            </a:r>
          </a:p>
        </p:txBody>
      </p:sp>
      <p:sp>
        <p:nvSpPr>
          <p:cNvPr id="1222" name="Rounded Rectangle 1221"/>
          <p:cNvSpPr/>
          <p:nvPr/>
        </p:nvSpPr>
        <p:spPr>
          <a:xfrm>
            <a:off x="605844" y="1828800"/>
            <a:ext cx="2273889" cy="1543049"/>
          </a:xfrm>
          <a:prstGeom prst="roundRect">
            <a:avLst>
              <a:gd name="adj" fmla="val 444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3" name="TextBox 1222"/>
          <p:cNvSpPr txBox="1"/>
          <p:nvPr/>
        </p:nvSpPr>
        <p:spPr>
          <a:xfrm>
            <a:off x="605844" y="1828800"/>
            <a:ext cx="2273889" cy="15430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фронтенд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граф Sea of Nodes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пока — для JS</a:t>
            </a:r>
          </a:p>
        </p:txBody>
      </p:sp>
      <p:sp>
        <p:nvSpPr>
          <p:cNvPr id="1224" name="Rounded Rectangle 1223"/>
          <p:cNvSpPr/>
          <p:nvPr/>
        </p:nvSpPr>
        <p:spPr>
          <a:xfrm>
            <a:off x="3058078" y="1828800"/>
            <a:ext cx="2273889" cy="1543049"/>
          </a:xfrm>
          <a:prstGeom prst="roundRect">
            <a:avLst>
              <a:gd name="adj" fmla="val 4444"/>
            </a:avLst>
          </a:prstGeom>
          <a:solidFill>
            <a:srgbClr val="E0FBCC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5" name="TextBox 1224"/>
          <p:cNvSpPr txBox="1"/>
          <p:nvPr/>
        </p:nvSpPr>
        <p:spPr>
          <a:xfrm>
            <a:off x="3058078" y="1828800"/>
            <a:ext cx="2273889" cy="15430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бэкенд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Turboshaft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обычный граф блоков</a:t>
            </a:r>
          </a:p>
        </p:txBody>
      </p:sp>
      <p:sp>
        <p:nvSpPr>
          <p:cNvPr id="1201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822414" y="1143000"/>
            <a:ext cx="3504464" cy="1157287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5911586" y="1194435"/>
            <a:ext cx="3326119" cy="1054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Chrome 120</a:t>
            </a:r>
            <a:r>
              <a:rPr sz="1400" b="0">
                <a:solidFill>
                  <a:srgbClr val="1E5B28"/>
                </a:solidFill>
                <a:latin typeface="X5 Sans"/>
              </a:rPr>
              <a:t> · декабрь 2023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компиляция ~×2 быстрее</a:t>
            </a:r>
          </a:p>
        </p:txBody>
      </p:sp>
      <p:sp>
        <p:nvSpPr>
          <p:cNvPr id="120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822414" y="2428874"/>
            <a:ext cx="3504464" cy="1200149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27" name="TextBox 1226"/>
          <p:cNvSpPr txBox="1"/>
          <p:nvPr/>
        </p:nvSpPr>
        <p:spPr>
          <a:xfrm>
            <a:off x="5911586" y="2480309"/>
            <a:ext cx="3326119" cy="1097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«Land ahoy: leaving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the Sea of Nodes»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блог V8, 2025</a:t>
            </a:r>
          </a:p>
        </p:txBody>
      </p:sp>
      <p:sp>
        <p:nvSpPr>
          <p:cNvPr id="1203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3971925"/>
            <a:ext cx="8988552" cy="120014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TextBox 1227"/>
          <p:cNvSpPr txBox="1"/>
          <p:nvPr/>
        </p:nvSpPr>
        <p:spPr>
          <a:xfrm>
            <a:off x="605844" y="4126229"/>
            <a:ext cx="8453519" cy="8915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X5 Sans"/>
              </a:rPr>
              <a:t>переднюю половину тоже заменят — это и есть Turbolev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Turbolev: состав и статус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9.3</a:t>
            </a:r>
          </a:p>
        </p:txBody>
      </p:sp>
      <p:sp>
        <p:nvSpPr>
          <p:cNvPr id="120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TextBox 120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0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TextBox 1206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0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TextBox 1208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10" name="TextBox 1209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0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TextBox 1210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13" name="Rounded Rectangle 1212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4" name="TextBox 1213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20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6" name="Connector 1215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7" name="Oval 1216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8" name="Oval 1217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9" name="Oval 1218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0" name="Oval 1219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1" name="Oval 1220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2" name="Oval 1221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3" name="Oval 1222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4" name="Oval 1223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5" name="Oval 1224"/>
          <p:cNvSpPr/>
          <p:nvPr/>
        </p:nvSpPr>
        <p:spPr>
          <a:xfrm>
            <a:off x="1102267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6" name="Oval 1225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7" name="Oval 1226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8" name="Oval 1227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9" name="TextBox 1228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9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2027</a:t>
            </a:r>
          </a:p>
        </p:txBody>
      </p:sp>
      <p:cxnSp>
        <p:nvCxnSpPr>
          <p:cNvPr id="1230" name="Connector 1229"/>
          <p:cNvCxnSpPr/>
          <p:nvPr/>
        </p:nvCxnSpPr>
        <p:spPr>
          <a:xfrm>
            <a:off x="338328" y="3929062"/>
            <a:ext cx="5261156" cy="0"/>
          </a:xfrm>
          <a:prstGeom prst="line">
            <a:avLst/>
          </a:prstGeom>
          <a:ln w="2222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1" name="Rounded Rectangle 1230"/>
          <p:cNvSpPr/>
          <p:nvPr/>
        </p:nvSpPr>
        <p:spPr>
          <a:xfrm>
            <a:off x="427500" y="3297814"/>
            <a:ext cx="1217199" cy="631246"/>
          </a:xfrm>
          <a:prstGeom prst="roundRect">
            <a:avLst>
              <a:gd name="adj" fmla="val 108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2" name="TextBox 1231"/>
          <p:cNvSpPr txBox="1"/>
          <p:nvPr/>
        </p:nvSpPr>
        <p:spPr>
          <a:xfrm>
            <a:off x="498837" y="3332104"/>
            <a:ext cx="1074524" cy="56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>
                <a:solidFill>
                  <a:srgbClr val="1E5B28"/>
                </a:solidFill>
                <a:latin typeface="X5 Sans Medium"/>
              </a:rPr>
              <a:t>Ignition</a:t>
            </a:r>
          </a:p>
        </p:txBody>
      </p:sp>
      <p:cxnSp>
        <p:nvCxnSpPr>
          <p:cNvPr id="1233" name="Connector 1232"/>
          <p:cNvCxnSpPr/>
          <p:nvPr/>
        </p:nvCxnSpPr>
        <p:spPr>
          <a:xfrm>
            <a:off x="427500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4" name="TextBox 1233"/>
          <p:cNvSpPr txBox="1"/>
          <p:nvPr/>
        </p:nvSpPr>
        <p:spPr>
          <a:xfrm>
            <a:off x="409665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вызов 1</a:t>
            </a:r>
          </a:p>
        </p:txBody>
      </p:sp>
      <p:sp>
        <p:nvSpPr>
          <p:cNvPr id="1235" name="Rounded Rectangle 1234"/>
          <p:cNvSpPr/>
          <p:nvPr/>
        </p:nvSpPr>
        <p:spPr>
          <a:xfrm>
            <a:off x="1698203" y="2982190"/>
            <a:ext cx="1217199" cy="946871"/>
          </a:xfrm>
          <a:prstGeom prst="roundRect">
            <a:avLst>
              <a:gd name="adj" fmla="val 7242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6" name="TextBox 1235"/>
          <p:cNvSpPr txBox="1"/>
          <p:nvPr/>
        </p:nvSpPr>
        <p:spPr>
          <a:xfrm>
            <a:off x="1769540" y="3016480"/>
            <a:ext cx="1074524" cy="8782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Sparkplug</a:t>
            </a:r>
          </a:p>
        </p:txBody>
      </p:sp>
      <p:cxnSp>
        <p:nvCxnSpPr>
          <p:cNvPr id="1237" name="Connector 1236"/>
          <p:cNvCxnSpPr/>
          <p:nvPr/>
        </p:nvCxnSpPr>
        <p:spPr>
          <a:xfrm>
            <a:off x="1698203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8" name="TextBox 1237"/>
          <p:cNvSpPr txBox="1"/>
          <p:nvPr/>
        </p:nvSpPr>
        <p:spPr>
          <a:xfrm>
            <a:off x="1680368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десятки</a:t>
            </a:r>
          </a:p>
        </p:txBody>
      </p:sp>
      <p:sp>
        <p:nvSpPr>
          <p:cNvPr id="1239" name="Rounded Rectangle 1238"/>
          <p:cNvSpPr/>
          <p:nvPr/>
        </p:nvSpPr>
        <p:spPr>
          <a:xfrm>
            <a:off x="2968906" y="2491219"/>
            <a:ext cx="1217199" cy="1437841"/>
          </a:xfrm>
          <a:prstGeom prst="roundRect">
            <a:avLst>
              <a:gd name="adj" fmla="val 5860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0" name="TextBox 1239"/>
          <p:cNvSpPr txBox="1"/>
          <p:nvPr/>
        </p:nvSpPr>
        <p:spPr>
          <a:xfrm>
            <a:off x="3040243" y="2525509"/>
            <a:ext cx="1074524" cy="13692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Maglev</a:t>
            </a:r>
          </a:p>
        </p:txBody>
      </p:sp>
      <p:cxnSp>
        <p:nvCxnSpPr>
          <p:cNvPr id="1241" name="Connector 1240"/>
          <p:cNvCxnSpPr/>
          <p:nvPr/>
        </p:nvCxnSpPr>
        <p:spPr>
          <a:xfrm>
            <a:off x="2968906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2" name="TextBox 1241"/>
          <p:cNvSpPr txBox="1"/>
          <p:nvPr/>
        </p:nvSpPr>
        <p:spPr>
          <a:xfrm>
            <a:off x="2951071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~тысяча</a:t>
            </a:r>
          </a:p>
        </p:txBody>
      </p:sp>
      <p:sp>
        <p:nvSpPr>
          <p:cNvPr id="1243" name="Rounded Rectangle 1242"/>
          <p:cNvSpPr/>
          <p:nvPr/>
        </p:nvSpPr>
        <p:spPr>
          <a:xfrm>
            <a:off x="4239609" y="2000249"/>
            <a:ext cx="1217199" cy="1928812"/>
          </a:xfrm>
          <a:prstGeom prst="roundRect">
            <a:avLst>
              <a:gd name="adj" fmla="val 5860"/>
            </a:avLst>
          </a:prstGeom>
          <a:solidFill>
            <a:srgbClr val="AADC00"/>
          </a:solidFill>
          <a:ln w="2540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4" name="TextBox 1243"/>
          <p:cNvSpPr txBox="1"/>
          <p:nvPr/>
        </p:nvSpPr>
        <p:spPr>
          <a:xfrm>
            <a:off x="4310946" y="2034539"/>
            <a:ext cx="1074524" cy="1860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TurboFan → Turbolev</a:t>
            </a:r>
          </a:p>
          <a:p>
            <a:pPr algn="ctr">
              <a:spcAft>
                <a:spcPts val="1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самый сильный</a:t>
            </a:r>
          </a:p>
        </p:txBody>
      </p:sp>
      <p:cxnSp>
        <p:nvCxnSpPr>
          <p:cNvPr id="1245" name="Connector 1244"/>
          <p:cNvCxnSpPr/>
          <p:nvPr/>
        </p:nvCxnSpPr>
        <p:spPr>
          <a:xfrm>
            <a:off x="4239609" y="3929062"/>
            <a:ext cx="0" cy="85724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6" name="TextBox 1245"/>
          <p:cNvSpPr txBox="1"/>
          <p:nvPr/>
        </p:nvSpPr>
        <p:spPr>
          <a:xfrm>
            <a:off x="4221774" y="4031932"/>
            <a:ext cx="127070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5B28"/>
                </a:solidFill>
                <a:latin typeface="X5 Sans Medium"/>
              </a:rPr>
              <a:t>&gt;10 тысяч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427500" y="1545907"/>
            <a:ext cx="2487902" cy="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8" name="Connector 1247"/>
          <p:cNvCxnSpPr/>
          <p:nvPr/>
        </p:nvCxnSpPr>
        <p:spPr>
          <a:xfrm>
            <a:off x="427500" y="1545907"/>
            <a:ext cx="0" cy="85725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nector 1248"/>
          <p:cNvCxnSpPr/>
          <p:nvPr/>
        </p:nvCxnSpPr>
        <p:spPr>
          <a:xfrm>
            <a:off x="2915402" y="1545907"/>
            <a:ext cx="0" cy="85725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0" name="TextBox 1249"/>
          <p:cNvSpPr txBox="1"/>
          <p:nvPr/>
        </p:nvSpPr>
        <p:spPr>
          <a:xfrm>
            <a:off x="427500" y="1057275"/>
            <a:ext cx="2487902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ничего не предполагают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2968906" y="1545907"/>
            <a:ext cx="2487902" cy="0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>
            <a:off x="2968906" y="1545907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>
            <a:off x="5456809" y="1545907"/>
            <a:ext cx="0" cy="85725"/>
          </a:xfrm>
          <a:prstGeom prst="line">
            <a:avLst/>
          </a:prstGeom>
          <a:ln w="15875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4" name="TextBox 1253"/>
          <p:cNvSpPr txBox="1"/>
          <p:nvPr/>
        </p:nvSpPr>
        <p:spPr>
          <a:xfrm>
            <a:off x="2968906" y="1057275"/>
            <a:ext cx="2487902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"/>
              </a:rPr>
              <a:t>ставка на форму</a:t>
            </a:r>
          </a:p>
        </p:txBody>
      </p:sp>
      <p:sp>
        <p:nvSpPr>
          <p:cNvPr id="1209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822414" y="1143000"/>
            <a:ext cx="3504464" cy="985837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TextBox 1254"/>
          <p:cNvSpPr txBox="1"/>
          <p:nvPr/>
        </p:nvSpPr>
        <p:spPr>
          <a:xfrm>
            <a:off x="5911586" y="1194435"/>
            <a:ext cx="3326119" cy="882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 Medium"/>
              </a:rPr>
              <a:t>Maglev</a:t>
            </a:r>
            <a:r>
              <a:rPr sz="1400" b="0">
                <a:solidFill>
                  <a:srgbClr val="1E5B28"/>
                </a:solidFill>
                <a:latin typeface="X5 Sans"/>
              </a:rPr>
              <a:t> — фронтенд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те же записи → та же ставка</a:t>
            </a:r>
          </a:p>
        </p:txBody>
      </p:sp>
      <p:sp>
        <p:nvSpPr>
          <p:cNvPr id="1210" name="Нашивка 6">
            <a:extLst>
              <a:ext uri="{FF2B5EF4-FFF2-40B4-BE49-F238E27FC236}">
                <a16:creationId xmlns:a16="http://schemas.microsoft.com/office/drawing/2014/main" id="{F80B4974-C140-AA86-1C4E-8502021E883C}"/>
              </a:ext>
            </a:extLst>
          </p:cNvPr>
          <p:cNvSpPr/>
          <p:nvPr/>
        </p:nvSpPr>
        <p:spPr>
          <a:xfrm rot="5400000">
            <a:off x="7485475" y="2171700"/>
            <a:ext cx="178344" cy="300037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822414" y="2514600"/>
            <a:ext cx="3504464" cy="985837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5911586" y="2566034"/>
            <a:ext cx="3326119" cy="882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 Medium"/>
              </a:rPr>
              <a:t>Turboshaft</a:t>
            </a:r>
            <a:r>
              <a:rPr sz="1400" b="0">
                <a:solidFill>
                  <a:srgbClr val="1E5B28"/>
                </a:solidFill>
                <a:latin typeface="X5 Sans"/>
              </a:rPr>
              <a:t> — бэкенд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у TurboFan — уже с Chrome 120</a:t>
            </a:r>
          </a:p>
        </p:txBody>
      </p:sp>
      <p:sp>
        <p:nvSpPr>
          <p:cNvPr id="121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822414" y="3629025"/>
            <a:ext cx="3504464" cy="942975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57" name="TextBox 1256"/>
          <p:cNvSpPr txBox="1"/>
          <p:nvPr/>
        </p:nvSpPr>
        <p:spPr>
          <a:xfrm>
            <a:off x="5911586" y="3680459"/>
            <a:ext cx="3326119" cy="840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«≈ Maglev + Turboshaft … instead of Turbofan»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замена ступени, не пятая</a:t>
            </a:r>
          </a:p>
        </p:txBody>
      </p:sp>
      <p:sp>
        <p:nvSpPr>
          <p:cNvPr id="1213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743450"/>
            <a:ext cx="8988552" cy="1200149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TextBox 1257"/>
          <p:cNvSpPr txBox="1"/>
          <p:nvPr/>
        </p:nvSpPr>
        <p:spPr>
          <a:xfrm>
            <a:off x="472086" y="4820602"/>
            <a:ext cx="8721035" cy="10458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32" b="0">
                <a:solidFill>
                  <a:srgbClr val="FFFFFF"/>
                </a:solidFill>
                <a:latin typeface="Consolas"/>
              </a:rPr>
              <a:t>--turbolev</a:t>
            </a:r>
            <a:r>
              <a:rPr sz="1400" b="0">
                <a:solidFill>
                  <a:srgbClr val="FFFFFF"/>
                </a:solidFill>
                <a:latin typeface="X5 Sans"/>
              </a:rPr>
              <a:t> — с V8 13.6 (Node 24), по умолчанию выключен · в сентябре 2026 его включали в основной ветке V8 на неделю и откатили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X5 Sans"/>
              </a:rPr>
              <a:t>срок не объявлен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Числа под --turbolev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9.4</a:t>
            </a:r>
          </a:p>
        </p:txBody>
      </p:sp>
      <p:sp>
        <p:nvSpPr>
          <p:cNvPr id="121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TextBox 121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16" name="TextBox 121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1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1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TextBox 1218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20" name="TextBox 1219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1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TextBox 1220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22" name="TextBox 1221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23" name="Rounded Rectangle 1222"/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21212"/>
            </a:avLst>
          </a:prstGeom>
          <a:solidFill>
            <a:srgbClr val="F3F4F6"/>
          </a:solidFill>
          <a:ln w="12700">
            <a:solidFill>
              <a:srgbClr val="D9DD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4" name="TextBox 1223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25" name="TextBox 1224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B6BCC6"/>
                </a:solidFill>
                <a:latin typeface="X5 Sans Medium"/>
              </a:rPr>
              <a:t>—</a:t>
            </a:r>
          </a:p>
        </p:txBody>
      </p:sp>
      <p:sp>
        <p:nvSpPr>
          <p:cNvPr id="121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6" name="Connector 1225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7" name="Oval 1226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8" name="Oval 1227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9" name="Oval 1228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0" name="Oval 1229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1" name="Oval 1230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2" name="Oval 1231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3" name="Oval 1232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4" name="Oval 1233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5" name="Oval 1234"/>
          <p:cNvSpPr/>
          <p:nvPr/>
        </p:nvSpPr>
        <p:spPr>
          <a:xfrm>
            <a:off x="11022676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6" name="Oval 1235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7" name="Oval 1236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8" name="Oval 1237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9" name="TextBox 1238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9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эпоха 2027</a:t>
            </a:r>
          </a:p>
        </p:txBody>
      </p:sp>
      <p:sp>
        <p:nvSpPr>
          <p:cNvPr id="1240" name="Rounded Rectangle 1239"/>
          <p:cNvSpPr/>
          <p:nvPr/>
        </p:nvSpPr>
        <p:spPr>
          <a:xfrm>
            <a:off x="338328" y="1143000"/>
            <a:ext cx="5261156" cy="1971674"/>
          </a:xfrm>
          <a:prstGeom prst="roundRect">
            <a:avLst>
              <a:gd name="adj" fmla="val 6956"/>
            </a:avLst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1" name="Oval 1240"/>
          <p:cNvSpPr/>
          <p:nvPr/>
        </p:nvSpPr>
        <p:spPr>
          <a:xfrm>
            <a:off x="516672" y="1280160"/>
            <a:ext cx="98089" cy="94297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2" name="Oval 1241"/>
          <p:cNvSpPr/>
          <p:nvPr/>
        </p:nvSpPr>
        <p:spPr>
          <a:xfrm>
            <a:off x="695016" y="1280160"/>
            <a:ext cx="98089" cy="94297"/>
          </a:xfrm>
          <a:prstGeom prst="ellipse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3" name="Oval 1242"/>
          <p:cNvSpPr/>
          <p:nvPr/>
        </p:nvSpPr>
        <p:spPr>
          <a:xfrm>
            <a:off x="873360" y="1280160"/>
            <a:ext cx="98089" cy="9429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4" name="TextBox 1243"/>
          <p:cNvSpPr txBox="1"/>
          <p:nvPr/>
        </p:nvSpPr>
        <p:spPr>
          <a:xfrm>
            <a:off x="1230049" y="1228724"/>
            <a:ext cx="419109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FB09A"/>
                </a:solidFill>
                <a:latin typeface="X5 Sans"/>
              </a:rPr>
              <a:t>запись R10 · один прогон — медианы справа</a:t>
            </a:r>
          </a:p>
        </p:txBody>
      </p:sp>
      <p:sp>
        <p:nvSpPr>
          <p:cNvPr id="1245" name="TextBox 1244"/>
          <p:cNvSpPr txBox="1"/>
          <p:nvPr/>
        </p:nvSpPr>
        <p:spPr>
          <a:xfrm>
            <a:off x="561258" y="1503044"/>
            <a:ext cx="4815295" cy="15001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AADC00"/>
                </a:solidFill>
                <a:latin typeface="Consolas"/>
              </a:rPr>
              <a:t>$ node --allow-natives-syntax --turbolev \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ADC00"/>
                </a:solidFill>
                <a:latin typeface="Consolas"/>
              </a:rPr>
              <a:t>    shape-analyzer.js ref-a.js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F2E9"/>
                </a:solidFill>
                <a:latin typeface="Consolas"/>
              </a:rPr>
              <a:t>{"shapes":1,"ic":"MONO",</a:t>
            </a:r>
            <a:r>
              <a:rPr sz="1100" b="1">
                <a:solidFill>
                  <a:srgbClr val="FF9DB8"/>
                </a:solidFill>
                <a:latin typeface="Consolas"/>
              </a:rPr>
              <a:t>"p50_ms":0.13</a:t>
            </a:r>
            <a:r>
              <a:rPr sz="1100" b="0">
                <a:solidFill>
                  <a:srgbClr val="E6F2E9"/>
                </a:solidFill>
                <a:latin typeface="Consolas"/>
              </a:rPr>
              <a:t>,"correct":true}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ADC00"/>
                </a:solidFill>
                <a:latin typeface="Consolas"/>
              </a:rPr>
              <a:t>$ node --allow-natives-syntax --turbolev \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ADC00"/>
                </a:solidFill>
                <a:latin typeface="Consolas"/>
              </a:rPr>
              <a:t>    shape-analyzer.js ref-b.js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E6F2E9"/>
                </a:solidFill>
                <a:latin typeface="Consolas"/>
              </a:rPr>
              <a:t>{"shapes":8,"ic":"MEGA",</a:t>
            </a:r>
            <a:r>
              <a:rPr sz="1100" b="1">
                <a:solidFill>
                  <a:srgbClr val="FF9DB8"/>
                </a:solidFill>
                <a:latin typeface="Consolas"/>
              </a:rPr>
              <a:t>"p50_ms":0.88</a:t>
            </a:r>
            <a:r>
              <a:rPr sz="1100" b="0">
                <a:solidFill>
                  <a:srgbClr val="E6F2E9"/>
                </a:solidFill>
                <a:latin typeface="Consolas"/>
              </a:rPr>
              <a:t>,"correct":true}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338328" y="3243262"/>
            <a:ext cx="5261156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B относительно A · медианы 5 прогонов</a:t>
            </a:r>
          </a:p>
        </p:txBody>
      </p:sp>
      <p:graphicFrame>
        <p:nvGraphicFramePr>
          <p:cNvPr id="1247" name="Chart 1246"/>
          <p:cNvGraphicFramePr>
            <a:graphicFrameLocks noGrp="1"/>
          </p:cNvGraphicFramePr>
          <p:nvPr/>
        </p:nvGraphicFramePr>
        <p:xfrm>
          <a:off x="338328" y="3543299"/>
          <a:ext cx="5261156" cy="24002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1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5822414" y="1143000"/>
            <a:ext cx="3504464" cy="1500187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TextBox 1247"/>
          <p:cNvSpPr txBox="1"/>
          <p:nvPr/>
        </p:nvSpPr>
        <p:spPr>
          <a:xfrm>
            <a:off x="5956173" y="1220152"/>
            <a:ext cx="3236948" cy="13458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без флага: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0.12 / 0.79</a:t>
            </a:r>
            <a:r>
              <a:rPr sz="1400" b="0">
                <a:solidFill>
                  <a:srgbClr val="1E5B28"/>
                </a:solidFill>
                <a:latin typeface="X5 Sans"/>
              </a:rPr>
              <a:t> · ×6.6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с флагом: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0.14 / 0.95</a:t>
            </a:r>
            <a:r>
              <a:rPr sz="1400" b="0">
                <a:solidFill>
                  <a:srgbClr val="1E5B28"/>
                </a:solidFill>
                <a:latin typeface="X5 Sans"/>
              </a:rPr>
              <a:t> · ×6.8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под флагом оба чуть медленнее</a:t>
            </a:r>
          </a:p>
        </p:txBody>
      </p:sp>
      <p:sp>
        <p:nvSpPr>
          <p:cNvPr id="1220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822414" y="2771775"/>
            <a:ext cx="3504464" cy="942975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TextBox 1248"/>
          <p:cNvSpPr txBox="1"/>
          <p:nvPr/>
        </p:nvSpPr>
        <p:spPr>
          <a:xfrm>
            <a:off x="5929421" y="2833496"/>
            <a:ext cx="3290451" cy="8195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E5B28"/>
                </a:solidFill>
                <a:latin typeface="X5 Sans"/>
              </a:rPr>
              <a:t>разница между A и B — та же</a:t>
            </a:r>
          </a:p>
        </p:txBody>
      </p:sp>
      <p:sp>
        <p:nvSpPr>
          <p:cNvPr id="1221" name="Скругленный прямоугольник 12">
            <a:extLst>
              <a:ext uri="{FF2B5EF4-FFF2-40B4-BE49-F238E27FC236}">
                <a16:creationId xmlns:a16="http://schemas.microsoft.com/office/drawing/2014/main" id="{5A3A7D11-456E-0067-4E0A-05483F90D950}"/>
              </a:ext>
            </a:extLst>
          </p:cNvPr>
          <p:cNvSpPr/>
          <p:nvPr/>
        </p:nvSpPr>
        <p:spPr>
          <a:xfrm>
            <a:off x="5822414" y="3843337"/>
            <a:ext cx="3504464" cy="1114425"/>
          </a:xfrm>
          <a:prstGeom prst="roundRect">
            <a:avLst>
              <a:gd name="adj" fmla="val 9804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5929421" y="3905058"/>
            <a:ext cx="3290451" cy="9909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заявлено: компилятор проще и быстрее</a:t>
            </a:r>
          </a:p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Turboshaft ×2 — с Chrome 120, уже в TurboFan</a:t>
            </a:r>
          </a:p>
        </p:txBody>
      </p:sp>
      <p:sp>
        <p:nvSpPr>
          <p:cNvPr id="122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822414" y="5086350"/>
            <a:ext cx="3504464" cy="557212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51" name="TextBox 1250"/>
          <p:cNvSpPr txBox="1"/>
          <p:nvPr/>
        </p:nvSpPr>
        <p:spPr>
          <a:xfrm>
            <a:off x="5911586" y="5137784"/>
            <a:ext cx="3326119" cy="4543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E5B28"/>
                </a:solidFill>
                <a:latin typeface="X5 Sans"/>
              </a:rPr>
              <a:t>о скорости кода источники молчат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Ставка та же</a:t>
            </a:r>
          </a:p>
        </p:txBody>
      </p:sp>
      <p:sp>
        <p:nvSpPr>
          <p:cNvPr id="1223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08829" y="1097280"/>
            <a:ext cx="2574036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TextBox 1223"/>
          <p:cNvSpPr txBox="1"/>
          <p:nvPr/>
        </p:nvSpPr>
        <p:spPr>
          <a:xfrm>
            <a:off x="4808829" y="1097280"/>
            <a:ext cx="25740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10 из 12</a:t>
            </a:r>
          </a:p>
        </p:txBody>
      </p:sp>
      <p:sp>
        <p:nvSpPr>
          <p:cNvPr id="1224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TextBox 1224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Семь компиляторов за три эпохи. Что из этого пережило все три — и платит ли B в каждой?</a:t>
            </a:r>
          </a:p>
        </p:txBody>
      </p:sp>
      <p:sp>
        <p:nvSpPr>
          <p:cNvPr id="1226" name="Oval 1225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7" name="Oval 1226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8" name="Oval 1227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9" name="Oval 1228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0" name="Oval 1229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1" name="Oval 1230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2" name="Oval 1231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3" name="Oval 1232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4" name="Oval 1233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5" name="Oval 1234"/>
          <p:cNvSpPr/>
          <p:nvPr/>
        </p:nvSpPr>
        <p:spPr>
          <a:xfrm>
            <a:off x="7092543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6" name="Oval 1235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7" name="Oval 1236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Три компилятора — один налог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10.1</a:t>
            </a:r>
          </a:p>
        </p:txBody>
      </p:sp>
      <p:sp>
        <p:nvSpPr>
          <p:cNvPr id="122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27" name="TextBox 1226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2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TextBox 1227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29" name="TextBox 1228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2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TextBox 1229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2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2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TextBox 1233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35" name="TextBox 1234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быстро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налог</a:t>
            </a:r>
          </a:p>
        </p:txBody>
      </p:sp>
      <p:sp>
        <p:nvSpPr>
          <p:cNvPr id="123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6" name="Connector 1235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7" name="Oval 1236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8" name="Oval 1237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9" name="Oval 1238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0" name="Oval 1239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1" name="Oval 1240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2" name="Oval 1241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3" name="Oval 1242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4" name="Oval 1243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5" name="Oval 1244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6" name="Oval 1245"/>
          <p:cNvSpPr/>
          <p:nvPr/>
        </p:nvSpPr>
        <p:spPr>
          <a:xfrm>
            <a:off x="11198074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7" name="Oval 1246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8" name="Oval 1247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9" name="TextBox 1248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10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1250" name="TextBox 1249"/>
          <p:cNvSpPr txBox="1"/>
          <p:nvPr/>
        </p:nvSpPr>
        <p:spPr>
          <a:xfrm>
            <a:off x="338328" y="1100137"/>
            <a:ext cx="5617845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B относительно A · прибор · медианы 5 прогонов · Docker arm64</a:t>
            </a:r>
          </a:p>
        </p:txBody>
      </p:sp>
      <p:graphicFrame>
        <p:nvGraphicFramePr>
          <p:cNvPr id="1251" name="Chart 1250"/>
          <p:cNvGraphicFramePr>
            <a:graphicFrameLocks noGrp="1"/>
          </p:cNvGraphicFramePr>
          <p:nvPr/>
        </p:nvGraphicFramePr>
        <p:xfrm>
          <a:off x="338328" y="1400175"/>
          <a:ext cx="5617845" cy="394334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3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6179103" y="1143000"/>
            <a:ext cx="3147776" cy="171449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TextBox 1251"/>
          <p:cNvSpPr txBox="1"/>
          <p:nvPr/>
        </p:nvSpPr>
        <p:spPr>
          <a:xfrm>
            <a:off x="6286109" y="1204721"/>
            <a:ext cx="2933763" cy="1591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E5B28"/>
                </a:solidFill>
                <a:latin typeface="X5 Sans Medium"/>
              </a:rPr>
              <a:t>Crankshaft 2014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замера нет —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1E5B28"/>
                </a:solidFill>
                <a:latin typeface="X5 Sans"/>
              </a:rPr>
              <a:t>механизм тот же</a:t>
            </a:r>
          </a:p>
        </p:txBody>
      </p:sp>
      <p:sp>
        <p:nvSpPr>
          <p:cNvPr id="1232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6179103" y="3028950"/>
            <a:ext cx="3147776" cy="145732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6286109" y="3090671"/>
            <a:ext cx="2933763" cy="133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1E5B28"/>
                </a:solidFill>
                <a:latin typeface="X5 Sans"/>
              </a:rPr>
              <a:t>налог — свойство</a:t>
            </a:r>
          </a:p>
          <a:p>
            <a:pPr algn="ctr">
              <a:spcAft>
                <a:spcPts val="300"/>
              </a:spcAft>
            </a:pPr>
            <a:r>
              <a:rPr sz="1800" b="0">
                <a:solidFill>
                  <a:srgbClr val="1E5B28"/>
                </a:solidFill>
                <a:latin typeface="X5 Sans Medium"/>
              </a:rPr>
              <a:t>формы</a:t>
            </a:r>
            <a:r>
              <a:rPr sz="1800" b="0">
                <a:solidFill>
                  <a:srgbClr val="1E5B28"/>
                </a:solidFill>
                <a:latin typeface="X5 Sans"/>
              </a:rPr>
              <a:t>, не компилятора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Ярусы менялись, ставка — нет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10.2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64207" y="1627632"/>
            <a:ext cx="4887469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64207" y="1627632"/>
            <a:ext cx="0" cy="1097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51676" y="1627632"/>
            <a:ext cx="0" cy="109728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4207" y="1188720"/>
            <a:ext cx="48874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X5 Sans Medium"/>
              </a:rPr>
              <a:t>без ставки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63156" y="1627632"/>
            <a:ext cx="4887468" cy="0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63156" y="1627632"/>
            <a:ext cx="0" cy="109728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50624" y="1627632"/>
            <a:ext cx="0" cy="109728"/>
          </a:xfrm>
          <a:prstGeom prst="line">
            <a:avLst/>
          </a:prstGeom>
          <a:ln w="19050">
            <a:solidFill>
              <a:srgbClr val="1E5B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63156" y="1188720"/>
            <a:ext cx="48874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1E5B28"/>
                </a:solidFill>
                <a:latin typeface="X5 Sans Medium"/>
              </a:rPr>
              <a:t>ставка на 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74519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B6BCC6"/>
                </a:solidFill>
                <a:latin typeface="X5 Sans Medium"/>
              </a:rPr>
              <a:t>2014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4207" y="1874519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55648" y="1874519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full-codegen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2630" y="1874519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04070" y="1874519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Crankshaft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8778" y="2308860"/>
            <a:ext cx="5628132" cy="0"/>
          </a:xfrm>
          <a:prstGeom prst="line">
            <a:avLst/>
          </a:prstGeom>
          <a:ln w="28575">
            <a:solidFill>
              <a:srgbClr val="C9CE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8" y="2880360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B6BCC6"/>
                </a:solidFill>
                <a:latin typeface="X5 Sans Medium"/>
              </a:rPr>
              <a:t>2022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4207" y="288036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755648" y="288036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Ignition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3682" y="288036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05122" y="288036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Sparkplug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12630" y="288036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04070" y="288036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B6BCC6"/>
                </a:solidFill>
                <a:latin typeface="X5 Sans Medium"/>
              </a:rPr>
              <a:t>TurboFan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8778" y="3314700"/>
            <a:ext cx="329184" cy="0"/>
          </a:xfrm>
          <a:prstGeom prst="line">
            <a:avLst/>
          </a:prstGeom>
          <a:ln w="28575">
            <a:solidFill>
              <a:srgbClr val="C9CE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8252" y="3314700"/>
            <a:ext cx="2978658" cy="0"/>
          </a:xfrm>
          <a:prstGeom prst="line">
            <a:avLst/>
          </a:prstGeom>
          <a:ln w="28575">
            <a:solidFill>
              <a:srgbClr val="C9CE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8328" y="3886200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1E5B28"/>
                </a:solidFill>
                <a:latin typeface="X5 Sans Medium"/>
              </a:rPr>
              <a:t>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64207" y="388620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755648" y="388620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Ignition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3682" y="388620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405122" y="388620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Sparkplug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63156" y="388620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054596" y="388620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Maglev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2630" y="3886200"/>
            <a:ext cx="2237994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25400">
            <a:solidFill>
              <a:srgbClr val="1E5B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04070" y="3886200"/>
            <a:ext cx="20551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>
                <a:solidFill>
                  <a:srgbClr val="1E5B28"/>
                </a:solidFill>
                <a:latin typeface="X5 Sans Medium"/>
              </a:rPr>
              <a:t>Turbolev?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8778" y="4320540"/>
            <a:ext cx="329184" cy="0"/>
          </a:xfrm>
          <a:prstGeom prst="line">
            <a:avLst/>
          </a:prstGeom>
          <a:ln w="28575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588252" y="4320540"/>
            <a:ext cx="329184" cy="0"/>
          </a:xfrm>
          <a:prstGeom prst="line">
            <a:avLst/>
          </a:prstGeom>
          <a:ln w="28575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237726" y="4320540"/>
            <a:ext cx="329184" cy="0"/>
          </a:xfrm>
          <a:prstGeom prst="line">
            <a:avLst/>
          </a:prstGeom>
          <a:ln w="28575">
            <a:solidFill>
              <a:srgbClr val="1E5B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38328" y="4892040"/>
            <a:ext cx="115122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1E5B28"/>
                </a:solidFill>
                <a:latin typeface="X5 Sans"/>
              </a:rPr>
              <a:t>С 2023 есть Maglev. Turbolev сменит TurboFan — дата не объявлена.</a:t>
            </a:r>
          </a:p>
        </p:txBody>
      </p:sp>
      <p:sp>
        <p:nvSpPr>
          <p:cNvPr id="1233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5394960"/>
            <a:ext cx="11512296" cy="548640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TextBox 1233"/>
          <p:cNvSpPr txBox="1"/>
          <p:nvPr/>
        </p:nvSpPr>
        <p:spPr>
          <a:xfrm>
            <a:off x="612647" y="5394960"/>
            <a:ext cx="1096365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X5 Sans Medium"/>
              </a:rPr>
              <a:t>Формы и записи мест чтения — с 2008.</a:t>
            </a:r>
            <a:r>
              <a:rPr sz="2000" b="0">
                <a:solidFill>
                  <a:srgbClr val="FFFFFF"/>
                </a:solidFill>
                <a:latin typeface="X5 Sans"/>
              </a:rPr>
              <a:t> На них ставит каждый верхний ярус.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Homomorphic IC: граница сдвигается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10.3</a:t>
            </a:r>
          </a:p>
        </p:txBody>
      </p:sp>
      <p:sp>
        <p:nvSpPr>
          <p:cNvPr id="123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36" name="TextBox 123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3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TextBox 1236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38" name="TextBox 1237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3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TextBox 1238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3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42" name="TextBox 1241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3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TextBox 1242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44" name="TextBox 1243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быстро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налог</a:t>
            </a:r>
          </a:p>
        </p:txBody>
      </p:sp>
      <p:sp>
        <p:nvSpPr>
          <p:cNvPr id="123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5" name="Connector 1244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6" name="Oval 1245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7" name="Oval 1246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8" name="Oval 1247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9" name="Oval 1248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0" name="Oval 1249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1" name="Oval 1250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2" name="Oval 1251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3" name="Oval 1252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4" name="Oval 1253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5" name="Oval 1254"/>
          <p:cNvSpPr/>
          <p:nvPr/>
        </p:nvSpPr>
        <p:spPr>
          <a:xfrm>
            <a:off x="11198074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6" name="Oval 1255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7" name="Oval 1256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8" name="TextBox 1257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10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1259" name="TextBox 1258"/>
          <p:cNvSpPr txBox="1"/>
          <p:nvPr/>
        </p:nvSpPr>
        <p:spPr>
          <a:xfrm>
            <a:off x="1452979" y="1143000"/>
            <a:ext cx="3709561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8 форм B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338328" y="1528762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id</a:t>
            </a:r>
          </a:p>
        </p:txBody>
      </p:sp>
      <p:sp>
        <p:nvSpPr>
          <p:cNvPr id="1261" name="Rounded Rectangle 1260"/>
          <p:cNvSpPr/>
          <p:nvPr/>
        </p:nvSpPr>
        <p:spPr>
          <a:xfrm>
            <a:off x="1488648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2" name="Rounded Rectangle 1261"/>
          <p:cNvSpPr/>
          <p:nvPr/>
        </p:nvSpPr>
        <p:spPr>
          <a:xfrm>
            <a:off x="1952343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3" name="Rounded Rectangle 1262"/>
          <p:cNvSpPr/>
          <p:nvPr/>
        </p:nvSpPr>
        <p:spPr>
          <a:xfrm>
            <a:off x="2416038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4" name="Rounded Rectangle 1263"/>
          <p:cNvSpPr/>
          <p:nvPr/>
        </p:nvSpPr>
        <p:spPr>
          <a:xfrm>
            <a:off x="2879734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5" name="Rounded Rectangle 1264"/>
          <p:cNvSpPr/>
          <p:nvPr/>
        </p:nvSpPr>
        <p:spPr>
          <a:xfrm>
            <a:off x="3343429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6" name="Rounded Rectangle 1265"/>
          <p:cNvSpPr/>
          <p:nvPr/>
        </p:nvSpPr>
        <p:spPr>
          <a:xfrm>
            <a:off x="3807124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7" name="Rounded Rectangle 1266"/>
          <p:cNvSpPr/>
          <p:nvPr/>
        </p:nvSpPr>
        <p:spPr>
          <a:xfrm>
            <a:off x="4270819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8" name="Rounded Rectangle 1267"/>
          <p:cNvSpPr/>
          <p:nvPr/>
        </p:nvSpPr>
        <p:spPr>
          <a:xfrm>
            <a:off x="4734514" y="156305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9" name="TextBox 1268"/>
          <p:cNvSpPr txBox="1"/>
          <p:nvPr/>
        </p:nvSpPr>
        <p:spPr>
          <a:xfrm>
            <a:off x="338328" y="1888807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name</a:t>
            </a:r>
          </a:p>
        </p:txBody>
      </p:sp>
      <p:sp>
        <p:nvSpPr>
          <p:cNvPr id="1270" name="Rounded Rectangle 1269"/>
          <p:cNvSpPr/>
          <p:nvPr/>
        </p:nvSpPr>
        <p:spPr>
          <a:xfrm>
            <a:off x="1488648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1" name="Rounded Rectangle 1270"/>
          <p:cNvSpPr/>
          <p:nvPr/>
        </p:nvSpPr>
        <p:spPr>
          <a:xfrm>
            <a:off x="1952343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2" name="Rounded Rectangle 1271"/>
          <p:cNvSpPr/>
          <p:nvPr/>
        </p:nvSpPr>
        <p:spPr>
          <a:xfrm>
            <a:off x="2416038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3" name="Rounded Rectangle 1272"/>
          <p:cNvSpPr/>
          <p:nvPr/>
        </p:nvSpPr>
        <p:spPr>
          <a:xfrm>
            <a:off x="2879734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4" name="Rounded Rectangle 1273"/>
          <p:cNvSpPr/>
          <p:nvPr/>
        </p:nvSpPr>
        <p:spPr>
          <a:xfrm>
            <a:off x="3343429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5" name="Rounded Rectangle 1274"/>
          <p:cNvSpPr/>
          <p:nvPr/>
        </p:nvSpPr>
        <p:spPr>
          <a:xfrm>
            <a:off x="3807124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6" name="Rounded Rectangle 1275"/>
          <p:cNvSpPr/>
          <p:nvPr/>
        </p:nvSpPr>
        <p:spPr>
          <a:xfrm>
            <a:off x="4270819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7" name="Rounded Rectangle 1276"/>
          <p:cNvSpPr/>
          <p:nvPr/>
        </p:nvSpPr>
        <p:spPr>
          <a:xfrm>
            <a:off x="4734514" y="192309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8" name="TextBox 1277"/>
          <p:cNvSpPr txBox="1"/>
          <p:nvPr/>
        </p:nvSpPr>
        <p:spPr>
          <a:xfrm>
            <a:off x="338328" y="2248852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email</a:t>
            </a:r>
          </a:p>
        </p:txBody>
      </p:sp>
      <p:sp>
        <p:nvSpPr>
          <p:cNvPr id="1279" name="Rounded Rectangle 1278"/>
          <p:cNvSpPr/>
          <p:nvPr/>
        </p:nvSpPr>
        <p:spPr>
          <a:xfrm>
            <a:off x="1488648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0" name="Rounded Rectangle 1279"/>
          <p:cNvSpPr/>
          <p:nvPr/>
        </p:nvSpPr>
        <p:spPr>
          <a:xfrm>
            <a:off x="1952343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1" name="Rounded Rectangle 1280"/>
          <p:cNvSpPr/>
          <p:nvPr/>
        </p:nvSpPr>
        <p:spPr>
          <a:xfrm>
            <a:off x="2416038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2" name="Rounded Rectangle 1281"/>
          <p:cNvSpPr/>
          <p:nvPr/>
        </p:nvSpPr>
        <p:spPr>
          <a:xfrm>
            <a:off x="2879734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3" name="Rounded Rectangle 1282"/>
          <p:cNvSpPr/>
          <p:nvPr/>
        </p:nvSpPr>
        <p:spPr>
          <a:xfrm>
            <a:off x="3343429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4" name="Rounded Rectangle 1283"/>
          <p:cNvSpPr/>
          <p:nvPr/>
        </p:nvSpPr>
        <p:spPr>
          <a:xfrm>
            <a:off x="3807124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5" name="Rounded Rectangle 1284"/>
          <p:cNvSpPr/>
          <p:nvPr/>
        </p:nvSpPr>
        <p:spPr>
          <a:xfrm>
            <a:off x="4270819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6" name="Rounded Rectangle 1285"/>
          <p:cNvSpPr/>
          <p:nvPr/>
        </p:nvSpPr>
        <p:spPr>
          <a:xfrm>
            <a:off x="4734514" y="228314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7" name="TextBox 1286"/>
          <p:cNvSpPr txBox="1"/>
          <p:nvPr/>
        </p:nvSpPr>
        <p:spPr>
          <a:xfrm>
            <a:off x="338328" y="2608897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plan</a:t>
            </a:r>
          </a:p>
        </p:txBody>
      </p:sp>
      <p:sp>
        <p:nvSpPr>
          <p:cNvPr id="1288" name="Rounded Rectangle 1287"/>
          <p:cNvSpPr/>
          <p:nvPr/>
        </p:nvSpPr>
        <p:spPr>
          <a:xfrm>
            <a:off x="1488648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9" name="Rounded Rectangle 1288"/>
          <p:cNvSpPr/>
          <p:nvPr/>
        </p:nvSpPr>
        <p:spPr>
          <a:xfrm>
            <a:off x="1952343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0" name="Rounded Rectangle 1289"/>
          <p:cNvSpPr/>
          <p:nvPr/>
        </p:nvSpPr>
        <p:spPr>
          <a:xfrm>
            <a:off x="2416038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1" name="Rounded Rectangle 1290"/>
          <p:cNvSpPr/>
          <p:nvPr/>
        </p:nvSpPr>
        <p:spPr>
          <a:xfrm>
            <a:off x="2879734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2" name="Rounded Rectangle 1291"/>
          <p:cNvSpPr/>
          <p:nvPr/>
        </p:nvSpPr>
        <p:spPr>
          <a:xfrm>
            <a:off x="3343429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3" name="Rounded Rectangle 1292"/>
          <p:cNvSpPr/>
          <p:nvPr/>
        </p:nvSpPr>
        <p:spPr>
          <a:xfrm>
            <a:off x="3807124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4" name="Rounded Rectangle 1293"/>
          <p:cNvSpPr/>
          <p:nvPr/>
        </p:nvSpPr>
        <p:spPr>
          <a:xfrm>
            <a:off x="4270819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5" name="Rounded Rectangle 1294"/>
          <p:cNvSpPr/>
          <p:nvPr/>
        </p:nvSpPr>
        <p:spPr>
          <a:xfrm>
            <a:off x="4734514" y="264318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6" name="TextBox 1295"/>
          <p:cNvSpPr txBox="1"/>
          <p:nvPr/>
        </p:nvSpPr>
        <p:spPr>
          <a:xfrm>
            <a:off x="338328" y="2968941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credits</a:t>
            </a:r>
          </a:p>
        </p:txBody>
      </p:sp>
      <p:sp>
        <p:nvSpPr>
          <p:cNvPr id="1297" name="Rounded Rectangle 1296"/>
          <p:cNvSpPr/>
          <p:nvPr/>
        </p:nvSpPr>
        <p:spPr>
          <a:xfrm>
            <a:off x="1488648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8" name="Rounded Rectangle 1297"/>
          <p:cNvSpPr/>
          <p:nvPr/>
        </p:nvSpPr>
        <p:spPr>
          <a:xfrm>
            <a:off x="1952343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9" name="Rounded Rectangle 1298"/>
          <p:cNvSpPr/>
          <p:nvPr/>
        </p:nvSpPr>
        <p:spPr>
          <a:xfrm>
            <a:off x="2416038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0" name="Rounded Rectangle 1299"/>
          <p:cNvSpPr/>
          <p:nvPr/>
        </p:nvSpPr>
        <p:spPr>
          <a:xfrm>
            <a:off x="2879734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1" name="Rounded Rectangle 1300"/>
          <p:cNvSpPr/>
          <p:nvPr/>
        </p:nvSpPr>
        <p:spPr>
          <a:xfrm>
            <a:off x="3343429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2" name="Rounded Rectangle 1301"/>
          <p:cNvSpPr/>
          <p:nvPr/>
        </p:nvSpPr>
        <p:spPr>
          <a:xfrm>
            <a:off x="3807124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3" name="Rounded Rectangle 1302"/>
          <p:cNvSpPr/>
          <p:nvPr/>
        </p:nvSpPr>
        <p:spPr>
          <a:xfrm>
            <a:off x="4270819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4" name="Rounded Rectangle 1303"/>
          <p:cNvSpPr/>
          <p:nvPr/>
        </p:nvSpPr>
        <p:spPr>
          <a:xfrm>
            <a:off x="4734514" y="3003232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5" name="TextBox 1304"/>
          <p:cNvSpPr txBox="1"/>
          <p:nvPr/>
        </p:nvSpPr>
        <p:spPr>
          <a:xfrm>
            <a:off x="338328" y="3328987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referrer</a:t>
            </a:r>
          </a:p>
        </p:txBody>
      </p:sp>
      <p:sp>
        <p:nvSpPr>
          <p:cNvPr id="1306" name="Rounded Rectangle 1305"/>
          <p:cNvSpPr/>
          <p:nvPr/>
        </p:nvSpPr>
        <p:spPr>
          <a:xfrm>
            <a:off x="1952343" y="336327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7" name="Rounded Rectangle 1306"/>
          <p:cNvSpPr/>
          <p:nvPr/>
        </p:nvSpPr>
        <p:spPr>
          <a:xfrm>
            <a:off x="2879734" y="336327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8" name="Rounded Rectangle 1307"/>
          <p:cNvSpPr/>
          <p:nvPr/>
        </p:nvSpPr>
        <p:spPr>
          <a:xfrm>
            <a:off x="3807124" y="336327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9" name="Rounded Rectangle 1308"/>
          <p:cNvSpPr/>
          <p:nvPr/>
        </p:nvSpPr>
        <p:spPr>
          <a:xfrm>
            <a:off x="4734514" y="336327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0" name="TextBox 1309"/>
          <p:cNvSpPr txBox="1"/>
          <p:nvPr/>
        </p:nvSpPr>
        <p:spPr>
          <a:xfrm>
            <a:off x="338328" y="3689031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trialUntil</a:t>
            </a:r>
          </a:p>
        </p:txBody>
      </p:sp>
      <p:sp>
        <p:nvSpPr>
          <p:cNvPr id="1311" name="Rounded Rectangle 1310"/>
          <p:cNvSpPr/>
          <p:nvPr/>
        </p:nvSpPr>
        <p:spPr>
          <a:xfrm>
            <a:off x="2416038" y="3723321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2" name="Rounded Rectangle 1311"/>
          <p:cNvSpPr/>
          <p:nvPr/>
        </p:nvSpPr>
        <p:spPr>
          <a:xfrm>
            <a:off x="2879734" y="3723321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3" name="Rounded Rectangle 1312"/>
          <p:cNvSpPr/>
          <p:nvPr/>
        </p:nvSpPr>
        <p:spPr>
          <a:xfrm>
            <a:off x="4270819" y="3723321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4" name="Rounded Rectangle 1313"/>
          <p:cNvSpPr/>
          <p:nvPr/>
        </p:nvSpPr>
        <p:spPr>
          <a:xfrm>
            <a:off x="4734514" y="3723321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5" name="TextBox 1314"/>
          <p:cNvSpPr txBox="1"/>
          <p:nvPr/>
        </p:nvSpPr>
        <p:spPr>
          <a:xfrm>
            <a:off x="338328" y="4049077"/>
            <a:ext cx="1070065" cy="360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X5 Sans"/>
              </a:rPr>
              <a:t>teamId</a:t>
            </a:r>
          </a:p>
        </p:txBody>
      </p:sp>
      <p:sp>
        <p:nvSpPr>
          <p:cNvPr id="1316" name="Rounded Rectangle 1315"/>
          <p:cNvSpPr/>
          <p:nvPr/>
        </p:nvSpPr>
        <p:spPr>
          <a:xfrm>
            <a:off x="3343429" y="408336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7" name="Rounded Rectangle 1316"/>
          <p:cNvSpPr/>
          <p:nvPr/>
        </p:nvSpPr>
        <p:spPr>
          <a:xfrm>
            <a:off x="3807124" y="408336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8" name="Rounded Rectangle 1317"/>
          <p:cNvSpPr/>
          <p:nvPr/>
        </p:nvSpPr>
        <p:spPr>
          <a:xfrm>
            <a:off x="4270819" y="408336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9" name="Rounded Rectangle 1318"/>
          <p:cNvSpPr/>
          <p:nvPr/>
        </p:nvSpPr>
        <p:spPr>
          <a:xfrm>
            <a:off x="4734514" y="4083367"/>
            <a:ext cx="392357" cy="291465"/>
          </a:xfrm>
          <a:prstGeom prst="roundRect">
            <a:avLst>
              <a:gd name="adj" fmla="val 1176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0" name="TextBox 1319"/>
          <p:cNvSpPr txBox="1"/>
          <p:nvPr/>
        </p:nvSpPr>
        <p:spPr>
          <a:xfrm>
            <a:off x="1452979" y="4451984"/>
            <a:ext cx="3709561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6" b="0">
                <a:solidFill>
                  <a:srgbClr val="1E5B28"/>
                </a:solidFill>
                <a:latin typeface="Consolas"/>
              </a:rPr>
              <a:t>u.plan</a:t>
            </a:r>
            <a:r>
              <a:rPr sz="1200" b="0">
                <a:solidFill>
                  <a:srgbClr val="1E5B28"/>
                </a:solidFill>
                <a:latin typeface="X5 Sans"/>
              </a:rPr>
              <a:t> — на одном месте во всех 8 формах</a:t>
            </a:r>
          </a:p>
        </p:txBody>
      </p:sp>
      <p:sp>
        <p:nvSpPr>
          <p:cNvPr id="1240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688656" y="1143000"/>
            <a:ext cx="3638223" cy="1285874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5777828" y="1194435"/>
            <a:ext cx="3459879" cy="11830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 Medium"/>
              </a:rPr>
              <a:t>Homomorphic IC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5+ форм, поле на одном месте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→ одна проверка</a:t>
            </a:r>
          </a:p>
        </p:txBody>
      </p:sp>
      <p:sp>
        <p:nvSpPr>
          <p:cNvPr id="124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5688656" y="2557462"/>
            <a:ext cx="3638223" cy="124301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TextBox 1321"/>
          <p:cNvSpPr txBox="1"/>
          <p:nvPr/>
        </p:nvSpPr>
        <p:spPr>
          <a:xfrm>
            <a:off x="5777828" y="2608897"/>
            <a:ext cx="3459879" cy="11401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V8 — с 15.09.2026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Chrome 156 — 20.10 (по графику)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Node 22 / 24 / 26 — нет</a:t>
            </a:r>
          </a:p>
        </p:txBody>
      </p:sp>
      <p:sp>
        <p:nvSpPr>
          <p:cNvPr id="124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688656" y="3929062"/>
            <a:ext cx="3638223" cy="985837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323" name="TextBox 1322"/>
          <p:cNvSpPr txBox="1"/>
          <p:nvPr/>
        </p:nvSpPr>
        <p:spPr>
          <a:xfrm>
            <a:off x="5777828" y="3980496"/>
            <a:ext cx="3459879" cy="882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предварительно · d8 15.6 · x64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1E5B28"/>
                </a:solidFill>
                <a:latin typeface="X5 Sans"/>
              </a:rPr>
              <a:t>B/A: </a:t>
            </a:r>
            <a:r>
              <a:rPr sz="1400" b="0">
                <a:solidFill>
                  <a:srgbClr val="1E5B28"/>
                </a:solidFill>
                <a:latin typeface="X5 Sans Medium"/>
              </a:rPr>
              <a:t>×5.3 → ×4.1</a:t>
            </a:r>
          </a:p>
        </p:txBody>
      </p:sp>
      <p:sp>
        <p:nvSpPr>
          <p:cNvPr id="1324" name="TextBox 1323"/>
          <p:cNvSpPr txBox="1"/>
          <p:nvPr/>
        </p:nvSpPr>
        <p:spPr>
          <a:xfrm>
            <a:off x="5688656" y="4957762"/>
            <a:ext cx="3638223" cy="2571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X5 Sans"/>
              </a:rPr>
              <a:t>в Docker не перепроверено</a:t>
            </a:r>
          </a:p>
        </p:txBody>
      </p:sp>
      <p:sp>
        <p:nvSpPr>
          <p:cNvPr id="1243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5257799"/>
            <a:ext cx="5171984" cy="642937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TextBox 1324"/>
          <p:cNvSpPr txBox="1"/>
          <p:nvPr/>
        </p:nvSpPr>
        <p:spPr>
          <a:xfrm>
            <a:off x="605844" y="5412104"/>
            <a:ext cx="4636951" cy="334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X5 Sans"/>
              </a:rPr>
              <a:t>хвост referrer · trialUntil · teamId — мега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Кто пишет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10.4</a:t>
            </a:r>
          </a:p>
        </p:txBody>
      </p:sp>
      <p:sp>
        <p:nvSpPr>
          <p:cNvPr id="124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TextBox 1244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4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48" name="TextBox 1247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4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TextBox 1248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50" name="TextBox 1249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4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TextBox 1250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4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54" name="TextBox 1253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быстро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налог</a:t>
            </a:r>
          </a:p>
        </p:txBody>
      </p:sp>
      <p:sp>
        <p:nvSpPr>
          <p:cNvPr id="124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5" name="Connector 1254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Oval 1255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7" name="Oval 1256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8" name="Oval 1257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9" name="Oval 1258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0" name="Oval 1259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1" name="Oval 1260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2" name="Oval 1261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3" name="Oval 1262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4" name="Oval 1263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5" name="Oval 1264"/>
          <p:cNvSpPr/>
          <p:nvPr/>
        </p:nvSpPr>
        <p:spPr>
          <a:xfrm>
            <a:off x="11198074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6" name="Oval 1265"/>
          <p:cNvSpPr/>
          <p:nvPr/>
        </p:nvSpPr>
        <p:spPr>
          <a:xfrm>
            <a:off x="11432909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7" name="Oval 1266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8" name="TextBox 1267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10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1250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38328" y="1143000"/>
            <a:ext cx="2847563" cy="222885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69" name="TextBox 1268"/>
          <p:cNvSpPr txBox="1"/>
          <p:nvPr/>
        </p:nvSpPr>
        <p:spPr>
          <a:xfrm>
            <a:off x="516672" y="1245869"/>
            <a:ext cx="2490875" cy="2023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агент без правил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30/30 — как B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8 форм · MEGA</a:t>
            </a:r>
          </a:p>
        </p:txBody>
      </p:sp>
      <p:sp>
        <p:nvSpPr>
          <p:cNvPr id="1251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408822" y="1143000"/>
            <a:ext cx="2847563" cy="222885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70" name="TextBox 1269"/>
          <p:cNvSpPr txBox="1"/>
          <p:nvPr/>
        </p:nvSpPr>
        <p:spPr>
          <a:xfrm>
            <a:off x="3587166" y="1245869"/>
            <a:ext cx="2490875" cy="2023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+ файл из 4 правил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30/30 — как A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1 форма · MONO</a:t>
            </a:r>
          </a:p>
        </p:txBody>
      </p:sp>
      <p:sp>
        <p:nvSpPr>
          <p:cNvPr id="125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6479316" y="1143000"/>
            <a:ext cx="2847563" cy="222885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71" name="TextBox 1270"/>
          <p:cNvSpPr txBox="1"/>
          <p:nvPr/>
        </p:nvSpPr>
        <p:spPr>
          <a:xfrm>
            <a:off x="6657660" y="1245869"/>
            <a:ext cx="2490875" cy="2023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0 из 60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некорректных генераций</a:t>
            </a:r>
          </a:p>
        </p:txBody>
      </p:sp>
      <p:sp>
        <p:nvSpPr>
          <p:cNvPr id="125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3543299"/>
            <a:ext cx="8988552" cy="77152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605844" y="3697604"/>
            <a:ext cx="8453519" cy="462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1E5B28"/>
                </a:solidFill>
                <a:latin typeface="X5 Sans"/>
              </a:rPr>
              <a:t>сервис из узла 6 — </a:t>
            </a:r>
            <a:r>
              <a:rPr sz="1700" b="0">
                <a:solidFill>
                  <a:srgbClr val="1E5B28"/>
                </a:solidFill>
                <a:latin typeface="X5 Sans Medium"/>
              </a:rPr>
              <a:t>2302 / 1180 rps</a:t>
            </a:r>
            <a:r>
              <a:rPr sz="1700" b="0">
                <a:solidFill>
                  <a:srgbClr val="1E5B28"/>
                </a:solidFill>
                <a:latin typeface="X5 Sans"/>
              </a:rPr>
              <a:t> — на этих генерациях</a:t>
            </a:r>
          </a:p>
        </p:txBody>
      </p:sp>
      <p:sp>
        <p:nvSpPr>
          <p:cNvPr id="1254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338328" y="4486275"/>
            <a:ext cx="8988552" cy="1114425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TextBox 1272"/>
          <p:cNvSpPr txBox="1"/>
          <p:nvPr/>
        </p:nvSpPr>
        <p:spPr>
          <a:xfrm>
            <a:off x="605844" y="4640579"/>
            <a:ext cx="8453519" cy="805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 Medium"/>
              </a:rPr>
              <a:t>правило 1:</a:t>
            </a:r>
            <a:r>
              <a:rPr sz="1700" b="0">
                <a:solidFill>
                  <a:srgbClr val="FFFFFF"/>
                </a:solidFill>
                <a:latin typeface="X5 Sans"/>
              </a:rPr>
              <a:t> один набор полей в одном порядке, нет значения — </a:t>
            </a:r>
            <a:r>
              <a:rPr sz="1496" b="0">
                <a:solidFill>
                  <a:srgbClr val="FFFFFF"/>
                </a:solidFill>
                <a:latin typeface="Consolas"/>
              </a:rPr>
              <a:t>null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"/>
              </a:rPr>
              <a:t>файл v8-rules.md — по QR в конце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Карта целиком — и как проверить у себя</a:t>
            </a:r>
          </a:p>
        </p:txBody>
      </p:sp>
      <p:sp>
        <p:nvSpPr>
          <p:cNvPr id="1255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08829" y="1097280"/>
            <a:ext cx="2574036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4808829" y="1097280"/>
            <a:ext cx="25740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11 из 12</a:t>
            </a:r>
          </a:p>
        </p:txBody>
      </p:sp>
      <p:sp>
        <p:nvSpPr>
          <p:cNvPr id="1256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TextBox 1256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Ставка на форму не менялась восемнадцать лет. Как увидеть её в своём коде — самому?</a:t>
            </a:r>
          </a:p>
        </p:txBody>
      </p:sp>
      <p:sp>
        <p:nvSpPr>
          <p:cNvPr id="1258" name="Oval 1257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9" name="Oval 1258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0" name="Oval 1259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1" name="Oval 1260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2" name="Oval 1261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3" name="Oval 1262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4" name="Oval 1263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5" name="Oval 1264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6" name="Oval 1265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7" name="Oval 1266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8" name="Oval 1267"/>
          <p:cNvSpPr/>
          <p:nvPr/>
        </p:nvSpPr>
        <p:spPr>
          <a:xfrm>
            <a:off x="7403439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9" name="Oval 1268"/>
          <p:cNvSpPr/>
          <p:nvPr/>
        </p:nvSpPr>
        <p:spPr>
          <a:xfrm>
            <a:off x="7750911" y="5934456"/>
            <a:ext cx="109728" cy="109728"/>
          </a:xfrm>
          <a:prstGeom prst="ellipse">
            <a:avLst/>
          </a:prstGeom>
          <a:solidFill>
            <a:srgbClr val="3F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Карта целиком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11.1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63970" y="1497690"/>
            <a:ext cx="10850077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8328" y="2723949"/>
            <a:ext cx="425436" cy="625642"/>
          </a:xfrm>
          <a:prstGeom prst="roundRect">
            <a:avLst>
              <a:gd name="adj" fmla="val 17194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8328" y="2723949"/>
            <a:ext cx="425436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" y="3449694"/>
            <a:ext cx="425436" cy="625642"/>
          </a:xfrm>
          <a:prstGeom prst="roundRect">
            <a:avLst>
              <a:gd name="adj" fmla="val 17194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8328" y="3449694"/>
            <a:ext cx="425436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1192730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92730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258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1402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9690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1402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9690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258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shape-analyzer</a:t>
            </a:r>
          </a:p>
        </p:txBody>
      </p:sp>
      <p:sp>
        <p:nvSpPr>
          <p:cNvPr id="17" name="Oval 16"/>
          <p:cNvSpPr/>
          <p:nvPr/>
        </p:nvSpPr>
        <p:spPr>
          <a:xfrm>
            <a:off x="2100713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100713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0241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99385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17673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99385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917673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0241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%HaveSameMap</a:t>
            </a:r>
          </a:p>
        </p:txBody>
      </p:sp>
      <p:sp>
        <p:nvSpPr>
          <p:cNvPr id="25" name="Oval 24"/>
          <p:cNvSpPr/>
          <p:nvPr/>
        </p:nvSpPr>
        <p:spPr>
          <a:xfrm>
            <a:off x="3008696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008696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224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07368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825656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MONO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7368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825656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MEGA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224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--log-ic</a:t>
            </a:r>
          </a:p>
        </p:txBody>
      </p:sp>
      <p:sp>
        <p:nvSpPr>
          <p:cNvPr id="33" name="Diamond 32"/>
          <p:cNvSpPr/>
          <p:nvPr/>
        </p:nvSpPr>
        <p:spPr>
          <a:xfrm>
            <a:off x="3575304" y="1385075"/>
            <a:ext cx="225231" cy="225231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916680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16680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6207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15351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733639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15351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733639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6207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--trace-opt</a:t>
            </a:r>
          </a:p>
        </p:txBody>
      </p:sp>
      <p:sp>
        <p:nvSpPr>
          <p:cNvPr id="42" name="Oval 41"/>
          <p:cNvSpPr/>
          <p:nvPr/>
        </p:nvSpPr>
        <p:spPr>
          <a:xfrm>
            <a:off x="4824663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824663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4190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23334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41622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сыграла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23334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641622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не сыграла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4190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--trace-deopt</a:t>
            </a:r>
          </a:p>
        </p:txBody>
      </p:sp>
      <p:sp>
        <p:nvSpPr>
          <p:cNvPr id="50" name="Diamond 49"/>
          <p:cNvSpPr/>
          <p:nvPr/>
        </p:nvSpPr>
        <p:spPr>
          <a:xfrm>
            <a:off x="5391270" y="1385075"/>
            <a:ext cx="225231" cy="225231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5732646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32646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22173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сервис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31317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549605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2302 rps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31317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549605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1180 rps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2173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autocannon</a:t>
            </a:r>
          </a:p>
        </p:txBody>
      </p:sp>
      <p:sp>
        <p:nvSpPr>
          <p:cNvPr id="59" name="Oval 58"/>
          <p:cNvSpPr/>
          <p:nvPr/>
        </p:nvSpPr>
        <p:spPr>
          <a:xfrm>
            <a:off x="6640629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640629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30157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эпоха 2014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39301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457589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39301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457589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0157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Crankshaft</a:t>
            </a:r>
          </a:p>
        </p:txBody>
      </p:sp>
      <p:sp>
        <p:nvSpPr>
          <p:cNvPr id="67" name="Oval 66"/>
          <p:cNvSpPr/>
          <p:nvPr/>
        </p:nvSpPr>
        <p:spPr>
          <a:xfrm>
            <a:off x="7548612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548612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38140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эпоха 2017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47284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365572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47284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365572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38140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TurboFan</a:t>
            </a:r>
          </a:p>
        </p:txBody>
      </p:sp>
      <p:sp>
        <p:nvSpPr>
          <p:cNvPr id="75" name="Diamond 74"/>
          <p:cNvSpPr/>
          <p:nvPr/>
        </p:nvSpPr>
        <p:spPr>
          <a:xfrm>
            <a:off x="8115219" y="1385075"/>
            <a:ext cx="225231" cy="225231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8456595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456595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46123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эпоха 2027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55267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8273555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55267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8273555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46123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Maglev · Turbolev</a:t>
            </a:r>
          </a:p>
        </p:txBody>
      </p:sp>
      <p:sp>
        <p:nvSpPr>
          <p:cNvPr id="84" name="Oval 83"/>
          <p:cNvSpPr/>
          <p:nvPr/>
        </p:nvSpPr>
        <p:spPr>
          <a:xfrm>
            <a:off x="9364578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364578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54106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63250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181538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×1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63250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181538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×6.6–6.9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54106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Node 22 · 24</a:t>
            </a:r>
          </a:p>
        </p:txBody>
      </p:sp>
      <p:sp>
        <p:nvSpPr>
          <p:cNvPr id="92" name="Oval 91"/>
          <p:cNvSpPr/>
          <p:nvPr/>
        </p:nvSpPr>
        <p:spPr>
          <a:xfrm>
            <a:off x="10173460" y="1173358"/>
            <a:ext cx="648665" cy="648665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10272562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272562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62089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071233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0089521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071233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0089521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62089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как проверить у себя</a:t>
            </a:r>
          </a:p>
        </p:txBody>
      </p:sp>
      <p:sp>
        <p:nvSpPr>
          <p:cNvPr id="101" name="Oval 100"/>
          <p:cNvSpPr/>
          <p:nvPr/>
        </p:nvSpPr>
        <p:spPr>
          <a:xfrm>
            <a:off x="11180545" y="1272459"/>
            <a:ext cx="450462" cy="45046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1180545" y="1272459"/>
            <a:ext cx="450462" cy="4504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11" b="0">
                <a:solidFill>
                  <a:srgbClr val="FFFFFF"/>
                </a:solidFill>
                <a:latin typeface="X5 Sans Medium"/>
              </a:rP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970072" y="1873076"/>
            <a:ext cx="871407" cy="7507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60" b="0">
                <a:solidFill>
                  <a:srgbClr val="1E5B28"/>
                </a:solidFill>
                <a:latin typeface="X5 Sans Medium"/>
              </a:rPr>
              <a:t>снова слайд 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979216" y="2723949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997504" y="2723949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1E5B28"/>
                </a:solidFill>
                <a:latin typeface="X5 Sans"/>
              </a:rPr>
              <a:t>1 → MONO → 2302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979216" y="3449694"/>
            <a:ext cx="853119" cy="625642"/>
          </a:xfrm>
          <a:prstGeom prst="roundRect">
            <a:avLst>
              <a:gd name="adj" fmla="val 8769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0997504" y="3449694"/>
            <a:ext cx="816543" cy="625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61" b="0">
                <a:solidFill>
                  <a:srgbClr val="8A1538"/>
                </a:solidFill>
                <a:latin typeface="X5 Sans"/>
              </a:rPr>
              <a:t>8 → MEGA → 1180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970072" y="4150413"/>
            <a:ext cx="871407" cy="500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X5 Sans"/>
              </a:rPr>
              <a:t>репо</a:t>
            </a:r>
          </a:p>
        </p:txBody>
      </p:sp>
      <p:sp>
        <p:nvSpPr>
          <p:cNvPr id="1257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338328" y="5029200"/>
            <a:ext cx="5669280" cy="64008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58" name="TextBox 1257"/>
          <p:cNvSpPr txBox="1"/>
          <p:nvPr/>
        </p:nvSpPr>
        <p:spPr>
          <a:xfrm>
            <a:off x="475488" y="5111496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E5B28"/>
                </a:solidFill>
                <a:latin typeface="X5 Sans"/>
              </a:rPr>
              <a:t>шаги 2–6: развилку задаёт </a:t>
            </a:r>
            <a:r>
              <a:rPr sz="1600" b="0">
                <a:solidFill>
                  <a:srgbClr val="1E5B28"/>
                </a:solidFill>
                <a:latin typeface="X5 Sans Medium"/>
              </a:rPr>
              <a:t>форма при сборке</a:t>
            </a:r>
          </a:p>
        </p:txBody>
      </p:sp>
      <p:sp>
        <p:nvSpPr>
          <p:cNvPr id="1258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6144768" y="5029200"/>
            <a:ext cx="5669280" cy="64008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59" name="TextBox 1258"/>
          <p:cNvSpPr txBox="1"/>
          <p:nvPr/>
        </p:nvSpPr>
        <p:spPr>
          <a:xfrm>
            <a:off x="6281928" y="5111496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1E5B28"/>
                </a:solidFill>
                <a:latin typeface="X5 Sans"/>
              </a:rPr>
              <a:t>шаги 7–10: ярусы менялись — </a:t>
            </a:r>
            <a:r>
              <a:rPr sz="1600" b="0">
                <a:solidFill>
                  <a:srgbClr val="1E5B28"/>
                </a:solidFill>
                <a:latin typeface="X5 Sans Medium"/>
              </a:rPr>
              <a:t>строки A и B те же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1828800" y="57332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X5 Sans"/>
              </a:rPr>
              <a:t>билдер (tsc / esbuild) между текстом и движком — не мерил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План — с ответами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11.2</a:t>
            </a:r>
          </a:p>
        </p:txBody>
      </p:sp>
      <p:sp>
        <p:nvSpPr>
          <p:cNvPr id="125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TextBox 1259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61" name="TextBox 1260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6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TextBox 1261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6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Box 1263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6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6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TextBox 1267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быстро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налог</a:t>
            </a:r>
          </a:p>
        </p:txBody>
      </p:sp>
      <p:sp>
        <p:nvSpPr>
          <p:cNvPr id="126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0" name="Connector 1269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1" name="Oval 1270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2" name="Oval 1271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3" name="Oval 1272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4" name="Oval 1273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5" name="Oval 1274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6" name="Oval 1275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7" name="Oval 1276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8" name="Oval 1277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9" name="Oval 1278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0" name="Oval 1279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1" name="Oval 1280"/>
          <p:cNvSpPr/>
          <p:nvPr/>
        </p:nvSpPr>
        <p:spPr>
          <a:xfrm>
            <a:off x="11373473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2" name="Oval 1281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3" name="TextBox 1282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11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126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8988552" cy="107156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561258" y="1443037"/>
            <a:ext cx="490446" cy="47148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5" name="TextBox 1284"/>
          <p:cNvSpPr txBox="1"/>
          <p:nvPr/>
        </p:nvSpPr>
        <p:spPr>
          <a:xfrm>
            <a:off x="561258" y="1443037"/>
            <a:ext cx="490446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 Medium"/>
              </a:rPr>
              <a:t>1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1274635" y="1245869"/>
            <a:ext cx="7829313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X5 Sans"/>
              </a:rPr>
              <a:t>Где расходятся две одинаковые функции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1274635" y="1545907"/>
            <a:ext cx="7829313" cy="61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E5B28"/>
                </a:solidFill>
                <a:latin typeface="X5 Sans Medium"/>
              </a:rPr>
              <a:t>в форме объекта: у A одна, у B восемь — выбор сделан в тексте, до первого вызова</a:t>
            </a:r>
          </a:p>
        </p:txBody>
      </p:sp>
      <p:sp>
        <p:nvSpPr>
          <p:cNvPr id="126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2326004"/>
            <a:ext cx="8988552" cy="107156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561258" y="2626042"/>
            <a:ext cx="490446" cy="47148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9" name="TextBox 1288"/>
          <p:cNvSpPr txBox="1"/>
          <p:nvPr/>
        </p:nvSpPr>
        <p:spPr>
          <a:xfrm>
            <a:off x="561258" y="2626042"/>
            <a:ext cx="490446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 Medium"/>
              </a:rPr>
              <a:t>2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1274635" y="2428874"/>
            <a:ext cx="7829313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X5 Sans"/>
              </a:rPr>
              <a:t>Почему компилятор не спасает — и во что это обходится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1274635" y="2728911"/>
            <a:ext cx="7829313" cy="61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E5B28"/>
                </a:solidFill>
                <a:latin typeface="X5 Sans Medium"/>
              </a:rPr>
              <a:t>оптимизатор ставит на увиденные формы; восемь форм — общий путь: ×6.6 на функции, ×1.95 на сервисе</a:t>
            </a:r>
          </a:p>
        </p:txBody>
      </p:sp>
      <p:sp>
        <p:nvSpPr>
          <p:cNvPr id="126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3509009"/>
            <a:ext cx="8988552" cy="107156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561258" y="3809046"/>
            <a:ext cx="490446" cy="47148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3" name="TextBox 1292"/>
          <p:cNvSpPr txBox="1"/>
          <p:nvPr/>
        </p:nvSpPr>
        <p:spPr>
          <a:xfrm>
            <a:off x="561258" y="3809046"/>
            <a:ext cx="490446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 Medium"/>
              </a:rPr>
              <a:t>3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274635" y="3611879"/>
            <a:ext cx="7829313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X5 Sans"/>
              </a:rPr>
              <a:t>Три эпохи V8: что менялось за 18 лет, а что нет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1274635" y="3911916"/>
            <a:ext cx="7829313" cy="61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E5B28"/>
                </a:solidFill>
                <a:latin typeface="X5 Sans Medium"/>
              </a:rPr>
              <a:t>ярусы менялись, ставка — нет: ×6.6–6.9 на трёх компиляторах; формы и записи — с 2008</a:t>
            </a:r>
          </a:p>
        </p:txBody>
      </p:sp>
      <p:sp>
        <p:nvSpPr>
          <p:cNvPr id="1268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4692015"/>
            <a:ext cx="8988552" cy="1071562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561258" y="4992051"/>
            <a:ext cx="490446" cy="47148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7" name="TextBox 1296"/>
          <p:cNvSpPr txBox="1"/>
          <p:nvPr/>
        </p:nvSpPr>
        <p:spPr>
          <a:xfrm>
            <a:off x="561258" y="4992051"/>
            <a:ext cx="490446" cy="47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1E5B28"/>
                </a:solidFill>
                <a:latin typeface="X5 Sans Medium"/>
              </a:rPr>
              <a:t>4</a:t>
            </a:r>
          </a:p>
        </p:txBody>
      </p:sp>
      <p:sp>
        <p:nvSpPr>
          <p:cNvPr id="1298" name="TextBox 1297"/>
          <p:cNvSpPr txBox="1"/>
          <p:nvPr/>
        </p:nvSpPr>
        <p:spPr>
          <a:xfrm>
            <a:off x="1274635" y="4794884"/>
            <a:ext cx="7829313" cy="300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X5 Sans"/>
              </a:rPr>
              <a:t>Как увидеть это в своём коде</a:t>
            </a:r>
          </a:p>
        </p:txBody>
      </p:sp>
      <p:sp>
        <p:nvSpPr>
          <p:cNvPr id="1299" name="TextBox 1298"/>
          <p:cNvSpPr txBox="1"/>
          <p:nvPr/>
        </p:nvSpPr>
        <p:spPr>
          <a:xfrm>
            <a:off x="1274635" y="5094921"/>
            <a:ext cx="7829313" cy="61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E5B28"/>
                </a:solidFill>
                <a:latin typeface="X5 Sans Medium"/>
              </a:rPr>
              <a:t>%HaveSameMap · --log-ic · --trace-deopt — команды на следующем слайде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Как проверить у себя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11.3</a:t>
            </a:r>
          </a:p>
        </p:txBody>
      </p:sp>
      <p:sp>
        <p:nvSpPr>
          <p:cNvPr id="1269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143000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TextBox 1269"/>
          <p:cNvSpPr txBox="1"/>
          <p:nvPr/>
        </p:nvSpPr>
        <p:spPr>
          <a:xfrm>
            <a:off x="9692640" y="1188720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форма</a:t>
            </a:r>
          </a:p>
        </p:txBody>
      </p:sp>
      <p:sp>
        <p:nvSpPr>
          <p:cNvPr id="1271" name="TextBox 1270"/>
          <p:cNvSpPr txBox="1"/>
          <p:nvPr/>
        </p:nvSpPr>
        <p:spPr>
          <a:xfrm>
            <a:off x="9646919" y="1389888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1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8</a:t>
            </a:r>
          </a:p>
        </p:txBody>
      </p:sp>
      <p:sp>
        <p:nvSpPr>
          <p:cNvPr id="127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1819656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9692640" y="1865376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чтение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9646919" y="2066543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MONO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MEGA</a:t>
            </a:r>
          </a:p>
        </p:txBody>
      </p:sp>
      <p:sp>
        <p:nvSpPr>
          <p:cNvPr id="1271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2496312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TextBox 1273"/>
          <p:cNvSpPr txBox="1"/>
          <p:nvPr/>
        </p:nvSpPr>
        <p:spPr>
          <a:xfrm>
            <a:off x="9692640" y="2542032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путь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9646919" y="2743200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быстрый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общий</a:t>
            </a:r>
          </a:p>
        </p:txBody>
      </p:sp>
      <p:sp>
        <p:nvSpPr>
          <p:cNvPr id="1272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172968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TextBox 1275"/>
          <p:cNvSpPr txBox="1"/>
          <p:nvPr/>
        </p:nvSpPr>
        <p:spPr>
          <a:xfrm>
            <a:off x="9692640" y="3218687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сервер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9646919" y="3419856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2302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1180</a:t>
            </a:r>
          </a:p>
        </p:txBody>
      </p:sp>
      <p:sp>
        <p:nvSpPr>
          <p:cNvPr id="1273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3849624"/>
            <a:ext cx="2295144" cy="603504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9692640" y="3895344"/>
            <a:ext cx="20208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X5 Sans"/>
              </a:rPr>
              <a:t>эпохи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9646919" y="4096512"/>
            <a:ext cx="2112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>
                <a:solidFill>
                  <a:srgbClr val="1E5B28"/>
                </a:solidFill>
                <a:latin typeface="X5 Sans Medium"/>
              </a:rPr>
              <a:t>быстро</a:t>
            </a:r>
            <a:r>
              <a:rPr sz="1500">
                <a:solidFill>
                  <a:srgbClr val="B6BCC6"/>
                </a:solidFill>
                <a:latin typeface="X5 Sans Medium"/>
              </a:rPr>
              <a:t>  /  </a:t>
            </a:r>
            <a:r>
              <a:rPr sz="1500">
                <a:solidFill>
                  <a:srgbClr val="8A1538"/>
                </a:solidFill>
                <a:latin typeface="X5 Sans Medium"/>
              </a:rPr>
              <a:t>налог</a:t>
            </a:r>
          </a:p>
        </p:txBody>
      </p:sp>
      <p:sp>
        <p:nvSpPr>
          <p:cNvPr id="1274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9555480" y="4526280"/>
            <a:ext cx="2295144" cy="141731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0" name="Connector 1279"/>
          <p:cNvCxnSpPr/>
          <p:nvPr/>
        </p:nvCxnSpPr>
        <p:spPr>
          <a:xfrm>
            <a:off x="9738359" y="4855464"/>
            <a:ext cx="1929385" cy="0"/>
          </a:xfrm>
          <a:prstGeom prst="line">
            <a:avLst/>
          </a:prstGeom>
          <a:ln w="1905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1" name="Oval 1280"/>
          <p:cNvSpPr/>
          <p:nvPr/>
        </p:nvSpPr>
        <p:spPr>
          <a:xfrm>
            <a:off x="9678924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2" name="Oval 1281"/>
          <p:cNvSpPr/>
          <p:nvPr/>
        </p:nvSpPr>
        <p:spPr>
          <a:xfrm>
            <a:off x="985432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3" name="Oval 1282"/>
          <p:cNvSpPr/>
          <p:nvPr/>
        </p:nvSpPr>
        <p:spPr>
          <a:xfrm>
            <a:off x="10029721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4" name="Oval 1283"/>
          <p:cNvSpPr/>
          <p:nvPr/>
        </p:nvSpPr>
        <p:spPr>
          <a:xfrm>
            <a:off x="10205119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5" name="Oval 1284"/>
          <p:cNvSpPr/>
          <p:nvPr/>
        </p:nvSpPr>
        <p:spPr>
          <a:xfrm>
            <a:off x="10380518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6" name="Oval 1285"/>
          <p:cNvSpPr/>
          <p:nvPr/>
        </p:nvSpPr>
        <p:spPr>
          <a:xfrm>
            <a:off x="10555916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7" name="Oval 1286"/>
          <p:cNvSpPr/>
          <p:nvPr/>
        </p:nvSpPr>
        <p:spPr>
          <a:xfrm>
            <a:off x="10731315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8" name="Oval 1287"/>
          <p:cNvSpPr/>
          <p:nvPr/>
        </p:nvSpPr>
        <p:spPr>
          <a:xfrm>
            <a:off x="10906713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9" name="Oval 1288"/>
          <p:cNvSpPr/>
          <p:nvPr/>
        </p:nvSpPr>
        <p:spPr>
          <a:xfrm>
            <a:off x="11082112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0" name="Oval 1289"/>
          <p:cNvSpPr/>
          <p:nvPr/>
        </p:nvSpPr>
        <p:spPr>
          <a:xfrm>
            <a:off x="11257510" y="4796028"/>
            <a:ext cx="118872" cy="118872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1" name="Oval 1290"/>
          <p:cNvSpPr/>
          <p:nvPr/>
        </p:nvSpPr>
        <p:spPr>
          <a:xfrm>
            <a:off x="11373473" y="4736592"/>
            <a:ext cx="237744" cy="237744"/>
          </a:xfrm>
          <a:prstGeom prst="ellipse">
            <a:avLst/>
          </a:prstGeom>
          <a:solidFill>
            <a:srgbClr val="AADC00"/>
          </a:solidFill>
          <a:ln w="19050">
            <a:solidFill>
              <a:srgbClr val="1E5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2" name="Oval 1291"/>
          <p:cNvSpPr/>
          <p:nvPr/>
        </p:nvSpPr>
        <p:spPr>
          <a:xfrm>
            <a:off x="11608307" y="4796028"/>
            <a:ext cx="118872" cy="118872"/>
          </a:xfrm>
          <a:prstGeom prst="ellipse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3" name="TextBox 1292"/>
          <p:cNvSpPr txBox="1"/>
          <p:nvPr/>
        </p:nvSpPr>
        <p:spPr>
          <a:xfrm>
            <a:off x="9646919" y="5056632"/>
            <a:ext cx="2112263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"/>
              </a:rPr>
              <a:t>шаг 11 из 12</a:t>
            </a:r>
          </a:p>
          <a:p>
            <a:pPr algn="ctr">
              <a:spcAft>
                <a:spcPts val="100"/>
              </a:spcAft>
            </a:pPr>
            <a:r>
              <a:rPr sz="1300" b="0">
                <a:solidFill>
                  <a:srgbClr val="1E5B28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1275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143000"/>
            <a:ext cx="8988552" cy="120014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605844" y="1143000"/>
            <a:ext cx="5261156" cy="120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node --allow-natives-syntax \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  lab/shape-analyzer.js lab/ref-b.js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6045345" y="1143000"/>
            <a:ext cx="3121025" cy="120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из папки v8-experiment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%HaveSameMap → число форм</a:t>
            </a:r>
          </a:p>
        </p:txBody>
      </p:sp>
      <p:sp>
        <p:nvSpPr>
          <p:cNvPr id="1276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2471737"/>
            <a:ext cx="8988552" cy="120014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605844" y="2471737"/>
            <a:ext cx="5261156" cy="120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node --log-ic --no-logfile-per-isolate \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  --logfile=ic.log app.js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6045345" y="2471737"/>
            <a:ext cx="3121025" cy="120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журнал мест чтения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1 = MONO · N = MEGA</a:t>
            </a:r>
          </a:p>
        </p:txBody>
      </p:sp>
      <p:sp>
        <p:nvSpPr>
          <p:cNvPr id="1277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3800475"/>
            <a:ext cx="8988552" cy="1200149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TextBox 1297"/>
          <p:cNvSpPr txBox="1"/>
          <p:nvPr/>
        </p:nvSpPr>
        <p:spPr>
          <a:xfrm>
            <a:off x="605844" y="3800475"/>
            <a:ext cx="5261156" cy="120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./docker/run.sh 24 'bash docker/verify.sh my-run \</a:t>
            </a:r>
          </a:p>
          <a:p>
            <a:pPr algn="l">
              <a:spcAft>
                <a:spcPts val="200"/>
              </a:spcAft>
            </a:pPr>
            <a:r>
              <a:rPr sz="1320" b="0">
                <a:solidFill>
                  <a:srgbClr val="1E5B28"/>
                </a:solidFill>
                <a:latin typeface="Consolas"/>
              </a:rPr>
              <a:t>  &amp;&amp; node docker/report.js docker/out/my-run'</a:t>
            </a:r>
          </a:p>
        </p:txBody>
      </p:sp>
      <p:sp>
        <p:nvSpPr>
          <p:cNvPr id="1299" name="TextBox 1298"/>
          <p:cNvSpPr txBox="1"/>
          <p:nvPr/>
        </p:nvSpPr>
        <p:spPr>
          <a:xfrm>
            <a:off x="6045345" y="3800475"/>
            <a:ext cx="3121025" cy="12001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все числа доклада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E5B28"/>
                </a:solidFill>
                <a:latin typeface="X5 Sans Medium"/>
              </a:rPr>
              <a:t>и сводка · ~25 мин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2014764" y="5300662"/>
            <a:ext cx="7312114" cy="428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X5 Sans"/>
              </a:rPr>
              <a:t>на вопросы: почему не сразу TurboFan · почему V8 не греет на старте · как узнать ярус · delete · а на x64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rPr sz="4000"/>
              <a:t>Кольцо</a:t>
            </a:r>
          </a:p>
        </p:txBody>
      </p:sp>
      <p:sp>
        <p:nvSpPr>
          <p:cNvPr id="1278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4808829" y="1097280"/>
            <a:ext cx="2574036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TextBox 1278"/>
          <p:cNvSpPr txBox="1"/>
          <p:nvPr/>
        </p:nvSpPr>
        <p:spPr>
          <a:xfrm>
            <a:off x="4808829" y="1097280"/>
            <a:ext cx="25740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Узел 12 из 12</a:t>
            </a:r>
          </a:p>
        </p:txBody>
      </p:sp>
      <p:sp>
        <p:nvSpPr>
          <p:cNvPr id="1279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Box 1279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 Medium"/>
              </a:rPr>
              <a:t>Вопрос зала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Смогу ли я теперь прочитать судьбу функции сам?</a:t>
            </a:r>
          </a:p>
        </p:txBody>
      </p:sp>
      <p:sp>
        <p:nvSpPr>
          <p:cNvPr id="1281" name="Oval 1280"/>
          <p:cNvSpPr/>
          <p:nvPr/>
        </p:nvSpPr>
        <p:spPr>
          <a:xfrm>
            <a:off x="433105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2" name="Oval 1281"/>
          <p:cNvSpPr/>
          <p:nvPr/>
        </p:nvSpPr>
        <p:spPr>
          <a:xfrm>
            <a:off x="464195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3" name="Oval 1282"/>
          <p:cNvSpPr/>
          <p:nvPr/>
        </p:nvSpPr>
        <p:spPr>
          <a:xfrm>
            <a:off x="495284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4" name="Oval 1283"/>
          <p:cNvSpPr/>
          <p:nvPr/>
        </p:nvSpPr>
        <p:spPr>
          <a:xfrm>
            <a:off x="526374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5" name="Oval 1284"/>
          <p:cNvSpPr/>
          <p:nvPr/>
        </p:nvSpPr>
        <p:spPr>
          <a:xfrm>
            <a:off x="557463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6" name="Oval 1285"/>
          <p:cNvSpPr/>
          <p:nvPr/>
        </p:nvSpPr>
        <p:spPr>
          <a:xfrm>
            <a:off x="588553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7" name="Oval 1286"/>
          <p:cNvSpPr/>
          <p:nvPr/>
        </p:nvSpPr>
        <p:spPr>
          <a:xfrm>
            <a:off x="6196431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8" name="Oval 1287"/>
          <p:cNvSpPr/>
          <p:nvPr/>
        </p:nvSpPr>
        <p:spPr>
          <a:xfrm>
            <a:off x="6507327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9" name="Oval 1288"/>
          <p:cNvSpPr/>
          <p:nvPr/>
        </p:nvSpPr>
        <p:spPr>
          <a:xfrm>
            <a:off x="6818223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0" name="Oval 1289"/>
          <p:cNvSpPr/>
          <p:nvPr/>
        </p:nvSpPr>
        <p:spPr>
          <a:xfrm>
            <a:off x="7129119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1" name="Oval 1290"/>
          <p:cNvSpPr/>
          <p:nvPr/>
        </p:nvSpPr>
        <p:spPr>
          <a:xfrm>
            <a:off x="7440015" y="5934456"/>
            <a:ext cx="109728" cy="109728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2" name="Oval 1291"/>
          <p:cNvSpPr/>
          <p:nvPr/>
        </p:nvSpPr>
        <p:spPr>
          <a:xfrm>
            <a:off x="7714335" y="5897880"/>
            <a:ext cx="182880" cy="182880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365760"/>
            <a:ext cx="10058400" cy="530352"/>
          </a:xfrm>
        </p:spPr>
        <p:txBody>
          <a:bodyPr/>
          <a:lstStyle/>
          <a:p>
            <a:r>
              <a:t>Две функции, две судьбы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840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X5 Sans"/>
              </a:rPr>
              <a:t>12.1</a:t>
            </a:r>
          </a:p>
        </p:txBody>
      </p:sp>
      <p:sp>
        <p:nvSpPr>
          <p:cNvPr id="1280" name="Скругленный прямоугольник 3">
            <a:extLst>
              <a:ext uri="{FF2B5EF4-FFF2-40B4-BE49-F238E27FC236}">
                <a16:creationId xmlns:a16="http://schemas.microsoft.com/office/drawing/2014/main" id="{C52F5E86-D5C1-4F74-C567-191454860100}"/>
              </a:ext>
            </a:extLst>
          </p:cNvPr>
          <p:cNvSpPr/>
          <p:nvPr/>
        </p:nvSpPr>
        <p:spPr>
          <a:xfrm>
            <a:off x="338328" y="1097280"/>
            <a:ext cx="11521440" cy="822960"/>
          </a:xfrm>
          <a:prstGeom prst="roundRect">
            <a:avLst>
              <a:gd name="adj" fmla="val 9733"/>
            </a:avLst>
          </a:prstGeom>
          <a:solidFill>
            <a:srgbClr val="FFFFFF"/>
          </a:solidFill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Скругленный прямоугольник 6">
            <a:extLst>
              <a:ext uri="{FF2B5EF4-FFF2-40B4-BE49-F238E27FC236}">
                <a16:creationId xmlns:a16="http://schemas.microsoft.com/office/drawing/2014/main" id="{523DB89C-2F0F-5742-6F17-026A7E4B5548}"/>
              </a:ext>
            </a:extLst>
          </p:cNvPr>
          <p:cNvSpPr/>
          <p:nvPr/>
        </p:nvSpPr>
        <p:spPr>
          <a:xfrm>
            <a:off x="539496" y="1261872"/>
            <a:ext cx="1568196" cy="347472"/>
          </a:xfrm>
          <a:prstGeom prst="roundRect">
            <a:avLst>
              <a:gd name="adj" fmla="val 14291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TextBox 1281"/>
          <p:cNvSpPr txBox="1"/>
          <p:nvPr/>
        </p:nvSpPr>
        <p:spPr>
          <a:xfrm>
            <a:off x="539496" y="1261872"/>
            <a:ext cx="15681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E5B28"/>
                </a:solidFill>
                <a:latin typeface="X5 Sans Medium"/>
              </a:rPr>
              <a:t>A · ?? null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658368" y="1664207"/>
            <a:ext cx="10881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1E5B28"/>
                </a:solidFill>
                <a:latin typeface="Consolas"/>
              </a:rPr>
              <a:t>referrer: raw.referrer ?? null</a:t>
            </a:r>
            <a:r>
              <a:rPr sz="1500" b="0">
                <a:solidFill>
                  <a:srgbClr val="1E5B28"/>
                </a:solidFill>
                <a:latin typeface="X5 Sans"/>
              </a:rPr>
              <a:t> · </a:t>
            </a:r>
            <a:r>
              <a:rPr sz="1500" b="0">
                <a:solidFill>
                  <a:srgbClr val="1E5B28"/>
                </a:solidFill>
                <a:latin typeface="X5 Sans Medium"/>
              </a:rPr>
              <a:t>0.12 мс</a:t>
            </a:r>
          </a:p>
        </p:txBody>
      </p:sp>
      <p:sp>
        <p:nvSpPr>
          <p:cNvPr id="1282" name="Скругленный прямоугольник 3">
            <a:extLst>
              <a:ext uri="{FF2B5EF4-FFF2-40B4-BE49-F238E27FC236}">
                <a16:creationId xmlns:a16="http://schemas.microsoft.com/office/drawing/2014/main" id="{89D554D5-4F16-A781-3F95-70828E2AFEE4}"/>
              </a:ext>
            </a:extLst>
          </p:cNvPr>
          <p:cNvSpPr/>
          <p:nvPr/>
        </p:nvSpPr>
        <p:spPr>
          <a:xfrm>
            <a:off x="338328" y="2011680"/>
            <a:ext cx="11521440" cy="822960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FF81A6"/>
            </a:solidFill>
          </a:ln>
          <a:effectLst>
            <a:outerShdw blurRad="927110" dist="366590" dir="5400000" algn="ctr" rotWithShape="0">
              <a:srgbClr val="F64C79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83" name="Скругленный прямоугольник 12">
            <a:extLst>
              <a:ext uri="{FF2B5EF4-FFF2-40B4-BE49-F238E27FC236}">
                <a16:creationId xmlns:a16="http://schemas.microsoft.com/office/drawing/2014/main" id="{4A6C495B-3C28-BDB7-EB0A-99C6A1C5ED23}"/>
              </a:ext>
            </a:extLst>
          </p:cNvPr>
          <p:cNvSpPr/>
          <p:nvPr/>
        </p:nvSpPr>
        <p:spPr>
          <a:xfrm>
            <a:off x="539496" y="2176272"/>
            <a:ext cx="2304288" cy="347472"/>
          </a:xfrm>
          <a:prstGeom prst="roundRect">
            <a:avLst>
              <a:gd name="adj" fmla="val 9804"/>
            </a:avLst>
          </a:prstGeom>
          <a:solidFill>
            <a:srgbClr val="FF81A6">
              <a:alpha val="3018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84" name="TextBox 1283"/>
          <p:cNvSpPr txBox="1"/>
          <p:nvPr/>
        </p:nvSpPr>
        <p:spPr>
          <a:xfrm>
            <a:off x="539496" y="2176272"/>
            <a:ext cx="23042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8A1538"/>
                </a:solidFill>
                <a:latin typeface="X5 Sans Medium"/>
              </a:rPr>
              <a:t>B · условный спред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658368" y="2578608"/>
            <a:ext cx="1088136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20" b="0">
                <a:solidFill>
                  <a:srgbClr val="1E5B28"/>
                </a:solidFill>
                <a:latin typeface="Consolas"/>
              </a:rPr>
              <a:t>...(raw.referrer &amp;&amp; { referrer: raw.referrer })</a:t>
            </a:r>
            <a:r>
              <a:rPr sz="1500" b="0">
                <a:solidFill>
                  <a:srgbClr val="1E5B28"/>
                </a:solidFill>
                <a:latin typeface="X5 Sans"/>
              </a:rPr>
              <a:t> · </a:t>
            </a:r>
            <a:r>
              <a:rPr sz="1500" b="0">
                <a:solidFill>
                  <a:srgbClr val="1E5B28"/>
                </a:solidFill>
                <a:latin typeface="X5 Sans Medium"/>
              </a:rPr>
              <a:t>0.79 мс</a:t>
            </a:r>
          </a:p>
        </p:txBody>
      </p:sp>
      <p:cxnSp>
        <p:nvCxnSpPr>
          <p:cNvPr id="1286" name="Connector 1285"/>
          <p:cNvCxnSpPr/>
          <p:nvPr/>
        </p:nvCxnSpPr>
        <p:spPr>
          <a:xfrm>
            <a:off x="938403" y="3401568"/>
            <a:ext cx="10875644" cy="0"/>
          </a:xfrm>
          <a:prstGeom prst="line">
            <a:avLst/>
          </a:prstGeom>
          <a:ln w="254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7" name="Rounded Rectangle 1286"/>
          <p:cNvSpPr/>
          <p:nvPr/>
        </p:nvSpPr>
        <p:spPr>
          <a:xfrm>
            <a:off x="338328" y="4577715"/>
            <a:ext cx="408051" cy="600075"/>
          </a:xfrm>
          <a:prstGeom prst="roundRect">
            <a:avLst>
              <a:gd name="adj" fmla="val 17927"/>
            </a:avLst>
          </a:prstGeom>
          <a:solidFill>
            <a:srgbClr val="E0F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8" name="TextBox 1287"/>
          <p:cNvSpPr txBox="1"/>
          <p:nvPr/>
        </p:nvSpPr>
        <p:spPr>
          <a:xfrm>
            <a:off x="338328" y="4577715"/>
            <a:ext cx="408051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1E5B28"/>
                </a:solidFill>
                <a:latin typeface="X5 Sans Medium"/>
              </a:rPr>
              <a:t>A</a:t>
            </a:r>
          </a:p>
        </p:txBody>
      </p:sp>
      <p:sp>
        <p:nvSpPr>
          <p:cNvPr id="1289" name="Rounded Rectangle 1288"/>
          <p:cNvSpPr/>
          <p:nvPr/>
        </p:nvSpPr>
        <p:spPr>
          <a:xfrm>
            <a:off x="338328" y="5273802"/>
            <a:ext cx="408051" cy="600075"/>
          </a:xfrm>
          <a:prstGeom prst="roundRect">
            <a:avLst>
              <a:gd name="adj" fmla="val 17927"/>
            </a:avLst>
          </a:prstGeom>
          <a:solidFill>
            <a:srgbClr val="FF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0" name="TextBox 1289"/>
          <p:cNvSpPr txBox="1"/>
          <p:nvPr/>
        </p:nvSpPr>
        <p:spPr>
          <a:xfrm>
            <a:off x="338328" y="5273802"/>
            <a:ext cx="408051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8A1538"/>
                </a:solidFill>
                <a:latin typeface="X5 Sans Medium"/>
              </a:rPr>
              <a:t>B</a:t>
            </a:r>
          </a:p>
        </p:txBody>
      </p:sp>
      <p:sp>
        <p:nvSpPr>
          <p:cNvPr id="1291" name="Oval 1290"/>
          <p:cNvSpPr/>
          <p:nvPr/>
        </p:nvSpPr>
        <p:spPr>
          <a:xfrm>
            <a:off x="1177432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2" name="TextBox 1291"/>
          <p:cNvSpPr txBox="1"/>
          <p:nvPr/>
        </p:nvSpPr>
        <p:spPr>
          <a:xfrm>
            <a:off x="1177432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1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956691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две функции</a:t>
            </a:r>
          </a:p>
        </p:txBody>
      </p:sp>
      <p:sp>
        <p:nvSpPr>
          <p:cNvPr id="1294" name="Rounded Rectangle 1293"/>
          <p:cNvSpPr/>
          <p:nvPr/>
        </p:nvSpPr>
        <p:spPr>
          <a:xfrm>
            <a:off x="965835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5" name="TextBox 1294"/>
          <p:cNvSpPr txBox="1"/>
          <p:nvPr/>
        </p:nvSpPr>
        <p:spPr>
          <a:xfrm>
            <a:off x="984123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0.12 мс</a:t>
            </a:r>
          </a:p>
        </p:txBody>
      </p:sp>
      <p:sp>
        <p:nvSpPr>
          <p:cNvPr id="1296" name="Rounded Rectangle 1295"/>
          <p:cNvSpPr/>
          <p:nvPr/>
        </p:nvSpPr>
        <p:spPr>
          <a:xfrm>
            <a:off x="965835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7" name="TextBox 1296"/>
          <p:cNvSpPr txBox="1"/>
          <p:nvPr/>
        </p:nvSpPr>
        <p:spPr>
          <a:xfrm>
            <a:off x="984123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0.79 мс</a:t>
            </a:r>
          </a:p>
        </p:txBody>
      </p:sp>
      <p:sp>
        <p:nvSpPr>
          <p:cNvPr id="1298" name="Oval 1297"/>
          <p:cNvSpPr/>
          <p:nvPr/>
        </p:nvSpPr>
        <p:spPr>
          <a:xfrm>
            <a:off x="2087546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9" name="TextBox 1298"/>
          <p:cNvSpPr txBox="1"/>
          <p:nvPr/>
        </p:nvSpPr>
        <p:spPr>
          <a:xfrm>
            <a:off x="2087546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2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866804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форма объекта</a:t>
            </a:r>
          </a:p>
        </p:txBody>
      </p:sp>
      <p:sp>
        <p:nvSpPr>
          <p:cNvPr id="1301" name="Rounded Rectangle 1300"/>
          <p:cNvSpPr/>
          <p:nvPr/>
        </p:nvSpPr>
        <p:spPr>
          <a:xfrm>
            <a:off x="1875948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2" name="TextBox 1301"/>
          <p:cNvSpPr txBox="1"/>
          <p:nvPr/>
        </p:nvSpPr>
        <p:spPr>
          <a:xfrm>
            <a:off x="1894236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1303" name="Rounded Rectangle 1302"/>
          <p:cNvSpPr/>
          <p:nvPr/>
        </p:nvSpPr>
        <p:spPr>
          <a:xfrm>
            <a:off x="1875948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4" name="TextBox 1303"/>
          <p:cNvSpPr txBox="1"/>
          <p:nvPr/>
        </p:nvSpPr>
        <p:spPr>
          <a:xfrm>
            <a:off x="1894236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1305" name="Oval 1304"/>
          <p:cNvSpPr/>
          <p:nvPr/>
        </p:nvSpPr>
        <p:spPr>
          <a:xfrm>
            <a:off x="2997660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6" name="TextBox 1305"/>
          <p:cNvSpPr txBox="1"/>
          <p:nvPr/>
        </p:nvSpPr>
        <p:spPr>
          <a:xfrm>
            <a:off x="2997660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3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2776918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место чтения</a:t>
            </a:r>
          </a:p>
        </p:txBody>
      </p:sp>
      <p:sp>
        <p:nvSpPr>
          <p:cNvPr id="1308" name="Rounded Rectangle 1307"/>
          <p:cNvSpPr/>
          <p:nvPr/>
        </p:nvSpPr>
        <p:spPr>
          <a:xfrm>
            <a:off x="2786062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9" name="TextBox 1308"/>
          <p:cNvSpPr txBox="1"/>
          <p:nvPr/>
        </p:nvSpPr>
        <p:spPr>
          <a:xfrm>
            <a:off x="2804350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MONO</a:t>
            </a:r>
          </a:p>
        </p:txBody>
      </p:sp>
      <p:sp>
        <p:nvSpPr>
          <p:cNvPr id="1310" name="Rounded Rectangle 1309"/>
          <p:cNvSpPr/>
          <p:nvPr/>
        </p:nvSpPr>
        <p:spPr>
          <a:xfrm>
            <a:off x="2786062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1" name="TextBox 1310"/>
          <p:cNvSpPr txBox="1"/>
          <p:nvPr/>
        </p:nvSpPr>
        <p:spPr>
          <a:xfrm>
            <a:off x="2804350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MEGA</a:t>
            </a:r>
          </a:p>
        </p:txBody>
      </p:sp>
      <p:sp>
        <p:nvSpPr>
          <p:cNvPr id="1312" name="Diamond 1311"/>
          <p:cNvSpPr/>
          <p:nvPr/>
        </p:nvSpPr>
        <p:spPr>
          <a:xfrm>
            <a:off x="3560730" y="3293554"/>
            <a:ext cx="216027" cy="216027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3" name="Oval 1312"/>
          <p:cNvSpPr/>
          <p:nvPr/>
        </p:nvSpPr>
        <p:spPr>
          <a:xfrm>
            <a:off x="3907774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4" name="TextBox 1313"/>
          <p:cNvSpPr txBox="1"/>
          <p:nvPr/>
        </p:nvSpPr>
        <p:spPr>
          <a:xfrm>
            <a:off x="3907774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4</a:t>
            </a:r>
          </a:p>
        </p:txBody>
      </p:sp>
      <p:sp>
        <p:nvSpPr>
          <p:cNvPr id="1315" name="TextBox 1314"/>
          <p:cNvSpPr txBox="1"/>
          <p:nvPr/>
        </p:nvSpPr>
        <p:spPr>
          <a:xfrm>
            <a:off x="3687032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ярусы</a:t>
            </a:r>
          </a:p>
        </p:txBody>
      </p:sp>
      <p:sp>
        <p:nvSpPr>
          <p:cNvPr id="1316" name="Rounded Rectangle 1315"/>
          <p:cNvSpPr/>
          <p:nvPr/>
        </p:nvSpPr>
        <p:spPr>
          <a:xfrm>
            <a:off x="3696176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7" name="TextBox 1316"/>
          <p:cNvSpPr txBox="1"/>
          <p:nvPr/>
        </p:nvSpPr>
        <p:spPr>
          <a:xfrm>
            <a:off x="3714464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1318" name="Rounded Rectangle 1317"/>
          <p:cNvSpPr/>
          <p:nvPr/>
        </p:nvSpPr>
        <p:spPr>
          <a:xfrm>
            <a:off x="3696176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9" name="TextBox 1318"/>
          <p:cNvSpPr txBox="1"/>
          <p:nvPr/>
        </p:nvSpPr>
        <p:spPr>
          <a:xfrm>
            <a:off x="3714464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одна лестница</a:t>
            </a:r>
          </a:p>
        </p:txBody>
      </p:sp>
      <p:sp>
        <p:nvSpPr>
          <p:cNvPr id="1320" name="Oval 1319"/>
          <p:cNvSpPr/>
          <p:nvPr/>
        </p:nvSpPr>
        <p:spPr>
          <a:xfrm>
            <a:off x="4817887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1" name="TextBox 1320"/>
          <p:cNvSpPr txBox="1"/>
          <p:nvPr/>
        </p:nvSpPr>
        <p:spPr>
          <a:xfrm>
            <a:off x="4817887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5</a:t>
            </a:r>
          </a:p>
        </p:txBody>
      </p:sp>
      <p:sp>
        <p:nvSpPr>
          <p:cNvPr id="1322" name="TextBox 1321"/>
          <p:cNvSpPr txBox="1"/>
          <p:nvPr/>
        </p:nvSpPr>
        <p:spPr>
          <a:xfrm>
            <a:off x="4597145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ставка</a:t>
            </a:r>
          </a:p>
        </p:txBody>
      </p:sp>
      <p:sp>
        <p:nvSpPr>
          <p:cNvPr id="1323" name="Rounded Rectangle 1322"/>
          <p:cNvSpPr/>
          <p:nvPr/>
        </p:nvSpPr>
        <p:spPr>
          <a:xfrm>
            <a:off x="4606290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4" name="TextBox 1323"/>
          <p:cNvSpPr txBox="1"/>
          <p:nvPr/>
        </p:nvSpPr>
        <p:spPr>
          <a:xfrm>
            <a:off x="4624577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сыграла</a:t>
            </a:r>
          </a:p>
        </p:txBody>
      </p:sp>
      <p:sp>
        <p:nvSpPr>
          <p:cNvPr id="1325" name="Rounded Rectangle 1324"/>
          <p:cNvSpPr/>
          <p:nvPr/>
        </p:nvSpPr>
        <p:spPr>
          <a:xfrm>
            <a:off x="4606290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6" name="TextBox 1325"/>
          <p:cNvSpPr txBox="1"/>
          <p:nvPr/>
        </p:nvSpPr>
        <p:spPr>
          <a:xfrm>
            <a:off x="4624577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не сыграла</a:t>
            </a:r>
          </a:p>
        </p:txBody>
      </p:sp>
      <p:sp>
        <p:nvSpPr>
          <p:cNvPr id="1327" name="Diamond 1326"/>
          <p:cNvSpPr/>
          <p:nvPr/>
        </p:nvSpPr>
        <p:spPr>
          <a:xfrm>
            <a:off x="5380958" y="3293554"/>
            <a:ext cx="216027" cy="216027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8" name="Oval 1327"/>
          <p:cNvSpPr/>
          <p:nvPr/>
        </p:nvSpPr>
        <p:spPr>
          <a:xfrm>
            <a:off x="5728001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9" name="TextBox 1328"/>
          <p:cNvSpPr txBox="1"/>
          <p:nvPr/>
        </p:nvSpPr>
        <p:spPr>
          <a:xfrm>
            <a:off x="5728001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6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5507259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сервис</a:t>
            </a:r>
          </a:p>
        </p:txBody>
      </p:sp>
      <p:sp>
        <p:nvSpPr>
          <p:cNvPr id="1331" name="Rounded Rectangle 1330"/>
          <p:cNvSpPr/>
          <p:nvPr/>
        </p:nvSpPr>
        <p:spPr>
          <a:xfrm>
            <a:off x="5516403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2" name="TextBox 1331"/>
          <p:cNvSpPr txBox="1"/>
          <p:nvPr/>
        </p:nvSpPr>
        <p:spPr>
          <a:xfrm>
            <a:off x="5534691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2302 rps</a:t>
            </a:r>
          </a:p>
        </p:txBody>
      </p:sp>
      <p:sp>
        <p:nvSpPr>
          <p:cNvPr id="1333" name="Rounded Rectangle 1332"/>
          <p:cNvSpPr/>
          <p:nvPr/>
        </p:nvSpPr>
        <p:spPr>
          <a:xfrm>
            <a:off x="5516403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4" name="TextBox 1333"/>
          <p:cNvSpPr txBox="1"/>
          <p:nvPr/>
        </p:nvSpPr>
        <p:spPr>
          <a:xfrm>
            <a:off x="5534691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1180 rps</a:t>
            </a:r>
          </a:p>
        </p:txBody>
      </p:sp>
      <p:sp>
        <p:nvSpPr>
          <p:cNvPr id="1335" name="Oval 1334"/>
          <p:cNvSpPr/>
          <p:nvPr/>
        </p:nvSpPr>
        <p:spPr>
          <a:xfrm>
            <a:off x="6638115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6" name="TextBox 1335"/>
          <p:cNvSpPr txBox="1"/>
          <p:nvPr/>
        </p:nvSpPr>
        <p:spPr>
          <a:xfrm>
            <a:off x="6638115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7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6417373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эпоха 2014</a:t>
            </a:r>
          </a:p>
        </p:txBody>
      </p:sp>
      <p:sp>
        <p:nvSpPr>
          <p:cNvPr id="1338" name="Rounded Rectangle 1337"/>
          <p:cNvSpPr/>
          <p:nvPr/>
        </p:nvSpPr>
        <p:spPr>
          <a:xfrm>
            <a:off x="6426517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9" name="TextBox 1338"/>
          <p:cNvSpPr txBox="1"/>
          <p:nvPr/>
        </p:nvSpPr>
        <p:spPr>
          <a:xfrm>
            <a:off x="6444805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1340" name="Rounded Rectangle 1339"/>
          <p:cNvSpPr/>
          <p:nvPr/>
        </p:nvSpPr>
        <p:spPr>
          <a:xfrm>
            <a:off x="6426517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1" name="TextBox 1340"/>
          <p:cNvSpPr txBox="1"/>
          <p:nvPr/>
        </p:nvSpPr>
        <p:spPr>
          <a:xfrm>
            <a:off x="6444805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1342" name="Oval 1341"/>
          <p:cNvSpPr/>
          <p:nvPr/>
        </p:nvSpPr>
        <p:spPr>
          <a:xfrm>
            <a:off x="7548229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3" name="TextBox 1342"/>
          <p:cNvSpPr txBox="1"/>
          <p:nvPr/>
        </p:nvSpPr>
        <p:spPr>
          <a:xfrm>
            <a:off x="7548229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8</a:t>
            </a:r>
          </a:p>
        </p:txBody>
      </p:sp>
      <p:sp>
        <p:nvSpPr>
          <p:cNvPr id="1344" name="TextBox 1343"/>
          <p:cNvSpPr txBox="1"/>
          <p:nvPr/>
        </p:nvSpPr>
        <p:spPr>
          <a:xfrm>
            <a:off x="7327487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эпоха 2017</a:t>
            </a:r>
          </a:p>
        </p:txBody>
      </p:sp>
      <p:sp>
        <p:nvSpPr>
          <p:cNvPr id="1345" name="Rounded Rectangle 1344"/>
          <p:cNvSpPr/>
          <p:nvPr/>
        </p:nvSpPr>
        <p:spPr>
          <a:xfrm>
            <a:off x="7336631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6" name="TextBox 1345"/>
          <p:cNvSpPr txBox="1"/>
          <p:nvPr/>
        </p:nvSpPr>
        <p:spPr>
          <a:xfrm>
            <a:off x="7354919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1347" name="Rounded Rectangle 1346"/>
          <p:cNvSpPr/>
          <p:nvPr/>
        </p:nvSpPr>
        <p:spPr>
          <a:xfrm>
            <a:off x="7336631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8" name="TextBox 1347"/>
          <p:cNvSpPr txBox="1"/>
          <p:nvPr/>
        </p:nvSpPr>
        <p:spPr>
          <a:xfrm>
            <a:off x="7354919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1349" name="Diamond 1348"/>
          <p:cNvSpPr/>
          <p:nvPr/>
        </p:nvSpPr>
        <p:spPr>
          <a:xfrm>
            <a:off x="8111299" y="3293554"/>
            <a:ext cx="216027" cy="216027"/>
          </a:xfrm>
          <a:prstGeom prst="diamond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0" name="Oval 1349"/>
          <p:cNvSpPr/>
          <p:nvPr/>
        </p:nvSpPr>
        <p:spPr>
          <a:xfrm>
            <a:off x="8458342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1" name="TextBox 1350"/>
          <p:cNvSpPr txBox="1"/>
          <p:nvPr/>
        </p:nvSpPr>
        <p:spPr>
          <a:xfrm>
            <a:off x="8458342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9</a:t>
            </a:r>
          </a:p>
        </p:txBody>
      </p:sp>
      <p:sp>
        <p:nvSpPr>
          <p:cNvPr id="1352" name="TextBox 1351"/>
          <p:cNvSpPr txBox="1"/>
          <p:nvPr/>
        </p:nvSpPr>
        <p:spPr>
          <a:xfrm>
            <a:off x="8237600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эпоха 2027</a:t>
            </a:r>
          </a:p>
        </p:txBody>
      </p:sp>
      <p:sp>
        <p:nvSpPr>
          <p:cNvPr id="1353" name="Rounded Rectangle 1352"/>
          <p:cNvSpPr/>
          <p:nvPr/>
        </p:nvSpPr>
        <p:spPr>
          <a:xfrm>
            <a:off x="8246744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4" name="TextBox 1353"/>
          <p:cNvSpPr txBox="1"/>
          <p:nvPr/>
        </p:nvSpPr>
        <p:spPr>
          <a:xfrm>
            <a:off x="8265032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ставка</a:t>
            </a:r>
          </a:p>
        </p:txBody>
      </p:sp>
      <p:sp>
        <p:nvSpPr>
          <p:cNvPr id="1355" name="Rounded Rectangle 1354"/>
          <p:cNvSpPr/>
          <p:nvPr/>
        </p:nvSpPr>
        <p:spPr>
          <a:xfrm>
            <a:off x="8246744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6" name="TextBox 1355"/>
          <p:cNvSpPr txBox="1"/>
          <p:nvPr/>
        </p:nvSpPr>
        <p:spPr>
          <a:xfrm>
            <a:off x="8265032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мега</a:t>
            </a:r>
          </a:p>
        </p:txBody>
      </p:sp>
      <p:sp>
        <p:nvSpPr>
          <p:cNvPr id="1357" name="Oval 1356"/>
          <p:cNvSpPr/>
          <p:nvPr/>
        </p:nvSpPr>
        <p:spPr>
          <a:xfrm>
            <a:off x="9368456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8" name="TextBox 1357"/>
          <p:cNvSpPr txBox="1"/>
          <p:nvPr/>
        </p:nvSpPr>
        <p:spPr>
          <a:xfrm>
            <a:off x="9368456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10</a:t>
            </a:r>
          </a:p>
        </p:txBody>
      </p:sp>
      <p:sp>
        <p:nvSpPr>
          <p:cNvPr id="1359" name="TextBox 1358"/>
          <p:cNvSpPr txBox="1"/>
          <p:nvPr/>
        </p:nvSpPr>
        <p:spPr>
          <a:xfrm>
            <a:off x="9147714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ставка та же</a:t>
            </a:r>
          </a:p>
        </p:txBody>
      </p:sp>
      <p:sp>
        <p:nvSpPr>
          <p:cNvPr id="1360" name="Rounded Rectangle 1359"/>
          <p:cNvSpPr/>
          <p:nvPr/>
        </p:nvSpPr>
        <p:spPr>
          <a:xfrm>
            <a:off x="9156858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1" name="TextBox 1360"/>
          <p:cNvSpPr txBox="1"/>
          <p:nvPr/>
        </p:nvSpPr>
        <p:spPr>
          <a:xfrm>
            <a:off x="9175146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×1</a:t>
            </a:r>
          </a:p>
        </p:txBody>
      </p:sp>
      <p:sp>
        <p:nvSpPr>
          <p:cNvPr id="1362" name="Rounded Rectangle 1361"/>
          <p:cNvSpPr/>
          <p:nvPr/>
        </p:nvSpPr>
        <p:spPr>
          <a:xfrm>
            <a:off x="9156858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3" name="TextBox 1362"/>
          <p:cNvSpPr txBox="1"/>
          <p:nvPr/>
        </p:nvSpPr>
        <p:spPr>
          <a:xfrm>
            <a:off x="9175146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×6.6–6.9</a:t>
            </a:r>
          </a:p>
        </p:txBody>
      </p:sp>
      <p:sp>
        <p:nvSpPr>
          <p:cNvPr id="1364" name="Oval 1363"/>
          <p:cNvSpPr/>
          <p:nvPr/>
        </p:nvSpPr>
        <p:spPr>
          <a:xfrm>
            <a:off x="10278570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5" name="TextBox 1364"/>
          <p:cNvSpPr txBox="1"/>
          <p:nvPr/>
        </p:nvSpPr>
        <p:spPr>
          <a:xfrm>
            <a:off x="10278570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11</a:t>
            </a:r>
          </a:p>
        </p:txBody>
      </p:sp>
      <p:sp>
        <p:nvSpPr>
          <p:cNvPr id="1366" name="TextBox 1365"/>
          <p:cNvSpPr txBox="1"/>
          <p:nvPr/>
        </p:nvSpPr>
        <p:spPr>
          <a:xfrm>
            <a:off x="10057828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карта целиком</a:t>
            </a:r>
          </a:p>
        </p:txBody>
      </p:sp>
      <p:sp>
        <p:nvSpPr>
          <p:cNvPr id="1367" name="Rounded Rectangle 1366"/>
          <p:cNvSpPr/>
          <p:nvPr/>
        </p:nvSpPr>
        <p:spPr>
          <a:xfrm>
            <a:off x="10066972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8" name="TextBox 1367"/>
          <p:cNvSpPr txBox="1"/>
          <p:nvPr/>
        </p:nvSpPr>
        <p:spPr>
          <a:xfrm>
            <a:off x="10085260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1 форма</a:t>
            </a:r>
          </a:p>
        </p:txBody>
      </p:sp>
      <p:sp>
        <p:nvSpPr>
          <p:cNvPr id="1369" name="Rounded Rectangle 1368"/>
          <p:cNvSpPr/>
          <p:nvPr/>
        </p:nvSpPr>
        <p:spPr>
          <a:xfrm>
            <a:off x="10066972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0" name="TextBox 1369"/>
          <p:cNvSpPr txBox="1"/>
          <p:nvPr/>
        </p:nvSpPr>
        <p:spPr>
          <a:xfrm>
            <a:off x="10085260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8 форм</a:t>
            </a:r>
          </a:p>
        </p:txBody>
      </p:sp>
      <p:sp>
        <p:nvSpPr>
          <p:cNvPr id="1371" name="Oval 1370"/>
          <p:cNvSpPr/>
          <p:nvPr/>
        </p:nvSpPr>
        <p:spPr>
          <a:xfrm>
            <a:off x="11093632" y="3090489"/>
            <a:ext cx="622157" cy="622157"/>
          </a:xfrm>
          <a:prstGeom prst="ellipse">
            <a:avLst/>
          </a:prstGeom>
          <a:solidFill>
            <a:srgbClr val="AAD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2" name="Oval 1371"/>
          <p:cNvSpPr/>
          <p:nvPr/>
        </p:nvSpPr>
        <p:spPr>
          <a:xfrm>
            <a:off x="11188684" y="3185540"/>
            <a:ext cx="432054" cy="432054"/>
          </a:xfrm>
          <a:prstGeom prst="ellipse">
            <a:avLst/>
          </a:prstGeom>
          <a:solidFill>
            <a:srgbClr val="1E5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3" name="TextBox 1372"/>
          <p:cNvSpPr txBox="1"/>
          <p:nvPr/>
        </p:nvSpPr>
        <p:spPr>
          <a:xfrm>
            <a:off x="11188684" y="3185540"/>
            <a:ext cx="43205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95" b="0">
                <a:solidFill>
                  <a:srgbClr val="FFFFFF"/>
                </a:solidFill>
                <a:latin typeface="X5 Sans Medium"/>
              </a:rPr>
              <a:t>12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0967942" y="3761612"/>
            <a:ext cx="873537" cy="720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45" b="0">
                <a:solidFill>
                  <a:srgbClr val="1E5B28"/>
                </a:solidFill>
                <a:latin typeface="X5 Sans Medium"/>
              </a:rPr>
              <a:t>снова слайд 1</a:t>
            </a:r>
          </a:p>
        </p:txBody>
      </p:sp>
      <p:sp>
        <p:nvSpPr>
          <p:cNvPr id="1375" name="Rounded Rectangle 1374"/>
          <p:cNvSpPr/>
          <p:nvPr/>
        </p:nvSpPr>
        <p:spPr>
          <a:xfrm>
            <a:off x="10977086" y="4577715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1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6" name="TextBox 1375"/>
          <p:cNvSpPr txBox="1"/>
          <p:nvPr/>
        </p:nvSpPr>
        <p:spPr>
          <a:xfrm>
            <a:off x="10995374" y="4577715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1E5B28"/>
                </a:solidFill>
                <a:latin typeface="X5 Sans"/>
              </a:rPr>
              <a:t>1 → MONO → 2302</a:t>
            </a:r>
          </a:p>
        </p:txBody>
      </p:sp>
      <p:sp>
        <p:nvSpPr>
          <p:cNvPr id="1377" name="Rounded Rectangle 1376"/>
          <p:cNvSpPr/>
          <p:nvPr/>
        </p:nvSpPr>
        <p:spPr>
          <a:xfrm>
            <a:off x="10977086" y="5273802"/>
            <a:ext cx="855249" cy="600075"/>
          </a:xfrm>
          <a:prstGeom prst="roundRect">
            <a:avLst>
              <a:gd name="adj" fmla="val 9142"/>
            </a:avLst>
          </a:prstGeom>
          <a:solidFill>
            <a:srgbClr val="FF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8" name="TextBox 1377"/>
          <p:cNvSpPr txBox="1"/>
          <p:nvPr/>
        </p:nvSpPr>
        <p:spPr>
          <a:xfrm>
            <a:off x="10995374" y="5273802"/>
            <a:ext cx="818673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45" b="0">
                <a:solidFill>
                  <a:srgbClr val="8A1538"/>
                </a:solidFill>
                <a:latin typeface="X5 Sans"/>
              </a:rPr>
              <a:t>8 → MEGA → 1180</a:t>
            </a:r>
          </a:p>
        </p:txBody>
      </p:sp>
      <p:sp>
        <p:nvSpPr>
          <p:cNvPr id="1379" name="TextBox 1378"/>
          <p:cNvSpPr txBox="1"/>
          <p:nvPr/>
        </p:nvSpPr>
        <p:spPr>
          <a:xfrm>
            <a:off x="1828800" y="60350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X5 Sans"/>
              </a:rPr>
              <a:t>0.12 / 0.79 — функция (shape-analyzer) · 2302 / 1180 — сервис (autocannon) · одна пара форм: 1 против 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992" y="1828800"/>
            <a:ext cx="10040112" cy="1920240"/>
          </a:xfrm>
        </p:spPr>
        <p:txBody>
          <a:bodyPr/>
          <a:lstStyle/>
          <a:p>
            <a:pPr algn="ctr"/>
            <a:r>
              <a:t>Спасибо</a:t>
            </a:r>
          </a:p>
        </p:txBody>
      </p:sp>
      <p:sp>
        <p:nvSpPr>
          <p:cNvPr id="1284" name="Скругленный прямоугольник 8">
            <a:extLst>
              <a:ext uri="{FF2B5EF4-FFF2-40B4-BE49-F238E27FC236}">
                <a16:creationId xmlns:a16="http://schemas.microsoft.com/office/drawing/2014/main" id="{E6FA49EA-08F0-25CD-B92A-F1F13A7E5332}"/>
              </a:ext>
            </a:extLst>
          </p:cNvPr>
          <p:cNvSpPr/>
          <p:nvPr/>
        </p:nvSpPr>
        <p:spPr>
          <a:xfrm>
            <a:off x="2328519" y="1097280"/>
            <a:ext cx="7534656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Box 1284"/>
          <p:cNvSpPr txBox="1"/>
          <p:nvPr/>
        </p:nvSpPr>
        <p:spPr>
          <a:xfrm>
            <a:off x="2328519" y="1097280"/>
            <a:ext cx="7534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E5B28"/>
                </a:solidFill>
                <a:latin typeface="X5 Sans Medium"/>
              </a:rPr>
              <a:t>ветка v8-talk-verify · v8-experiment/PITFALLS.md</a:t>
            </a:r>
          </a:p>
        </p:txBody>
      </p:sp>
      <p:sp>
        <p:nvSpPr>
          <p:cNvPr id="1285" name="Скругленный прямоугольник 13">
            <a:extLst>
              <a:ext uri="{FF2B5EF4-FFF2-40B4-BE49-F238E27FC236}">
                <a16:creationId xmlns:a16="http://schemas.microsoft.com/office/drawing/2014/main" id="{C07B90F5-B96F-8BD7-7961-AE40C98CF3A0}"/>
              </a:ext>
            </a:extLst>
          </p:cNvPr>
          <p:cNvSpPr/>
          <p:nvPr/>
        </p:nvSpPr>
        <p:spPr>
          <a:xfrm>
            <a:off x="1819656" y="4160520"/>
            <a:ext cx="8558784" cy="1371600"/>
          </a:xfrm>
          <a:prstGeom prst="roundRect">
            <a:avLst>
              <a:gd name="adj" fmla="val 2128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TextBox 1285"/>
          <p:cNvSpPr txBox="1"/>
          <p:nvPr/>
        </p:nvSpPr>
        <p:spPr>
          <a:xfrm>
            <a:off x="2103120" y="4206240"/>
            <a:ext cx="799185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github.com/Yoshimuro/issues-memory-research</a:t>
            </a:r>
          </a:p>
          <a:p>
            <a:pPr algn="ctr"/>
            <a:r>
              <a:rPr sz="1900" b="0">
                <a:solidFill>
                  <a:srgbClr val="E0FBCC"/>
                </a:solidFill>
                <a:latin typeface="X5 Sans"/>
              </a:rPr>
              <a:t>Александр Зайцев</a:t>
            </a:r>
          </a:p>
        </p:txBody>
      </p:sp>
      <p:sp>
        <p:nvSpPr>
          <p:cNvPr id="1287" name="Rounded Rectangle 1286"/>
          <p:cNvSpPr/>
          <p:nvPr/>
        </p:nvSpPr>
        <p:spPr>
          <a:xfrm>
            <a:off x="9692640" y="1783080"/>
            <a:ext cx="2103120" cy="210312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88" name="Picture 128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9202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Q&amp;A-резерв</a:t>
            </a:r>
          </a:p>
        </p:txBody>
      </p:sp>
      <p:sp>
        <p:nvSpPr>
          <p:cNvPr id="1286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429768" y="1234440"/>
            <a:ext cx="2157984" cy="2057400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566928" y="131673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 Medium"/>
              </a:rPr>
              <a:t>1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"/>
              </a:rPr>
              <a:t>почему не сразу TurboFan?</a:t>
            </a:r>
          </a:p>
        </p:txBody>
      </p:sp>
      <p:sp>
        <p:nvSpPr>
          <p:cNvPr id="1287" name="Скругленный прямоугольник 7">
            <a:extLst>
              <a:ext uri="{FF2B5EF4-FFF2-40B4-BE49-F238E27FC236}">
                <a16:creationId xmlns:a16="http://schemas.microsoft.com/office/drawing/2014/main" id="{DB312773-4247-A630-CC4F-0AE123B644A3}"/>
              </a:ext>
            </a:extLst>
          </p:cNvPr>
          <p:cNvSpPr/>
          <p:nvPr/>
        </p:nvSpPr>
        <p:spPr>
          <a:xfrm>
            <a:off x="2715768" y="1234440"/>
            <a:ext cx="2157984" cy="2057400"/>
          </a:xfrm>
          <a:prstGeom prst="roundRect">
            <a:avLst>
              <a:gd name="adj" fmla="val 7381"/>
            </a:avLst>
          </a:prstGeom>
          <a:gradFill>
            <a:gsLst>
              <a:gs pos="0">
                <a:schemeClr val="bg1">
                  <a:lumMod val="87000"/>
                  <a:lumOff val="13000"/>
                </a:schemeClr>
              </a:gs>
              <a:gs pos="96000">
                <a:schemeClr val="bg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TextBox 1287"/>
          <p:cNvSpPr txBox="1"/>
          <p:nvPr/>
        </p:nvSpPr>
        <p:spPr>
          <a:xfrm>
            <a:off x="2852927" y="131673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 Medium"/>
              </a:rPr>
              <a:t>2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X5 Sans"/>
              </a:rPr>
              <a:t>почему V8 не греет на старте?</a:t>
            </a:r>
          </a:p>
        </p:txBody>
      </p:sp>
      <p:sp>
        <p:nvSpPr>
          <p:cNvPr id="1288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001768" y="123444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89" name="TextBox 1288"/>
          <p:cNvSpPr txBox="1"/>
          <p:nvPr/>
        </p:nvSpPr>
        <p:spPr>
          <a:xfrm>
            <a:off x="5138928" y="131673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3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как узнать ярус?</a:t>
            </a:r>
          </a:p>
        </p:txBody>
      </p:sp>
      <p:sp>
        <p:nvSpPr>
          <p:cNvPr id="1289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7287768" y="123444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0" name="TextBox 1289"/>
          <p:cNvSpPr txBox="1"/>
          <p:nvPr/>
        </p:nvSpPr>
        <p:spPr>
          <a:xfrm>
            <a:off x="7424927" y="131673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когда приходит TurboFan</a:t>
            </a:r>
          </a:p>
        </p:txBody>
      </p:sp>
      <p:sp>
        <p:nvSpPr>
          <p:cNvPr id="1290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9573768" y="123444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1" name="TextBox 1290"/>
          <p:cNvSpPr txBox="1"/>
          <p:nvPr/>
        </p:nvSpPr>
        <p:spPr>
          <a:xfrm>
            <a:off x="9710928" y="131673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5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Sparkplug не спекулирует</a:t>
            </a:r>
          </a:p>
        </p:txBody>
      </p:sp>
      <p:sp>
        <p:nvSpPr>
          <p:cNvPr id="1291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429768" y="347472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2" name="TextBox 1291"/>
          <p:cNvSpPr txBox="1"/>
          <p:nvPr/>
        </p:nvSpPr>
        <p:spPr>
          <a:xfrm>
            <a:off x="566928" y="355701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6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сколько деоптов?</a:t>
            </a:r>
          </a:p>
        </p:txBody>
      </p:sp>
      <p:sp>
        <p:nvSpPr>
          <p:cNvPr id="1292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2715768" y="347472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3" name="TextBox 1292"/>
          <p:cNvSpPr txBox="1"/>
          <p:nvPr/>
        </p:nvSpPr>
        <p:spPr>
          <a:xfrm>
            <a:off x="2852927" y="355701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7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а на x64?</a:t>
            </a:r>
          </a:p>
        </p:txBody>
      </p:sp>
      <p:sp>
        <p:nvSpPr>
          <p:cNvPr id="1293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5001768" y="347472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4" name="TextBox 1293"/>
          <p:cNvSpPr txBox="1"/>
          <p:nvPr/>
        </p:nvSpPr>
        <p:spPr>
          <a:xfrm>
            <a:off x="5138928" y="355701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8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дырявые массивы</a:t>
            </a:r>
          </a:p>
        </p:txBody>
      </p:sp>
      <p:sp>
        <p:nvSpPr>
          <p:cNvPr id="1294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7287768" y="347472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5" name="TextBox 1294"/>
          <p:cNvSpPr txBox="1"/>
          <p:nvPr/>
        </p:nvSpPr>
        <p:spPr>
          <a:xfrm>
            <a:off x="7424927" y="355701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9</a:t>
            </a:r>
          </a:p>
          <a:p>
            <a:pPr algn="ctr">
              <a:spcAft>
                <a:spcPts val="400"/>
              </a:spcAft>
            </a:pPr>
            <a:r>
              <a:rPr sz="1496" b="0">
                <a:solidFill>
                  <a:srgbClr val="1E5B28"/>
                </a:solidFill>
                <a:latin typeface="Consolas"/>
              </a:rPr>
              <a:t>delete</a:t>
            </a:r>
          </a:p>
        </p:txBody>
      </p:sp>
      <p:sp>
        <p:nvSpPr>
          <p:cNvPr id="1295" name="Скругленный прямоугольник 2">
            <a:extLst>
              <a:ext uri="{FF2B5EF4-FFF2-40B4-BE49-F238E27FC236}">
                <a16:creationId xmlns:a16="http://schemas.microsoft.com/office/drawing/2014/main" id="{818D6BAE-E6E9-46CF-1325-58E9C406F100}"/>
              </a:ext>
            </a:extLst>
          </p:cNvPr>
          <p:cNvSpPr/>
          <p:nvPr/>
        </p:nvSpPr>
        <p:spPr>
          <a:xfrm>
            <a:off x="9573768" y="3474720"/>
            <a:ext cx="2157984" cy="2057400"/>
          </a:xfrm>
          <a:prstGeom prst="roundRect">
            <a:avLst>
              <a:gd name="adj" fmla="val 14791"/>
            </a:avLst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927110" dist="366590" dir="5400000" algn="ctr" rotWithShape="0">
              <a:schemeClr val="tx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</a:p>
        </p:txBody>
      </p:sp>
      <p:sp>
        <p:nvSpPr>
          <p:cNvPr id="1296" name="TextBox 1295"/>
          <p:cNvSpPr txBox="1"/>
          <p:nvPr/>
        </p:nvSpPr>
        <p:spPr>
          <a:xfrm>
            <a:off x="9710928" y="3557016"/>
            <a:ext cx="1883664" cy="18928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 Medium"/>
              </a:rPr>
              <a:t>10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E5B28"/>
                </a:solidFill>
                <a:latin typeface="X5 Sans"/>
              </a:rPr>
              <a:t>порядок полей</a:t>
            </a:r>
          </a:p>
        </p:txBody>
      </p:sp>
      <p:sp>
        <p:nvSpPr>
          <p:cNvPr id="1297" name="Rounded Rectangle 1296"/>
          <p:cNvSpPr/>
          <p:nvPr/>
        </p:nvSpPr>
        <p:spPr>
          <a:xfrm>
            <a:off x="10561320" y="228600"/>
            <a:ext cx="1005840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98" name="Picture 129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74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 Cover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G Cover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 Cover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LP Cover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B Cover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W Content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W Content Special 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Green Special 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Purple Special 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Blue Special 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Green Ribbon Content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MGreen Ribbon Content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_MGreen Ribbon Content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MGreen Ribbon Content">
  <a:themeElements>
    <a:clrScheme name="X5 Color Scheme">
      <a:dk1>
        <a:srgbClr val="D6FF1D"/>
      </a:dk1>
      <a:lt1>
        <a:srgbClr val="1E5B28"/>
      </a:lt1>
      <a:dk2>
        <a:srgbClr val="C6ADFF"/>
      </a:dk2>
      <a:lt2>
        <a:srgbClr val="2B2649"/>
      </a:lt2>
      <a:accent1>
        <a:srgbClr val="AADC00"/>
      </a:accent1>
      <a:accent2>
        <a:srgbClr val="E0FBCC"/>
      </a:accent2>
      <a:accent3>
        <a:srgbClr val="ECE4FF"/>
      </a:accent3>
      <a:accent4>
        <a:srgbClr val="E3F5F9"/>
      </a:accent4>
      <a:accent5>
        <a:srgbClr val="F2F2F2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2032</Words>
  <Application>Microsoft Macintosh PowerPoint</Application>
  <PresentationFormat>Широкоэкранный</PresentationFormat>
  <Paragraphs>253</Paragraphs>
  <Slides>37</Slides>
  <Notes>37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15</vt:i4>
      </vt:variant>
      <vt:variant>
        <vt:lpstr>Заголовки слайдов</vt:lpstr>
      </vt:variant>
      <vt:variant>
        <vt:i4>37</vt:i4>
      </vt:variant>
    </vt:vector>
  </HeadingPairs>
  <TitlesOfParts>
    <vt:vector size="57" baseType="lpstr">
      <vt:lpstr>Calibri</vt:lpstr>
      <vt:lpstr>X5 Sans Light</vt:lpstr>
      <vt:lpstr>X5 Sans</vt:lpstr>
      <vt:lpstr>X5 Sans Medium</vt:lpstr>
      <vt:lpstr>Arial</vt:lpstr>
      <vt:lpstr>Base</vt:lpstr>
      <vt:lpstr>G Cover</vt:lpstr>
      <vt:lpstr>LG Cover</vt:lpstr>
      <vt:lpstr>P Cover</vt:lpstr>
      <vt:lpstr>LP Cover</vt:lpstr>
      <vt:lpstr>B Cover</vt:lpstr>
      <vt:lpstr>W Content</vt:lpstr>
      <vt:lpstr>W Content Special </vt:lpstr>
      <vt:lpstr>Green Special </vt:lpstr>
      <vt:lpstr>Purple Special </vt:lpstr>
      <vt:lpstr>Blue Special </vt:lpstr>
      <vt:lpstr>Green Ribbon Content</vt:lpstr>
      <vt:lpstr>MGreen Ribbon Content</vt:lpstr>
      <vt:lpstr>2_MGreen Ribbon Content</vt:lpstr>
      <vt:lpstr>1_MGreen Ribbon Content</vt:lpstr>
      <vt:lpstr>Миллион строчек нейрослопа</vt:lpstr>
      <vt:lpstr>Май 2026. Один пулреквест (#30412)</vt:lpstr>
      <vt:lpstr>Этот код написал ИИ</vt:lpstr>
      <vt:lpstr>«Целиком этот код никто не читал»</vt:lpstr>
      <vt:lpstr>Почему это важно</vt:lpstr>
      <vt:lpstr>Окей или не окей?</vt:lpstr>
      <vt:lpstr>Презентация PowerPoint</vt:lpstr>
      <vt:lpstr>Презентация PowerPoint</vt:lpstr>
      <vt:lpstr>Смена владельца</vt:lpstr>
      <vt:lpstr>Зачем вообще Rust</vt:lpstr>
      <vt:lpstr>Зачем вообще Rust</vt:lpstr>
      <vt:lpstr>Как вообще переводят рантайм</vt:lpstr>
      <vt:lpstr>Презентация PowerPoint</vt:lpstr>
      <vt:lpstr>Презентация PowerPoint</vt:lpstr>
      <vt:lpstr>Самое интересное: повторяли поведение Zig</vt:lpstr>
      <vt:lpstr>Скорость, невозможная для ручной команды</vt:lpstr>
      <vt:lpstr>Тесты: хорошая новость</vt:lpstr>
      <vt:lpstr>Тесты: плохая новость</vt:lpstr>
      <vt:lpstr>Unsafe-блоки</vt:lpstr>
      <vt:lpstr>Масштаб проблемы</vt:lpstr>
      <vt:lpstr>Реальные баги, а не «страшно в теории» </vt:lpstr>
      <vt:lpstr>Презентация PowerPoint</vt:lpstr>
      <vt:lpstr>…и система закрыла PR сама</vt:lpstr>
      <vt:lpstr>А теперь стоп.</vt:lpstr>
      <vt:lpstr>Презентация PowerPoint</vt:lpstr>
      <vt:lpstr>Презентация PowerPoint</vt:lpstr>
      <vt:lpstr>Презентация PowerPoint</vt:lpstr>
      <vt:lpstr>Презентация PowerPoint</vt:lpstr>
      <vt:lpstr>«Целиком этот код никто не читал»</vt:lpstr>
      <vt:lpstr>«Очень высокая вероятность, что весь этот код просто выбросят»</vt:lpstr>
      <vt:lpstr>Презентация PowerPoint</vt:lpstr>
      <vt:lpstr>Ось спора №1</vt:lpstr>
      <vt:lpstr>Ось спора №2</vt:lpstr>
      <vt:lpstr>Ось спора №3</vt:lpstr>
      <vt:lpstr>Ось спора №4</vt:lpstr>
      <vt:lpstr>Спорим.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Mikhail Laptev</dc:creator>
  <cp:lastModifiedBy>Microsoft Office User</cp:lastModifiedBy>
  <cp:revision>97</cp:revision>
  <dcterms:created xsi:type="dcterms:W3CDTF">2025-05-13T22:37:01Z</dcterms:created>
  <dcterms:modified xsi:type="dcterms:W3CDTF">2026-06-30T17:52:19Z</dcterms:modified>
</cp:coreProperties>
</file>