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914" r:id="rId82"/>
    <p:sldId id="915" r:id="rId83"/>
    <p:sldId id="916" r:id="rId84"/>
    <p:sldId id="917" r:id="rId85"/>
    <p:sldId id="918" r:id="rId86"/>
    <p:sldId id="919" r:id="rId87"/>
    <p:sldId id="920" r:id="rId88"/>
    <p:sldId id="921" r:id="rId89"/>
    <p:sldId id="922" r:id="rId90"/>
    <p:sldId id="923" r:id="rId91"/>
    <p:sldId id="924" r:id="rId92"/>
    <p:sldId id="925" r:id="rId93"/>
    <p:sldId id="926" r:id="rId94"/>
    <p:sldId id="927" r:id="rId95"/>
    <p:sldId id="928" r:id="rId96"/>
    <p:sldId id="929" r:id="rId97"/>
    <p:sldId id="930" r:id="rId98"/>
    <p:sldId id="931" r:id="rId99"/>
    <p:sldId id="932" r:id="rId100"/>
    <p:sldId id="933" r:id="rId101"/>
    <p:sldId id="934" r:id="rId102"/>
    <p:sldId id="935" r:id="rId103"/>
    <p:sldId id="936" r:id="rId104"/>
    <p:sldId id="937" r:id="rId105"/>
    <p:sldId id="938" r:id="rId106"/>
    <p:sldId id="939" r:id="rId107"/>
    <p:sldId id="940" r:id="rId108"/>
    <p:sldId id="941" r:id="rId109"/>
    <p:sldId id="942" r:id="rId110"/>
    <p:sldId id="943" r:id="rId111"/>
    <p:sldId id="944" r:id="rId112"/>
    <p:sldId id="945" r:id="rId113"/>
    <p:sldId id="946" r:id="rId114"/>
    <p:sldId id="947" r:id="rId115"/>
    <p:sldId id="948" r:id="rId116"/>
    <p:sldId id="949" r:id="rId117"/>
    <p:sldId id="950" r:id="rId118"/>
    <p:sldId id="951" r:id="rId81"/>
    <p:sldId id="952" r:id="rId80"/>
    <p:sldId id="953" r:id="rId79"/>
    <p:sldId id="954" r:id="rId78"/>
    <p:sldId id="955" r:id="rId77"/>
    <p:sldId id="956" r:id="rId76"/>
    <p:sldId id="957" r:id="rId75"/>
    <p:sldId id="958" r:id="rId74"/>
    <p:sldId id="959" r:id="rId73"/>
    <p:sldId id="960" r:id="rId72"/>
    <p:sldId id="961" r:id="rId71"/>
    <p:sldId id="962" r:id="rId70"/>
    <p:sldId id="963" r:id="rId69"/>
    <p:sldId id="964" r:id="rId68"/>
    <p:sldId id="965" r:id="rId67"/>
    <p:sldId id="966" r:id="rId66"/>
    <p:sldId id="967" r:id="rId65"/>
    <p:sldId id="968" r:id="rId64"/>
    <p:sldId id="969" r:id="rId63"/>
    <p:sldId id="970" r:id="rId62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114.xml"/><Relationship Id="rId63" Type="http://schemas.openxmlformats.org/officeDocument/2006/relationships/slide" Target="slides/slide113.xml"/><Relationship Id="rId64" Type="http://schemas.openxmlformats.org/officeDocument/2006/relationships/slide" Target="slides/slide112.xml"/><Relationship Id="rId65" Type="http://schemas.openxmlformats.org/officeDocument/2006/relationships/slide" Target="slides/slide111.xml"/><Relationship Id="rId66" Type="http://schemas.openxmlformats.org/officeDocument/2006/relationships/slide" Target="slides/slide110.xml"/><Relationship Id="rId67" Type="http://schemas.openxmlformats.org/officeDocument/2006/relationships/slide" Target="slides/slide109.xml"/><Relationship Id="rId68" Type="http://schemas.openxmlformats.org/officeDocument/2006/relationships/slide" Target="slides/slide108.xml"/><Relationship Id="rId69" Type="http://schemas.openxmlformats.org/officeDocument/2006/relationships/slide" Target="slides/slide107.xml"/><Relationship Id="rId70" Type="http://schemas.openxmlformats.org/officeDocument/2006/relationships/slide" Target="slides/slide106.xml"/><Relationship Id="rId71" Type="http://schemas.openxmlformats.org/officeDocument/2006/relationships/slide" Target="slides/slide105.xml"/><Relationship Id="rId72" Type="http://schemas.openxmlformats.org/officeDocument/2006/relationships/slide" Target="slides/slide104.xml"/><Relationship Id="rId73" Type="http://schemas.openxmlformats.org/officeDocument/2006/relationships/slide" Target="slides/slide103.xml"/><Relationship Id="rId74" Type="http://schemas.openxmlformats.org/officeDocument/2006/relationships/slide" Target="slides/slide102.xml"/><Relationship Id="rId75" Type="http://schemas.openxmlformats.org/officeDocument/2006/relationships/slide" Target="slides/slide101.xml"/><Relationship Id="rId76" Type="http://schemas.openxmlformats.org/officeDocument/2006/relationships/slide" Target="slides/slide100.xml"/><Relationship Id="rId77" Type="http://schemas.openxmlformats.org/officeDocument/2006/relationships/slide" Target="slides/slide99.xml"/><Relationship Id="rId78" Type="http://schemas.openxmlformats.org/officeDocument/2006/relationships/slide" Target="slides/slide98.xml"/><Relationship Id="rId79" Type="http://schemas.openxmlformats.org/officeDocument/2006/relationships/slide" Target="slides/slide97.xml"/><Relationship Id="rId80" Type="http://schemas.openxmlformats.org/officeDocument/2006/relationships/slide" Target="slides/slide96.xml"/><Relationship Id="rId81" Type="http://schemas.openxmlformats.org/officeDocument/2006/relationships/slide" Target="slides/slide95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6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1E5B28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cat>
            <c:strRef>
              <c:f>Sheet1!$A$2:$A$4</c:f>
              <c:strCache>
                <c:ptCount val="3"/>
                <c:pt idx="0">
                  <c:v>TurboFan · Node 22</c:v>
                </c:pt>
                <c:pt idx="1">
                  <c:v>Maglev + TurboFan · Node 24</c:v>
                </c:pt>
                <c:pt idx="2">
                  <c:v>Turbolev · Node 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6.6</c:v>
                </c:pt>
                <c:pt idx="2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почему не сразу TurboFan?: Две причины. Цена: компиляция в TurboFan в разы дороже, чем в Maglev (идёт в фоновом потоке, функция тем временем работает), а почти весь код исполняется считаные разы: при старте npm из сотен функций до TurboFan дошла одна. Флаг --always-turbofan («оптимизируй при первой возможности») на Node 24 — старт вдвое дольше, хотя TurboFan-код получают считаные функции: флаг только просит, а пока функцию не вызвали дважды, движок такую просьбу сбрасывает. На Node 20 этот флаг правда компилирует всё на первом вызове — и горячий код выходит медленнее обычного и таким остаётся: вшивать нечего. И главное: TurboFan быстрый, потому что ставит на увиденное, а на первом вызове он ничего не видел. В V8 14 и новее флага --always-turbofan уже нет.</a:t>
            </a:r>
          </a:p>
          <a:p/>
          <a:p>
            <a:r>
              <a:t>2. почему V8 не греет на старте?: Нечем: компилятор ставит на то, какие формы прошли через каждое место чтения, а их не узнать без настоящих данных. Оптимизированный код между запусками не сохраняется — он привязан к формам этого процесса; кэшируется только байткод. Compile hints — про другое: они просят скомпилировать файл в байткод сразу при загрузке, к ярусам и формам отношения не имеют.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3. как узнать ярус?: Без интринсиков: node --log-function-events --logfile=fe.log --no-logfile-per-isolate app.js — в логе по имени функции видно interpreter → baseline → maglev → turbofan. --trace-opt и --trace-deopt показывают события компиляции и откатов; «took a, b, c ms» в --trace-opt — три фазы, их складывать. С --allow-natives-syntax — %GetOptimizationStatus(f), но значения битов зависят от версии V8. Профайлер DevTools и --cpu-prof ярус не показывают.</a:t>
            </a:r>
          </a:p>
          <a:p/>
          <a:p>
            <a:r>
              <a:t>4. 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13 000-го. Часть этих вызовов — ожидание: компилятор работает в отдельном потоке, и всё это время функция продолжает исполняться на прежнем ярусе. С циклом внутри — в разы раньше. По времени это первые миллисекунды горячей работы.</a:t>
            </a:r>
          </a:p>
          <a:p/>
          <a:p>
            <a:r>
              <a:t>5. 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6. 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7. а на x64?: Гонял тем же образом и скриптом в CI на x64: направление то же, множители ниже — прибор ×4.4 вместо ×6.6, HTTP ×1.7 вместо ×1.95. А замер IC «восемь форм против одной» на x64, наоборот, выше: ×3.7 против ×2.7. Тенденция одна.</a:t>
            </a:r>
          </a:p>
          <a:p/>
          <a:p>
            <a:r>
              <a:t>8. 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9. `delete`: Объект уходит в словарный режим, и обычный объект обратно уже не вернётся: чтение в 28–29 раз дороже на Node 22 и 24. Вместо delete — присвоить null.</a:t>
            </a:r>
          </a:p>
          <a:p/>
          <a:p>
            <a:r>
              <a:t>10. 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БЕЗ ПЛАШКИ:</a:t>
            </a:r>
          </a:p>
          <a:p/>
          <a:p>
            <a:r>
              <a:t>у A тоже wrong map / N в журнале?: Да, внутри самой normalizeUser wrong map и мегаморфное чтение raw.plan бывают у обеих версий: сырые записи на входе разной формы. Это чтение входа, и у A и B оно одно и то же. Разница начинается после сборки — смотрите на читателя собранных объектов: у A он чистый.</a:t>
            </a:r>
          </a:p>
          <a:p/>
          <a:p>
            <a:r>
              <a:t>откуда прибор знает MEGA?: Поле ic в выводе прибора — ярлык по числу форм, которые насчитал %HaveSameMap: 1 — MONO, до 4 — POLY, 5 и больше — MEGA. Само состояние места чтения я проверил отдельно журналом --log-ic — это слайд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собран без Maglev, --trace-ic давно удалён, каждый кейс — в отдельном процессе. Хотите повторить — начинайте с shape-analyzer: одна команда из папки v8-experiment на Node 24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прибор: 0.12 и 0.79. Только теперь карта под ними заполнена, подсказок нет, и читать её будете вы — я только показываю. Верхняя строка, A. Одна форма при сборке — место чтения MONO — ставка сыграла, быстрый путь вшит — 2302 запроса в секунду — и так в каждой эпохе V8. Нижняя строка, B. Восемь форм — место чтения MEGA — ставка на одну форму не играет — общий путь — 1180 запросов в секунду — и так с 2008 года.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 под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в диффе за пять секунд: ?? null против условного спреда.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 · 2 мин.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как проверить у себя — меня об этом спрашивали. Прибор лежит в репо: shape-analyzer. Под флагом --allow-natives-syntax он через %HaveSameMap считает, сколько форм выдаёт функция; это пример на normalizeUser — подставьте свою функцию и свои входные данные. Флаг --log-ic пишет журнал мест чтения: единица — MONO, N — MEGA. А все числа доклада пересчитываются одной командой в Docker, docker/run.sh, минут за двадцать пять, каждый кейс в отдельном процессе. Темы для вопросов — мелко внизу слайда.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трёх строках. Первая: форму объекта выбирает текст, до первого вызова; движок только смотрит и запоминает. Вторая: одна форма на место чтения — быстрый путь в любой эпохе V8, от Crankshaft до Turbolev; восемь форм — общий путь, и компилятор не спасает — ни сегодняшний, ни следующий. Третья: проверять нужно форму, а не компилятор. Кто бы ни писал код — вы или агент, — смотрите на одно: все ли ключи объекта всегда на месте и в одном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Шаги со второго по шестой — путь объекта по вызовам: форма при сборке, место чтения, ярусы, ставка, сервер. Одна форма — быстрый путь, восемь — общий. Шаги с седьмого по десятый — тот же путь в трёх эпохах V8: 2014, 2017, 2027. Ступени меняются, а строки A и B — нет: у A ставка, у B мега, в каждой эпохе. Развилка одна, и она в файле с функцией, до первого вызова. Одного шага на карте нет — билдера. Между автором и движком стоит tsc или esbuild, и что они делают с формами, когда переписывают спред в свой хелпер, я не мерил.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 · 3 мин.</a:t>
            </a:r>
          </a:p>
          <a:p/>
          <a:p>
            <a: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[10.4 · 1.5 мин]</a:t>
            </a:r>
          </a:p>
          <a:p/>
          <a:p>
            <a:r>
              <a:t>И последнее — про то, кто пишет B. Коротко, потому что это не новость. Я дал тот же тикет агенту в свежей сессии, тридцать раз. Все тридцать генераций — рабочий код, и все тридцать — восемь форм, как B: ключ добавляют, только если есть значение, — так пишут в текстах, на которых он учился. Тот же агент с файлом из четырёх правил — тридцать из тридцати по A, одна форма. Первое правило — один набор полей в одном порядке, нет значения — null. Кстати, сервис из шестого узла, 2302 против 1180 запросов в секунду, — это как раз его генерации с файлом и без. Файл — по QR в конце. Агенту нужно то же знание о V8, что и человеку: какую форму собирает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Одна свежая оговорка. Граница «пять форм и больше — ставки нет» держалась восемнадцать лет, и вот её впервые сдвигают. Homomorphic IC: если у пяти и более форм поле лежит на одном и том же месте, место чтения держит одну проверку вместо общего пути. У B первые пять полей одинаковы во всех восьми формах — значит, plan и credits читаются быстрее. В основной ветке V8 это включили пятнадцатого сентября; по графику это Chrome 156, за четыре дня до этого доклада. В Node пока нет. Предварительный замер на d8, x64: разрыв B к A падает с пяти и трёх десятых раза до четырёх и одной. Хвостовые поля — referrer, trialUntil, teamId — остаются мегаморфными. Налог меньше, но форма по-прежнему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Вот все три эпохи на одном слайде. Слева — ступени без ставки: full-codegen, потом Ignition и Sparkplug. Справа — со ставкой: Crankshaft, TurboFan, Maglev и, вероятно, Turbolev. Каждая ступень за эти годы сменилась или появилась, записи переехали из машинного кода в вектор, граф сменился трижды. А формы и записи мест чтения — с 2008 года, с первого релиза V8, и каждый верхний ярус ставит на них. Развилка, которую мы нашли в трёх строках кода, старше всех этих компиляторов.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1.5 мин]</a:t>
            </a:r>
          </a:p>
          <a:p/>
          <a:p>
            <a:r>
              <a:t>Ответ — числами, которые у нас уже есть. Прибор из первого узла, три разных верхних яруса. Node 22: Maglev в нём выключен, наверху один TurboFan, — B дороже в шесть и девять десятых раза. Node 24: Maglev плюс TurboFan — шесть и шесть. Node 24 под флагом --turbolev — шесть и восемь. Три разных компилятора, три разных графа — и одно и то же число в пределах шума. Crankshaft 2014 года я не мерил: Node тех лет этот код даже не запустит, условного спреда в нём ещё нет. Но механизм мы разобрали: те же записи, та же граница в четыре формы, та же ставка. Налог B — не свойство компилятора. Это свойство формы, и платят его на любом ярусе.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 · 5 мин.</a:t>
            </a:r>
          </a:p>
          <a:p/>
          <a:p>
            <a: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1 мин]</a:t>
            </a:r>
          </a:p>
          <a:p/>
          <a:p>
            <a:r>
              <a:t>Под флагом он работает уже сейчас, так что можно померить. Та же пара, тот же прибор, Node 24 с флагом. A — 0.14 миллисекунды, B — 0.95: в шесть и восемь десятых раза. Без флага было 0.12 и 0.79 — шесть и шесть. Под флагом оба чуть медленнее, а разница между A и B та же, в пределах шума. Блог V8 объясняет замену другим: компилятор проще и быстрее компилирует. Компиляция идёт в фоновом потоке, пока функция работает ступенью ниже, — чем быстрее компилятор, тем раньше подменится код. О скорости самого кода блог не пишет, и я не буду.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 мин]</a:t>
            </a:r>
          </a:p>
          <a:p/>
          <a:p>
            <a:r>
              <a:t>Её заменят — и это лев из названия доклада. Turbolev — сборка из двух готовых частей: спереди граф Maglev, сзади Turboshaft. Граф Maglev идёт в Turboshaft напрямую, мимо старого графа TurboFan. Это замена верхней ступени, а не пятая: так и написано в описании флага — Maglev плюс Turboshaft как четвёртый ярус вместо TurboFan. Флаг --turbolev есть с V8 13.6, в Node 24. По умолчанию выключен — и в Node, и в основной ветке V8; в сентябре его включили там на неделю и откатили. Срок не объявлен. Мой прогноз — Chrome в 2027 году, Node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 мин]</a:t>
            </a:r>
          </a:p>
          <a:p/>
          <a:p>
            <a:r>
              <a:t>А сам TurboFan тем временем разбирают изнутри. С Chrome 120, в конце 2023 года, его заднюю половину — ту, что из графа делает машинный код, — заменили на Turboshaft. Он работает на обычном графе из блоков, как у большинства компиляторов, и, по словам команды V8, компилирует примерно вдвое быстрее. В 2025-м в блоге V8 вышел пост с говорящим названием: «Земля! Покидаем море узлов». Море узлов, по опыту команды, оказалось дорогим и в поддержке, и во времени компиляции. Передняя половина TurboFan для JavaScript пока строит Sea of Nodes — и её тоже собираются заменить.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1 мин]</a:t>
            </a:r>
          </a:p>
          <a:p/>
          <a:p>
            <a:r>
              <a:t>Её закрыли вторым оптимизирующим компилятором. Maglev, 2023 год, Chrome 117. Он тоже строит граф — попроще — из того же байткода и тех же записей, тоже ставит на увиденные формы и тоже умеет деопт. Но компилирует в разы быстрее TurboFan, поэтому приходит примерно к тысячному вызову, а не к тринадцатитысячному — это числа из четвёртого узла. В Node 24 он есть; в Node 22 его выключили с версии 22.9 — это одна из граблей в PITFALLS. Теперь со ставкой работают две ступени из четырёх — и обе ставят на одно: на форму, которую видело место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 · 4 мин.</a:t>
            </a:r>
          </a:p>
          <a:p/>
          <a:p>
            <a: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 по времени пройдены две эпохи: записи переехали из кода в вектор, ставка осталась. Осталось: Maglev, Turbolev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1 мин]</a:t>
            </a:r>
          </a:p>
          <a:p/>
          <a:p>
            <a:r>
              <a:t>Оставалась пропасть: интерпретатор медленный, а TurboFan дорогой и приходит поздно. В 2021-м её прикрыл Sparkplug. Он берёт байткод и за один проход переводит его в машинный код — без графа и без ставки, записывая в тот же вектор. Так выглядит V8 2022 года: Ignition, Sparkplug, TurboFan. Лестница из четвёртого узла — про эти же ступени: интерпретатор 505 миллисекунд, TurboFan — 38. Но со ставкой по-прежнему работает одна ступень, и она дорогая.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символ в символ. Дифф — три строки внизу. Обе функции корректны: я прогнал их через один набор входов, прочитал поля всех результатов и сравнил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собирает этой функцией пятьдесят тысяч объектов, а потом в горячем цикле читает их поля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случаев, когда движок отказывается от уже скомпилированного кода. Сначала читатель получает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мы прочтём целиком примерно через четверть часа. Внизу — карта доклада: двенадцать шагов, под каждым будет строка A и строка B. Сейчас горит первый шаг — две функции и два числа. Маршрут такой: сначала вправо, вслед за вызовами функции, до числа на сервере; потом назад по времени — через три эпохи V8. Там и появится лев из описания.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 · 4 мин.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наших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--allow-natives-syntax: он открывает служебные функции движка, те, что начинаются с процента. В рабочем коде их не пишут — они только для таких проверок. Одна из них — %HaveSameMap: даёшь ей два объекта, она отвечает, одной ли они формы. Собираю два объекта через A: один вход с teamId, другой без — true, форма одна. Те же два входа через B — false, формы разные. Дальше скрипт перебирает все восемь сочетаний трёх хвостовых полей и считает, сколько разных форм набралось у B: восемь. У A, сколько входов ни перебирай, форма одна — прибор из начала доклада проверил это на тысяче разных входов.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шаг, форма объекта: у A одна, у B восемь. С этого шага строки A и B больше не совпадут ни разу. Развилка из трёх строк случается в момент сборки объекта. Отсюда вопрос: может, это и есть цена —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 · 5 мин.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Сами формы — нет. И это первое место, где ожидание не сходится с замером. Я взял прибор побольше — покажу его целиком через несколько узлов — и разложил время запроса по стадиям. Стадия сборки — то, что делает сама normalizeUser. Здесь честно два числа. Если восемь форм получаются через if после литерала — так пишет агент, о нём в конце, — сборка стоит от 0.93 до 1.02 от одноформной: столько же, в пределах шума. Значит, восемь форм сами по себе сборку не удорожают. Если через условный спред, как B с первого слайда, — сборка дороже примерно в 1.6 раза. Но форм там столько же, восемь, — это цена самого спреда. А на стадии чтения, где поля этих объектов читают, оба варианта B дороже одинаково — в пять с лишним раз. Сборка у объекта одна, а чтений много. Отсюда практический вывод. Объект собирают в одном месте, а читают, скажем, в тридцати. В профайлере цена B размазана по этим тридцати местам чтения, а причина — одно место сборки.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поле, — вот эта точка u.plan в функции-читателе — движок держит маленькую память: с какими формами это место уже работало. Память привязана к месту в коде, не к объекту. По-английски inline cache. Видело место одну форму — состояние мономорфное, MONO: движок знает, где у этой формы лежит plan, — одна проверка и одно чтение. Это быстрый путь. Две, три, четыре формы — полиморфное, POLY: короткий список, сравнили и взяли. Это ещё дёшево: четыре формы дороже одной примерно на тридцать процентов. Приходит пятая — список выбрасывается, и место становится мегаморфным, MEGA: адрес поля теперь ищется в общем словаре движка по паре «форма плюс имя поля». Словарь один на всю программу; сами объекты B обычные — просто восемь разных форм. Это общий путь. Слева читатель объектов A: одна форма, MONO. Справа читатель объектов B: восемь форм, MEGA. Текст читателя тот же, разница только в том, что в него приходит. Отдельный маленький замер, где из объектов восьми форм читается одно поле: MEGA против MONO — ×2.7 на Node 24, ×3.4 на Node 22. В приборе читатель берёт пять полей на объект, и там разница больше — шесть с лишним.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журнал: как меняется память каждого места чтения. Старый --trace-ic из V8 убрали ещё в 2021 году — если нагуглите его в старой статье, Node ответит «bad option». На экране заранее снятый журнал, и в нём оставлено одно место — чтение u.plan в читателе. У B состояние меняется на глазах: сначала 1 — мономорфное, на второй форме P — полиморфное, на пятой форме N — мегаморфное. У A у того же места одна строка: 1, и больше ничего. Обратите внимание, когда это происходит: после первых нескольких вызовов читателя, задолго до того, как код станет горячим. Читатель B становится MEGA, как только увидел пятую форму, — и дальше так и остаётся. На карте это третий шаг — место чтения: у A MONO, у B MEGA.</a:t>
            </a:r>
          </a:p>
          <a:p/>
          <a:p>
            <a:r>
              <a:t>— — —</a:t>
            </a:r>
          </a:p>
          <a:p>
            <a:r>
              <a:t>ДЕМО: Скрин R4, не live (кадр `frames/r4.txt` снят на Node 24.21.0; последовательность состояний та же, что в Docker-прогоне, CHECKS.md): `--log-ic` без `--no-logfile-per-isolate` пишет файл с адресом изолята в имени. Фильтр по строке 30 обязателен: normalizeUser читает raw.plan и у A тоже уходит в N (сырые входы разной формы). Старый `--trace-ic` удалён из V8 9.3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У B восемь форм, и каждое чтение идёт через общий словарь. Серыми остались компилятор, сервер и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 · 4 мин.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0.75 мин]</a:t>
            </a:r>
          </a:p>
          <a:p/>
          <a:p>
            <a:r>
              <a:t>Нет, компилятор не спасает. Числа из прибора — 0.12 и 0.79 — сняты в горячем цикле: читатель к этому моменту давно скомпилирован, у обеих версий, я это проверил. Скомпилированный код B платит тот же налог: восемь форм на входе никуда не делись, общий путь через словарь тоже. Но у компилятора есть кое-что своё — и именно там живёт улика из хука. Чтобы её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 мин]</a:t>
            </a:r>
          </a:p>
          <a:p/>
          <a:p>
            <a:r>
              <a:t>Одну и ту же функцию V8 исполняет четырьмя способами по очереди: чем чаще её вызывают, тем дороже способ и тем быстрее код. Каждый такой способ — ярус, по-английски tier. На оси — сколько раз вызвали функцию, Node 24. Первый вызов — интерпретатор Ignition: функция переведена в байткод, вот три его строки. Примерно с восьмого вызова движок заводит ей записи мест чтения. Дальше Sparkplug: байткод в машинный код за один проход, без оптимизаций. Потом Maglev, первый оптимизирующий, и TurboFan, самый сильный. Sparkplug — почти сразу, Maglev — примерно к тысячному вызову, TurboFan — к тринадцатитысячному; с циклом внутри — раньше. Функция при этом не ждёт: следующий компилятор работает в фоне, а она исполняется на своей ступени, пока новый код не готов. Поэтому функция, которую сервис зовёт на каждый запрос, наверху уже в первые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1.5 мин]</a:t>
            </a:r>
          </a:p>
          <a:p/>
          <a:p>
            <a:r>
              <a:t>Что даёт каждая ступень. Я взял один и тот же код и флагом --max-opt запирал весь процесс на одном ярусе. Интерпретатор — 505 миллисекунд, Sparkplug — 775, Maglev — 70, TurboFan — 38: в тринадцать с половиной раз быстрее интерпретатора. Честная оговорка: на этой машине, arm64, Sparkplug вышел медленнее интерпретатора; на x64 в CI он, как и положено, быстрее на четверть — объяснения у меня нет. Отсюда вопрос: почему не отдать всё TurboFan сразу? Две причины. Первая — цена. Скомпилировать функцию в TurboFan в разы дороже, чем в Maglev. А почти весь код исполняется считаные разы: при старте npm из сотен функций до TurboFan дошла одна. Я включил флаг --always-turbofan — «оптимизируй при первой возможности». На Node 24 он только просит, TurboFan-код получили считаные функции, — а старт всё равно вдвое дольше. Вторая причина важнее: TurboFan быстрый, потому что подгоняет код под то, что видел, а на первом вызове он не видел ничего. На Node 20 этот флаг правда компилирует всё на первом вызове — и горячий код выходит медленнее обычного и таким остаётся. Лестница — это не медлительность, это сбор наблюдений. И это один код на разных ярусах, не A против B: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 (его числа ещё не внесены в NUMBERS — на сцене без чисел).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вот здесь». Проверка формы — одно сравнение, чтение — одна инструкция. Это и есть ставка: компилятор ставит на те формы, которые видел. Видел одну — одно сравнение; две–четыре — короткий список; больше — ставить не на что. 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 · 4 мин.</a:t>
            </a:r>
          </a:p>
          <a:p/>
          <a:p>
            <a: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Ставка ломается — и это та самая строка с первого слайда; теперь мы можем её прочитать. Сначала A. Читатель объектов A доходит до оптимизирующего яруса, в записях одна форма, компилятор её вшивает: одна проверка, одно чтение. Ставка играет на каждом вызове. Теперь B. В этом прогоне читатель B сначала получает только полные записи, где все поля на месте: форма одна, и компилятор вшивает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Движок выбрасывает оптимизированный код и возвращает функцию в интерпретатор — это деоптимизация, деопт. Записи мест чтения дополняются новой формой, и через какое-то время функцию компилируют заново. Строка на экране — с читателя объектов B; у читателя объектов A её нет ни в одном из пяти прогонов. Я фильтрую по имени читателя: в самой normalizeUser такая строка бывает у обеих версий — там меняется форма входной записи, это другая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Что дальше. В моём прогоне откат у читателя один. После него записи знают уже несколько форм, функцию компилируют заново — и на этот раз без ставки на одну форму: чтение идёт общим путём, через словарь. А если читатель с первых вызовов видит все восемь форм — как в приборе с первого слайда, — ставки нет с самого начала, и откатов тоже нет: в приборе у читателя B ни одного wrong map, он оптимизирован TurboFan — и всё равно в шесть с лишним раз медленнее. Компилятор честно делает лучшее, что можно сделать с восемью формами: на месте чтения вшивать нечего. С этого момента B работает стабильно — на общем пути, на каждом чтении. Поэтому честная подпись: медленный B — это установившийся общий путь, а не деопты. Деопт — событие: он случается и заканчивается, петли здесь нет. Общий счётчик деоптов по процессу я как метрику не беру: он засорён фоном самого замера. Цена, которую мы мерили, — 0.79 против 0.12 — это цена общего пути;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поставил на одну форму, а пришла другая — у B их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объекта пройден: восемь форм → чтение через словарь → общий путь на любом ярусе. Дальше — сервер, а потом назад по времени: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 · 6 мин.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побольше: внутри сборка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 такой: распарсить батч, нормализовать нашей функцией, обработать, сериализовать ответ. Обработка — это R проходов чтения по объектам: статистика, фильтр, обогащение. R — ручка, которую я кручу. Каждый прогон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прогонах: все варианты считают одно и то же. Пара функций та же по форме — одна против восьми, — но код другой; откуда он — скажу в конце.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вдвое. Двадцать — в 3.1–3.3 раза. Размер батча ни при чём: пятьсот записей и пять тысяч дают одни и те же проценты. Ручка одна — число чтений. И парсинг перестаёт прятать разницу: у A при одном проходе он занимает две трети запроса, у B при двадцати — десять процентов. Два дополнения. Первое — усилитель: обогащение сделано спредом, {...u, score}. У нового объекта своя форма, но разнообразие он наследует: восемь форм на входе — восемь на выходе. За них платят и сборка, и чтение, и сортировка. Отдельного числа нет, это механизм. Второе — ответ клиенту: сортировка и JSON.stringify у B в 1.3–1.6 раза медленнее, хотя B пишет меньше байт — в нём нет null-полей. Данных меньше — а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node:http. Нагрузку даёт autocannon: 50 соединений, 20 секунд, батч тысяча, пять проходов чтения. A — 2302 запроса в секунду. B — 1180. Почти вдвое: ×1.95. Медиана задержки — 21 миллисекунда против 41. Теперь хвост: задержка, хуже которой только один запрос из ста, — её называют p99. 42 против 82, плюс 95 процентов. Уезжает не только середина, но и хвост. Это сходится с матрицей: при пяти проходах на конвейере было почти ×2 — и под нагрузкой почти ×2. Оговорка про стенд: autocannon работал в том же контейнере и делил с сервером тот же лимит процессора, поэтому абсолютные числа занижены, а сравнение честное. И заметьте: A отдаёт в каждом ответе больше байт — null-поля в JSON — и всё равно держит почти вдвое больше запросов. На карте мы дошли до шестого шага — сервер. В шапке справа заполнено всё, кроме последней строки — эпох.</a:t>
            </a:r>
          </a:p>
          <a:p/>
          <a:p>
            <a:r>
              <a:t>— — —</a:t>
            </a:r>
          </a:p>
          <a:p>
            <a:r>
              <a:t>ДЕМО: Итог шага 6 `docker/verify.sh` (autocannon в том же контейнере, --cpus 2); на слайде — строки HTTP из NUMBERS-alpine-node24-arm64.md.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Теперь 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Такой ячейки в сетке нет, это оценка по стадиям: если выкинуть из замера стадию чтения, разница между версиями сжимается до шести–десяти процентов, когда ключи дописаны через if, и до тринадцати–восемнадцати, когда через спред. Восемь форм чуть дороже сериализуются, а спред ещё и дороже собирается. Второе: сервис, который ждёт базу десятки миллисекунд. Доля миллисекунды процессора на батч теряется на фоне этого ожидания — пока процессор не загружен под завязку. Это тоже оценка, не замер. Возражение «всё равно упрётся в базу» в этом профиле принимаю. Третье: маленькие батчи при одном проходе. Числа микроскопические — 0.17 против 0.22 миллисекунды на пятьсот записей; заметно только на масштабе, который и показал HTTP-стенд.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тридцати процентов до трёх с лишним раз; если только складывает — проценты, а не разы.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Так ведёт себя сегодняшний V8. А ставка на форму — свойство сегодняшнего компилятора или V8 ставил так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вопросы «как вы это мерили» и «чем это отличается от прода». Сверху — как устроен замер. Одна среда: Docker, образ Node 24 на alpine с запиннутым тегом, как в проде, лимит два процессора; запускал на маке, то есть на arm64. Каждый прогон — отдельный процесс, чтобы записи мест чтения не перетекали между вариантами. Прогрев триста итераций, замер тысяча, пять повторов, беру медианы. И контрольная сумма результата: она совпала у всех вариантов во всех ста пятидесяти прогонах — сравниваю эквивалентный код. Снизу — где легко соврать; на все четыре грабли я наступил сам. Первое: гонять кейсы подряд в одном процессе — именно так совет «try/catch дорогой» получает свои «в три раза»; в отдельных процессах разницы нет.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— первая серия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 тем же образом и тем же скриптом. Направление везде то же, а множители другие: у прибора на x64 ниже, у микробенча мест чтения — выше. И главное: микробенч — не прод. Поэтому после прибора идёт конвейер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 · 4 мин.</a:t>
            </a:r>
          </a:p>
          <a:p/>
          <a:p>
            <a: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 мин]</a:t>
            </a:r>
          </a:p>
          <a:p/>
          <a:p>
            <a:r>
              <a:t>Ставка на форму — не изобретение сегодняшнего компилятора. Идея старше V8. Запоминать при месте кода, какие объекты туда приходили, придумали для Smalltalk в 1984 году — это и есть inline cache. Скрытые классы — «карты» — появились в языке Self в 1989-м, а в 1991-м там же место чтения научилось помнить несколько форм сразу — это наш POLY. V8 вышел вместе с Chrome в сентябре 2008-го, и формы с местами чтения были в нём с первого релиза. Даже имя то же: в исходниках V8 форма называется Map. А оптимизирующего компилятора в 2008-м не было вовсе — один компилятор переводил дерево разбора прямо в машинный код. Ставить было некому, но записи уже велись.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Перенесёмся в 2014 год — так V8 работал с 2010-го по 2017-й. Ступеней две. Первая — full-codegen: при первом вызове функция из дерева разбора сразу превращается в машинный код, никакого байткода. Места чтения в этом коде — маленькие заглушки, вписанные прямо в машинный код. Они и есть записи: одна форма, до четырёх, дальше — мега. Та же граница, что сегодня. Вторая ступень — Crankshaft, первый оптимизирующий компилятор V8, 2010 год. Когда функция нагрелась, Crankshaft заново разбирает её исходник, читает заглушки мест чтения и вшивает ставку на увиденные формы — ту самую ставку из четвёртого узла. Не сыграла — деопт, и функция возвращается в код full-codegen. Значит, читатель объектов B и в 2014-м видел бы восемь форм, его место чтения было бы мегаморфным, и ставить Crankshaft было бы не на что. Числа тех лет я не мерил — механизм тот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1.5 мин]</a:t>
            </a:r>
          </a:p>
          <a:p/>
          <a:p>
            <a:r>
              <a:t>Зачем это было ломать? Причин две, обе — из блога V8. Первая — память. full-codegen выдаёт машинный код на каждую вызванную функцию, даже на ту, что вызвали один раз, а машинный код толстый. Байткод того же кода занимает от четверти до половины объёма — поэтому новый интерпретатор, Ignition, первым делом включили в 2016 году на Android-телефонах с маленькой памятью. Вторая — Crankshaft оптимизировал не всё. Функцию с try/catch он, например, не оптимизировал вовсе, и совет «выносите try/catch в отдельную функцию» — оттуда. У нового оптимизатора, TurboFan, такого ограничения не было. В июне 2017-го, в Chrome 59, связка Ignition плюс TurboFan стала единственной, в Node — с версии 8.3, и в том же году оба старых компилятора удалили из кода. Сменились обе ступени разом. Что стало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 · 4 мин.</a:t>
            </a:r>
          </a:p>
          <a:p/>
          <a:p>
            <a: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Сначала — что стало с записями. В 2014-м они жили внутри машинного кода, в заглушках. Но у байткода машинного кода нет — значит, записям нужен свой дом. Им стал отдельный массив при функции, вектор записей, по-английски feedback vector: у каждого места чтения свой слот, и в байткоде рядом с местом чтения стоит номер его слота. Переезд начали ещё при Crankshaft: чтение полей переехало в вектор в 2015-м, запись — в 2016-м. И главное: формат записи не изменился. Одна форма, от двух до четырёх, дальше мега — та же лесенка, что в 2008-м. Интерпретатор Ignition исполняет байткод и заполняет вектор; первые вызовы функция живёт здесь. А с 2019 года вектор даже заводят не сразу, а после нескольких вызовов, — это та цифра «примерно с восьмого вызова» из четвёртого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Теперь верхняя ступень. TurboFan читает байткод и тот же вектор записей и строит граф функции. Граф особенный — Sea of Nodes, «море узлов». Обычный компилятор держит код блоками в заданном порядке; здесь у операций порядка почти нет, их связывают только данные и зависимости, и компилятор волен двигать их, выкидывать повторы и сливать проверки. Идея 1995 года, её автор — Cliff Click, на ней работает серверный компилятор Java HotSpot. В V8 TurboFan появился в коде летом 2014-го, в 2015-м включился для asm.js, в 2017-м — для всего JavaScript. Граф другой — ставка та же: проверка формы в начале, поле — одной инструкцией, а на восьми формах — общий путь. Строка из хука, wrong map, — это его деопт. И компилировать такой граф дорого — поэтому TurboFan работает в фоновом потоке, а функция тем временем живёт ступенью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4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8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2" name="Connector 100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3" name="Oval 1002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4" name="Oval 100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650430" y="1674494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3114674"/>
            <a:ext cx="8988552" cy="1800224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3268979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8" name="TextBox 1017"/>
          <p:cNvSpPr txBox="1"/>
          <p:nvPr/>
        </p:nvSpPr>
        <p:spPr>
          <a:xfrm>
            <a:off x="534506" y="3268979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50430" y="3646170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...(raw.teamId &amp;&amp; { teamId: raw.teamId }),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61902" y="1297305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поле есть всегда · пять строк выше одинаковы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261902" y="3268979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TextBox 1021"/>
          <p:cNvSpPr txBox="1"/>
          <p:nvPr/>
        </p:nvSpPr>
        <p:spPr>
          <a:xfrm>
            <a:off x="605844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08822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676338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79316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6746832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0" name="Connector 100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1" name="Oval 1010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617845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650430" y="16744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514600"/>
            <a:ext cx="5617845" cy="1243012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668904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6" name="TextBox 1025"/>
          <p:cNvSpPr txBox="1"/>
          <p:nvPr/>
        </p:nvSpPr>
        <p:spPr>
          <a:xfrm>
            <a:off x="534506" y="2668904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650430" y="30460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6134517" y="1828800"/>
            <a:ext cx="2942680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134517" y="3114674"/>
            <a:ext cx="3121025" cy="857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медиана одного прохода чтения</a:t>
            </a:r>
          </a:p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50 000 готовых объектов · код разогрет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94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16672" y="42376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695016" y="42376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873360" y="42376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230049" y="41862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один прогон — крупно медиана пяти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561258" y="4460557"/>
            <a:ext cx="8542691" cy="9858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{"shapes":1,"ic":"MONO","p50_ms":0.11,"correct":true}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{"shapes":8,"ic":"MEGA","p50_ms":0.76,"correct":true}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5" name="Connector 101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6" name="Oval 1015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8328" y="1143000"/>
            <a:ext cx="8988552" cy="1500187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1230049" y="1228724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561258" y="1503044"/>
            <a:ext cx="8542691" cy="1028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1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1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2771775"/>
            <a:ext cx="2675164" cy="5143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27500" y="2823209"/>
            <a:ext cx="2496819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3191836" y="2728912"/>
            <a:ext cx="6135043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у читателя на A строки нет: 0 из 5 прогонов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877076" y="3789045"/>
            <a:ext cx="8405216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338328" y="480417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338328" y="480417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338328" y="540496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TextBox 1040"/>
          <p:cNvSpPr txBox="1"/>
          <p:nvPr/>
        </p:nvSpPr>
        <p:spPr>
          <a:xfrm>
            <a:off x="338328" y="540496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2" name="Oval 1041"/>
          <p:cNvSpPr/>
          <p:nvPr/>
        </p:nvSpPr>
        <p:spPr>
          <a:xfrm>
            <a:off x="949864" y="3520553"/>
            <a:ext cx="558574" cy="53698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35201" y="3602593"/>
            <a:ext cx="387897" cy="37290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103520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9491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03828" y="480417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21662" y="480417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03828" y="540496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21662" y="540496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0" name="Oval 1049"/>
          <p:cNvSpPr/>
          <p:nvPr/>
        </p:nvSpPr>
        <p:spPr>
          <a:xfrm>
            <a:off x="1739351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173935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59906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3" name="Oval 1052"/>
          <p:cNvSpPr/>
          <p:nvPr/>
        </p:nvSpPr>
        <p:spPr>
          <a:xfrm>
            <a:off x="244350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244350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30321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56" name="Diamond 1055"/>
          <p:cNvSpPr/>
          <p:nvPr/>
        </p:nvSpPr>
        <p:spPr>
          <a:xfrm>
            <a:off x="28925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31476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31476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0073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Oval 1059"/>
          <p:cNvSpPr/>
          <p:nvPr/>
        </p:nvSpPr>
        <p:spPr>
          <a:xfrm>
            <a:off x="38518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TextBox 1060"/>
          <p:cNvSpPr txBox="1"/>
          <p:nvPr/>
        </p:nvSpPr>
        <p:spPr>
          <a:xfrm>
            <a:off x="38518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37115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63" name="Diamond 1062"/>
          <p:cNvSpPr/>
          <p:nvPr/>
        </p:nvSpPr>
        <p:spPr>
          <a:xfrm>
            <a:off x="43008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45559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45559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44156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67" name="Oval 1066"/>
          <p:cNvSpPr/>
          <p:nvPr/>
        </p:nvSpPr>
        <p:spPr>
          <a:xfrm>
            <a:off x="52601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52601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1198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1070" name="Oval 1069"/>
          <p:cNvSpPr/>
          <p:nvPr/>
        </p:nvSpPr>
        <p:spPr>
          <a:xfrm>
            <a:off x="596425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596425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82396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1073" name="Diamond 1072"/>
          <p:cNvSpPr/>
          <p:nvPr/>
        </p:nvSpPr>
        <p:spPr>
          <a:xfrm>
            <a:off x="6413304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66684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66684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5281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1077" name="Oval 1076"/>
          <p:cNvSpPr/>
          <p:nvPr/>
        </p:nvSpPr>
        <p:spPr>
          <a:xfrm>
            <a:off x="73725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3725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72322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080" name="Oval 1079"/>
          <p:cNvSpPr/>
          <p:nvPr/>
        </p:nvSpPr>
        <p:spPr>
          <a:xfrm>
            <a:off x="80767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80767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79364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83" name="Oval 1082"/>
          <p:cNvSpPr/>
          <p:nvPr/>
        </p:nvSpPr>
        <p:spPr>
          <a:xfrm>
            <a:off x="87808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87808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86405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  <p:sp>
        <p:nvSpPr>
          <p:cNvPr id="1019" name="Oval 101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460537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TextBox 102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TextBox 102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3" name="Connector 103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Oval 103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3210197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05844" y="1485900"/>
            <a:ext cx="2675164" cy="1028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05844" y="4914900"/>
            <a:ext cx="2675164" cy="771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Consolas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13573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4511584" y="13144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27289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4511584" y="26860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065723" y="4229100"/>
            <a:ext cx="2496819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333239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830060" y="4229100"/>
            <a:ext cx="2496819" cy="17144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2" name="TextBox 1051"/>
          <p:cNvSpPr txBox="1"/>
          <p:nvPr/>
        </p:nvSpPr>
        <p:spPr>
          <a:xfrm>
            <a:off x="7097576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1" name="Rounded Rectangle 103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TextBox 103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Oval 104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407647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516672" y="1228724"/>
            <a:ext cx="205095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Consolas"/>
              </a:rPr>
              <a:t>?? null</a:t>
            </a:r>
          </a:p>
        </p:txBody>
      </p:sp>
      <p:sp>
        <p:nvSpPr>
          <p:cNvPr id="1055" name="Rounded Rectangle 1054"/>
          <p:cNvSpPr/>
          <p:nvPr/>
        </p:nvSpPr>
        <p:spPr>
          <a:xfrm>
            <a:off x="561258" y="157162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TextBox 1055"/>
          <p:cNvSpPr txBox="1"/>
          <p:nvPr/>
        </p:nvSpPr>
        <p:spPr>
          <a:xfrm>
            <a:off x="650430" y="157162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id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561258" y="204847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650430" y="204847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name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561258" y="2525314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650430" y="2525314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email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561258" y="300216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650430" y="300216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plan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561258" y="347900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650430" y="347900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credits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561258" y="3955851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650430" y="3955851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561258" y="443269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650430" y="443269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561258" y="4909542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650430" y="4909542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38328" y="5386386"/>
            <a:ext cx="2407647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968906" y="1143000"/>
            <a:ext cx="6357973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2" name="TextBox 1071"/>
          <p:cNvSpPr txBox="1"/>
          <p:nvPr/>
        </p:nvSpPr>
        <p:spPr>
          <a:xfrm>
            <a:off x="3147250" y="1228724"/>
            <a:ext cx="6001285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3" name="Connector 1072"/>
          <p:cNvCxnSpPr/>
          <p:nvPr/>
        </p:nvCxnSpPr>
        <p:spPr>
          <a:xfrm flipH="1">
            <a:off x="4669864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6147893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 flipH="1">
            <a:off x="3930850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4669864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H="1">
            <a:off x="6886907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>
            <a:off x="7625921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H="1">
            <a:off x="3561343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3930850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5039371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5408878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517399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6886907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7995427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8364935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7" name="Rounded Rectangle 1086"/>
          <p:cNvSpPr/>
          <p:nvPr/>
        </p:nvSpPr>
        <p:spPr>
          <a:xfrm>
            <a:off x="5389929" y="1425892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5443433" y="1425892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referrer?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3911901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965404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6867958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6921461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3236422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3289925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4714450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4767954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192479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245982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7670506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7724010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320967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20967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394868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394868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4687699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4687699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5426713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5426713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6165727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6165727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690474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90474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764375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764375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8382768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8382768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3147250" y="1571625"/>
            <a:ext cx="2050959" cy="514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r — referrer · t — trialUntil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i — teamId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2968906" y="5514974"/>
            <a:ext cx="6357973" cy="3857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2" name="Rounded Rectangle 1031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TextBox 103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8" name="Rounded Rectangle 1037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4" name="Connector 104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Oval 104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338328" y="1143000"/>
            <a:ext cx="5617845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1230049" y="1228724"/>
            <a:ext cx="454777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561258" y="1503044"/>
            <a:ext cx="5171984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50" b="0">
                <a:solidFill>
                  <a:srgbClr val="AADC00"/>
                </a:solidFill>
                <a:latin typeface="Consolas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A: </a:t>
            </a:r>
            <a:r>
              <a:rPr sz="1450" b="1">
                <a:solidFill>
                  <a:srgbClr val="FF9DB8"/>
                </a:solidFill>
                <a:latin typeface="Consolas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B: </a:t>
            </a:r>
            <a:r>
              <a:rPr sz="1450" b="1">
                <a:solidFill>
                  <a:srgbClr val="FF9DB8"/>
                </a:solidFill>
                <a:latin typeface="Consolas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форм у B: </a:t>
            </a:r>
            <a:r>
              <a:rPr sz="1450" b="1">
                <a:solidFill>
                  <a:srgbClr val="FF9DB8"/>
                </a:solidFill>
                <a:latin typeface="Consolas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428785" y="1143000"/>
            <a:ext cx="2898094" cy="24860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6696301" y="1297305"/>
            <a:ext cx="2363061" cy="21774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%HaveSameMap(a, b)</a:t>
            </a:r>
            <a:r>
              <a:rPr sz="1500" b="0">
                <a:solidFill>
                  <a:srgbClr val="FFFFFF"/>
                </a:solidFill>
                <a:latin typeface="X5 Sans"/>
              </a:rPr>
              <a:t>: одной ли формы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x = {id, name, teamId}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y = {id, name}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28785" y="3843337"/>
            <a:ext cx="2898094" cy="21002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6428785" y="3843337"/>
            <a:ext cx="2898094" cy="21002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04385" y="1890630"/>
            <a:ext cx="1090966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3000102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3000102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656729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656729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57078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5707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8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67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817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105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1817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105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73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8" name="Oval 17"/>
          <p:cNvSpPr/>
          <p:nvPr/>
        </p:nvSpPr>
        <p:spPr>
          <a:xfrm>
            <a:off x="1980363" y="1597186"/>
            <a:ext cx="586888" cy="58688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70027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002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733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562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4765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63053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4765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63053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21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8" name="Oval 27"/>
          <p:cNvSpPr/>
          <p:nvPr/>
        </p:nvSpPr>
        <p:spPr>
          <a:xfrm>
            <a:off x="298297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8297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28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857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2" name="Diamond 31"/>
          <p:cNvSpPr/>
          <p:nvPr/>
        </p:nvSpPr>
        <p:spPr>
          <a:xfrm>
            <a:off x="3541340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9592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89592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323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151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Oval 36"/>
          <p:cNvSpPr/>
          <p:nvPr/>
        </p:nvSpPr>
        <p:spPr>
          <a:xfrm>
            <a:off x="480887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80887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617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446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1" name="Diamond 40"/>
          <p:cNvSpPr/>
          <p:nvPr/>
        </p:nvSpPr>
        <p:spPr>
          <a:xfrm>
            <a:off x="5367237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721821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21821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69128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7415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46" name="Oval 45"/>
          <p:cNvSpPr/>
          <p:nvPr/>
        </p:nvSpPr>
        <p:spPr>
          <a:xfrm>
            <a:off x="6634770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34770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076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364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0" name="Oval 49"/>
          <p:cNvSpPr/>
          <p:nvPr/>
        </p:nvSpPr>
        <p:spPr>
          <a:xfrm>
            <a:off x="7547718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771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502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331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4" name="Diamond 53"/>
          <p:cNvSpPr/>
          <p:nvPr/>
        </p:nvSpPr>
        <p:spPr>
          <a:xfrm>
            <a:off x="8106083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60667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46066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797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626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59" name="Oval 58"/>
          <p:cNvSpPr/>
          <p:nvPr/>
        </p:nvSpPr>
        <p:spPr>
          <a:xfrm>
            <a:off x="937361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7361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092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921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3" name="Oval 62"/>
          <p:cNvSpPr/>
          <p:nvPr/>
        </p:nvSpPr>
        <p:spPr>
          <a:xfrm>
            <a:off x="1028656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28656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3387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215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67" name="Oval 66"/>
          <p:cNvSpPr/>
          <p:nvPr/>
        </p:nvSpPr>
        <p:spPr>
          <a:xfrm>
            <a:off x="1119951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19951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681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6510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074920"/>
            <a:ext cx="11521440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475488" y="5157216"/>
            <a:ext cx="112471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</a:t>
            </a:r>
          </a:p>
        </p:txBody>
      </p:sp>
      <p:sp>
        <p:nvSpPr>
          <p:cNvPr id="103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1037" name="Oval 103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491627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9" name="Rounded Rectangle 1038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1" name="Connector 105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Oval 105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graphicFrame>
        <p:nvGraphicFramePr>
          <p:cNvPr id="1065" name="Chart 1064"/>
          <p:cNvGraphicFramePr>
            <a:graphicFrameLocks noGrp="1"/>
          </p:cNvGraphicFramePr>
          <p:nvPr/>
        </p:nvGraphicFramePr>
        <p:xfrm>
          <a:off x="338328" y="1143000"/>
          <a:ext cx="4993639" cy="35147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66" name="TextBox 1065"/>
          <p:cNvSpPr txBox="1"/>
          <p:nvPr/>
        </p:nvSpPr>
        <p:spPr>
          <a:xfrm>
            <a:off x="338328" y="4700587"/>
            <a:ext cx="499363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(A = ×1) · 150 прогонов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5777828" y="1271587"/>
            <a:ext cx="3326120" cy="1371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3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554898" y="2900362"/>
            <a:ext cx="3771981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8" name="TextBox 1067"/>
          <p:cNvSpPr txBox="1"/>
          <p:nvPr/>
        </p:nvSpPr>
        <p:spPr>
          <a:xfrm>
            <a:off x="5777828" y="3028950"/>
            <a:ext cx="3326120" cy="900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554898" y="4186237"/>
            <a:ext cx="3771981" cy="1757361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9" name="TextBox 1068"/>
          <p:cNvSpPr txBox="1"/>
          <p:nvPr/>
        </p:nvSpPr>
        <p:spPr>
          <a:xfrm>
            <a:off x="5777828" y="4314825"/>
            <a:ext cx="3326120" cy="1500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обоих вариантов B · сборка одна, чтений много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Rounded Rectangle 10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5" name="Connector 10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Oval 10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1143000"/>
            <a:ext cx="2877287" cy="31718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516672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16672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534506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534506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73" name="Connector 1072"/>
          <p:cNvCxnSpPr/>
          <p:nvPr/>
        </p:nvCxnSpPr>
        <p:spPr>
          <a:xfrm>
            <a:off x="650430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4" name="Rounded Rectangle 1073"/>
          <p:cNvSpPr/>
          <p:nvPr/>
        </p:nvSpPr>
        <p:spPr>
          <a:xfrm>
            <a:off x="534506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588009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4506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34506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1 форма: ×1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534506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93960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3572304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3572304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359013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359013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385765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385765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4125171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4125171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87" name="Connector 1086"/>
          <p:cNvCxnSpPr/>
          <p:nvPr/>
        </p:nvCxnSpPr>
        <p:spPr>
          <a:xfrm>
            <a:off x="3706062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Rounded Rectangle 1087"/>
          <p:cNvSpPr/>
          <p:nvPr/>
        </p:nvSpPr>
        <p:spPr>
          <a:xfrm>
            <a:off x="3590138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643642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3590138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590138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4 формы: ×1.3</a:t>
            </a:r>
          </a:p>
        </p:txBody>
      </p:sp>
      <p:sp>
        <p:nvSpPr>
          <p:cNvPr id="104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49592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2" name="TextBox 1091"/>
          <p:cNvSpPr txBox="1"/>
          <p:nvPr/>
        </p:nvSpPr>
        <p:spPr>
          <a:xfrm>
            <a:off x="6627936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6627936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664577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664577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6913287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6913287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718080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718080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744832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744832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771583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771583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98335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98335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825086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825086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851838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851838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6761694" y="1965959"/>
            <a:ext cx="0" cy="22288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Rounded Rectangle 1110"/>
          <p:cNvSpPr/>
          <p:nvPr/>
        </p:nvSpPr>
        <p:spPr>
          <a:xfrm>
            <a:off x="6645770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699274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Consolas"/>
              </a:rPr>
              <a:t>u.plan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6645770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 движка: форма + имя поля → где лежит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6645770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A1538"/>
                </a:solidFill>
                <a:latin typeface="X5 Sans Medium"/>
              </a:rPr>
              <a:t>8 форм: ×2.7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6645770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4341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605844" y="4443412"/>
            <a:ext cx="4815295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Consolas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331967" y="4443412"/>
            <a:ext cx="381656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MEGA / MONO, одно поле</a:t>
            </a:r>
          </a:p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×2.7 Node 24 · ×3.4 Node 22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3" name="Rounded Rectangle 1052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2" name="Connector 106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3" name="Oval 106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76" name="Rounded Rectangle 1075"/>
          <p:cNvSpPr/>
          <p:nvPr/>
        </p:nvSpPr>
        <p:spPr>
          <a:xfrm>
            <a:off x="338328" y="1143000"/>
            <a:ext cx="6152877" cy="3428999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1230049" y="1228724"/>
            <a:ext cx="508281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 · одно место: u.plan в читателе, строка 30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1258" y="1503044"/>
            <a:ext cx="5707017" cy="295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--logfile=b.log shape-analyzer.js ref-b.js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b.log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0x3093ac1963b1,plan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,1,P,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0x3093ac195f81,plan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0x3093ac196279,plan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0x3093ac196011,plan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0x3093ac196b49,plan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0x3093ac196c91,plan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0x3093ac1964b9,plan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0x3093ac196159,plan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--logfile=a.log shape-analyzer.js ref-a.js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a.log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0x3c9e6d815ff9,plan</a:t>
            </a:r>
          </a:p>
        </p:txBody>
      </p:sp>
      <p:sp>
        <p:nvSpPr>
          <p:cNvPr id="105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919232" y="1143000"/>
            <a:ext cx="2407647" cy="34289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7186748" y="1297305"/>
            <a:ext cx="1872615" cy="3120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после первых вызовов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743450"/>
            <a:ext cx="8988552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45334" y="4805171"/>
            <a:ext cx="8774538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84488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4" name="Oval 5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8" name="Diamond 5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63" name="Oval 6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7" name="Oval 6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  <p:sp>
        <p:nvSpPr>
          <p:cNvPr id="1058" name="Oval 105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522716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1" name="Connector 10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2" name="Oval 10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2853508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338328" y="1143000"/>
            <a:ext cx="2853508" cy="480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619862" y="1143000"/>
            <a:ext cx="5707017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16040" y="1297305"/>
            <a:ext cx="50382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816040" y="1297305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931964" y="1674494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619862" y="2814637"/>
            <a:ext cx="5707017" cy="150018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4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816040" y="2968942"/>
            <a:ext cx="503822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8" name="TextBox 1087"/>
          <p:cNvSpPr txBox="1"/>
          <p:nvPr/>
        </p:nvSpPr>
        <p:spPr>
          <a:xfrm>
            <a:off x="3816040" y="2968942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931964" y="3346132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619862" y="4486275"/>
            <a:ext cx="5707017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3753620" y="4563427"/>
            <a:ext cx="5439500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619862" y="5343525"/>
            <a:ext cx="570701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уже оптимизирован — проверено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 — способ исполнить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0" name="Connector 107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Oval 108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38328" y="3929062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TextBox 1094"/>
          <p:cNvSpPr txBox="1"/>
          <p:nvPr/>
        </p:nvSpPr>
        <p:spPr>
          <a:xfrm>
            <a:off x="6562543" y="4271962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427500" y="3297814"/>
            <a:ext cx="2149048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498837" y="3332104"/>
            <a:ext cx="2006373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098" name="Connector 1097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9" name="TextBox 1098"/>
          <p:cNvSpPr txBox="1"/>
          <p:nvPr/>
        </p:nvSpPr>
        <p:spPr>
          <a:xfrm>
            <a:off x="409665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2630052" y="2982190"/>
            <a:ext cx="2149048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2701389" y="3016480"/>
            <a:ext cx="2006373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2630052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2612217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4832604" y="2491219"/>
            <a:ext cx="2149048" cy="1437841"/>
          </a:xfrm>
          <a:prstGeom prst="roundRect">
            <a:avLst>
              <a:gd name="adj" fmla="val 476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4903941" y="2525509"/>
            <a:ext cx="2006373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4832604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4814769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035155" y="2000249"/>
            <a:ext cx="2149048" cy="1928812"/>
          </a:xfrm>
          <a:prstGeom prst="roundRect">
            <a:avLst>
              <a:gd name="adj" fmla="val 3555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106493" y="2034539"/>
            <a:ext cx="2006373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7035155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7017321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427500" y="4271962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338328" y="4614862"/>
            <a:ext cx="8988552" cy="1328737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516672" y="475202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95016" y="475202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73360" y="475202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1230049" y="4700586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561258" y="4974907"/>
            <a:ext cx="8542691" cy="857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110 S&gt; 0x34e3243c40 @    0 : 85 00 00 29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CreateObjectLiteral</a:t>
            </a:r>
            <a:r>
              <a:rPr sz="1200" b="0">
                <a:solidFill>
                  <a:srgbClr val="E6F2E9"/>
                </a:solidFill>
                <a:latin typeface="Consolas"/>
              </a:rPr>
              <a:t> [0], [0], #41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131 E&gt; 0x34e3243c45 @    5 : 33 03 01 01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GetNamedProperty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a0, [1], [1]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       0x34e3243c49 @    9 : 3a f9 01 03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DefineNamedOwnProperty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r0, [1], [3]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0" name="Rounded Rectangle 107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3" name="Connector 108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Oval 108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graphicFrame>
        <p:nvGraphicFramePr>
          <p:cNvPr id="1097" name="Chart 1096"/>
          <p:cNvGraphicFramePr>
            <a:graphicFrameLocks noGrp="1"/>
          </p:cNvGraphicFramePr>
          <p:nvPr/>
        </p:nvGraphicFramePr>
        <p:xfrm>
          <a:off x="338328" y="1143000"/>
          <a:ext cx="5528672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89931" y="1143000"/>
            <a:ext cx="3236948" cy="11572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6196937" y="1204721"/>
            <a:ext cx="3022934" cy="1033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×13.5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один и тот же код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--max-opt=0 / 1 / 2 / 3</a:t>
            </a:r>
          </a:p>
        </p:txBody>
      </p:sp>
      <p:sp>
        <p:nvSpPr>
          <p:cNvPr id="107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89931" y="2428874"/>
            <a:ext cx="3236948" cy="60007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6179103" y="2480309"/>
            <a:ext cx="3058603" cy="4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7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3114674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0" name="TextBox 1099"/>
          <p:cNvSpPr txBox="1"/>
          <p:nvPr/>
        </p:nvSpPr>
        <p:spPr>
          <a:xfrm>
            <a:off x="6179103" y="3166110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в TurboFan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в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разы</a:t>
            </a:r>
            <a:r>
              <a:rPr sz="1400" b="0">
                <a:solidFill>
                  <a:srgbClr val="1E5B28"/>
                </a:solidFill>
                <a:latin typeface="X5 Sans"/>
              </a:rPr>
              <a:t> дороже, чем в Maglev</a:t>
            </a:r>
          </a:p>
        </p:txBody>
      </p:sp>
      <p:sp>
        <p:nvSpPr>
          <p:cNvPr id="10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4143375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1" name="TextBox 1100"/>
          <p:cNvSpPr txBox="1"/>
          <p:nvPr/>
        </p:nvSpPr>
        <p:spPr>
          <a:xfrm>
            <a:off x="6179103" y="4194809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старт </a:t>
            </a:r>
            <a:r>
              <a:rPr sz="1232" b="0">
                <a:solidFill>
                  <a:srgbClr val="1E5B28"/>
                </a:solidFill>
                <a:latin typeface="Consolas"/>
              </a:rPr>
              <a:t>npm</a:t>
            </a:r>
            <a:r>
              <a:rPr sz="1400" b="0">
                <a:solidFill>
                  <a:srgbClr val="1E5B28"/>
                </a:solidFill>
                <a:latin typeface="X5 Sans"/>
              </a:rPr>
              <a:t>: из сотен функций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7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72075"/>
            <a:ext cx="8988552" cy="7715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427500" y="5223509"/>
            <a:ext cx="8810207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--always-turbofan</a:t>
            </a:r>
            <a:r>
              <a:rPr sz="1400" b="0">
                <a:solidFill>
                  <a:srgbClr val="1E5B28"/>
                </a:solidFill>
                <a:latin typeface="X5 Sans"/>
              </a:rPr>
              <a:t> (Node 24): старт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вдвое дольше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а на первом вызове компилятору не на что опереться: наблюдений ещё нет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Ставка: что вшивают верхние ярусы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05" name="Connector 1104"/>
          <p:cNvCxnSpPr/>
          <p:nvPr/>
        </p:nvCxnSpPr>
        <p:spPr>
          <a:xfrm>
            <a:off x="338328" y="3328986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TextBox 1105"/>
          <p:cNvSpPr txBox="1"/>
          <p:nvPr/>
        </p:nvSpPr>
        <p:spPr>
          <a:xfrm>
            <a:off x="6562543" y="3671887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427500" y="2894127"/>
            <a:ext cx="2149048" cy="434859"/>
          </a:xfrm>
          <a:prstGeom prst="roundRect">
            <a:avLst>
              <a:gd name="adj" fmla="val 1577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498837" y="2928417"/>
            <a:ext cx="2006373" cy="366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427500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TextBox 1109"/>
          <p:cNvSpPr txBox="1"/>
          <p:nvPr/>
        </p:nvSpPr>
        <p:spPr>
          <a:xfrm>
            <a:off x="409665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2630052" y="2676697"/>
            <a:ext cx="2149048" cy="652289"/>
          </a:xfrm>
          <a:prstGeom prst="roundRect">
            <a:avLst>
              <a:gd name="adj" fmla="val 10513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2701389" y="2710987"/>
            <a:ext cx="2006373" cy="583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3" name="Connector 1112"/>
          <p:cNvCxnSpPr/>
          <p:nvPr/>
        </p:nvCxnSpPr>
        <p:spPr>
          <a:xfrm>
            <a:off x="2630052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TextBox 1113"/>
          <p:cNvSpPr txBox="1"/>
          <p:nvPr/>
        </p:nvSpPr>
        <p:spPr>
          <a:xfrm>
            <a:off x="2612217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4832604" y="2338473"/>
            <a:ext cx="2149048" cy="990512"/>
          </a:xfrm>
          <a:prstGeom prst="roundRect">
            <a:avLst>
              <a:gd name="adj" fmla="val 692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4903941" y="2372763"/>
            <a:ext cx="2006373" cy="921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4832604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TextBox 1117"/>
          <p:cNvSpPr txBox="1"/>
          <p:nvPr/>
        </p:nvSpPr>
        <p:spPr>
          <a:xfrm>
            <a:off x="4814769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035155" y="2000249"/>
            <a:ext cx="2149048" cy="1328736"/>
          </a:xfrm>
          <a:prstGeom prst="roundRect">
            <a:avLst>
              <a:gd name="adj" fmla="val 516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106493" y="2034539"/>
            <a:ext cx="2006373" cy="12601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7035155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7017321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123" name="Connector 1122"/>
          <p:cNvCxnSpPr/>
          <p:nvPr/>
        </p:nvCxnSpPr>
        <p:spPr>
          <a:xfrm>
            <a:off x="427500" y="1545907"/>
            <a:ext cx="4351600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791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427500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4832604" y="1545907"/>
            <a:ext cx="435160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48326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91842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/>
          <p:cNvSpPr txBox="1"/>
          <p:nvPr/>
        </p:nvSpPr>
        <p:spPr>
          <a:xfrm>
            <a:off x="4832604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вшивают в код ставку на увиденные формы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427500" y="3671887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08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605844" y="4254817"/>
            <a:ext cx="8453519" cy="11487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ставка</a:t>
            </a:r>
            <a:r>
              <a:rPr sz="1600" b="0">
                <a:solidFill>
                  <a:srgbClr val="FFFFFF"/>
                </a:solidFill>
                <a:latin typeface="X5 Sans"/>
              </a:rPr>
              <a:t> — что вшито в код читателя: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форма u — та, что в записях?  нет → ?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да → plan читается по готовому месту: одна инструкция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 2–4 → несколько сравнений · 5+ → ставки нет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</a:t>
            </a:r>
          </a:p>
        </p:txBody>
      </p:sp>
      <p:sp>
        <p:nvSpPr>
          <p:cNvPr id="108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1084" name="Oval 108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553806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52161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605844" y="1743075"/>
            <a:ext cx="1583696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659347" y="1743075"/>
            <a:ext cx="1476690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15" name="Connector 1114"/>
          <p:cNvCxnSpPr/>
          <p:nvPr/>
        </p:nvCxnSpPr>
        <p:spPr>
          <a:xfrm>
            <a:off x="2189541" y="1957387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6" name="Rounded Rectangle 1115"/>
          <p:cNvSpPr/>
          <p:nvPr/>
        </p:nvSpPr>
        <p:spPr>
          <a:xfrm>
            <a:off x="2457057" y="1743075"/>
            <a:ext cx="186191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2510561" y="1743075"/>
            <a:ext cx="1754907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4318971" y="1957387"/>
            <a:ext cx="4740390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05844" y="2257425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836068"/>
            <a:ext cx="8988552" cy="152161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0" name="TextBox 1119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сначала одна форма → потом другая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605844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659347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2745975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5" name="Oval 1124"/>
          <p:cNvSpPr/>
          <p:nvPr/>
        </p:nvSpPr>
        <p:spPr>
          <a:xfrm>
            <a:off x="2772727" y="3590448"/>
            <a:ext cx="124841" cy="120015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Rounded Rectangle 1125"/>
          <p:cNvSpPr/>
          <p:nvPr/>
        </p:nvSpPr>
        <p:spPr>
          <a:xfrm>
            <a:off x="2924320" y="3436143"/>
            <a:ext cx="1398219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TextBox 1126"/>
          <p:cNvSpPr txBox="1"/>
          <p:nvPr/>
        </p:nvSpPr>
        <p:spPr>
          <a:xfrm>
            <a:off x="2977823" y="3436143"/>
            <a:ext cx="1291212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деопт: откат</a:t>
            </a:r>
          </a:p>
        </p:txBody>
      </p:sp>
      <p:cxnSp>
        <p:nvCxnSpPr>
          <p:cNvPr id="1128" name="Connector 1127"/>
          <p:cNvCxnSpPr/>
          <p:nvPr/>
        </p:nvCxnSpPr>
        <p:spPr>
          <a:xfrm>
            <a:off x="4322539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9" name="Rounded Rectangle 1128"/>
          <p:cNvSpPr/>
          <p:nvPr/>
        </p:nvSpPr>
        <p:spPr>
          <a:xfrm>
            <a:off x="4500883" y="3436143"/>
            <a:ext cx="176917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554386" y="3436143"/>
            <a:ext cx="1662168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дополнены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6270058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ounded Rectangle 1131"/>
          <p:cNvSpPr/>
          <p:nvPr/>
        </p:nvSpPr>
        <p:spPr>
          <a:xfrm>
            <a:off x="6448402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6501905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новый код без ставки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8588533" y="3650456"/>
            <a:ext cx="470828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TextBox 1134"/>
          <p:cNvSpPr txBox="1"/>
          <p:nvPr/>
        </p:nvSpPr>
        <p:spPr>
          <a:xfrm>
            <a:off x="2772727" y="3144678"/>
            <a:ext cx="30318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1538"/>
                </a:solidFill>
                <a:latin typeface="X5 Sans"/>
              </a:rPr>
              <a:t>↑ </a:t>
            </a:r>
            <a:r>
              <a:rPr sz="1056" b="0">
                <a:solidFill>
                  <a:srgbClr val="8A1538"/>
                </a:solidFill>
                <a:latin typeface="Consolas"/>
              </a:rPr>
              <a:t>reason: wrong map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605844" y="3907631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один откат (5 из 5) · дальше — общий путь MEGA · в приборе ставки не было: 0 откатов, и всё равно ×6.6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338328" y="4443412"/>
            <a:ext cx="8988552" cy="1243012"/>
          </a:xfrm>
          <a:prstGeom prst="roundRect">
            <a:avLst>
              <a:gd name="adj" fmla="val 11034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516672" y="45805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695016" y="45805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873360" y="45805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TextBox 1140"/>
          <p:cNvSpPr txBox="1"/>
          <p:nvPr/>
        </p:nvSpPr>
        <p:spPr>
          <a:xfrm>
            <a:off x="1230049" y="45291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561258" y="4803457"/>
            <a:ext cx="8542691" cy="7715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0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0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1" name="Connector 110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2" name="Oval 110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605844" y="1314450"/>
            <a:ext cx="845351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95016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873360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527717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3706062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60420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6538764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95016" y="4743450"/>
            <a:ext cx="827517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Consolas"/>
              </a:rPr>
              <a:t>%GetOptimizationStatus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280262" cy="20573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3" name="TextBox 1122"/>
          <p:cNvSpPr txBox="1"/>
          <p:nvPr/>
        </p:nvSpPr>
        <p:spPr>
          <a:xfrm>
            <a:off x="605844" y="1297305"/>
            <a:ext cx="3745230" cy="17487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Consolas"/>
              </a:rPr>
              <a:t>reason: wrong map</a:t>
            </a:r>
          </a:p>
        </p:txBody>
      </p:sp>
      <p:sp>
        <p:nvSpPr>
          <p:cNvPr id="110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05844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567631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2835147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823686" y="1143000"/>
            <a:ext cx="4280262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4823686" y="1400175"/>
            <a:ext cx="4280262" cy="1714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5153623" y="3371849"/>
            <a:ext cx="3620388" cy="2228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1457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64" name="Oval 6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68" name="Diamond 6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73" name="Oval 7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77" name="Oval 7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</a:t>
            </a:r>
          </a:p>
        </p:txBody>
      </p:sp>
      <p:sp>
        <p:nvSpPr>
          <p:cNvPr id="110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1107" name="Oval 110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584895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rPr sz="3000"/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9" name="Connector 111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0" name="Oval 111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338328" y="1057275"/>
            <a:ext cx="898855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200k NDJSON · parse → normalize → consume (R чтений) → serialize · 150 прогонов</a:t>
            </a:r>
          </a:p>
        </p:txBody>
      </p:sp>
      <p:graphicFrame>
        <p:nvGraphicFramePr>
          <p:cNvPr id="1134" name="Chart 1133"/>
          <p:cNvGraphicFramePr>
            <a:graphicFrameLocks noGrp="1"/>
          </p:cNvGraphicFramePr>
          <p:nvPr/>
        </p:nvGraphicFramePr>
        <p:xfrm>
          <a:off x="338328" y="1485900"/>
          <a:ext cx="5617845" cy="36861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4859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6268275" y="15373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234315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6268275" y="2394584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32004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6268275" y="32518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179103" y="4100512"/>
            <a:ext cx="3147776" cy="10715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TextBox 1137"/>
          <p:cNvSpPr txBox="1"/>
          <p:nvPr/>
        </p:nvSpPr>
        <p:spPr>
          <a:xfrm>
            <a:off x="6268275" y="4151947"/>
            <a:ext cx="2969432" cy="968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sort + stringify: ×1.34–1.56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943426" y="5300662"/>
            <a:ext cx="7383452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пара той же формы, 1 против 8, — откуда этот код, скажу в конце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6" name="Connector 112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Oval 112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graphicFrame>
        <p:nvGraphicFramePr>
          <p:cNvPr id="1140" name="Chart 1139"/>
          <p:cNvGraphicFramePr>
            <a:graphicFrameLocks noGrp="1"/>
          </p:cNvGraphicFramePr>
          <p:nvPr/>
        </p:nvGraphicFramePr>
        <p:xfrm>
          <a:off x="338328" y="1143000"/>
          <a:ext cx="4101918" cy="3771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1143000"/>
            <a:ext cx="4663703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4663176" y="1143000"/>
            <a:ext cx="4663703" cy="1800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663176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752348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106492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7195664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4014787"/>
            <a:ext cx="4663703" cy="19288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41521" y="4151947"/>
            <a:ext cx="3125483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4841521" y="4151947"/>
            <a:ext cx="312548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итог R7 · autocannon, R = 5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930693" y="4614862"/>
            <a:ext cx="4217842" cy="120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вариант     rps   p50    p99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mono-llm   2302  21 мс  42 мс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guard-llm  1180  41 мс  82 мс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mixed-mono 2005  24 мс  48 мс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338328" y="5043487"/>
            <a:ext cx="4101918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3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TextBox 112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3" name="Rounded Rectangle 113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6" name="Connector 113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7" name="Oval 113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0" name="TextBox 1149"/>
          <p:cNvSpPr txBox="1"/>
          <p:nvPr/>
        </p:nvSpPr>
        <p:spPr>
          <a:xfrm>
            <a:off x="588009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приём без чтений, R≈0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if после литерала: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+6–10%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спред: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+13–18%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 по стадиям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1" name="TextBox 1150"/>
          <p:cNvSpPr txBox="1"/>
          <p:nvPr/>
        </p:nvSpPr>
        <p:spPr>
          <a:xfrm>
            <a:off x="3658504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ждёт базу десятки мс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доли мс процессора теряются — пока CPU не загружен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2" name="TextBox 1151"/>
          <p:cNvSpPr txBox="1"/>
          <p:nvPr/>
        </p:nvSpPr>
        <p:spPr>
          <a:xfrm>
            <a:off x="6728998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 = 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0.17 vs 0.22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2906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605844" y="4083367"/>
            <a:ext cx="8453519" cy="848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+30% до ×3 с лишним · только складываете — проценты, а не разы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338328" y="5214937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058400" cy="0"/>
          </a:xfrm>
        </p:spPr>
        <p:txBody>
          <a:bodyPr/>
          <a:lstStyle/>
          <a:p>
            <a:r>
              <a:t>Как мерили — и где легко соврать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резерв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  <a:r>
              <a:rPr sz="1450" b="0">
                <a:solidFill>
                  <a:srgbClr val="1E5B28"/>
                </a:solidFill>
                <a:latin typeface="X5 Sans"/>
              </a:rPr>
              <a:t> · Docker</a:t>
            </a:r>
          </a:p>
          <a:p>
            <a:pPr algn="l">
              <a:spcAft>
                <a:spcPts val="400"/>
              </a:spcAft>
            </a:pPr>
            <a:r>
              <a:rPr sz="1276" b="0">
                <a:solidFill>
                  <a:srgbClr val="1E5B28"/>
                </a:solidFill>
                <a:latin typeface="Consolas"/>
              </a:rPr>
              <a:t>node:24.21.0-alpine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тег запиннен · </a:t>
            </a:r>
            <a:r>
              <a:rPr sz="1276" b="0">
                <a:solidFill>
                  <a:srgbClr val="1E5B28"/>
                </a:solidFill>
                <a:latin typeface="Consolas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прогон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совпали у всех вариантов во всех 150 прогонах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232" b="0">
                <a:solidFill>
                  <a:srgbClr val="1E5B28"/>
                </a:solidFill>
                <a:latin typeface="Consolas"/>
              </a:rPr>
              <a:t>wrong map</a:t>
            </a:r>
            <a:r>
              <a:rPr sz="140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направление то же, множители другие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486400"/>
            <a:ext cx="11320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V8 в 2014: две ступени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1144" name="Oval 114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615985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Формы и IC — старше V8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TextBox 11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5" name="Connector 11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6" name="Oval 11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Oval 115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Oval 11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0" name="Oval 11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TextBox 11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427500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inline cache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Smalltalk-80</a:t>
            </a:r>
          </a:p>
        </p:txBody>
      </p:sp>
      <p:sp>
        <p:nvSpPr>
          <p:cNvPr id="11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2618905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2708077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1989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скрытые классы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99483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4988655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1991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несколько форм на место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5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180060" y="1143000"/>
            <a:ext cx="2146819" cy="2057399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7269232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2008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V8: формы и IC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 первого релиза</a:t>
            </a:r>
          </a:p>
        </p:txBody>
      </p:sp>
      <p:sp>
        <p:nvSpPr>
          <p:cNvPr id="115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457575"/>
            <a:ext cx="8988552" cy="188595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TextBox 1172"/>
          <p:cNvSpPr txBox="1"/>
          <p:nvPr/>
        </p:nvSpPr>
        <p:spPr>
          <a:xfrm>
            <a:off x="605844" y="3611879"/>
            <a:ext cx="8453519" cy="15773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V8 форма так и называется — </a:t>
            </a:r>
            <a:r>
              <a:rPr sz="1672" b="0">
                <a:solidFill>
                  <a:srgbClr val="FFFFFF"/>
                </a:solidFill>
                <a:latin typeface="Consolas"/>
              </a:rPr>
              <a:t>Map</a:t>
            </a:r>
          </a:p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2008 оптимизирующего компилятора нет — а записи уже ведутся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2014: full-codegen и Crankshaft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Первый код — сразу машинный. Горячую функцию Crankshaft перекомпилирует со ставкой на формы.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Почему обе ступени заменили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2" name="Rounded Rectangle 116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TextBox 116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5" name="Connector 116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6" name="Oval 116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TextBox 117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5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9" name="TextBox 1178"/>
          <p:cNvSpPr txBox="1"/>
          <p:nvPr/>
        </p:nvSpPr>
        <p:spPr>
          <a:xfrm>
            <a:off x="561258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память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машинный код на каждую вызванную функцию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байткод — от ¼ до ½ его объёма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Ignition сначала — Android с малой памятью, 2016</a:t>
            </a:r>
          </a:p>
        </p:txBody>
      </p:sp>
      <p:sp>
        <p:nvSpPr>
          <p:cNvPr id="115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944069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0" name="TextBox 1179"/>
          <p:cNvSpPr txBox="1"/>
          <p:nvPr/>
        </p:nvSpPr>
        <p:spPr>
          <a:xfrm>
            <a:off x="5166999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не всё оптимизировалось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Crankshaft пропускал функции с try/catch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у TurboFan такого ограничения нет</a:t>
            </a:r>
          </a:p>
        </p:txBody>
      </p:sp>
      <p:sp>
        <p:nvSpPr>
          <p:cNvPr id="116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605844" y="4254817"/>
            <a:ext cx="8453519" cy="10629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июнь 2017, Chrome 59:</a:t>
            </a:r>
            <a:r>
              <a:rPr sz="1700" b="0">
                <a:solidFill>
                  <a:srgbClr val="FFFFFF"/>
                </a:solidFill>
                <a:latin typeface="X5 Sans"/>
              </a:rPr>
              <a:t> Ignition + TurboFan по умолчанию · Node 8.3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Crankshaft и full-codegen удалены в том же году (Chrome 61–62)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2017–2022: байткод и граф</a:t>
            </a:r>
          </a:p>
        </p:txBody>
      </p:sp>
      <p:sp>
        <p:nvSpPr>
          <p:cNvPr id="116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</a:t>
            </a:r>
          </a:p>
        </p:txBody>
      </p:sp>
      <p:sp>
        <p:nvSpPr>
          <p:cNvPr id="116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1164" name="Oval 116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647075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Записи уехали из кода в вектор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8.1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1" name="TextBox 117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2" name="Rounded Rectangle 117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TextBox 117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74" name="TextBox 117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5" name="Connector 117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6" name="Oval 117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TextBox 118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561258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2014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записи внутри машинного кода</a:t>
            </a:r>
          </a:p>
        </p:txBody>
      </p:sp>
      <p:sp>
        <p:nvSpPr>
          <p:cNvPr id="1190" name="Rounded Rectangle 1189"/>
          <p:cNvSpPr/>
          <p:nvPr/>
        </p:nvSpPr>
        <p:spPr>
          <a:xfrm>
            <a:off x="605844" y="1785936"/>
            <a:ext cx="3557968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TextBox 1190"/>
          <p:cNvSpPr txBox="1"/>
          <p:nvPr/>
        </p:nvSpPr>
        <p:spPr>
          <a:xfrm>
            <a:off x="739602" y="1845944"/>
            <a:ext cx="32904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машинный код full-codegen</a:t>
            </a:r>
          </a:p>
        </p:txBody>
      </p:sp>
      <p:sp>
        <p:nvSpPr>
          <p:cNvPr id="1192" name="Rounded Rectangle 1191"/>
          <p:cNvSpPr/>
          <p:nvPr/>
        </p:nvSpPr>
        <p:spPr>
          <a:xfrm>
            <a:off x="1317437" y="2257425"/>
            <a:ext cx="2134780" cy="685800"/>
          </a:xfrm>
          <a:prstGeom prst="roundRect">
            <a:avLst>
              <a:gd name="adj" fmla="val 10000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TextBox 1192"/>
          <p:cNvSpPr txBox="1"/>
          <p:nvPr/>
        </p:nvSpPr>
        <p:spPr>
          <a:xfrm>
            <a:off x="1317437" y="2257425"/>
            <a:ext cx="21347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заглушка места чтения</a:t>
            </a:r>
          </a:p>
        </p:txBody>
      </p:sp>
      <p:cxnSp>
        <p:nvCxnSpPr>
          <p:cNvPr id="1194" name="Connector 1193"/>
          <p:cNvCxnSpPr/>
          <p:nvPr/>
        </p:nvCxnSpPr>
        <p:spPr>
          <a:xfrm>
            <a:off x="4520501" y="2300287"/>
            <a:ext cx="624204" cy="0"/>
          </a:xfrm>
          <a:prstGeom prst="line">
            <a:avLst/>
          </a:prstGeom>
          <a:ln w="31750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23387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TextBox 1194"/>
          <p:cNvSpPr txBox="1"/>
          <p:nvPr/>
        </p:nvSpPr>
        <p:spPr>
          <a:xfrm>
            <a:off x="5456809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2017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байткод + вектор записей</a:t>
            </a:r>
          </a:p>
        </p:txBody>
      </p:sp>
      <p:sp>
        <p:nvSpPr>
          <p:cNvPr id="1196" name="Rounded Rectangle 1195"/>
          <p:cNvSpPr/>
          <p:nvPr/>
        </p:nvSpPr>
        <p:spPr>
          <a:xfrm>
            <a:off x="5501395" y="1785936"/>
            <a:ext cx="1636664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TextBox 1196"/>
          <p:cNvSpPr txBox="1"/>
          <p:nvPr/>
        </p:nvSpPr>
        <p:spPr>
          <a:xfrm>
            <a:off x="5590567" y="1785936"/>
            <a:ext cx="1458320" cy="1457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байткод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место чтения → слот</a:t>
            </a:r>
          </a:p>
        </p:txBody>
      </p:sp>
      <p:sp>
        <p:nvSpPr>
          <p:cNvPr id="1198" name="Rounded Rectangle 1197"/>
          <p:cNvSpPr/>
          <p:nvPr/>
        </p:nvSpPr>
        <p:spPr>
          <a:xfrm>
            <a:off x="7422697" y="1785936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TextBox 1198"/>
          <p:cNvSpPr txBox="1"/>
          <p:nvPr/>
        </p:nvSpPr>
        <p:spPr>
          <a:xfrm>
            <a:off x="7422697" y="1785936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[0] MONO</a:t>
            </a:r>
          </a:p>
        </p:txBody>
      </p:sp>
      <p:sp>
        <p:nvSpPr>
          <p:cNvPr id="1200" name="Rounded Rectangle 1199"/>
          <p:cNvSpPr/>
          <p:nvPr/>
        </p:nvSpPr>
        <p:spPr>
          <a:xfrm>
            <a:off x="7422697" y="2283142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7422697" y="2283142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[1] POLY</a:t>
            </a:r>
          </a:p>
        </p:txBody>
      </p:sp>
      <p:sp>
        <p:nvSpPr>
          <p:cNvPr id="1202" name="Rounded Rectangle 1201"/>
          <p:cNvSpPr/>
          <p:nvPr/>
        </p:nvSpPr>
        <p:spPr>
          <a:xfrm>
            <a:off x="7422697" y="2780347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TextBox 1202"/>
          <p:cNvSpPr txBox="1"/>
          <p:nvPr/>
        </p:nvSpPr>
        <p:spPr>
          <a:xfrm>
            <a:off x="7422697" y="2780347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[2] MEGA</a:t>
            </a:r>
          </a:p>
        </p:txBody>
      </p:sp>
      <p:sp>
        <p:nvSpPr>
          <p:cNvPr id="117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714750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605844" y="3869054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FFFFFF"/>
                </a:solidFill>
                <a:latin typeface="X5 Sans"/>
              </a:rPr>
              <a:t>формат записи тот же с 2008: 1 форма → 2–4 → мега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338328" y="4829174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переезд: чтение полей — 2015 · запись — 2016 · вектор заводят после первых вызовов — 2019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TurboFan: граф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TextBox 117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80" name="Rounded Rectangle 117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TextBox 118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3" name="Connector 118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4" name="Oval 118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TextBox 119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197" name="Rounded Rectangle 1196"/>
          <p:cNvSpPr/>
          <p:nvPr/>
        </p:nvSpPr>
        <p:spPr>
          <a:xfrm>
            <a:off x="338328" y="1228724"/>
            <a:ext cx="251108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TextBox 1197"/>
          <p:cNvSpPr txBox="1"/>
          <p:nvPr/>
        </p:nvSpPr>
        <p:spPr>
          <a:xfrm>
            <a:off x="391831" y="1228724"/>
            <a:ext cx="2404080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байткод + вектор записей</a:t>
            </a:r>
          </a:p>
        </p:txBody>
      </p:sp>
      <p:cxnSp>
        <p:nvCxnSpPr>
          <p:cNvPr id="1199" name="Connector 1198"/>
          <p:cNvCxnSpPr/>
          <p:nvPr/>
        </p:nvCxnSpPr>
        <p:spPr>
          <a:xfrm>
            <a:off x="284941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Rounded Rectangle 1199"/>
          <p:cNvSpPr/>
          <p:nvPr/>
        </p:nvSpPr>
        <p:spPr>
          <a:xfrm>
            <a:off x="3116931" y="1228724"/>
            <a:ext cx="1861914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3170434" y="1228724"/>
            <a:ext cx="175490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граф Sea of Nodes</a:t>
            </a:r>
          </a:p>
        </p:txBody>
      </p:sp>
      <p:cxnSp>
        <p:nvCxnSpPr>
          <p:cNvPr id="1202" name="Connector 1201"/>
          <p:cNvCxnSpPr/>
          <p:nvPr/>
        </p:nvCxnSpPr>
        <p:spPr>
          <a:xfrm>
            <a:off x="497884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3" name="Rounded Rectangle 1202"/>
          <p:cNvSpPr/>
          <p:nvPr/>
        </p:nvSpPr>
        <p:spPr>
          <a:xfrm>
            <a:off x="5246362" y="1228724"/>
            <a:ext cx="241834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5299865" y="1228724"/>
            <a:ext cx="2311341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машинный код со ставкой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534506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Sea of Nodes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у операций нет жёсткого порядка — их связывают данные и зависимости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08822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3605000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идея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Cliff Click, 1995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серверный компилятор Java HotSpot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79316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6675494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 V8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код — 2014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asm.js — 2015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весь JS — 2017</a:t>
            </a:r>
          </a:p>
        </p:txBody>
      </p:sp>
      <p:sp>
        <p:nvSpPr>
          <p:cNvPr id="117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605844" y="446912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X5 Sans Medium"/>
              </a:rPr>
              <a:t>граф другой — ставка та же</a:t>
            </a:r>
          </a:p>
          <a:p>
            <a:pPr algn="ctr">
              <a:spcAft>
                <a:spcPts val="400"/>
              </a:spcAft>
            </a:pPr>
            <a:r>
              <a:rPr sz="1584" b="0">
                <a:solidFill>
                  <a:srgbClr val="FFFFFF"/>
                </a:solidFill>
                <a:latin typeface="Consolas"/>
              </a:rPr>
              <a:t>wrong map</a:t>
            </a:r>
            <a:r>
              <a:rPr sz="1800" b="0">
                <a:solidFill>
                  <a:srgbClr val="FFFFFF"/>
                </a:solidFill>
                <a:latin typeface="X5 Sans"/>
              </a:rPr>
              <a:t> из хука — это деопт TurboFan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2022: байткод, Sparkplug, TurboFan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2017 первый код — байткод, вместо Crankshaft — TurboFan. В 2021 между ними встал Sparkplug.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9308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1136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9308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1136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393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2010–2017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76564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94852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6564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494852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67420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73" name="Oval 72"/>
          <p:cNvSpPr/>
          <p:nvPr/>
        </p:nvSpPr>
        <p:spPr>
          <a:xfrm>
            <a:off x="7401911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2017–2023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049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7833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60049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7833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5090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83" name="Diamond 82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88" name="Oval 87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92" name="Oval 91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2023–2027: Maglev и Turbolev</a:t>
            </a:r>
          </a:p>
        </p:txBody>
      </p:sp>
      <p:sp>
        <p:nvSpPr>
          <p:cNvPr id="118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</a:t>
            </a:r>
          </a:p>
        </p:txBody>
      </p:sp>
      <p:sp>
        <p:nvSpPr>
          <p:cNvPr id="118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TextBox 118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1183" name="Oval 118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678164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Maglev: ставка подешевле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1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TextBox 118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1" name="Rounded Rectangle 119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4" name="Connector 119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5" name="Oval 119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TextBox 120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08" name="Connector 1207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9" name="Rounded Rectangle 1208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TextBox 1209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11" name="Connector 1210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2" name="TextBox 1211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13" name="Rounded Rectangle 1212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TextBox 1213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15" name="Connector 1214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6" name="TextBox 1215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17" name="Rounded Rectangle 1216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TextBox 1217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19" name="Connector 1218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0" name="TextBox 1219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21" name="Rounded Rectangle 1220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TextBox 1221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1223" name="Connector 1222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4" name="TextBox 1223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25" name="Connector 1224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8" name="TextBox 1227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29" name="Connector 1228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2" name="TextBox 1231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18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3287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5911586" y="1194435"/>
            <a:ext cx="3326119" cy="1225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· 2023, Chrome 117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свой граф — те же записи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ставка и деопт — как у TurboFan</a:t>
            </a:r>
          </a:p>
        </p:txBody>
      </p:sp>
      <p:sp>
        <p:nvSpPr>
          <p:cNvPr id="11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2600325"/>
            <a:ext cx="3504464" cy="10286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TextBox 1233"/>
          <p:cNvSpPr txBox="1"/>
          <p:nvPr/>
        </p:nvSpPr>
        <p:spPr>
          <a:xfrm>
            <a:off x="5911586" y="2651760"/>
            <a:ext cx="3326119" cy="925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компилирует в разы быстрее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~1000-й вызов, а не ~13 000-й</a:t>
            </a:r>
          </a:p>
        </p:txBody>
      </p:sp>
      <p:sp>
        <p:nvSpPr>
          <p:cNvPr id="118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757611"/>
            <a:ext cx="3504464" cy="8143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35" name="TextBox 1234"/>
          <p:cNvSpPr txBox="1"/>
          <p:nvPr/>
        </p:nvSpPr>
        <p:spPr>
          <a:xfrm>
            <a:off x="5911586" y="3809046"/>
            <a:ext cx="3326119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24 — есть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22 с 22.9 — выключен</a:t>
            </a:r>
          </a:p>
        </p:txBody>
      </p:sp>
      <p:sp>
        <p:nvSpPr>
          <p:cNvPr id="119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86312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605844" y="4940617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со ставкой теперь две ступени из четырёх — и обе ставят на форму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Turboshaft: уход из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9" name="TextBox 119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0" name="Rounded Rectangle 119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3" name="Connector 120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4" name="Oval 120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TextBox 121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1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261156" cy="24860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561258" y="1271587"/>
            <a:ext cx="481529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TurboFan</a:t>
            </a:r>
            <a:r>
              <a:rPr sz="1700" b="0">
                <a:solidFill>
                  <a:srgbClr val="1E5B28"/>
                </a:solidFill>
                <a:latin typeface="X5 Sans"/>
              </a:rPr>
              <a:t> · две половины</a:t>
            </a:r>
          </a:p>
        </p:txBody>
      </p:sp>
      <p:sp>
        <p:nvSpPr>
          <p:cNvPr id="1218" name="Rounded Rectangle 1217"/>
          <p:cNvSpPr/>
          <p:nvPr/>
        </p:nvSpPr>
        <p:spPr>
          <a:xfrm>
            <a:off x="605844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605844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фронтенд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граф Sea of Nodes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пока — для JS</a:t>
            </a:r>
          </a:p>
        </p:txBody>
      </p:sp>
      <p:sp>
        <p:nvSpPr>
          <p:cNvPr id="1220" name="Rounded Rectangle 1219"/>
          <p:cNvSpPr/>
          <p:nvPr/>
        </p:nvSpPr>
        <p:spPr>
          <a:xfrm>
            <a:off x="3058078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TextBox 1220"/>
          <p:cNvSpPr txBox="1"/>
          <p:nvPr/>
        </p:nvSpPr>
        <p:spPr>
          <a:xfrm>
            <a:off x="3058078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бэкенд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Turboshaft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обычный граф блоков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1572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5911586" y="1194435"/>
            <a:ext cx="3326119" cy="10544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Chrome 120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декабрь 2023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~×2 быстрее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2428874"/>
            <a:ext cx="3504464" cy="12001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5911586" y="2480309"/>
            <a:ext cx="3326119" cy="1097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«Land ahoy: leaving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the Sea of Nodes»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блог V8, 2025</a:t>
            </a:r>
          </a:p>
        </p:txBody>
      </p:sp>
      <p:sp>
        <p:nvSpPr>
          <p:cNvPr id="11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71925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605844" y="4126229"/>
            <a:ext cx="8453519" cy="891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переднюю половину тоже заменят — это и есть Turbolev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состав и статус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9" name="Rounded Rectangle 120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TextBox 120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2" name="Connector 121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3" name="Oval 121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TextBox 122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26" name="Connector 1225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7" name="Rounded Rectangle 1226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TextBox 1227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29" name="Connector 1228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" name="TextBox 1229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31" name="Rounded Rectangle 1230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TextBox 1231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33" name="Connector 1232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4" name="TextBox 1233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35" name="Rounded Rectangle 1234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TextBox 1235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37" name="Connector 1236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8" name="TextBox 1237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39" name="Rounded Rectangle 1238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TextBox 1239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241" name="Connector 1240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2" name="TextBox 1241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43" name="Connector 1242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6" name="TextBox 1245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47" name="Connector 1246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05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5911586" y="1194435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06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 rot="5400000">
            <a:off x="7485475" y="2171700"/>
            <a:ext cx="178344" cy="30003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5146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5911586" y="2566034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у TurboFan — уже с Chrome 120</a:t>
            </a:r>
          </a:p>
        </p:txBody>
      </p:sp>
      <p:sp>
        <p:nvSpPr>
          <p:cNvPr id="12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629025"/>
            <a:ext cx="3504464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3" name="TextBox 1252"/>
          <p:cNvSpPr txBox="1"/>
          <p:nvPr/>
        </p:nvSpPr>
        <p:spPr>
          <a:xfrm>
            <a:off x="5911586" y="3680459"/>
            <a:ext cx="3326119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«≈ Maglev + Turboshaft … instead of Turbofan»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замена ступени, не пятая</a:t>
            </a:r>
          </a:p>
        </p:txBody>
      </p:sp>
      <p:sp>
        <p:nvSpPr>
          <p:cNvPr id="120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43450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472086" y="4820602"/>
            <a:ext cx="8721035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Consolas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— с V8 13.6 (Node 24), по умолчанию выключен · в сентябре 2026 его включали в основной ветке V8 на неделю и откатили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не объявлен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9" name="Rounded Rectangle 121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TextBox 121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2" name="Connector 122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3" name="Oval 122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TextBox 123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36" name="Rounded Rectangle 1235"/>
          <p:cNvSpPr/>
          <p:nvPr/>
        </p:nvSpPr>
        <p:spPr>
          <a:xfrm>
            <a:off x="338328" y="1143000"/>
            <a:ext cx="5261156" cy="1971674"/>
          </a:xfrm>
          <a:prstGeom prst="roundRect">
            <a:avLst>
              <a:gd name="adj" fmla="val 6956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TextBox 1239"/>
          <p:cNvSpPr txBox="1"/>
          <p:nvPr/>
        </p:nvSpPr>
        <p:spPr>
          <a:xfrm>
            <a:off x="1230049" y="1228724"/>
            <a:ext cx="419109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один прогон — медианы справа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1258" y="1503044"/>
            <a:ext cx="4815295" cy="1500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ref-a.js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{"shapes":1,"ic":"MONO",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"p50_ms":0.13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ref-b.js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{"shapes":8,"ic":"MEGA",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"p50_ms":0.88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338328" y="3243262"/>
            <a:ext cx="5261156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медианы 5 прогонов</a:t>
            </a:r>
          </a:p>
        </p:txBody>
      </p:sp>
      <p:graphicFrame>
        <p:nvGraphicFramePr>
          <p:cNvPr id="1243" name="Chart 1242"/>
          <p:cNvGraphicFramePr>
            <a:graphicFrameLocks noGrp="1"/>
          </p:cNvGraphicFramePr>
          <p:nvPr/>
        </p:nvGraphicFramePr>
        <p:xfrm>
          <a:off x="338328" y="3543299"/>
          <a:ext cx="5261156" cy="24002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1143000"/>
            <a:ext cx="3504464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5956173" y="1220152"/>
            <a:ext cx="3236948" cy="13458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под флагом оба чуть медленнее</a:t>
            </a:r>
          </a:p>
        </p:txBody>
      </p:sp>
      <p:sp>
        <p:nvSpPr>
          <p:cNvPr id="121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771775"/>
            <a:ext cx="3504464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5929421" y="2833496"/>
            <a:ext cx="3290451" cy="819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1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822414" y="3843337"/>
            <a:ext cx="3504464" cy="1114425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5929421" y="3905058"/>
            <a:ext cx="3290451" cy="990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заявлено: компилятор проще и быстрее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 ×2 — с Chrome 120, уже в TurboFan</a:t>
            </a:r>
          </a:p>
        </p:txBody>
      </p:sp>
      <p:sp>
        <p:nvSpPr>
          <p:cNvPr id="12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5086350"/>
            <a:ext cx="3504464" cy="557212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5911586" y="5137784"/>
            <a:ext cx="3326119" cy="4543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 скорости кода источники молчат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та же</a:t>
            </a:r>
          </a:p>
        </p:txBody>
      </p:sp>
      <p:sp>
        <p:nvSpPr>
          <p:cNvPr id="1219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</a:t>
            </a:r>
          </a:p>
        </p:txBody>
      </p:sp>
      <p:sp>
        <p:nvSpPr>
          <p:cNvPr id="1220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1222" name="Oval 1221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709254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Три компилятора — один налог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23" name="TextBox 122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TextBox 122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9" name="TextBox 122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2" name="Connector 123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3" name="Oval 123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TextBox 124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338328" y="1100137"/>
            <a:ext cx="5617845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прибор · медианы 5 прогонов · Docker arm64</a:t>
            </a:r>
          </a:p>
        </p:txBody>
      </p:sp>
      <p:graphicFrame>
        <p:nvGraphicFramePr>
          <p:cNvPr id="1247" name="Chart 1246"/>
          <p:cNvGraphicFramePr>
            <a:graphicFrameLocks noGrp="1"/>
          </p:cNvGraphicFramePr>
          <p:nvPr/>
        </p:nvGraphicFramePr>
        <p:xfrm>
          <a:off x="338328" y="1400175"/>
          <a:ext cx="5617845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143000"/>
            <a:ext cx="3147776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6286109" y="1204721"/>
            <a:ext cx="2933763" cy="1591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Crankshaft 2014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замера нет —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механизм тот же</a:t>
            </a:r>
          </a:p>
        </p:txBody>
      </p:sp>
      <p:sp>
        <p:nvSpPr>
          <p:cNvPr id="122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179103" y="3028950"/>
            <a:ext cx="3147776" cy="14573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6286109" y="3090671"/>
            <a:ext cx="2933763" cy="133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"/>
              </a:rPr>
              <a:t>налог — свойство</a:t>
            </a:r>
          </a:p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 Medium"/>
              </a:rPr>
              <a:t>формы</a:t>
            </a:r>
            <a:r>
              <a:rPr sz="1800" b="0">
                <a:solidFill>
                  <a:srgbClr val="1E5B28"/>
                </a:solidFill>
                <a:latin typeface="X5 Sans"/>
              </a:rPr>
              <a:t>, не компилятора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Ярусы менялись, ставка —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388620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7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55648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682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05122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3156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54596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2630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25400">
            <a:solidFill>
              <a:srgbClr val="1E5B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04070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Turbolev?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938778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8252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37726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2023 есть Maglev. Turbolev сменит TurboFan — дата не объявлена.</a:t>
            </a:r>
          </a:p>
        </p:txBody>
      </p:sp>
      <p:sp>
        <p:nvSpPr>
          <p:cNvPr id="122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394960"/>
            <a:ext cx="11512296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612647" y="5394960"/>
            <a:ext cx="1096365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X5 Sans Medium"/>
              </a:rPr>
              <a:t>Формы и записи мест чтения — с 2008.</a:t>
            </a:r>
            <a:r>
              <a:rPr sz="2000" b="0">
                <a:solidFill>
                  <a:srgbClr val="FFFFFF"/>
                </a:solidFill>
                <a:latin typeface="X5 Sans"/>
              </a:rPr>
              <a:t> На них ставит каждый верхний ярус.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Homomorphic IC: граница сдвигается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TextBox 123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1" name="Connector 124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2" name="Oval 124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TextBox 125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1452979" y="1143000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8 форм B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338328" y="152876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id</a:t>
            </a:r>
          </a:p>
        </p:txBody>
      </p:sp>
      <p:sp>
        <p:nvSpPr>
          <p:cNvPr id="1257" name="Rounded Rectangle 1256"/>
          <p:cNvSpPr/>
          <p:nvPr/>
        </p:nvSpPr>
        <p:spPr>
          <a:xfrm>
            <a:off x="148864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Rounded Rectangle 1257"/>
          <p:cNvSpPr/>
          <p:nvPr/>
        </p:nvSpPr>
        <p:spPr>
          <a:xfrm>
            <a:off x="1952343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Rounded Rectangle 1258"/>
          <p:cNvSpPr/>
          <p:nvPr/>
        </p:nvSpPr>
        <p:spPr>
          <a:xfrm>
            <a:off x="241603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Rounded Rectangle 1259"/>
          <p:cNvSpPr/>
          <p:nvPr/>
        </p:nvSpPr>
        <p:spPr>
          <a:xfrm>
            <a:off x="287973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Rounded Rectangle 1260"/>
          <p:cNvSpPr/>
          <p:nvPr/>
        </p:nvSpPr>
        <p:spPr>
          <a:xfrm>
            <a:off x="334342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Rounded Rectangle 1261"/>
          <p:cNvSpPr/>
          <p:nvPr/>
        </p:nvSpPr>
        <p:spPr>
          <a:xfrm>
            <a:off x="380712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Rounded Rectangle 1262"/>
          <p:cNvSpPr/>
          <p:nvPr/>
        </p:nvSpPr>
        <p:spPr>
          <a:xfrm>
            <a:off x="427081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Rounded Rectangle 1263"/>
          <p:cNvSpPr/>
          <p:nvPr/>
        </p:nvSpPr>
        <p:spPr>
          <a:xfrm>
            <a:off x="473451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TextBox 1264"/>
          <p:cNvSpPr txBox="1"/>
          <p:nvPr/>
        </p:nvSpPr>
        <p:spPr>
          <a:xfrm>
            <a:off x="338328" y="188880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name</a:t>
            </a:r>
          </a:p>
        </p:txBody>
      </p:sp>
      <p:sp>
        <p:nvSpPr>
          <p:cNvPr id="1266" name="Rounded Rectangle 1265"/>
          <p:cNvSpPr/>
          <p:nvPr/>
        </p:nvSpPr>
        <p:spPr>
          <a:xfrm>
            <a:off x="148864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Rounded Rectangle 1266"/>
          <p:cNvSpPr/>
          <p:nvPr/>
        </p:nvSpPr>
        <p:spPr>
          <a:xfrm>
            <a:off x="1952343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Rounded Rectangle 1267"/>
          <p:cNvSpPr/>
          <p:nvPr/>
        </p:nvSpPr>
        <p:spPr>
          <a:xfrm>
            <a:off x="241603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Rounded Rectangle 1268"/>
          <p:cNvSpPr/>
          <p:nvPr/>
        </p:nvSpPr>
        <p:spPr>
          <a:xfrm>
            <a:off x="287973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Rounded Rectangle 1269"/>
          <p:cNvSpPr/>
          <p:nvPr/>
        </p:nvSpPr>
        <p:spPr>
          <a:xfrm>
            <a:off x="334342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Rounded Rectangle 1270"/>
          <p:cNvSpPr/>
          <p:nvPr/>
        </p:nvSpPr>
        <p:spPr>
          <a:xfrm>
            <a:off x="380712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Rounded Rectangle 1271"/>
          <p:cNvSpPr/>
          <p:nvPr/>
        </p:nvSpPr>
        <p:spPr>
          <a:xfrm>
            <a:off x="427081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Rounded Rectangle 1272"/>
          <p:cNvSpPr/>
          <p:nvPr/>
        </p:nvSpPr>
        <p:spPr>
          <a:xfrm>
            <a:off x="473451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TextBox 1273"/>
          <p:cNvSpPr txBox="1"/>
          <p:nvPr/>
        </p:nvSpPr>
        <p:spPr>
          <a:xfrm>
            <a:off x="338328" y="224885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email</a:t>
            </a:r>
          </a:p>
        </p:txBody>
      </p:sp>
      <p:sp>
        <p:nvSpPr>
          <p:cNvPr id="1275" name="Rounded Rectangle 1274"/>
          <p:cNvSpPr/>
          <p:nvPr/>
        </p:nvSpPr>
        <p:spPr>
          <a:xfrm>
            <a:off x="148864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Rounded Rectangle 1275"/>
          <p:cNvSpPr/>
          <p:nvPr/>
        </p:nvSpPr>
        <p:spPr>
          <a:xfrm>
            <a:off x="1952343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Rounded Rectangle 1276"/>
          <p:cNvSpPr/>
          <p:nvPr/>
        </p:nvSpPr>
        <p:spPr>
          <a:xfrm>
            <a:off x="241603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Rounded Rectangle 1277"/>
          <p:cNvSpPr/>
          <p:nvPr/>
        </p:nvSpPr>
        <p:spPr>
          <a:xfrm>
            <a:off x="287973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Rounded Rectangle 1278"/>
          <p:cNvSpPr/>
          <p:nvPr/>
        </p:nvSpPr>
        <p:spPr>
          <a:xfrm>
            <a:off x="334342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Rounded Rectangle 1279"/>
          <p:cNvSpPr/>
          <p:nvPr/>
        </p:nvSpPr>
        <p:spPr>
          <a:xfrm>
            <a:off x="380712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Rounded Rectangle 1280"/>
          <p:cNvSpPr/>
          <p:nvPr/>
        </p:nvSpPr>
        <p:spPr>
          <a:xfrm>
            <a:off x="427081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Rounded Rectangle 1281"/>
          <p:cNvSpPr/>
          <p:nvPr/>
        </p:nvSpPr>
        <p:spPr>
          <a:xfrm>
            <a:off x="473451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TextBox 1282"/>
          <p:cNvSpPr txBox="1"/>
          <p:nvPr/>
        </p:nvSpPr>
        <p:spPr>
          <a:xfrm>
            <a:off x="338328" y="260889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plan</a:t>
            </a:r>
          </a:p>
        </p:txBody>
      </p:sp>
      <p:sp>
        <p:nvSpPr>
          <p:cNvPr id="1284" name="Rounded Rectangle 1283"/>
          <p:cNvSpPr/>
          <p:nvPr/>
        </p:nvSpPr>
        <p:spPr>
          <a:xfrm>
            <a:off x="148864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Rounded Rectangle 1284"/>
          <p:cNvSpPr/>
          <p:nvPr/>
        </p:nvSpPr>
        <p:spPr>
          <a:xfrm>
            <a:off x="1952343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Rounded Rectangle 1285"/>
          <p:cNvSpPr/>
          <p:nvPr/>
        </p:nvSpPr>
        <p:spPr>
          <a:xfrm>
            <a:off x="241603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Rounded Rectangle 1286"/>
          <p:cNvSpPr/>
          <p:nvPr/>
        </p:nvSpPr>
        <p:spPr>
          <a:xfrm>
            <a:off x="287973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Rounded Rectangle 1287"/>
          <p:cNvSpPr/>
          <p:nvPr/>
        </p:nvSpPr>
        <p:spPr>
          <a:xfrm>
            <a:off x="334342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Rounded Rectangle 1288"/>
          <p:cNvSpPr/>
          <p:nvPr/>
        </p:nvSpPr>
        <p:spPr>
          <a:xfrm>
            <a:off x="380712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Rounded Rectangle 1289"/>
          <p:cNvSpPr/>
          <p:nvPr/>
        </p:nvSpPr>
        <p:spPr>
          <a:xfrm>
            <a:off x="427081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Rounded Rectangle 1290"/>
          <p:cNvSpPr/>
          <p:nvPr/>
        </p:nvSpPr>
        <p:spPr>
          <a:xfrm>
            <a:off x="473451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TextBox 1291"/>
          <p:cNvSpPr txBox="1"/>
          <p:nvPr/>
        </p:nvSpPr>
        <p:spPr>
          <a:xfrm>
            <a:off x="338328" y="296894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credits</a:t>
            </a:r>
          </a:p>
        </p:txBody>
      </p:sp>
      <p:sp>
        <p:nvSpPr>
          <p:cNvPr id="1293" name="Rounded Rectangle 1292"/>
          <p:cNvSpPr/>
          <p:nvPr/>
        </p:nvSpPr>
        <p:spPr>
          <a:xfrm>
            <a:off x="148864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Rounded Rectangle 1293"/>
          <p:cNvSpPr/>
          <p:nvPr/>
        </p:nvSpPr>
        <p:spPr>
          <a:xfrm>
            <a:off x="1952343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Rounded Rectangle 1294"/>
          <p:cNvSpPr/>
          <p:nvPr/>
        </p:nvSpPr>
        <p:spPr>
          <a:xfrm>
            <a:off x="241603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Rounded Rectangle 1295"/>
          <p:cNvSpPr/>
          <p:nvPr/>
        </p:nvSpPr>
        <p:spPr>
          <a:xfrm>
            <a:off x="287973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Rounded Rectangle 1296"/>
          <p:cNvSpPr/>
          <p:nvPr/>
        </p:nvSpPr>
        <p:spPr>
          <a:xfrm>
            <a:off x="334342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Rounded Rectangle 1297"/>
          <p:cNvSpPr/>
          <p:nvPr/>
        </p:nvSpPr>
        <p:spPr>
          <a:xfrm>
            <a:off x="380712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Rounded Rectangle 1298"/>
          <p:cNvSpPr/>
          <p:nvPr/>
        </p:nvSpPr>
        <p:spPr>
          <a:xfrm>
            <a:off x="427081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Rounded Rectangle 1299"/>
          <p:cNvSpPr/>
          <p:nvPr/>
        </p:nvSpPr>
        <p:spPr>
          <a:xfrm>
            <a:off x="473451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TextBox 1300"/>
          <p:cNvSpPr txBox="1"/>
          <p:nvPr/>
        </p:nvSpPr>
        <p:spPr>
          <a:xfrm>
            <a:off x="338328" y="332898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referrer</a:t>
            </a:r>
          </a:p>
        </p:txBody>
      </p:sp>
      <p:sp>
        <p:nvSpPr>
          <p:cNvPr id="1302" name="Rounded Rectangle 1301"/>
          <p:cNvSpPr/>
          <p:nvPr/>
        </p:nvSpPr>
        <p:spPr>
          <a:xfrm>
            <a:off x="1952343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Rounded Rectangle 1302"/>
          <p:cNvSpPr/>
          <p:nvPr/>
        </p:nvSpPr>
        <p:spPr>
          <a:xfrm>
            <a:off x="287973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Rounded Rectangle 1303"/>
          <p:cNvSpPr/>
          <p:nvPr/>
        </p:nvSpPr>
        <p:spPr>
          <a:xfrm>
            <a:off x="380712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Rounded Rectangle 1304"/>
          <p:cNvSpPr/>
          <p:nvPr/>
        </p:nvSpPr>
        <p:spPr>
          <a:xfrm>
            <a:off x="473451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TextBox 1305"/>
          <p:cNvSpPr txBox="1"/>
          <p:nvPr/>
        </p:nvSpPr>
        <p:spPr>
          <a:xfrm>
            <a:off x="338328" y="368903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trialUntil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416038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Rounded Rectangle 1307"/>
          <p:cNvSpPr/>
          <p:nvPr/>
        </p:nvSpPr>
        <p:spPr>
          <a:xfrm>
            <a:off x="287973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Rounded Rectangle 1308"/>
          <p:cNvSpPr/>
          <p:nvPr/>
        </p:nvSpPr>
        <p:spPr>
          <a:xfrm>
            <a:off x="4270819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Rounded Rectangle 1309"/>
          <p:cNvSpPr/>
          <p:nvPr/>
        </p:nvSpPr>
        <p:spPr>
          <a:xfrm>
            <a:off x="473451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TextBox 1310"/>
          <p:cNvSpPr txBox="1"/>
          <p:nvPr/>
        </p:nvSpPr>
        <p:spPr>
          <a:xfrm>
            <a:off x="338328" y="404907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teamId</a:t>
            </a:r>
          </a:p>
        </p:txBody>
      </p:sp>
      <p:sp>
        <p:nvSpPr>
          <p:cNvPr id="1312" name="Rounded Rectangle 1311"/>
          <p:cNvSpPr/>
          <p:nvPr/>
        </p:nvSpPr>
        <p:spPr>
          <a:xfrm>
            <a:off x="334342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Rounded Rectangle 1312"/>
          <p:cNvSpPr/>
          <p:nvPr/>
        </p:nvSpPr>
        <p:spPr>
          <a:xfrm>
            <a:off x="380712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Rounded Rectangle 1313"/>
          <p:cNvSpPr/>
          <p:nvPr/>
        </p:nvSpPr>
        <p:spPr>
          <a:xfrm>
            <a:off x="427081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Rounded Rectangle 1314"/>
          <p:cNvSpPr/>
          <p:nvPr/>
        </p:nvSpPr>
        <p:spPr>
          <a:xfrm>
            <a:off x="473451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TextBox 1315"/>
          <p:cNvSpPr txBox="1"/>
          <p:nvPr/>
        </p:nvSpPr>
        <p:spPr>
          <a:xfrm>
            <a:off x="1452979" y="4451984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6" b="0">
                <a:solidFill>
                  <a:srgbClr val="1E5B28"/>
                </a:solidFill>
                <a:latin typeface="Consolas"/>
              </a:rPr>
              <a:t>u.plan</a:t>
            </a:r>
            <a:r>
              <a:rPr sz="1200" b="0">
                <a:solidFill>
                  <a:srgbClr val="1E5B28"/>
                </a:solidFill>
                <a:latin typeface="X5 Sans"/>
              </a:rPr>
              <a:t> — на одном месте во всех 8 формах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688656" y="1143000"/>
            <a:ext cx="3638223" cy="128587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777828" y="1194435"/>
            <a:ext cx="3459879" cy="11830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Homomorphic IC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5+ форм, поле на одном месте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→ одна проверка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688656" y="2557462"/>
            <a:ext cx="3638223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5777828" y="2608897"/>
            <a:ext cx="3459879" cy="1140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V8 — с 15.09.2026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Chrome 156 — 20.10 (по графику)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Node 22 / 24 / 26 — нет</a:t>
            </a:r>
          </a:p>
        </p:txBody>
      </p:sp>
      <p:sp>
        <p:nvSpPr>
          <p:cNvPr id="123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688656" y="3929062"/>
            <a:ext cx="3638223" cy="98583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9" name="TextBox 1318"/>
          <p:cNvSpPr txBox="1"/>
          <p:nvPr/>
        </p:nvSpPr>
        <p:spPr>
          <a:xfrm>
            <a:off x="5777828" y="3980496"/>
            <a:ext cx="345987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предварительно · d8 15.6 · x64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B/A: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×5.3 → ×4.1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5688656" y="4957762"/>
            <a:ext cx="363822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в Docker не перепроверено</a:t>
            </a:r>
          </a:p>
        </p:txBody>
      </p:sp>
      <p:sp>
        <p:nvSpPr>
          <p:cNvPr id="123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257799"/>
            <a:ext cx="5171984" cy="6429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605844" y="5412104"/>
            <a:ext cx="4636951" cy="334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хвост referrer · trialUntil · teamId — мега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пишет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10.4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TextBox 124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1" name="Connector 125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2" name="Oval 125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5" name="TextBox 1264"/>
          <p:cNvSpPr txBox="1"/>
          <p:nvPr/>
        </p:nvSpPr>
        <p:spPr>
          <a:xfrm>
            <a:off x="516672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агент без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B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8 форм · MEGA</a:t>
            </a:r>
          </a:p>
        </p:txBody>
      </p:sp>
      <p:sp>
        <p:nvSpPr>
          <p:cNvPr id="12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6" name="TextBox 1265"/>
          <p:cNvSpPr txBox="1"/>
          <p:nvPr/>
        </p:nvSpPr>
        <p:spPr>
          <a:xfrm>
            <a:off x="3587166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+ файл из 4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A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1 форма · MONO</a:t>
            </a:r>
          </a:p>
        </p:txBody>
      </p:sp>
      <p:sp>
        <p:nvSpPr>
          <p:cNvPr id="12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7" name="TextBox 1266"/>
          <p:cNvSpPr txBox="1"/>
          <p:nvPr/>
        </p:nvSpPr>
        <p:spPr>
          <a:xfrm>
            <a:off x="6657660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0 из 60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некорректных генераций</a:t>
            </a:r>
          </a:p>
        </p:txBody>
      </p:sp>
      <p:sp>
        <p:nvSpPr>
          <p:cNvPr id="12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43299"/>
            <a:ext cx="8988552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605844" y="3697604"/>
            <a:ext cx="8453519" cy="4629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сервис из узла 6 —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2302 / 1180 rps</a:t>
            </a:r>
            <a:r>
              <a:rPr sz="1700" b="0">
                <a:solidFill>
                  <a:srgbClr val="1E5B28"/>
                </a:solidFill>
                <a:latin typeface="X5 Sans"/>
              </a:rPr>
              <a:t> — на этих генерациях</a:t>
            </a:r>
          </a:p>
        </p:txBody>
      </p:sp>
      <p:sp>
        <p:nvSpPr>
          <p:cNvPr id="125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8627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605844" y="464057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правило 1:</a:t>
            </a:r>
            <a:r>
              <a:rPr sz="1700" b="0">
                <a:solidFill>
                  <a:srgbClr val="FFFFFF"/>
                </a:solidFill>
                <a:latin typeface="X5 Sans"/>
              </a:rPr>
              <a:t> один набор полей в одном порядке, нет значения — </a:t>
            </a:r>
            <a:r>
              <a:rPr sz="1496" b="0">
                <a:solidFill>
                  <a:srgbClr val="FFFFFF"/>
                </a:solidFill>
                <a:latin typeface="Consolas"/>
              </a:rPr>
              <a:t>null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файл v8-rules.md — по QR в конце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25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</a:t>
            </a:r>
          </a:p>
        </p:txBody>
      </p:sp>
      <p:sp>
        <p:nvSpPr>
          <p:cNvPr id="125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1254" name="Oval 125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740343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3970" y="1497690"/>
            <a:ext cx="10850077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2723949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2723949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449694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449694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9273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9273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58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1402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9690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1402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9690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258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10071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0071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0241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9385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17673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9385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17673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0241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5" name="Oval 24"/>
          <p:cNvSpPr/>
          <p:nvPr/>
        </p:nvSpPr>
        <p:spPr>
          <a:xfrm>
            <a:off x="300869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0869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224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368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825656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7368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5656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8224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3" name="Diamond 32"/>
          <p:cNvSpPr/>
          <p:nvPr/>
        </p:nvSpPr>
        <p:spPr>
          <a:xfrm>
            <a:off x="3575304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91668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1668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620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1535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73363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1535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3363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620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2" name="Oval 41"/>
          <p:cNvSpPr/>
          <p:nvPr/>
        </p:nvSpPr>
        <p:spPr>
          <a:xfrm>
            <a:off x="482466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2466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419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2333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4162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333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162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19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0" name="Diamond 49"/>
          <p:cNvSpPr/>
          <p:nvPr/>
        </p:nvSpPr>
        <p:spPr>
          <a:xfrm>
            <a:off x="5391270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3264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3264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17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131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54960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3131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54960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17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59" name="Oval 58"/>
          <p:cNvSpPr/>
          <p:nvPr/>
        </p:nvSpPr>
        <p:spPr>
          <a:xfrm>
            <a:off x="6640629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40629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015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3930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5758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3930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758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015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67" name="Oval 66"/>
          <p:cNvSpPr/>
          <p:nvPr/>
        </p:nvSpPr>
        <p:spPr>
          <a:xfrm>
            <a:off x="754861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54861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814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4728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6557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4728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6557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3814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75" name="Diamond 74"/>
          <p:cNvSpPr/>
          <p:nvPr/>
        </p:nvSpPr>
        <p:spPr>
          <a:xfrm>
            <a:off x="8115219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45659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659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4612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5526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27355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5526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27355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612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Maglev · Turbolev</a:t>
            </a:r>
          </a:p>
        </p:txBody>
      </p:sp>
      <p:sp>
        <p:nvSpPr>
          <p:cNvPr id="84" name="Oval 83"/>
          <p:cNvSpPr/>
          <p:nvPr/>
        </p:nvSpPr>
        <p:spPr>
          <a:xfrm>
            <a:off x="9364578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364578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54106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163250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181538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63250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181538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54106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3 компилятора</a:t>
            </a:r>
          </a:p>
        </p:txBody>
      </p:sp>
      <p:sp>
        <p:nvSpPr>
          <p:cNvPr id="92" name="Oval 91"/>
          <p:cNvSpPr/>
          <p:nvPr/>
        </p:nvSpPr>
        <p:spPr>
          <a:xfrm>
            <a:off x="10173460" y="1173358"/>
            <a:ext cx="648665" cy="648665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27256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27256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2089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71233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089521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71233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089521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62089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01" name="Oval 100"/>
          <p:cNvSpPr/>
          <p:nvPr/>
        </p:nvSpPr>
        <p:spPr>
          <a:xfrm>
            <a:off x="1118054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8054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0072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979216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10997504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979216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997504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0072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25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4" name="TextBox 1253"/>
          <p:cNvSpPr txBox="1"/>
          <p:nvPr/>
        </p:nvSpPr>
        <p:spPr>
          <a:xfrm>
            <a:off x="47548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2–6: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25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4476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5" name="TextBox 1254"/>
          <p:cNvSpPr txBox="1"/>
          <p:nvPr/>
        </p:nvSpPr>
        <p:spPr>
          <a:xfrm>
            <a:off x="628192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7–10: ярусы менялись —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строки A и B те же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1828800" y="57332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билдер (tsc / esbuild) между текстом и движком — не мерил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остаётся человеку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6" name="Connector 126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7" name="Oval 126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TextBox 127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6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0" name="TextBox 1279"/>
          <p:cNvSpPr txBox="1"/>
          <p:nvPr/>
        </p:nvSpPr>
        <p:spPr>
          <a:xfrm>
            <a:off x="516672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форма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выбор текста — до первого вызова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1" name="TextBox 1280"/>
          <p:cNvSpPr txBox="1"/>
          <p:nvPr/>
        </p:nvSpPr>
        <p:spPr>
          <a:xfrm>
            <a:off x="3587166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1 форма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быстрый путь в любой эпохе V8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2" name="TextBox 1281"/>
          <p:cNvSpPr txBox="1"/>
          <p:nvPr/>
        </p:nvSpPr>
        <p:spPr>
          <a:xfrm>
            <a:off x="6657660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8 форм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общий путь на любом ярусе</a:t>
            </a:r>
          </a:p>
        </p:txBody>
      </p:sp>
      <p:sp>
        <p:nvSpPr>
          <p:cNvPr id="126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3287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TextBox 1282"/>
          <p:cNvSpPr txBox="1"/>
          <p:nvPr/>
        </p:nvSpPr>
        <p:spPr>
          <a:xfrm>
            <a:off x="605844" y="4469129"/>
            <a:ext cx="8453519" cy="10201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 Medium"/>
              </a:rPr>
              <a:t>проверять форму, а не компилятор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все ключи на месте и в одном порядке — кто бы ни писал код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2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6" name="Connector 127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7" name="Oval 127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Oval 128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TextBox 128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605844" y="1143000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--allow-natives-syntax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lab/shape-analyzer.js lab/ref-b.js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6045345" y="1143000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из папки v8-experiment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471737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605844" y="2471737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--log-ic --no-logfile-per-isolate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--logfile=ic.log app.js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6045345" y="2471737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журнал мест чтения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1 = MONO · N = MEGA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800475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605844" y="3800475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./docker/run.sh 24 'bash docker/verify.sh my-run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&amp;&amp; node docker/report.js docker/out/my-run'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6045345" y="3800475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все числа доклада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 сводка · ~25 мин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2014764" y="5300662"/>
            <a:ext cx="731211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на вопросы: почему не сразу TurboFan · почему V8 не греет на старте · как узнать ярус · delete · а на x64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27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</a:t>
            </a:r>
          </a:p>
        </p:txBody>
      </p:sp>
      <p:sp>
        <p:nvSpPr>
          <p:cNvPr id="127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  <p:sp>
        <p:nvSpPr>
          <p:cNvPr id="1277" name="Oval 127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Oval 128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771433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2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097280"/>
            <a:ext cx="11521440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9496" y="1261872"/>
            <a:ext cx="1568196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39496" y="1261872"/>
            <a:ext cx="15681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658368" y="1664207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011680"/>
            <a:ext cx="11521440" cy="8229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9496" y="2176272"/>
            <a:ext cx="2304288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0" name="TextBox 1279"/>
          <p:cNvSpPr txBox="1"/>
          <p:nvPr/>
        </p:nvSpPr>
        <p:spPr>
          <a:xfrm>
            <a:off x="539496" y="2176272"/>
            <a:ext cx="2304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658368" y="257860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282" name="Connector 1281"/>
          <p:cNvCxnSpPr/>
          <p:nvPr/>
        </p:nvCxnSpPr>
        <p:spPr>
          <a:xfrm>
            <a:off x="938403" y="3401568"/>
            <a:ext cx="10875644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Rounded Rectangle 1282"/>
          <p:cNvSpPr/>
          <p:nvPr/>
        </p:nvSpPr>
        <p:spPr>
          <a:xfrm>
            <a:off x="338328" y="4577715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TextBox 1283"/>
          <p:cNvSpPr txBox="1"/>
          <p:nvPr/>
        </p:nvSpPr>
        <p:spPr>
          <a:xfrm>
            <a:off x="338328" y="4577715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285" name="Rounded Rectangle 1284"/>
          <p:cNvSpPr/>
          <p:nvPr/>
        </p:nvSpPr>
        <p:spPr>
          <a:xfrm>
            <a:off x="338328" y="5273802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TextBox 1285"/>
          <p:cNvSpPr txBox="1"/>
          <p:nvPr/>
        </p:nvSpPr>
        <p:spPr>
          <a:xfrm>
            <a:off x="338328" y="5273802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287" name="Oval 1286"/>
          <p:cNvSpPr/>
          <p:nvPr/>
        </p:nvSpPr>
        <p:spPr>
          <a:xfrm>
            <a:off x="117743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TextBox 1287"/>
          <p:cNvSpPr txBox="1"/>
          <p:nvPr/>
        </p:nvSpPr>
        <p:spPr>
          <a:xfrm>
            <a:off x="117743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56691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90" name="Rounded Rectangle 1289"/>
          <p:cNvSpPr/>
          <p:nvPr/>
        </p:nvSpPr>
        <p:spPr>
          <a:xfrm>
            <a:off x="965835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TextBox 1290"/>
          <p:cNvSpPr txBox="1"/>
          <p:nvPr/>
        </p:nvSpPr>
        <p:spPr>
          <a:xfrm>
            <a:off x="984123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292" name="Rounded Rectangle 1291"/>
          <p:cNvSpPr/>
          <p:nvPr/>
        </p:nvSpPr>
        <p:spPr>
          <a:xfrm>
            <a:off x="965835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TextBox 1292"/>
          <p:cNvSpPr txBox="1"/>
          <p:nvPr/>
        </p:nvSpPr>
        <p:spPr>
          <a:xfrm>
            <a:off x="984123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294" name="Oval 1293"/>
          <p:cNvSpPr/>
          <p:nvPr/>
        </p:nvSpPr>
        <p:spPr>
          <a:xfrm>
            <a:off x="208754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TextBox 1294"/>
          <p:cNvSpPr txBox="1"/>
          <p:nvPr/>
        </p:nvSpPr>
        <p:spPr>
          <a:xfrm>
            <a:off x="208754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186680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297" name="Rounded Rectangle 1296"/>
          <p:cNvSpPr/>
          <p:nvPr/>
        </p:nvSpPr>
        <p:spPr>
          <a:xfrm>
            <a:off x="187594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TextBox 1297"/>
          <p:cNvSpPr txBox="1"/>
          <p:nvPr/>
        </p:nvSpPr>
        <p:spPr>
          <a:xfrm>
            <a:off x="189423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187594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189423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01" name="Oval 1300"/>
          <p:cNvSpPr/>
          <p:nvPr/>
        </p:nvSpPr>
        <p:spPr>
          <a:xfrm>
            <a:off x="299766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TextBox 1301"/>
          <p:cNvSpPr txBox="1"/>
          <p:nvPr/>
        </p:nvSpPr>
        <p:spPr>
          <a:xfrm>
            <a:off x="299766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277691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04" name="Rounded Rectangle 1303"/>
          <p:cNvSpPr/>
          <p:nvPr/>
        </p:nvSpPr>
        <p:spPr>
          <a:xfrm>
            <a:off x="278606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280435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06" name="Rounded Rectangle 1305"/>
          <p:cNvSpPr/>
          <p:nvPr/>
        </p:nvSpPr>
        <p:spPr>
          <a:xfrm>
            <a:off x="278606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280435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08" name="Diamond 1307"/>
          <p:cNvSpPr/>
          <p:nvPr/>
        </p:nvSpPr>
        <p:spPr>
          <a:xfrm>
            <a:off x="3560730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390777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TextBox 1309"/>
          <p:cNvSpPr txBox="1"/>
          <p:nvPr/>
        </p:nvSpPr>
        <p:spPr>
          <a:xfrm>
            <a:off x="390777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368703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12" name="Rounded Rectangle 1311"/>
          <p:cNvSpPr/>
          <p:nvPr/>
        </p:nvSpPr>
        <p:spPr>
          <a:xfrm>
            <a:off x="369617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TextBox 1312"/>
          <p:cNvSpPr txBox="1"/>
          <p:nvPr/>
        </p:nvSpPr>
        <p:spPr>
          <a:xfrm>
            <a:off x="371446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14" name="Rounded Rectangle 1313"/>
          <p:cNvSpPr/>
          <p:nvPr/>
        </p:nvSpPr>
        <p:spPr>
          <a:xfrm>
            <a:off x="369617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TextBox 1314"/>
          <p:cNvSpPr txBox="1"/>
          <p:nvPr/>
        </p:nvSpPr>
        <p:spPr>
          <a:xfrm>
            <a:off x="371446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16" name="Oval 1315"/>
          <p:cNvSpPr/>
          <p:nvPr/>
        </p:nvSpPr>
        <p:spPr>
          <a:xfrm>
            <a:off x="4817887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4817887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4597145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19" name="Rounded Rectangle 1318"/>
          <p:cNvSpPr/>
          <p:nvPr/>
        </p:nvSpPr>
        <p:spPr>
          <a:xfrm>
            <a:off x="4606290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0" name="TextBox 1319"/>
          <p:cNvSpPr txBox="1"/>
          <p:nvPr/>
        </p:nvSpPr>
        <p:spPr>
          <a:xfrm>
            <a:off x="4624577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21" name="Rounded Rectangle 1320"/>
          <p:cNvSpPr/>
          <p:nvPr/>
        </p:nvSpPr>
        <p:spPr>
          <a:xfrm>
            <a:off x="4606290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TextBox 1321"/>
          <p:cNvSpPr txBox="1"/>
          <p:nvPr/>
        </p:nvSpPr>
        <p:spPr>
          <a:xfrm>
            <a:off x="4624577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1323" name="Diamond 1322"/>
          <p:cNvSpPr/>
          <p:nvPr/>
        </p:nvSpPr>
        <p:spPr>
          <a:xfrm>
            <a:off x="5380958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5728001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TextBox 1324"/>
          <p:cNvSpPr txBox="1"/>
          <p:nvPr/>
        </p:nvSpPr>
        <p:spPr>
          <a:xfrm>
            <a:off x="5728001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5507259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27" name="Rounded Rectangle 1326"/>
          <p:cNvSpPr/>
          <p:nvPr/>
        </p:nvSpPr>
        <p:spPr>
          <a:xfrm>
            <a:off x="5516403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TextBox 1327"/>
          <p:cNvSpPr txBox="1"/>
          <p:nvPr/>
        </p:nvSpPr>
        <p:spPr>
          <a:xfrm>
            <a:off x="5534691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29" name="Rounded Rectangle 1328"/>
          <p:cNvSpPr/>
          <p:nvPr/>
        </p:nvSpPr>
        <p:spPr>
          <a:xfrm>
            <a:off x="5516403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TextBox 1329"/>
          <p:cNvSpPr txBox="1"/>
          <p:nvPr/>
        </p:nvSpPr>
        <p:spPr>
          <a:xfrm>
            <a:off x="5534691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31" name="Oval 1330"/>
          <p:cNvSpPr/>
          <p:nvPr/>
        </p:nvSpPr>
        <p:spPr>
          <a:xfrm>
            <a:off x="6638115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6638115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6417373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334" name="Rounded Rectangle 1333"/>
          <p:cNvSpPr/>
          <p:nvPr/>
        </p:nvSpPr>
        <p:spPr>
          <a:xfrm>
            <a:off x="6426517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6444805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6426517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6444805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38" name="Oval 1337"/>
          <p:cNvSpPr/>
          <p:nvPr/>
        </p:nvSpPr>
        <p:spPr>
          <a:xfrm>
            <a:off x="7548229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548229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7327487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341" name="Rounded Rectangle 1340"/>
          <p:cNvSpPr/>
          <p:nvPr/>
        </p:nvSpPr>
        <p:spPr>
          <a:xfrm>
            <a:off x="7336631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7354919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43" name="Rounded Rectangle 1342"/>
          <p:cNvSpPr/>
          <p:nvPr/>
        </p:nvSpPr>
        <p:spPr>
          <a:xfrm>
            <a:off x="7336631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7354919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45" name="Diamond 1344"/>
          <p:cNvSpPr/>
          <p:nvPr/>
        </p:nvSpPr>
        <p:spPr>
          <a:xfrm>
            <a:off x="8111299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845834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TextBox 1346"/>
          <p:cNvSpPr txBox="1"/>
          <p:nvPr/>
        </p:nvSpPr>
        <p:spPr>
          <a:xfrm>
            <a:off x="845834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8237600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349" name="Rounded Rectangle 1348"/>
          <p:cNvSpPr/>
          <p:nvPr/>
        </p:nvSpPr>
        <p:spPr>
          <a:xfrm>
            <a:off x="8246744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TextBox 1349"/>
          <p:cNvSpPr txBox="1"/>
          <p:nvPr/>
        </p:nvSpPr>
        <p:spPr>
          <a:xfrm>
            <a:off x="8265032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8246744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8265032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53" name="Oval 1352"/>
          <p:cNvSpPr/>
          <p:nvPr/>
        </p:nvSpPr>
        <p:spPr>
          <a:xfrm>
            <a:off x="936845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936845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914771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356" name="Rounded Rectangle 1355"/>
          <p:cNvSpPr/>
          <p:nvPr/>
        </p:nvSpPr>
        <p:spPr>
          <a:xfrm>
            <a:off x="915685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917514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1358" name="Rounded Rectangle 1357"/>
          <p:cNvSpPr/>
          <p:nvPr/>
        </p:nvSpPr>
        <p:spPr>
          <a:xfrm>
            <a:off x="915685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TextBox 1358"/>
          <p:cNvSpPr txBox="1"/>
          <p:nvPr/>
        </p:nvSpPr>
        <p:spPr>
          <a:xfrm>
            <a:off x="917514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1360" name="Oval 1359"/>
          <p:cNvSpPr/>
          <p:nvPr/>
        </p:nvSpPr>
        <p:spPr>
          <a:xfrm>
            <a:off x="1027857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1027857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1005782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63" name="Rounded Rectangle 1362"/>
          <p:cNvSpPr/>
          <p:nvPr/>
        </p:nvSpPr>
        <p:spPr>
          <a:xfrm>
            <a:off x="1006697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4" name="TextBox 1363"/>
          <p:cNvSpPr txBox="1"/>
          <p:nvPr/>
        </p:nvSpPr>
        <p:spPr>
          <a:xfrm>
            <a:off x="1008526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65" name="Rounded Rectangle 1364"/>
          <p:cNvSpPr/>
          <p:nvPr/>
        </p:nvSpPr>
        <p:spPr>
          <a:xfrm>
            <a:off x="1006697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TextBox 1365"/>
          <p:cNvSpPr txBox="1"/>
          <p:nvPr/>
        </p:nvSpPr>
        <p:spPr>
          <a:xfrm>
            <a:off x="1008526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67" name="Oval 1366"/>
          <p:cNvSpPr/>
          <p:nvPr/>
        </p:nvSpPr>
        <p:spPr>
          <a:xfrm>
            <a:off x="11093632" y="3090489"/>
            <a:ext cx="622157" cy="62215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Oval 1367"/>
          <p:cNvSpPr/>
          <p:nvPr/>
        </p:nvSpPr>
        <p:spPr>
          <a:xfrm>
            <a:off x="1118868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9" name="TextBox 1368"/>
          <p:cNvSpPr txBox="1"/>
          <p:nvPr/>
        </p:nvSpPr>
        <p:spPr>
          <a:xfrm>
            <a:off x="1118868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1096794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708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9537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373" name="Rounded Rectangle 1372"/>
          <p:cNvSpPr/>
          <p:nvPr/>
        </p:nvSpPr>
        <p:spPr>
          <a:xfrm>
            <a:off x="1097708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1099537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1828800" y="60350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(autocannon) · одна пара форм: 1 против 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28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2328519" y="1097280"/>
            <a:ext cx="75346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2328519" y="1097280"/>
            <a:ext cx="75346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v8-experiment/PITFALLS.md</a:t>
            </a:r>
          </a:p>
        </p:txBody>
      </p:sp>
      <p:sp>
        <p:nvSpPr>
          <p:cNvPr id="128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283" name="Rounded Rectangle 1282"/>
          <p:cNvSpPr/>
          <p:nvPr/>
        </p:nvSpPr>
        <p:spPr>
          <a:xfrm>
            <a:off x="9692640" y="178308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4" name="Picture 128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9202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28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TextBox 1282"/>
          <p:cNvSpPr txBox="1"/>
          <p:nvPr/>
        </p:nvSpPr>
        <p:spPr>
          <a:xfrm>
            <a:off x="566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28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2852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28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5" name="TextBox 1284"/>
          <p:cNvSpPr txBox="1"/>
          <p:nvPr/>
        </p:nvSpPr>
        <p:spPr>
          <a:xfrm>
            <a:off x="5138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как узнать ярус?</a:t>
            </a:r>
          </a:p>
        </p:txBody>
      </p:sp>
      <p:sp>
        <p:nvSpPr>
          <p:cNvPr id="128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6" name="TextBox 1285"/>
          <p:cNvSpPr txBox="1"/>
          <p:nvPr/>
        </p:nvSpPr>
        <p:spPr>
          <a:xfrm>
            <a:off x="7424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9710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28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66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28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9" name="TextBox 1288"/>
          <p:cNvSpPr txBox="1"/>
          <p:nvPr/>
        </p:nvSpPr>
        <p:spPr>
          <a:xfrm>
            <a:off x="2852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28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0" name="TextBox 1289"/>
          <p:cNvSpPr txBox="1"/>
          <p:nvPr/>
        </p:nvSpPr>
        <p:spPr>
          <a:xfrm>
            <a:off x="5138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29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1" name="TextBox 1290"/>
          <p:cNvSpPr txBox="1"/>
          <p:nvPr/>
        </p:nvSpPr>
        <p:spPr>
          <a:xfrm>
            <a:off x="7424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</a:p>
        </p:txBody>
      </p:sp>
      <p:sp>
        <p:nvSpPr>
          <p:cNvPr id="129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2" name="TextBox 1291"/>
          <p:cNvSpPr txBox="1"/>
          <p:nvPr/>
        </p:nvSpPr>
        <p:spPr>
          <a:xfrm>
            <a:off x="9710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293" name="Rounded Rectangle 1292"/>
          <p:cNvSpPr/>
          <p:nvPr/>
        </p:nvSpPr>
        <p:spPr>
          <a:xfrm>
            <a:off x="10561320" y="228600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94" name="Picture 12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